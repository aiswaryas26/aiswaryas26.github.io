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4"/>
  </p:notesMasterIdLst>
  <p:handoutMasterIdLst>
    <p:handoutMasterId r:id="rId95"/>
  </p:handoutMasterIdLst>
  <p:sldIdLst>
    <p:sldId id="329" r:id="rId2"/>
    <p:sldId id="328" r:id="rId3"/>
    <p:sldId id="331" r:id="rId4"/>
    <p:sldId id="332" r:id="rId5"/>
    <p:sldId id="333" r:id="rId6"/>
    <p:sldId id="402" r:id="rId7"/>
    <p:sldId id="403" r:id="rId8"/>
    <p:sldId id="263" r:id="rId9"/>
    <p:sldId id="469" r:id="rId10"/>
    <p:sldId id="470" r:id="rId11"/>
    <p:sldId id="266" r:id="rId12"/>
    <p:sldId id="267" r:id="rId13"/>
    <p:sldId id="268" r:id="rId14"/>
    <p:sldId id="269" r:id="rId15"/>
    <p:sldId id="270" r:id="rId16"/>
    <p:sldId id="271" r:id="rId17"/>
    <p:sldId id="272"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532" r:id="rId32"/>
    <p:sldId id="287" r:id="rId33"/>
    <p:sldId id="288" r:id="rId34"/>
    <p:sldId id="289" r:id="rId35"/>
    <p:sldId id="290" r:id="rId36"/>
    <p:sldId id="291" r:id="rId37"/>
    <p:sldId id="297" r:id="rId38"/>
    <p:sldId id="298" r:id="rId39"/>
    <p:sldId id="292" r:id="rId40"/>
    <p:sldId id="293" r:id="rId41"/>
    <p:sldId id="294" r:id="rId42"/>
    <p:sldId id="295" r:id="rId43"/>
    <p:sldId id="296" r:id="rId44"/>
    <p:sldId id="299" r:id="rId45"/>
    <p:sldId id="300" r:id="rId46"/>
    <p:sldId id="301" r:id="rId47"/>
    <p:sldId id="303" r:id="rId48"/>
    <p:sldId id="302" r:id="rId49"/>
    <p:sldId id="304" r:id="rId50"/>
    <p:sldId id="305" r:id="rId51"/>
    <p:sldId id="306" r:id="rId52"/>
    <p:sldId id="307" r:id="rId53"/>
    <p:sldId id="308" r:id="rId54"/>
    <p:sldId id="309" r:id="rId55"/>
    <p:sldId id="574" r:id="rId56"/>
    <p:sldId id="576" r:id="rId57"/>
    <p:sldId id="578" r:id="rId58"/>
    <p:sldId id="577" r:id="rId59"/>
    <p:sldId id="575" r:id="rId60"/>
    <p:sldId id="579" r:id="rId61"/>
    <p:sldId id="584" r:id="rId62"/>
    <p:sldId id="586" r:id="rId63"/>
    <p:sldId id="608" r:id="rId64"/>
    <p:sldId id="609" r:id="rId65"/>
    <p:sldId id="585" r:id="rId66"/>
    <p:sldId id="587" r:id="rId67"/>
    <p:sldId id="607" r:id="rId68"/>
    <p:sldId id="610" r:id="rId69"/>
    <p:sldId id="611" r:id="rId70"/>
    <p:sldId id="310" r:id="rId71"/>
    <p:sldId id="311" r:id="rId72"/>
    <p:sldId id="312" r:id="rId73"/>
    <p:sldId id="313" r:id="rId74"/>
    <p:sldId id="314" r:id="rId75"/>
    <p:sldId id="315" r:id="rId76"/>
    <p:sldId id="632" r:id="rId77"/>
    <p:sldId id="637" r:id="rId78"/>
    <p:sldId id="633" r:id="rId79"/>
    <p:sldId id="634" r:id="rId80"/>
    <p:sldId id="635" r:id="rId81"/>
    <p:sldId id="316" r:id="rId82"/>
    <p:sldId id="636" r:id="rId83"/>
    <p:sldId id="317" r:id="rId84"/>
    <p:sldId id="318" r:id="rId85"/>
    <p:sldId id="319" r:id="rId86"/>
    <p:sldId id="320" r:id="rId87"/>
    <p:sldId id="321" r:id="rId88"/>
    <p:sldId id="322" r:id="rId89"/>
    <p:sldId id="323" r:id="rId90"/>
    <p:sldId id="324" r:id="rId91"/>
    <p:sldId id="325" r:id="rId92"/>
    <p:sldId id="326" r:id="rId93"/>
  </p:sldIdLst>
  <p:sldSz cx="12192000" cy="6858000"/>
  <p:notesSz cx="10234613" cy="7104063"/>
  <p:defaultTextStyle>
    <a:defPPr>
      <a:defRPr kern="0"/>
    </a:defPPr>
  </p:defaultTextStyle>
  <p:extLst>
    <p:ext uri="{EFAFB233-063F-42B5-8137-9DF3F51BA10A}">
      <p15:sldGuideLst xmlns:p15="http://schemas.microsoft.com/office/powerpoint/2012/main">
        <p15:guide id="1" orient="horz" pos="2880" userDrawn="1">
          <p15:clr>
            <a:srgbClr val="A4A3A4"/>
          </p15:clr>
        </p15:guide>
        <p15:guide id="2" pos="2129"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97" autoAdjust="0"/>
    <p:restoredTop sz="77244" autoAdjust="0"/>
  </p:normalViewPr>
  <p:slideViewPr>
    <p:cSldViewPr showGuides="1">
      <p:cViewPr varScale="1">
        <p:scale>
          <a:sx n="62" d="100"/>
          <a:sy n="62" d="100"/>
        </p:scale>
        <p:origin x="1382" y="62"/>
      </p:cViewPr>
      <p:guideLst>
        <p:guide orient="horz" pos="2880"/>
        <p:guide pos="2129"/>
      </p:guideLst>
    </p:cSldViewPr>
  </p:slideViewPr>
  <p:outlineViewPr>
    <p:cViewPr>
      <p:scale>
        <a:sx n="33" d="100"/>
        <a:sy n="33" d="100"/>
      </p:scale>
      <p:origin x="0" y="-10358"/>
    </p:cViewPr>
  </p:outlineViewPr>
  <p:notesTextViewPr>
    <p:cViewPr>
      <p:scale>
        <a:sx n="100" d="100"/>
        <a:sy n="100" d="100"/>
      </p:scale>
      <p:origin x="0" y="0"/>
    </p:cViewPr>
  </p:notesTextViewPr>
  <p:sorterViewPr>
    <p:cViewPr>
      <p:scale>
        <a:sx n="100" d="100"/>
        <a:sy n="100" d="100"/>
      </p:scale>
      <p:origin x="0" y="-10248"/>
    </p:cViewPr>
  </p:sorterViewPr>
  <p:notesViewPr>
    <p:cSldViewPr>
      <p:cViewPr varScale="1">
        <p:scale>
          <a:sx n="77" d="100"/>
          <a:sy n="77" d="100"/>
        </p:scale>
        <p:origin x="134" y="72"/>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handoutMaster" Target="handoutMasters/handoutMaster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notesMaster" Target="notesMasters/notesMaster1.xml"/><Relationship Id="rId9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317037F-4105-3887-5DD3-0CE9834AFDB4}"/>
              </a:ext>
            </a:extLst>
          </p:cNvPr>
          <p:cNvSpPr>
            <a:spLocks noGrp="1"/>
          </p:cNvSpPr>
          <p:nvPr>
            <p:ph type="hdr" sz="quarter"/>
          </p:nvPr>
        </p:nvSpPr>
        <p:spPr>
          <a:xfrm>
            <a:off x="0" y="0"/>
            <a:ext cx="4434844" cy="356126"/>
          </a:xfrm>
          <a:prstGeom prst="rect">
            <a:avLst/>
          </a:prstGeom>
        </p:spPr>
        <p:txBody>
          <a:bodyPr vert="horz" lIns="44540" tIns="22270" rIns="44540" bIns="22270" rtlCol="0"/>
          <a:lstStyle>
            <a:lvl1pPr algn="l">
              <a:defRPr sz="600"/>
            </a:lvl1pPr>
          </a:lstStyle>
          <a:p>
            <a:r>
              <a:rPr lang="en-IN"/>
              <a:t>1</a:t>
            </a:r>
          </a:p>
        </p:txBody>
      </p:sp>
      <p:sp>
        <p:nvSpPr>
          <p:cNvPr id="3" name="Date Placeholder 2">
            <a:extLst>
              <a:ext uri="{FF2B5EF4-FFF2-40B4-BE49-F238E27FC236}">
                <a16:creationId xmlns:a16="http://schemas.microsoft.com/office/drawing/2014/main" id="{96861F8A-7C4F-56CF-9933-361B0DEAFB84}"/>
              </a:ext>
            </a:extLst>
          </p:cNvPr>
          <p:cNvSpPr>
            <a:spLocks noGrp="1"/>
          </p:cNvSpPr>
          <p:nvPr>
            <p:ph type="dt" sz="quarter" idx="1"/>
          </p:nvPr>
        </p:nvSpPr>
        <p:spPr>
          <a:xfrm>
            <a:off x="5797441" y="0"/>
            <a:ext cx="4434844" cy="356126"/>
          </a:xfrm>
          <a:prstGeom prst="rect">
            <a:avLst/>
          </a:prstGeom>
        </p:spPr>
        <p:txBody>
          <a:bodyPr vert="horz" lIns="44540" tIns="22270" rIns="44540" bIns="22270" rtlCol="0"/>
          <a:lstStyle>
            <a:lvl1pPr algn="r">
              <a:defRPr sz="600"/>
            </a:lvl1pPr>
          </a:lstStyle>
          <a:p>
            <a:fld id="{EBFB1D95-E147-4113-BC33-5AECFAF189AE}" type="datetimeFigureOut">
              <a:rPr lang="en-IN" smtClean="0"/>
              <a:t>28-02-2026</a:t>
            </a:fld>
            <a:endParaRPr lang="en-IN"/>
          </a:p>
        </p:txBody>
      </p:sp>
      <p:sp>
        <p:nvSpPr>
          <p:cNvPr id="4" name="Footer Placeholder 3">
            <a:extLst>
              <a:ext uri="{FF2B5EF4-FFF2-40B4-BE49-F238E27FC236}">
                <a16:creationId xmlns:a16="http://schemas.microsoft.com/office/drawing/2014/main" id="{F6A93729-02E2-9245-9C88-CA6764EC5880}"/>
              </a:ext>
            </a:extLst>
          </p:cNvPr>
          <p:cNvSpPr>
            <a:spLocks noGrp="1"/>
          </p:cNvSpPr>
          <p:nvPr>
            <p:ph type="ftr" sz="quarter" idx="2"/>
          </p:nvPr>
        </p:nvSpPr>
        <p:spPr>
          <a:xfrm>
            <a:off x="0" y="6747937"/>
            <a:ext cx="4434844" cy="356126"/>
          </a:xfrm>
          <a:prstGeom prst="rect">
            <a:avLst/>
          </a:prstGeom>
        </p:spPr>
        <p:txBody>
          <a:bodyPr vert="horz" lIns="44540" tIns="22270" rIns="44540" bIns="22270" rtlCol="0" anchor="b"/>
          <a:lstStyle>
            <a:lvl1pPr algn="l">
              <a:defRPr sz="600"/>
            </a:lvl1pPr>
          </a:lstStyle>
          <a:p>
            <a:endParaRPr lang="en-IN"/>
          </a:p>
        </p:txBody>
      </p:sp>
      <p:sp>
        <p:nvSpPr>
          <p:cNvPr id="5" name="Slide Number Placeholder 4">
            <a:extLst>
              <a:ext uri="{FF2B5EF4-FFF2-40B4-BE49-F238E27FC236}">
                <a16:creationId xmlns:a16="http://schemas.microsoft.com/office/drawing/2014/main" id="{6C43D147-1A95-7B7A-B978-E2902043C9AD}"/>
              </a:ext>
            </a:extLst>
          </p:cNvPr>
          <p:cNvSpPr>
            <a:spLocks noGrp="1"/>
          </p:cNvSpPr>
          <p:nvPr>
            <p:ph type="sldNum" sz="quarter" idx="3"/>
          </p:nvPr>
        </p:nvSpPr>
        <p:spPr>
          <a:xfrm>
            <a:off x="5797441" y="6747937"/>
            <a:ext cx="4434844" cy="356126"/>
          </a:xfrm>
          <a:prstGeom prst="rect">
            <a:avLst/>
          </a:prstGeom>
        </p:spPr>
        <p:txBody>
          <a:bodyPr vert="horz" lIns="44540" tIns="22270" rIns="44540" bIns="22270" rtlCol="0" anchor="b"/>
          <a:lstStyle>
            <a:lvl1pPr algn="r">
              <a:defRPr sz="600"/>
            </a:lvl1pPr>
          </a:lstStyle>
          <a:p>
            <a:fld id="{6FA4F7FA-6FBA-4214-B4F0-6E09CADACF34}" type="slidenum">
              <a:rPr lang="en-IN" smtClean="0"/>
              <a:t>‹#›</a:t>
            </a:fld>
            <a:endParaRPr lang="en-IN"/>
          </a:p>
        </p:txBody>
      </p:sp>
    </p:spTree>
    <p:extLst>
      <p:ext uri="{BB962C8B-B14F-4D97-AF65-F5344CB8AC3E}">
        <p14:creationId xmlns:p14="http://schemas.microsoft.com/office/powerpoint/2010/main" val="426642181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3" y="1"/>
            <a:ext cx="7884443" cy="267327"/>
          </a:xfrm>
          <a:prstGeom prst="rect">
            <a:avLst/>
          </a:prstGeom>
        </p:spPr>
        <p:txBody>
          <a:bodyPr vert="horz" lIns="83187" tIns="41593" rIns="83187" bIns="41593" rtlCol="0"/>
          <a:lstStyle>
            <a:lvl1pPr algn="l">
              <a:defRPr sz="1100"/>
            </a:lvl1pPr>
          </a:lstStyle>
          <a:p>
            <a:r>
              <a:rPr lang="en-US"/>
              <a:t>1</a:t>
            </a:r>
          </a:p>
        </p:txBody>
      </p:sp>
      <p:sp>
        <p:nvSpPr>
          <p:cNvPr id="7" name="Slide Number Placeholder 6"/>
          <p:cNvSpPr>
            <a:spLocks noGrp="1"/>
          </p:cNvSpPr>
          <p:nvPr>
            <p:ph type="sldNum" sz="quarter" idx="5"/>
          </p:nvPr>
        </p:nvSpPr>
        <p:spPr>
          <a:xfrm>
            <a:off x="10306216" y="5060723"/>
            <a:ext cx="7884443" cy="267327"/>
          </a:xfrm>
          <a:prstGeom prst="rect">
            <a:avLst/>
          </a:prstGeom>
        </p:spPr>
        <p:txBody>
          <a:bodyPr vert="horz" lIns="83187" tIns="41593" rIns="83187" bIns="41593" rtlCol="0" anchor="b"/>
          <a:lstStyle>
            <a:lvl1pPr algn="r">
              <a:defRPr sz="1100"/>
            </a:lvl1pPr>
          </a:lstStyle>
          <a:p>
            <a:fld id="{21B2AA4F-B828-4D7C-AFD3-893933DAFCB4}" type="slidenum">
              <a:rPr lang="en-US" smtClean="0"/>
              <a:t>‹#›</a:t>
            </a:fld>
            <a:endParaRPr lang="en-US"/>
          </a:p>
        </p:txBody>
      </p:sp>
      <p:sp>
        <p:nvSpPr>
          <p:cNvPr id="11" name="Notes Placeholder 10">
            <a:extLst>
              <a:ext uri="{FF2B5EF4-FFF2-40B4-BE49-F238E27FC236}">
                <a16:creationId xmlns:a16="http://schemas.microsoft.com/office/drawing/2014/main" id="{A1F95214-00B0-825E-E5F5-32D621E96134}"/>
              </a:ext>
            </a:extLst>
          </p:cNvPr>
          <p:cNvSpPr>
            <a:spLocks noGrp="1"/>
          </p:cNvSpPr>
          <p:nvPr>
            <p:ph type="body" sz="quarter" idx="3"/>
          </p:nvPr>
        </p:nvSpPr>
        <p:spPr>
          <a:xfrm>
            <a:off x="900000" y="3420000"/>
            <a:ext cx="8740901" cy="3180032"/>
          </a:xfrm>
          <a:prstGeom prst="rect">
            <a:avLst/>
          </a:prstGeom>
        </p:spPr>
        <p:txBody>
          <a:bodyPr vert="horz" lIns="91440" tIns="0" rIns="9144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Slide Image Placeholder 11">
            <a:extLst>
              <a:ext uri="{FF2B5EF4-FFF2-40B4-BE49-F238E27FC236}">
                <a16:creationId xmlns:a16="http://schemas.microsoft.com/office/drawing/2014/main" id="{AE46CB29-C8EA-10A7-F562-FD5FE7EF677A}"/>
              </a:ext>
            </a:extLst>
          </p:cNvPr>
          <p:cNvSpPr>
            <a:spLocks noGrp="1" noRot="1" noChangeAspect="1"/>
          </p:cNvSpPr>
          <p:nvPr>
            <p:ph type="sldImg" idx="2"/>
          </p:nvPr>
        </p:nvSpPr>
        <p:spPr>
          <a:xfrm>
            <a:off x="2986088" y="887413"/>
            <a:ext cx="4265612" cy="2398712"/>
          </a:xfrm>
          <a:prstGeom prst="rect">
            <a:avLst/>
          </a:prstGeom>
          <a:noFill/>
          <a:ln w="12700">
            <a:solidFill>
              <a:prstClr val="black"/>
            </a:solidFill>
          </a:ln>
        </p:spPr>
        <p:txBody>
          <a:bodyPr vert="horz" lIns="91440" tIns="45720" rIns="91440" bIns="45720" rtlCol="0" anchor="ctr"/>
          <a:lstStyle/>
          <a:p>
            <a:r>
              <a:rPr lang="en-IN" dirty="0"/>
              <a:t>7</a:t>
            </a:r>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2400" kern="1200">
        <a:solidFill>
          <a:schemeClr val="tx1"/>
        </a:solidFill>
        <a:latin typeface="+mn-lt"/>
        <a:ea typeface="+mn-ea"/>
        <a:cs typeface="+mn-cs"/>
      </a:defRPr>
    </a:lvl1pPr>
    <a:lvl2pPr marL="457200" algn="l" defTabSz="914400" rtl="0" eaLnBrk="1" latinLnBrk="0" hangingPunct="1">
      <a:defRPr sz="2400" kern="1200">
        <a:solidFill>
          <a:schemeClr val="tx1"/>
        </a:solidFill>
        <a:latin typeface="+mn-lt"/>
        <a:ea typeface="+mn-ea"/>
        <a:cs typeface="+mn-cs"/>
      </a:defRPr>
    </a:lvl2pPr>
    <a:lvl3pPr marL="914400" algn="l" defTabSz="914400" rtl="0" eaLnBrk="1" latinLnBrk="0" hangingPunct="1">
      <a:defRPr sz="2400" kern="1200">
        <a:solidFill>
          <a:schemeClr val="tx1"/>
        </a:solidFill>
        <a:latin typeface="+mn-lt"/>
        <a:ea typeface="+mn-ea"/>
        <a:cs typeface="+mn-cs"/>
      </a:defRPr>
    </a:lvl3pPr>
    <a:lvl4pPr marL="1371600" algn="l" defTabSz="914400" rtl="0" eaLnBrk="1" latinLnBrk="0" hangingPunct="1">
      <a:defRPr sz="2400" kern="1200">
        <a:solidFill>
          <a:schemeClr val="tx1"/>
        </a:solidFill>
        <a:latin typeface="+mn-lt"/>
        <a:ea typeface="+mn-ea"/>
        <a:cs typeface="+mn-cs"/>
      </a:defRPr>
    </a:lvl4pPr>
    <a:lvl5pPr marL="1828800" algn="l" defTabSz="914400" rtl="0" eaLnBrk="1" latinLnBrk="0" hangingPunct="1">
      <a:defRPr sz="24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c6f59039d_0_0:notes"/>
          <p:cNvSpPr>
            <a:spLocks noGrp="1" noRot="1" noChangeAspect="1"/>
          </p:cNvSpPr>
          <p:nvPr>
            <p:ph type="sldImg" idx="2"/>
          </p:nvPr>
        </p:nvSpPr>
        <p:spPr>
          <a:xfrm>
            <a:off x="-276225" y="711200"/>
            <a:ext cx="6311900" cy="355123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c6f59039d_0_0:notes"/>
          <p:cNvSpPr txBox="1">
            <a:spLocks noGrp="1"/>
          </p:cNvSpPr>
          <p:nvPr>
            <p:ph type="body" idx="1"/>
          </p:nvPr>
        </p:nvSpPr>
        <p:spPr>
          <a:xfrm>
            <a:off x="575698" y="4499240"/>
            <a:ext cx="4605575" cy="4262438"/>
          </a:xfrm>
          <a:prstGeom prst="rect">
            <a:avLst/>
          </a:prstGeom>
        </p:spPr>
        <p:txBody>
          <a:bodyPr spcFirstLastPara="1" wrap="square" lIns="83173" tIns="83173" rIns="83173" bIns="83173" anchor="t" anchorCtr="0">
            <a:noAutofit/>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52725" y="427038"/>
            <a:ext cx="3200400" cy="1800225"/>
          </a:xfrm>
          <a:prstGeom prst="rect">
            <a:avLst/>
          </a:prstGeom>
        </p:spPr>
      </p:sp>
      <p:sp>
        <p:nvSpPr>
          <p:cNvPr id="3" name="Notes Placeholder 2"/>
          <p:cNvSpPr>
            <a:spLocks noGrp="1"/>
          </p:cNvSpPr>
          <p:nvPr>
            <p:ph type="body" idx="1"/>
          </p:nvPr>
        </p:nvSpPr>
        <p:spPr>
          <a:xfrm>
            <a:off x="123452" y="2564124"/>
            <a:ext cx="9838645" cy="2097919"/>
          </a:xfrm>
          <a:prstGeom prst="rect">
            <a:avLst/>
          </a:prstGeom>
        </p:spPr>
        <p:txBody>
          <a:bodyPr/>
          <a:lstStyle/>
          <a:p>
            <a:r>
              <a:rPr lang="en-US" sz="2000" b="1" dirty="0"/>
              <a:t>Air Quality Monitoring</a:t>
            </a:r>
            <a:r>
              <a:rPr lang="en-US" sz="2000" dirty="0"/>
              <a:t>, which simply means measuring the pollutants in our air.</a:t>
            </a:r>
          </a:p>
          <a:p>
            <a:r>
              <a:rPr lang="en-US" sz="2000" dirty="0"/>
              <a:t> You can't fix a problem if you don't know how big it is, </a:t>
            </a:r>
          </a:p>
          <a:p>
            <a:r>
              <a:rPr lang="en-US" sz="2000" dirty="0"/>
              <a:t>so monitoring is the first and most important step in any plan to clean up the air. </a:t>
            </a:r>
          </a:p>
          <a:p>
            <a:r>
              <a:rPr lang="en-US" sz="2000" dirty="0"/>
              <a:t>By collecting this data, we can see if the air is getting better or worse and compare</a:t>
            </a:r>
          </a:p>
          <a:p>
            <a:r>
              <a:rPr lang="en-US" sz="2000" dirty="0"/>
              <a:t> our results to the legal safety limits (standards)</a:t>
            </a:r>
            <a:endParaRPr lang="en-IN" sz="2000" dirty="0"/>
          </a:p>
        </p:txBody>
      </p:sp>
      <p:sp>
        <p:nvSpPr>
          <p:cNvPr id="4" name="Slide Number Placeholder 3"/>
          <p:cNvSpPr>
            <a:spLocks noGrp="1"/>
          </p:cNvSpPr>
          <p:nvPr>
            <p:ph type="sldNum" sz="quarter" idx="5"/>
          </p:nvPr>
        </p:nvSpPr>
        <p:spPr/>
        <p:txBody>
          <a:bodyPr/>
          <a:lstStyle/>
          <a:p>
            <a:fld id="{21B2AA4F-B828-4D7C-AFD3-893933DAFCB4}" type="slidenum">
              <a:rPr lang="en-US" smtClean="0"/>
              <a:t>2</a:t>
            </a:fld>
            <a:endParaRPr lang="en-US"/>
          </a:p>
        </p:txBody>
      </p:sp>
    </p:spTree>
    <p:extLst>
      <p:ext uri="{BB962C8B-B14F-4D97-AF65-F5344CB8AC3E}">
        <p14:creationId xmlns:p14="http://schemas.microsoft.com/office/powerpoint/2010/main" val="14406425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195638" y="566738"/>
            <a:ext cx="3194050" cy="1797050"/>
          </a:xfrm>
          <a:prstGeom prst="rect">
            <a:avLst/>
          </a:prstGeom>
        </p:spPr>
      </p:sp>
      <p:sp>
        <p:nvSpPr>
          <p:cNvPr id="3" name="Notes Placeholder 2"/>
          <p:cNvSpPr>
            <a:spLocks noGrp="1"/>
          </p:cNvSpPr>
          <p:nvPr>
            <p:ph type="body" idx="1"/>
          </p:nvPr>
        </p:nvSpPr>
        <p:spPr>
          <a:xfrm>
            <a:off x="123452" y="2564124"/>
            <a:ext cx="9838645" cy="4264507"/>
          </a:xfrm>
          <a:prstGeom prst="rect">
            <a:avLst/>
          </a:prstGeom>
        </p:spPr>
        <p:txBody>
          <a:bodyPr>
            <a:normAutofit/>
          </a:bodyPr>
          <a:lstStyle/>
          <a:p>
            <a:pPr marL="222702" indent="-222702">
              <a:buAutoNum type="arabicPeriod"/>
            </a:pPr>
            <a:r>
              <a:rPr lang="en-US" sz="2000" b="1" dirty="0"/>
              <a:t>Checking Our Work</a:t>
            </a:r>
            <a:r>
              <a:rPr lang="en-US" sz="2000" dirty="0"/>
              <a:t> Monitoring is like a "test grade" for our pollution laws. </a:t>
            </a:r>
          </a:p>
          <a:p>
            <a:r>
              <a:rPr lang="en-US" sz="2000" dirty="0"/>
              <a:t>When we pass a new rule to limit smoke from a factory, we use monitoring to see if that rule actually worked to clean the air.</a:t>
            </a:r>
          </a:p>
          <a:p>
            <a:r>
              <a:rPr lang="en-US" sz="2000" b="1" dirty="0"/>
              <a:t>2. The Long View (Trends)</a:t>
            </a:r>
            <a:r>
              <a:rPr lang="en-US" sz="2000" dirty="0"/>
              <a:t> Government groups usually set up stations that stay in one place for many years. This helps us see "long-term trends"—like whether a city's air has improved over the last 10 years because of better car engines.</a:t>
            </a:r>
          </a:p>
          <a:p>
            <a:r>
              <a:rPr lang="en-US" sz="2000" b="1" dirty="0"/>
              <a:t>3. The Short View (Spikes)</a:t>
            </a:r>
            <a:r>
              <a:rPr lang="en-US" sz="2000" dirty="0"/>
              <a:t> Sometimes, we can't wait years for an answer. We use "short-term sampling" to catch sudden, dangerous spikes in pollution. For example, if there is a massive traffic jam or a fire, we need to know </a:t>
            </a:r>
            <a:r>
              <a:rPr lang="en-US" sz="2000" i="1" dirty="0"/>
              <a:t>right now</a:t>
            </a:r>
            <a:r>
              <a:rPr lang="en-US" sz="2000" dirty="0"/>
              <a:t> if the air is safe for people to breathe at that exact moment.</a:t>
            </a:r>
          </a:p>
          <a:p>
            <a:endParaRPr lang="en-IN" sz="2000" dirty="0"/>
          </a:p>
        </p:txBody>
      </p:sp>
      <p:sp>
        <p:nvSpPr>
          <p:cNvPr id="4" name="Slide Number Placeholder 3"/>
          <p:cNvSpPr>
            <a:spLocks noGrp="1"/>
          </p:cNvSpPr>
          <p:nvPr>
            <p:ph type="sldNum" sz="quarter" idx="5"/>
          </p:nvPr>
        </p:nvSpPr>
        <p:spPr/>
        <p:txBody>
          <a:bodyPr/>
          <a:lstStyle/>
          <a:p>
            <a:fld id="{21B2AA4F-B828-4D7C-AFD3-893933DAFCB4}" type="slidenum">
              <a:rPr lang="en-US" smtClean="0"/>
              <a:t>3</a:t>
            </a:fld>
            <a:endParaRPr lang="en-US"/>
          </a:p>
        </p:txBody>
      </p:sp>
    </p:spTree>
    <p:extLst>
      <p:ext uri="{BB962C8B-B14F-4D97-AF65-F5344CB8AC3E}">
        <p14:creationId xmlns:p14="http://schemas.microsoft.com/office/powerpoint/2010/main" val="17562985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195638" y="566738"/>
            <a:ext cx="3194050" cy="1797050"/>
          </a:xfrm>
          <a:prstGeom prst="rect">
            <a:avLst/>
          </a:prstGeom>
        </p:spPr>
      </p:sp>
      <p:sp>
        <p:nvSpPr>
          <p:cNvPr id="3" name="Notes Placeholder 2"/>
          <p:cNvSpPr>
            <a:spLocks noGrp="1"/>
          </p:cNvSpPr>
          <p:nvPr>
            <p:ph type="body" idx="1"/>
          </p:nvPr>
        </p:nvSpPr>
        <p:spPr>
          <a:xfrm>
            <a:off x="123452" y="2564124"/>
            <a:ext cx="9838645" cy="4264507"/>
          </a:xfrm>
          <a:prstGeom prst="rect">
            <a:avLst/>
          </a:prstGeom>
        </p:spPr>
        <p:txBody>
          <a:bodyPr>
            <a:normAutofit fontScale="92500" lnSpcReduction="10000"/>
          </a:bodyPr>
          <a:lstStyle/>
          <a:p>
            <a:r>
              <a:rPr lang="en-US" dirty="0"/>
              <a:t>there are two main places where we test the air to see how dirty it is.</a:t>
            </a:r>
          </a:p>
          <a:p>
            <a:r>
              <a:rPr lang="en-US" b="1" dirty="0"/>
              <a:t>1. At the Source (Stack Sampling)</a:t>
            </a:r>
            <a:r>
              <a:rPr lang="en-US" dirty="0"/>
              <a:t> This is like testing the "exhaust pipe" of a factory. We put sensors right inside the tall chimneys (stacks) to see exactly what kind of chemicals are coming out and how much is being released every second. This tells us if a specific factory is following the rules.</a:t>
            </a:r>
          </a:p>
          <a:p>
            <a:r>
              <a:rPr lang="en-US" b="1" dirty="0"/>
              <a:t>2. In the Neighborhood (Ambient Measurement)</a:t>
            </a:r>
            <a:r>
              <a:rPr lang="en-US" dirty="0"/>
              <a:t> "Ambient" air is just the normal air all around us that we breathe every day. We set up stations in parks, near roads, or in residential areas to:</a:t>
            </a:r>
          </a:p>
          <a:p>
            <a:r>
              <a:rPr lang="en-US" b="1" dirty="0"/>
              <a:t>Find the Danger Zones</a:t>
            </a:r>
            <a:r>
              <a:rPr lang="en-US" dirty="0"/>
              <a:t>: Figure out exactly where and when the air becomes unhealthy for people.</a:t>
            </a:r>
          </a:p>
          <a:p>
            <a:r>
              <a:rPr lang="en-US" b="1" dirty="0"/>
              <a:t>Check the Math</a:t>
            </a:r>
            <a:r>
              <a:rPr lang="en-US" dirty="0"/>
              <a:t>: Use the real-world numbers to see if our computer models (the ones that predict where smoke goes) are actually correct.</a:t>
            </a:r>
          </a:p>
          <a:p>
            <a:r>
              <a:rPr lang="en-US" b="1" dirty="0"/>
              <a:t>Plan the Cleanup</a:t>
            </a:r>
            <a:r>
              <a:rPr lang="en-US" dirty="0"/>
              <a:t>: Decide if we need to add more trees, limit cars, or change factory rules to keep the air safe.</a:t>
            </a:r>
          </a:p>
          <a:p>
            <a:endParaRPr lang="en-IN" dirty="0"/>
          </a:p>
        </p:txBody>
      </p:sp>
      <p:sp>
        <p:nvSpPr>
          <p:cNvPr id="4" name="Slide Number Placeholder 3"/>
          <p:cNvSpPr>
            <a:spLocks noGrp="1"/>
          </p:cNvSpPr>
          <p:nvPr>
            <p:ph type="sldNum" sz="quarter" idx="5"/>
          </p:nvPr>
        </p:nvSpPr>
        <p:spPr/>
        <p:txBody>
          <a:bodyPr/>
          <a:lstStyle/>
          <a:p>
            <a:fld id="{21B2AA4F-B828-4D7C-AFD3-893933DAFCB4}" type="slidenum">
              <a:rPr lang="en-US" smtClean="0"/>
              <a:t>4</a:t>
            </a:fld>
            <a:endParaRPr lang="en-US"/>
          </a:p>
        </p:txBody>
      </p:sp>
    </p:spTree>
    <p:extLst>
      <p:ext uri="{BB962C8B-B14F-4D97-AF65-F5344CB8AC3E}">
        <p14:creationId xmlns:p14="http://schemas.microsoft.com/office/powerpoint/2010/main" val="5488561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164306" y="2713830"/>
            <a:ext cx="9476595" cy="4247357"/>
          </a:xfrm>
        </p:spPr>
        <p:txBody>
          <a:bodyPr>
            <a:noAutofit/>
          </a:bodyPr>
          <a:lstStyle/>
          <a:p>
            <a:r>
              <a:rPr lang="en-US" sz="1600" b="1" dirty="0"/>
              <a:t>How to Catch a Good Sample</a:t>
            </a:r>
          </a:p>
          <a:p>
            <a:r>
              <a:rPr lang="en-US" sz="1600" dirty="0"/>
              <a:t>In simple language, this slide explains that catching air pollution is hard because there is so little of it in the vast sky.</a:t>
            </a:r>
          </a:p>
          <a:p>
            <a:pPr marL="342900" indent="-342900">
              <a:buAutoNum type="arabicPeriod"/>
            </a:pPr>
            <a:r>
              <a:rPr lang="en-US" sz="1600" b="1" dirty="0"/>
              <a:t>Getting a "Genuine" Sample</a:t>
            </a:r>
            <a:r>
              <a:rPr lang="en-US" sz="1600" dirty="0"/>
              <a:t> The most important rule is that your </a:t>
            </a:r>
            <a:r>
              <a:rPr lang="en-US" sz="1600" b="1" dirty="0"/>
              <a:t>sample must be "real". </a:t>
            </a:r>
            <a:r>
              <a:rPr lang="en-US" sz="1600" dirty="0"/>
              <a:t>If you want to know the </a:t>
            </a:r>
            <a:r>
              <a:rPr lang="en-US" sz="1600" b="1" dirty="0"/>
              <a:t>air quality of a whole city</a:t>
            </a:r>
            <a:r>
              <a:rPr lang="en-US" sz="1600" dirty="0"/>
              <a:t>, you can't just take a sample right next to a bus exhaust pipe, or the data will be wrong. You need a sample that represents the actual air people are breathing everywhere.</a:t>
            </a:r>
          </a:p>
          <a:p>
            <a:pPr marL="342900" indent="-342900">
              <a:buAutoNum type="arabicPeriod"/>
            </a:pPr>
            <a:endParaRPr lang="en-US" sz="1600" dirty="0"/>
          </a:p>
          <a:p>
            <a:r>
              <a:rPr lang="en-US" sz="1600" b="1" dirty="0"/>
              <a:t>2. The "Slow and Steady" Rule</a:t>
            </a:r>
            <a:r>
              <a:rPr lang="en-US" sz="1600" dirty="0"/>
              <a:t> Because pollutants are so spread out, we can't just "grab" a quick breath of air and expect to find much. We have to let our machines run for a long time </a:t>
            </a:r>
            <a:r>
              <a:rPr lang="en-US" sz="1600" b="1" dirty="0"/>
              <a:t>(sometimes 24 hours) </a:t>
            </a:r>
            <a:r>
              <a:rPr lang="en-US" sz="1600" dirty="0"/>
              <a:t>to pull enough air through the filters so that we have enough "</a:t>
            </a:r>
            <a:r>
              <a:rPr lang="en-US" sz="1600" b="1" dirty="0"/>
              <a:t>dust" or "gas" to actually weigh in a lab</a:t>
            </a:r>
            <a:r>
              <a:rPr lang="en-US" sz="1600" dirty="0"/>
              <a:t>.</a:t>
            </a:r>
          </a:p>
          <a:p>
            <a:endParaRPr lang="en-US" sz="1600" dirty="0"/>
          </a:p>
          <a:p>
            <a:r>
              <a:rPr lang="en-US" sz="1600" b="1" dirty="0"/>
              <a:t>3. Why is it so hard?</a:t>
            </a:r>
            <a:r>
              <a:rPr lang="en-US" sz="1600" dirty="0"/>
              <a:t> Air is huge, and pollution is tiny. Most pollutants exist at levels </a:t>
            </a:r>
            <a:r>
              <a:rPr lang="en-US" sz="1600" b="1" dirty="0"/>
              <a:t>below 1 milligram</a:t>
            </a:r>
            <a:r>
              <a:rPr lang="en-US" sz="1600" dirty="0"/>
              <a:t> in a whole cubic meter of air. To visualize this, imagine trying to find one specific grain of sugar dissolved in a giant swimming pool—you have to check a lot of water to find it.</a:t>
            </a:r>
          </a:p>
          <a:p>
            <a:r>
              <a:rPr lang="en-US" sz="1600" b="1" dirty="0"/>
              <a:t>4. Gases and Dust</a:t>
            </a:r>
            <a:r>
              <a:rPr lang="en-US" sz="1600" dirty="0"/>
              <a:t> This rule applies to both gases (like invisible fumes) and particulates (like tiny bits of soot or dust). Both are found in such small amounts that </a:t>
            </a:r>
            <a:r>
              <a:rPr lang="en-US" sz="1600" b="1" dirty="0"/>
              <a:t>our sampling tools must be very sensitive and run for a long time</a:t>
            </a:r>
            <a:r>
              <a:rPr lang="en-US" sz="1600" dirty="0"/>
              <a:t>.</a:t>
            </a:r>
          </a:p>
          <a:p>
            <a:endParaRPr lang="en-IN" sz="1600" dirty="0"/>
          </a:p>
        </p:txBody>
      </p:sp>
      <p:sp>
        <p:nvSpPr>
          <p:cNvPr id="4" name="Slide Number Placeholder 3"/>
          <p:cNvSpPr>
            <a:spLocks noGrp="1"/>
          </p:cNvSpPr>
          <p:nvPr>
            <p:ph type="sldNum" sz="quarter" idx="5"/>
          </p:nvPr>
        </p:nvSpPr>
        <p:spPr/>
        <p:txBody>
          <a:bodyPr/>
          <a:lstStyle/>
          <a:p>
            <a:fld id="{21B2AA4F-B828-4D7C-AFD3-893933DAFCB4}" type="slidenum">
              <a:rPr lang="en-US" smtClean="0"/>
              <a:pPr/>
              <a:t>5</a:t>
            </a:fld>
            <a:endParaRPr lang="en-US"/>
          </a:p>
        </p:txBody>
      </p:sp>
      <p:sp>
        <p:nvSpPr>
          <p:cNvPr id="12" name="Slide Image Placeholder 11">
            <a:extLst>
              <a:ext uri="{FF2B5EF4-FFF2-40B4-BE49-F238E27FC236}">
                <a16:creationId xmlns:a16="http://schemas.microsoft.com/office/drawing/2014/main" id="{F3296268-F59E-BCAD-3765-60EA9D460D40}"/>
              </a:ext>
            </a:extLst>
          </p:cNvPr>
          <p:cNvSpPr>
            <a:spLocks noGrp="1" noRot="1" noChangeAspect="1"/>
          </p:cNvSpPr>
          <p:nvPr>
            <p:ph type="sldImg"/>
          </p:nvPr>
        </p:nvSpPr>
        <p:spPr>
          <a:xfrm>
            <a:off x="2984500" y="142875"/>
            <a:ext cx="4265613" cy="2398713"/>
          </a:xfrm>
        </p:spPr>
      </p:sp>
    </p:spTree>
    <p:extLst>
      <p:ext uri="{BB962C8B-B14F-4D97-AF65-F5344CB8AC3E}">
        <p14:creationId xmlns:p14="http://schemas.microsoft.com/office/powerpoint/2010/main" val="24039314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195638" y="566738"/>
            <a:ext cx="3194050" cy="1797050"/>
          </a:xfrm>
          <a:prstGeom prst="rect">
            <a:avLst/>
          </a:prstGeom>
        </p:spPr>
      </p:sp>
      <p:sp>
        <p:nvSpPr>
          <p:cNvPr id="3" name="Notes Placeholder 2"/>
          <p:cNvSpPr>
            <a:spLocks noGrp="1"/>
          </p:cNvSpPr>
          <p:nvPr>
            <p:ph type="body" idx="1"/>
          </p:nvPr>
        </p:nvSpPr>
        <p:spPr>
          <a:xfrm>
            <a:off x="123452" y="2564124"/>
            <a:ext cx="9838645" cy="4416907"/>
          </a:xfrm>
          <a:prstGeom prst="rect">
            <a:avLst/>
          </a:prstGeom>
        </p:spPr>
        <p:txBody>
          <a:bodyPr>
            <a:normAutofit fontScale="92500" lnSpcReduction="20000"/>
          </a:bodyPr>
          <a:lstStyle/>
          <a:p>
            <a:pPr rtl="0"/>
            <a:r>
              <a:rPr lang="en-US" sz="2400" b="1" kern="1200" dirty="0">
                <a:solidFill>
                  <a:schemeClr val="tx1"/>
                </a:solidFill>
                <a:effectLst/>
                <a:latin typeface="+mn-lt"/>
                <a:ea typeface="+mn-ea"/>
                <a:cs typeface="+mn-cs"/>
              </a:rPr>
              <a:t>Keeping the Sample Fresh</a:t>
            </a:r>
          </a:p>
          <a:p>
            <a:pPr rtl="0"/>
            <a:r>
              <a:rPr lang="en-US" sz="2400" b="0" kern="1200" dirty="0">
                <a:solidFill>
                  <a:schemeClr val="tx1"/>
                </a:solidFill>
                <a:effectLst/>
                <a:latin typeface="+mn-lt"/>
                <a:ea typeface="+mn-ea"/>
                <a:cs typeface="+mn-cs"/>
              </a:rPr>
              <a:t>In simple language, this slide explains that some pollutants are "active" and try to change into something else the moment we catch them.</a:t>
            </a:r>
          </a:p>
          <a:p>
            <a:pPr rtl="0"/>
            <a:r>
              <a:rPr lang="en-US" sz="2400" b="1" kern="1200" dirty="0">
                <a:solidFill>
                  <a:schemeClr val="tx1"/>
                </a:solidFill>
                <a:effectLst/>
                <a:latin typeface="+mn-lt"/>
                <a:ea typeface="+mn-ea"/>
                <a:cs typeface="+mn-cs"/>
              </a:rPr>
              <a:t>1. The "Changing" Problem</a:t>
            </a:r>
            <a:r>
              <a:rPr lang="en-US" sz="2400" b="0" kern="1200" dirty="0">
                <a:solidFill>
                  <a:schemeClr val="tx1"/>
                </a:solidFill>
                <a:effectLst/>
                <a:latin typeface="+mn-lt"/>
                <a:ea typeface="+mn-ea"/>
                <a:cs typeface="+mn-cs"/>
              </a:rPr>
              <a:t> Imagine you catch a specific bug to study it, but by the time you get to the lab, it has turned into a butterfly. You wouldn't know what the original bug looked like. Air pollutants like Sulphur Dioxide (</a:t>
            </a:r>
            <a:r>
              <a:rPr lang="en-US" sz="2400" b="0" i="1" kern="1200" dirty="0">
                <a:solidFill>
                  <a:schemeClr val="tx1"/>
                </a:solidFill>
                <a:effectLst/>
                <a:latin typeface="+mn-lt"/>
                <a:ea typeface="+mn-ea"/>
                <a:cs typeface="+mn-cs"/>
              </a:rPr>
              <a:t>SO</a:t>
            </a:r>
            <a:r>
              <a:rPr lang="en-US" sz="2400" b="0" kern="1200" dirty="0">
                <a:solidFill>
                  <a:schemeClr val="tx1"/>
                </a:solidFill>
                <a:effectLst/>
                <a:latin typeface="+mn-lt"/>
                <a:ea typeface="+mn-ea"/>
                <a:cs typeface="+mn-cs"/>
              </a:rPr>
              <a:t>2​) do this—they react with oxygen in the air to become Sulphur Trioxide (</a:t>
            </a:r>
            <a:r>
              <a:rPr lang="en-US" sz="2400" b="0" i="1" kern="1200" dirty="0">
                <a:solidFill>
                  <a:schemeClr val="tx1"/>
                </a:solidFill>
                <a:effectLst/>
                <a:latin typeface="+mn-lt"/>
                <a:ea typeface="+mn-ea"/>
                <a:cs typeface="+mn-cs"/>
              </a:rPr>
              <a:t>SO</a:t>
            </a:r>
            <a:r>
              <a:rPr lang="en-US" sz="2400" b="0" kern="1200" dirty="0">
                <a:solidFill>
                  <a:schemeClr val="tx1"/>
                </a:solidFill>
                <a:effectLst/>
                <a:latin typeface="+mn-lt"/>
                <a:ea typeface="+mn-ea"/>
                <a:cs typeface="+mn-cs"/>
              </a:rPr>
              <a:t>3​).</a:t>
            </a:r>
          </a:p>
          <a:p>
            <a:pPr rtl="0"/>
            <a:r>
              <a:rPr lang="en-US" sz="2400" b="1" kern="1200" dirty="0">
                <a:solidFill>
                  <a:schemeClr val="tx1"/>
                </a:solidFill>
                <a:effectLst/>
                <a:latin typeface="+mn-lt"/>
                <a:ea typeface="+mn-ea"/>
                <a:cs typeface="+mn-cs"/>
              </a:rPr>
              <a:t>2. Why This is a Problem</a:t>
            </a:r>
            <a:r>
              <a:rPr lang="en-US" sz="2400" b="0" kern="1200" dirty="0">
                <a:solidFill>
                  <a:schemeClr val="tx1"/>
                </a:solidFill>
                <a:effectLst/>
                <a:latin typeface="+mn-lt"/>
                <a:ea typeface="+mn-ea"/>
                <a:cs typeface="+mn-cs"/>
              </a:rPr>
              <a:t> If </a:t>
            </a:r>
            <a:r>
              <a:rPr lang="en-US" sz="2400" b="0" i="1" kern="1200" dirty="0">
                <a:solidFill>
                  <a:schemeClr val="tx1"/>
                </a:solidFill>
                <a:effectLst/>
                <a:latin typeface="+mn-lt"/>
                <a:ea typeface="+mn-ea"/>
                <a:cs typeface="+mn-cs"/>
              </a:rPr>
              <a:t>SO</a:t>
            </a:r>
            <a:r>
              <a:rPr lang="en-US" sz="2400" b="0" kern="1200" dirty="0">
                <a:solidFill>
                  <a:schemeClr val="tx1"/>
                </a:solidFill>
                <a:effectLst/>
                <a:latin typeface="+mn-lt"/>
                <a:ea typeface="+mn-ea"/>
                <a:cs typeface="+mn-cs"/>
              </a:rPr>
              <a:t>2​ turns into </a:t>
            </a:r>
            <a:r>
              <a:rPr lang="en-US" sz="2400" b="0" i="1" kern="1200" dirty="0">
                <a:solidFill>
                  <a:schemeClr val="tx1"/>
                </a:solidFill>
                <a:effectLst/>
                <a:latin typeface="+mn-lt"/>
                <a:ea typeface="+mn-ea"/>
                <a:cs typeface="+mn-cs"/>
              </a:rPr>
              <a:t>SO</a:t>
            </a:r>
            <a:r>
              <a:rPr lang="en-US" sz="2400" b="0" kern="1200" dirty="0">
                <a:solidFill>
                  <a:schemeClr val="tx1"/>
                </a:solidFill>
                <a:effectLst/>
                <a:latin typeface="+mn-lt"/>
                <a:ea typeface="+mn-ea"/>
                <a:cs typeface="+mn-cs"/>
              </a:rPr>
              <a:t>3​ inside your sampling bag or bottle, your lab results will show a very low amount of </a:t>
            </a:r>
            <a:r>
              <a:rPr lang="en-US" sz="2400" b="0" i="1" kern="1200" dirty="0">
                <a:solidFill>
                  <a:schemeClr val="tx1"/>
                </a:solidFill>
                <a:effectLst/>
                <a:latin typeface="+mn-lt"/>
                <a:ea typeface="+mn-ea"/>
                <a:cs typeface="+mn-cs"/>
              </a:rPr>
              <a:t>SO</a:t>
            </a:r>
            <a:r>
              <a:rPr lang="en-US" sz="2400" b="0" kern="1200" dirty="0">
                <a:solidFill>
                  <a:schemeClr val="tx1"/>
                </a:solidFill>
                <a:effectLst/>
                <a:latin typeface="+mn-lt"/>
                <a:ea typeface="+mn-ea"/>
                <a:cs typeface="+mn-cs"/>
              </a:rPr>
              <a:t>2​. This is "misleading" because it makes the air look cleaner than it actually was when you caught it.7</a:t>
            </a:r>
          </a:p>
          <a:p>
            <a:pPr rtl="0"/>
            <a:r>
              <a:rPr lang="en-US" sz="2400" b="1" kern="1200" dirty="0">
                <a:solidFill>
                  <a:schemeClr val="tx1"/>
                </a:solidFill>
                <a:effectLst/>
                <a:latin typeface="+mn-lt"/>
                <a:ea typeface="+mn-ea"/>
                <a:cs typeface="+mn-cs"/>
              </a:rPr>
              <a:t>3. The Solution: "Preservatives"</a:t>
            </a:r>
            <a:r>
              <a:rPr lang="en-US" sz="2400" b="0" kern="1200" dirty="0">
                <a:solidFill>
                  <a:schemeClr val="tx1"/>
                </a:solidFill>
                <a:effectLst/>
                <a:latin typeface="+mn-lt"/>
                <a:ea typeface="+mn-ea"/>
                <a:cs typeface="+mn-cs"/>
              </a:rPr>
              <a:t> To stop this from happening, we use special chemicals to "freeze" the pollutant in its original state.</a:t>
            </a:r>
          </a:p>
          <a:p>
            <a:pPr rtl="0"/>
            <a:r>
              <a:rPr lang="en-US" sz="2400" b="1" kern="1200" dirty="0">
                <a:solidFill>
                  <a:schemeClr val="tx1"/>
                </a:solidFill>
                <a:effectLst/>
                <a:latin typeface="+mn-lt"/>
                <a:ea typeface="+mn-ea"/>
                <a:cs typeface="+mn-cs"/>
              </a:rPr>
              <a:t>Reducing Agents</a:t>
            </a:r>
            <a:r>
              <a:rPr lang="en-US" sz="2400" b="0" kern="1200" dirty="0">
                <a:solidFill>
                  <a:schemeClr val="tx1"/>
                </a:solidFill>
                <a:effectLst/>
                <a:latin typeface="+mn-lt"/>
                <a:ea typeface="+mn-ea"/>
                <a:cs typeface="+mn-cs"/>
              </a:rPr>
              <a:t>: We use a chemical like </a:t>
            </a:r>
            <a:r>
              <a:rPr lang="en-US" sz="2400" b="1" kern="1200" dirty="0">
                <a:solidFill>
                  <a:schemeClr val="tx1"/>
                </a:solidFill>
                <a:effectLst/>
                <a:latin typeface="+mn-lt"/>
                <a:ea typeface="+mn-ea"/>
                <a:cs typeface="+mn-cs"/>
              </a:rPr>
              <a:t>isopropanol</a:t>
            </a:r>
            <a:r>
              <a:rPr lang="en-US" sz="2400" b="0" kern="1200" dirty="0">
                <a:solidFill>
                  <a:schemeClr val="tx1"/>
                </a:solidFill>
                <a:effectLst/>
                <a:latin typeface="+mn-lt"/>
                <a:ea typeface="+mn-ea"/>
                <a:cs typeface="+mn-cs"/>
              </a:rPr>
              <a:t>.</a:t>
            </a:r>
          </a:p>
          <a:p>
            <a:pPr rtl="0"/>
            <a:r>
              <a:rPr lang="en-US" sz="2400" b="1" kern="1200" dirty="0">
                <a:solidFill>
                  <a:schemeClr val="tx1"/>
                </a:solidFill>
                <a:effectLst/>
                <a:latin typeface="+mn-lt"/>
                <a:ea typeface="+mn-ea"/>
                <a:cs typeface="+mn-cs"/>
              </a:rPr>
              <a:t>How it works</a:t>
            </a:r>
            <a:r>
              <a:rPr lang="en-US" sz="2400" b="0" kern="1200" dirty="0">
                <a:solidFill>
                  <a:schemeClr val="tx1"/>
                </a:solidFill>
                <a:effectLst/>
                <a:latin typeface="+mn-lt"/>
                <a:ea typeface="+mn-ea"/>
                <a:cs typeface="+mn-cs"/>
              </a:rPr>
              <a:t>: The isopropanol acts like a shield that prevents oxygen from turning the </a:t>
            </a:r>
            <a:r>
              <a:rPr lang="en-US" sz="2400" b="0" i="1" kern="1200" dirty="0">
                <a:solidFill>
                  <a:schemeClr val="tx1"/>
                </a:solidFill>
                <a:effectLst/>
                <a:latin typeface="+mn-lt"/>
                <a:ea typeface="+mn-ea"/>
                <a:cs typeface="+mn-cs"/>
              </a:rPr>
              <a:t>SO</a:t>
            </a:r>
            <a:r>
              <a:rPr lang="en-US" sz="2400" b="0" kern="1200" dirty="0">
                <a:solidFill>
                  <a:schemeClr val="tx1"/>
                </a:solidFill>
                <a:effectLst/>
                <a:latin typeface="+mn-lt"/>
                <a:ea typeface="+mn-ea"/>
                <a:cs typeface="+mn-cs"/>
              </a:rPr>
              <a:t>2​ into </a:t>
            </a:r>
            <a:r>
              <a:rPr lang="en-US" sz="2400" b="0" i="1" kern="1200" dirty="0">
                <a:solidFill>
                  <a:schemeClr val="tx1"/>
                </a:solidFill>
                <a:effectLst/>
                <a:latin typeface="+mn-lt"/>
                <a:ea typeface="+mn-ea"/>
                <a:cs typeface="+mn-cs"/>
              </a:rPr>
              <a:t>SO</a:t>
            </a:r>
            <a:r>
              <a:rPr lang="en-US" sz="2400" b="0" kern="1200" dirty="0">
                <a:solidFill>
                  <a:schemeClr val="tx1"/>
                </a:solidFill>
                <a:effectLst/>
                <a:latin typeface="+mn-lt"/>
                <a:ea typeface="+mn-ea"/>
                <a:cs typeface="+mn-cs"/>
              </a:rPr>
              <a:t>3​. This keeps the sample "fresh" until the scientist can measure it in the lab.</a:t>
            </a:r>
          </a:p>
          <a:p>
            <a:endParaRPr lang="en-IN" dirty="0"/>
          </a:p>
        </p:txBody>
      </p:sp>
      <p:sp>
        <p:nvSpPr>
          <p:cNvPr id="4" name="Slide Number Placeholder 3"/>
          <p:cNvSpPr>
            <a:spLocks noGrp="1"/>
          </p:cNvSpPr>
          <p:nvPr>
            <p:ph type="sldNum" sz="quarter" idx="5"/>
          </p:nvPr>
        </p:nvSpPr>
        <p:spPr/>
        <p:txBody>
          <a:bodyPr/>
          <a:lstStyle/>
          <a:p>
            <a:fld id="{21B2AA4F-B828-4D7C-AFD3-893933DAFCB4}" type="slidenum">
              <a:rPr lang="en-US" smtClean="0"/>
              <a:t>6</a:t>
            </a:fld>
            <a:endParaRPr lang="en-US"/>
          </a:p>
        </p:txBody>
      </p:sp>
    </p:spTree>
    <p:extLst>
      <p:ext uri="{BB962C8B-B14F-4D97-AF65-F5344CB8AC3E}">
        <p14:creationId xmlns:p14="http://schemas.microsoft.com/office/powerpoint/2010/main" val="42774669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195638" y="566738"/>
            <a:ext cx="3194050" cy="1797050"/>
          </a:xfrm>
          <a:prstGeom prst="rect">
            <a:avLst/>
          </a:prstGeom>
        </p:spPr>
      </p:sp>
      <p:sp>
        <p:nvSpPr>
          <p:cNvPr id="3" name="Notes Placeholder 2"/>
          <p:cNvSpPr>
            <a:spLocks noGrp="1"/>
          </p:cNvSpPr>
          <p:nvPr>
            <p:ph type="body" idx="1"/>
          </p:nvPr>
        </p:nvSpPr>
        <p:spPr>
          <a:xfrm>
            <a:off x="123452" y="2564124"/>
            <a:ext cx="9838645" cy="4340707"/>
          </a:xfrm>
          <a:prstGeom prst="rect">
            <a:avLst/>
          </a:prstGeom>
        </p:spPr>
        <p:txBody>
          <a:bodyPr>
            <a:normAutofit fontScale="85000" lnSpcReduction="20000"/>
          </a:bodyPr>
          <a:lstStyle/>
          <a:p>
            <a:r>
              <a:rPr lang="en-US" b="1" dirty="0"/>
              <a:t>Lecture Note: Modern Machines vs. Traditional Methods</a:t>
            </a:r>
          </a:p>
          <a:p>
            <a:r>
              <a:rPr lang="en-US" dirty="0"/>
              <a:t>In simple language, this slide compares "high-tech" automatic sensors with the "old-school" manual ways of testing air.</a:t>
            </a:r>
          </a:p>
          <a:p>
            <a:r>
              <a:rPr lang="en-US" b="1" dirty="0"/>
              <a:t>1. The Perfect Way (Automatic Analyzers)</a:t>
            </a:r>
            <a:r>
              <a:rPr lang="en-US" dirty="0"/>
              <a:t> The best way to test air is to measure it exactly as it is in the sky, without ever catching it in a bag or bottle. We use </a:t>
            </a:r>
            <a:r>
              <a:rPr lang="en-US" b="1" dirty="0"/>
              <a:t>continuous automatic analyzers</a:t>
            </a:r>
            <a:r>
              <a:rPr lang="en-US" dirty="0"/>
              <a:t> for this. These are machines that suck in air and give you a digital reading of the pollution levels every second.</a:t>
            </a:r>
          </a:p>
          <a:p>
            <a:r>
              <a:rPr lang="en-US" b="1" dirty="0"/>
              <a:t>2. Why Automatic is Better</a:t>
            </a:r>
            <a:endParaRPr lang="en-US" dirty="0"/>
          </a:p>
          <a:p>
            <a:r>
              <a:rPr lang="en-US" b="1" dirty="0"/>
              <a:t>No Changes</a:t>
            </a:r>
            <a:r>
              <a:rPr lang="en-US" dirty="0"/>
              <a:t>: Since the machine tests the air immediately, the pollutants don't have time to change or react (like we saw in the last slide).</a:t>
            </a:r>
          </a:p>
          <a:p>
            <a:r>
              <a:rPr lang="en-US" b="1" dirty="0"/>
              <a:t>Live Data</a:t>
            </a:r>
            <a:r>
              <a:rPr lang="en-US" dirty="0"/>
              <a:t>: You get a constant stream of information instead of waiting for a lab report.</a:t>
            </a:r>
          </a:p>
          <a:p>
            <a:r>
              <a:rPr lang="en-US" b="1" dirty="0"/>
              <a:t>3. The Reality Check</a:t>
            </a:r>
            <a:r>
              <a:rPr lang="en-US" dirty="0"/>
              <a:t> Even though automatic machines are great, we don't have them for every type of chemical yet. Many are still being tested or invented in labs.</a:t>
            </a:r>
          </a:p>
          <a:p>
            <a:r>
              <a:rPr lang="en-US" b="1" dirty="0"/>
              <a:t>4. Why We Still Use "Old-School" Methods</a:t>
            </a:r>
            <a:r>
              <a:rPr lang="en-US" dirty="0"/>
              <a:t> Because automatic machines are very expensive and complicated, most people still use </a:t>
            </a:r>
            <a:r>
              <a:rPr lang="en-US" b="1" dirty="0"/>
              <a:t>conventional methods</a:t>
            </a:r>
            <a:r>
              <a:rPr lang="en-US" dirty="0"/>
              <a:t>. These are the manual ways of catching air in a container and taking it to a laboratory. They are cheaper, easier to set up, and have been trusted by scientists for a long time.</a:t>
            </a:r>
          </a:p>
          <a:p>
            <a:endParaRPr lang="en-IN" dirty="0"/>
          </a:p>
        </p:txBody>
      </p:sp>
      <p:sp>
        <p:nvSpPr>
          <p:cNvPr id="4" name="Slide Number Placeholder 3"/>
          <p:cNvSpPr>
            <a:spLocks noGrp="1"/>
          </p:cNvSpPr>
          <p:nvPr>
            <p:ph type="sldNum" sz="quarter" idx="5"/>
          </p:nvPr>
        </p:nvSpPr>
        <p:spPr/>
        <p:txBody>
          <a:bodyPr/>
          <a:lstStyle/>
          <a:p>
            <a:fld id="{21B2AA4F-B828-4D7C-AFD3-893933DAFCB4}" type="slidenum">
              <a:rPr lang="en-US" smtClean="0"/>
              <a:t>7</a:t>
            </a:fld>
            <a:endParaRPr lang="en-US"/>
          </a:p>
        </p:txBody>
      </p:sp>
    </p:spTree>
    <p:extLst>
      <p:ext uri="{BB962C8B-B14F-4D97-AF65-F5344CB8AC3E}">
        <p14:creationId xmlns:p14="http://schemas.microsoft.com/office/powerpoint/2010/main" val="14689451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195638" y="566738"/>
            <a:ext cx="3194050" cy="1797050"/>
          </a:xfrm>
          <a:prstGeom prst="rect">
            <a:avLst/>
          </a:prstGeom>
        </p:spPr>
      </p:sp>
      <p:sp>
        <p:nvSpPr>
          <p:cNvPr id="3" name="Notes Placeholder 2"/>
          <p:cNvSpPr>
            <a:spLocks noGrp="1"/>
          </p:cNvSpPr>
          <p:nvPr>
            <p:ph type="body" idx="1"/>
          </p:nvPr>
        </p:nvSpPr>
        <p:spPr>
          <a:xfrm>
            <a:off x="123452" y="2564124"/>
            <a:ext cx="9838645" cy="4416907"/>
          </a:xfrm>
          <a:prstGeom prst="rect">
            <a:avLst/>
          </a:prstGeom>
        </p:spPr>
        <p:txBody>
          <a:bodyPr>
            <a:normAutofit fontScale="92500" lnSpcReduction="20000"/>
          </a:bodyPr>
          <a:lstStyle/>
          <a:p>
            <a:r>
              <a:rPr lang="en-US" b="1" dirty="0"/>
              <a:t>The "Vacuum Cleaner" for Air</a:t>
            </a:r>
          </a:p>
          <a:p>
            <a:r>
              <a:rPr lang="en-US" dirty="0"/>
              <a:t>In simple language, this slide describes the machine we use to catch pollution. It works a lot like a vacuum cleaner, but it needs to be much more precise.</a:t>
            </a:r>
          </a:p>
          <a:p>
            <a:r>
              <a:rPr lang="en-US" b="1" dirty="0"/>
              <a:t>1. The Pump (The Muscle)</a:t>
            </a:r>
            <a:r>
              <a:rPr lang="en-US" dirty="0"/>
              <a:t> The pump is the engine of the system. Its only job is to provide the "sucking" power to pull outside air into the machine so we can test it.</a:t>
            </a:r>
          </a:p>
          <a:p>
            <a:r>
              <a:rPr lang="en-US" b="1" dirty="0"/>
              <a:t>2. The Flowmeter (The Speedometer)</a:t>
            </a:r>
            <a:r>
              <a:rPr lang="en-US" dirty="0"/>
              <a:t> The flowmeter tells us </a:t>
            </a:r>
            <a:r>
              <a:rPr lang="en-US" b="1" dirty="0"/>
              <a:t>exactly how much air is entering the machine</a:t>
            </a:r>
            <a:r>
              <a:rPr lang="en-US" dirty="0"/>
              <a:t>. This is very important because if we don't know how much air we sucked in, we can't calculate how much pollution is in it.</a:t>
            </a:r>
          </a:p>
          <a:p>
            <a:r>
              <a:rPr lang="en-US" b="1" dirty="0"/>
              <a:t>3. Where to put the Flowmeter?</a:t>
            </a:r>
            <a:r>
              <a:rPr lang="en-US" dirty="0"/>
              <a:t> This is a tricky but important rule:</a:t>
            </a:r>
          </a:p>
          <a:p>
            <a:r>
              <a:rPr lang="en-US" b="1" dirty="0"/>
              <a:t>Easy Breathing (Low Pressure Drop)</a:t>
            </a:r>
            <a:r>
              <a:rPr lang="en-US" dirty="0"/>
              <a:t>: </a:t>
            </a:r>
            <a:r>
              <a:rPr lang="en-US" sz="2400" i="1" u="sng" dirty="0">
                <a:solidFill>
                  <a:srgbClr val="FF0000"/>
                </a:solidFill>
              </a:rPr>
              <a:t>If the air flows through the filter easily, you can put the flowmeter before or after the filter.</a:t>
            </a:r>
          </a:p>
          <a:p>
            <a:r>
              <a:rPr lang="en-US" sz="2400" b="1" i="1" u="sng" dirty="0">
                <a:solidFill>
                  <a:srgbClr val="FF0000"/>
                </a:solidFill>
              </a:rPr>
              <a:t>Hard Breathing (High Pressure Drop)</a:t>
            </a:r>
            <a:r>
              <a:rPr lang="en-US" sz="2400" i="1" u="sng" dirty="0">
                <a:solidFill>
                  <a:srgbClr val="FF0000"/>
                </a:solidFill>
              </a:rPr>
              <a:t>: If the filter is very thick or gets clogged, it creates a "pressure drop". In this case, you </a:t>
            </a:r>
            <a:r>
              <a:rPr lang="en-US" sz="2400" b="1" i="1" u="sng" dirty="0">
                <a:solidFill>
                  <a:srgbClr val="FF0000"/>
                </a:solidFill>
              </a:rPr>
              <a:t>must</a:t>
            </a:r>
            <a:r>
              <a:rPr lang="en-US" sz="2400" i="1" u="sng" dirty="0">
                <a:solidFill>
                  <a:srgbClr val="FF0000"/>
                </a:solidFill>
              </a:rPr>
              <a:t> put the flowmeter before the filter (upstream).</a:t>
            </a:r>
          </a:p>
          <a:p>
            <a:r>
              <a:rPr lang="en-US" b="1" dirty="0"/>
              <a:t>Why?</a:t>
            </a:r>
            <a:r>
              <a:rPr lang="en-US" dirty="0"/>
              <a:t> If you put it after a clogged filter, the air becomes thinner (less pressure), and the flowmeter will give you a wrong, "ghost" reading that ruins your experiment.</a:t>
            </a:r>
          </a:p>
          <a:p>
            <a:endParaRPr lang="en-IN" dirty="0"/>
          </a:p>
        </p:txBody>
      </p:sp>
      <p:sp>
        <p:nvSpPr>
          <p:cNvPr id="4" name="Slide Number Placeholder 3"/>
          <p:cNvSpPr>
            <a:spLocks noGrp="1"/>
          </p:cNvSpPr>
          <p:nvPr>
            <p:ph type="sldNum" sz="quarter" idx="5"/>
          </p:nvPr>
        </p:nvSpPr>
        <p:spPr/>
        <p:txBody>
          <a:bodyPr/>
          <a:lstStyle/>
          <a:p>
            <a:fld id="{21B2AA4F-B828-4D7C-AFD3-893933DAFCB4}" type="slidenum">
              <a:rPr lang="en-US" smtClean="0"/>
              <a:t>8</a:t>
            </a:fld>
            <a:endParaRPr lang="en-US"/>
          </a:p>
        </p:txBody>
      </p:sp>
    </p:spTree>
    <p:extLst>
      <p:ext uri="{BB962C8B-B14F-4D97-AF65-F5344CB8AC3E}">
        <p14:creationId xmlns:p14="http://schemas.microsoft.com/office/powerpoint/2010/main" val="40272883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195638" y="566738"/>
            <a:ext cx="3194050" cy="1797050"/>
          </a:xfrm>
          <a:prstGeom prst="rect">
            <a:avLst/>
          </a:prstGeom>
        </p:spPr>
      </p:sp>
      <p:sp>
        <p:nvSpPr>
          <p:cNvPr id="3" name="Notes Placeholder 2"/>
          <p:cNvSpPr>
            <a:spLocks noGrp="1"/>
          </p:cNvSpPr>
          <p:nvPr>
            <p:ph type="body" idx="1"/>
          </p:nvPr>
        </p:nvSpPr>
        <p:spPr>
          <a:xfrm>
            <a:off x="123452" y="2564124"/>
            <a:ext cx="9838645" cy="4340707"/>
          </a:xfrm>
          <a:prstGeom prst="rect">
            <a:avLst/>
          </a:prstGeom>
        </p:spPr>
        <p:txBody>
          <a:bodyPr>
            <a:normAutofit fontScale="92500" lnSpcReduction="10000"/>
          </a:bodyPr>
          <a:lstStyle/>
          <a:p>
            <a:r>
              <a:rPr lang="en-US" dirty="0"/>
              <a:t>he sample collector is the most important part of the machine because it is the "trap" that catches the dirt in the air.</a:t>
            </a:r>
          </a:p>
          <a:p>
            <a:r>
              <a:rPr lang="en-US" b="1" dirty="0"/>
              <a:t>1. How it Works</a:t>
            </a:r>
            <a:r>
              <a:rPr lang="en-US" dirty="0"/>
              <a:t> Think of the collector like a specialized sponge</a:t>
            </a:r>
            <a:r>
              <a:rPr lang="en-US" dirty="0">
                <a:solidFill>
                  <a:srgbClr val="FF0000"/>
                </a:solidFill>
              </a:rPr>
              <a:t>. As the pump pulls air through, the collector holds onto the pollutants (the "desired" stuff we want to study) and lets the clean air pass through</a:t>
            </a:r>
            <a:r>
              <a:rPr lang="en-US" dirty="0"/>
              <a:t>. We then take this "sponge" to a lab later to see what it caught.</a:t>
            </a:r>
          </a:p>
          <a:p>
            <a:r>
              <a:rPr lang="en-US" b="1" dirty="0"/>
              <a:t>2. Choosing the Right Tool</a:t>
            </a:r>
            <a:r>
              <a:rPr lang="en-US" dirty="0"/>
              <a:t> You can't catch a fish with a butterfly net. Similarly, you have to pick your collector based on what you are looking for:</a:t>
            </a:r>
          </a:p>
          <a:p>
            <a:r>
              <a:rPr lang="en-US" dirty="0"/>
              <a:t>If you are looking for </a:t>
            </a:r>
            <a:r>
              <a:rPr lang="en-US" b="1" dirty="0"/>
              <a:t>dust or soot</a:t>
            </a:r>
            <a:r>
              <a:rPr lang="en-US" dirty="0"/>
              <a:t>, you use a filter.</a:t>
            </a:r>
          </a:p>
          <a:p>
            <a:r>
              <a:rPr lang="en-US" dirty="0"/>
              <a:t>If you are looking for </a:t>
            </a:r>
            <a:r>
              <a:rPr lang="en-US" b="1" dirty="0"/>
              <a:t>invisible gases</a:t>
            </a:r>
            <a:r>
              <a:rPr lang="en-US" dirty="0"/>
              <a:t> (like SO2), you might use a bottle of liquid that "soaks up" the gas.</a:t>
            </a:r>
          </a:p>
          <a:p>
            <a:r>
              <a:rPr lang="en-US" b="1" dirty="0"/>
              <a:t>3. The Two Big Groups</a:t>
            </a:r>
            <a:r>
              <a:rPr lang="en-US" dirty="0"/>
              <a:t> Scientists split collectors into two main teams:</a:t>
            </a:r>
          </a:p>
          <a:p>
            <a:r>
              <a:rPr lang="en-US" b="1" dirty="0"/>
              <a:t>Gaseous Collectors</a:t>
            </a:r>
            <a:r>
              <a:rPr lang="en-US" dirty="0"/>
              <a:t>: These are for invisible fumes and smells.</a:t>
            </a:r>
          </a:p>
          <a:p>
            <a:r>
              <a:rPr lang="en-US" b="1" dirty="0"/>
              <a:t>Particulate Collectors</a:t>
            </a:r>
            <a:r>
              <a:rPr lang="en-US" dirty="0"/>
              <a:t>: These are for solid bits like dust, smoke, and pollen.</a:t>
            </a:r>
          </a:p>
          <a:p>
            <a:endParaRPr lang="en-IN" dirty="0"/>
          </a:p>
        </p:txBody>
      </p:sp>
      <p:sp>
        <p:nvSpPr>
          <p:cNvPr id="4" name="Slide Number Placeholder 3"/>
          <p:cNvSpPr>
            <a:spLocks noGrp="1"/>
          </p:cNvSpPr>
          <p:nvPr>
            <p:ph type="sldNum" sz="quarter" idx="5"/>
          </p:nvPr>
        </p:nvSpPr>
        <p:spPr/>
        <p:txBody>
          <a:bodyPr/>
          <a:lstStyle/>
          <a:p>
            <a:fld id="{21B2AA4F-B828-4D7C-AFD3-893933DAFCB4}" type="slidenum">
              <a:rPr lang="en-US" smtClean="0"/>
              <a:t>9</a:t>
            </a:fld>
            <a:endParaRPr lang="en-US"/>
          </a:p>
        </p:txBody>
      </p:sp>
    </p:spTree>
    <p:extLst>
      <p:ext uri="{BB962C8B-B14F-4D97-AF65-F5344CB8AC3E}">
        <p14:creationId xmlns:p14="http://schemas.microsoft.com/office/powerpoint/2010/main" val="23665764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195638" y="566738"/>
            <a:ext cx="3194050" cy="1797050"/>
          </a:xfrm>
          <a:prstGeom prst="rect">
            <a:avLst/>
          </a:prstGeom>
        </p:spPr>
      </p:sp>
      <p:sp>
        <p:nvSpPr>
          <p:cNvPr id="3" name="Notes Placeholder 2"/>
          <p:cNvSpPr>
            <a:spLocks noGrp="1"/>
          </p:cNvSpPr>
          <p:nvPr>
            <p:ph type="body" idx="1"/>
          </p:nvPr>
        </p:nvSpPr>
        <p:spPr>
          <a:xfrm>
            <a:off x="123452" y="2564124"/>
            <a:ext cx="9838645" cy="4416907"/>
          </a:xfrm>
          <a:prstGeom prst="rect">
            <a:avLst/>
          </a:prstGeom>
        </p:spPr>
        <p:txBody>
          <a:bodyPr>
            <a:normAutofit fontScale="85000" lnSpcReduction="10000"/>
          </a:bodyPr>
          <a:lstStyle/>
          <a:p>
            <a:r>
              <a:rPr lang="en-US" dirty="0"/>
              <a:t>we can't just drop a monitoring machine anywhere; we have to plan carefully based on what we want to find out.</a:t>
            </a:r>
          </a:p>
          <a:p>
            <a:r>
              <a:rPr lang="en-US" b="1" dirty="0"/>
              <a:t>1. What is the Goal? (Purpose)</a:t>
            </a:r>
            <a:r>
              <a:rPr lang="en-US" dirty="0"/>
              <a:t> Before picking a spot, you must ask: "Why am I doing this?". Are you trying to see how much smoke a specific factory is making? (Put it near the factory). Or are you trying to see if the air in a whole city is safe for kids? (Put it in a central park or near a school).</a:t>
            </a:r>
          </a:p>
          <a:p>
            <a:r>
              <a:rPr lang="en-US" b="1" dirty="0"/>
              <a:t>2. What Tools are Needed?</a:t>
            </a:r>
            <a:r>
              <a:rPr lang="en-US" dirty="0"/>
              <a:t> Some machines are small and run on batteries, while others are as big as a refrigerator and need a lot of electricity. You need to make sure your chosen site has enough space and the right power outlets for the specific instruments you are using.</a:t>
            </a:r>
          </a:p>
          <a:p>
            <a:r>
              <a:rPr lang="en-US" b="1" dirty="0"/>
              <a:t>3. How Long Will it Stay There? (Duration)</a:t>
            </a:r>
            <a:r>
              <a:rPr lang="en-US" dirty="0"/>
              <a:t> If you are only testing the air for one day, you might just use a portable tripod. But if you want to monitor the air for ten years to see long-term trends, you need to build a permanent, weather-proof shed to protect the equipment.</a:t>
            </a:r>
          </a:p>
          <a:p>
            <a:r>
              <a:rPr lang="en-US" b="1" dirty="0"/>
              <a:t>4. Can You Get to It? (Accessibility)</a:t>
            </a:r>
            <a:r>
              <a:rPr lang="en-US" dirty="0"/>
              <a:t> The site must be easy to reach. Scientists need to visit the station regularly to change filters, download data, and fix broken parts. If the site is on a locked rooftop or in the middle of a swamp, it will be too hard to maintain, and the data will be lost.</a:t>
            </a:r>
          </a:p>
          <a:p>
            <a:endParaRPr lang="en-IN" dirty="0"/>
          </a:p>
        </p:txBody>
      </p:sp>
      <p:sp>
        <p:nvSpPr>
          <p:cNvPr id="4" name="Slide Number Placeholder 3"/>
          <p:cNvSpPr>
            <a:spLocks noGrp="1"/>
          </p:cNvSpPr>
          <p:nvPr>
            <p:ph type="sldNum" sz="quarter" idx="5"/>
          </p:nvPr>
        </p:nvSpPr>
        <p:spPr/>
        <p:txBody>
          <a:bodyPr/>
          <a:lstStyle/>
          <a:p>
            <a:fld id="{21B2AA4F-B828-4D7C-AFD3-893933DAFCB4}" type="slidenum">
              <a:rPr lang="en-US" smtClean="0"/>
              <a:t>10</a:t>
            </a:fld>
            <a:endParaRPr lang="en-US"/>
          </a:p>
        </p:txBody>
      </p:sp>
    </p:spTree>
    <p:extLst>
      <p:ext uri="{BB962C8B-B14F-4D97-AF65-F5344CB8AC3E}">
        <p14:creationId xmlns:p14="http://schemas.microsoft.com/office/powerpoint/2010/main" val="558573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195638" y="566738"/>
            <a:ext cx="3194050" cy="1797050"/>
          </a:xfrm>
          <a:prstGeom prst="rect">
            <a:avLst/>
          </a:prstGeom>
        </p:spPr>
      </p:sp>
      <p:sp>
        <p:nvSpPr>
          <p:cNvPr id="3" name="Notes Placeholder 2"/>
          <p:cNvSpPr>
            <a:spLocks noGrp="1"/>
          </p:cNvSpPr>
          <p:nvPr>
            <p:ph type="body" idx="1"/>
          </p:nvPr>
        </p:nvSpPr>
        <p:spPr>
          <a:xfrm>
            <a:off x="123452" y="2564124"/>
            <a:ext cx="9838645" cy="4340707"/>
          </a:xfrm>
          <a:prstGeom prst="rect">
            <a:avLst/>
          </a:prstGeom>
        </p:spPr>
        <p:txBody>
          <a:bodyPr>
            <a:normAutofit fontScale="92500" lnSpcReduction="20000"/>
          </a:bodyPr>
          <a:lstStyle/>
          <a:p>
            <a:r>
              <a:rPr lang="en-US" b="1" dirty="0"/>
              <a:t>1. Grab Sampling (The "Quick Catch")</a:t>
            </a:r>
            <a:r>
              <a:rPr lang="en-US" dirty="0"/>
              <a:t> As we discussed before, this is like catching a "handful" of air in a bag or a bottle. It’s fast, but only works well if the air is very dirty.</a:t>
            </a:r>
          </a:p>
          <a:p>
            <a:r>
              <a:rPr lang="en-US" b="1" dirty="0"/>
              <a:t>2. Absorption in Liquids (The "Bubbler")</a:t>
            </a:r>
            <a:r>
              <a:rPr lang="en-US" dirty="0"/>
              <a:t> This is one of the most common methods. We bubble the air through a bottle filled with a special liquid. The gas we want to measure gets "soaked up" by the liquid, while the rest of the air just passes through. It’s like how a sponge soaks up water but leaves the floor dry.</a:t>
            </a:r>
          </a:p>
          <a:p>
            <a:r>
              <a:rPr lang="en-US" b="1" dirty="0"/>
              <a:t>3. Adsorption on a Solid (The "Sticky Filter")</a:t>
            </a:r>
            <a:r>
              <a:rPr lang="en-US" dirty="0"/>
              <a:t> Note the spelling—</a:t>
            </a:r>
            <a:r>
              <a:rPr lang="en-US" b="1" dirty="0"/>
              <a:t>Ad</a:t>
            </a:r>
            <a:r>
              <a:rPr lang="en-US" dirty="0"/>
              <a:t>sorption with a "d". In this method, the gas doesn't soak </a:t>
            </a:r>
            <a:r>
              <a:rPr lang="en-US" i="1" dirty="0"/>
              <a:t>into</a:t>
            </a:r>
            <a:r>
              <a:rPr lang="en-US" dirty="0"/>
              <a:t> something; it sticks to the </a:t>
            </a:r>
            <a:r>
              <a:rPr lang="en-US" i="1" dirty="0"/>
              <a:t>surface</a:t>
            </a:r>
            <a:r>
              <a:rPr lang="en-US" dirty="0"/>
              <a:t> of a solid material, like activated charcoal. Imagine throwing a tennis ball at a wall covered in glue; the ball (the gas) sticks to the surface.</a:t>
            </a:r>
          </a:p>
          <a:p>
            <a:r>
              <a:rPr lang="en-US" b="1" dirty="0"/>
              <a:t>4. Condensation / Freeze-out (The "Ice Trap")</a:t>
            </a:r>
            <a:r>
              <a:rPr lang="en-US" dirty="0"/>
              <a:t> We pull the air through a tube that is kept extremely cold (often using liquid nitrogen or dry ice). The cold temperature turns the gas into a liquid or a solid (like frost on a window), which we can then collect and study.</a:t>
            </a:r>
          </a:p>
          <a:p>
            <a:endParaRPr lang="en-IN" dirty="0"/>
          </a:p>
        </p:txBody>
      </p:sp>
      <p:sp>
        <p:nvSpPr>
          <p:cNvPr id="4" name="Slide Number Placeholder 3"/>
          <p:cNvSpPr>
            <a:spLocks noGrp="1"/>
          </p:cNvSpPr>
          <p:nvPr>
            <p:ph type="sldNum" sz="quarter" idx="5"/>
          </p:nvPr>
        </p:nvSpPr>
        <p:spPr/>
        <p:txBody>
          <a:bodyPr/>
          <a:lstStyle/>
          <a:p>
            <a:fld id="{21B2AA4F-B828-4D7C-AFD3-893933DAFCB4}" type="slidenum">
              <a:rPr lang="en-US" smtClean="0"/>
              <a:t>11</a:t>
            </a:fld>
            <a:endParaRPr lang="en-US"/>
          </a:p>
        </p:txBody>
      </p:sp>
    </p:spTree>
    <p:extLst>
      <p:ext uri="{BB962C8B-B14F-4D97-AF65-F5344CB8AC3E}">
        <p14:creationId xmlns:p14="http://schemas.microsoft.com/office/powerpoint/2010/main" val="802551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195638" y="566738"/>
            <a:ext cx="3194050" cy="1797050"/>
          </a:xfrm>
          <a:prstGeom prst="rect">
            <a:avLst/>
          </a:prstGeom>
        </p:spPr>
      </p:sp>
      <p:sp>
        <p:nvSpPr>
          <p:cNvPr id="3" name="Notes Placeholder 2"/>
          <p:cNvSpPr>
            <a:spLocks noGrp="1"/>
          </p:cNvSpPr>
          <p:nvPr>
            <p:ph type="body" idx="1"/>
          </p:nvPr>
        </p:nvSpPr>
        <p:spPr>
          <a:xfrm>
            <a:off x="123452" y="2564124"/>
            <a:ext cx="9838645" cy="4340707"/>
          </a:xfrm>
          <a:prstGeom prst="rect">
            <a:avLst/>
          </a:prstGeom>
        </p:spPr>
        <p:txBody>
          <a:bodyPr>
            <a:normAutofit fontScale="85000" lnSpcReduction="10000"/>
          </a:bodyPr>
          <a:lstStyle/>
          <a:p>
            <a:r>
              <a:rPr lang="en-US" b="1" dirty="0"/>
              <a:t>. Soft Containers (Bags)</a:t>
            </a:r>
            <a:r>
              <a:rPr lang="en-US" dirty="0"/>
              <a:t> One of the most common ways to grab air is using </a:t>
            </a:r>
            <a:r>
              <a:rPr lang="en-US" dirty="0">
                <a:solidFill>
                  <a:srgbClr val="FF0000"/>
                </a:solidFill>
              </a:rPr>
              <a:t>a special plastic bag. It’s cheap and easy to carry</a:t>
            </a:r>
            <a:r>
              <a:rPr lang="en-US" dirty="0"/>
              <a:t>. You just pump the air in until the bag is full.</a:t>
            </a:r>
          </a:p>
          <a:p>
            <a:r>
              <a:rPr lang="en-US" b="1" dirty="0"/>
              <a:t>2. The Problem with Bags: "Leaking and Sweating"</a:t>
            </a:r>
            <a:r>
              <a:rPr lang="en-US" dirty="0"/>
              <a:t> Bags aren't perfect. Two things can ruin your sample:</a:t>
            </a:r>
          </a:p>
          <a:p>
            <a:r>
              <a:rPr lang="en-US" b="1" dirty="0"/>
              <a:t>Diffusion</a:t>
            </a:r>
            <a:r>
              <a:rPr lang="en-US" dirty="0"/>
              <a:t>: Some tiny gas molecules can actually seep through the plastic walls of the bag and escape.</a:t>
            </a:r>
          </a:p>
          <a:p>
            <a:r>
              <a:rPr lang="en-US" b="1" dirty="0"/>
              <a:t>Condensation</a:t>
            </a:r>
            <a:r>
              <a:rPr lang="en-US" dirty="0"/>
              <a:t>: If the air is humid, "sweat" (water droplets) can form inside the bag. Some pollutants get trapped in these water drops, so they don't show up in the gas test.</a:t>
            </a:r>
          </a:p>
          <a:p>
            <a:r>
              <a:rPr lang="en-US" b="1" dirty="0"/>
              <a:t>The Fix</a:t>
            </a:r>
            <a:r>
              <a:rPr lang="en-US" dirty="0"/>
              <a:t>: To avoid these losses, you should test the air in the lab </a:t>
            </a:r>
            <a:r>
              <a:rPr lang="en-US" b="1" dirty="0"/>
              <a:t>immediately</a:t>
            </a:r>
            <a:r>
              <a:rPr lang="en-US" dirty="0"/>
              <a:t> after catching it.</a:t>
            </a:r>
          </a:p>
          <a:p>
            <a:r>
              <a:rPr lang="en-US" b="1" dirty="0"/>
              <a:t>3. Hard Containers (Rigid Walls)</a:t>
            </a:r>
            <a:r>
              <a:rPr lang="en-US" dirty="0"/>
              <a:t> If you need something stronger than a bag, you use containers made of </a:t>
            </a:r>
            <a:r>
              <a:rPr lang="en-US" b="1" dirty="0"/>
              <a:t>glass</a:t>
            </a:r>
            <a:r>
              <a:rPr lang="en-US" dirty="0"/>
              <a:t> or </a:t>
            </a:r>
            <a:r>
              <a:rPr lang="en-US" b="1" dirty="0"/>
              <a:t>stainless steel</a:t>
            </a:r>
            <a:r>
              <a:rPr lang="en-US" dirty="0"/>
              <a:t>.</a:t>
            </a:r>
          </a:p>
          <a:p>
            <a:r>
              <a:rPr lang="en-US" b="1" dirty="0"/>
              <a:t>How it works</a:t>
            </a:r>
            <a:r>
              <a:rPr lang="en-US" dirty="0"/>
              <a:t>: These containers are "evacuated," meaning all the air is sucked out first to create a vacuum.</a:t>
            </a:r>
          </a:p>
          <a:p>
            <a:r>
              <a:rPr lang="en-US" b="1" dirty="0"/>
              <a:t>The Catch</a:t>
            </a:r>
            <a:r>
              <a:rPr lang="en-US" dirty="0"/>
              <a:t>: When you get to the site, you simply open a valve. The vacuum pulls the outside air in instantly, and then you seal it shut.</a:t>
            </a:r>
          </a:p>
          <a:p>
            <a:endParaRPr lang="en-IN" dirty="0"/>
          </a:p>
        </p:txBody>
      </p:sp>
      <p:sp>
        <p:nvSpPr>
          <p:cNvPr id="4" name="Slide Number Placeholder 3"/>
          <p:cNvSpPr>
            <a:spLocks noGrp="1"/>
          </p:cNvSpPr>
          <p:nvPr>
            <p:ph type="sldNum" sz="quarter" idx="5"/>
          </p:nvPr>
        </p:nvSpPr>
        <p:spPr/>
        <p:txBody>
          <a:bodyPr/>
          <a:lstStyle/>
          <a:p>
            <a:fld id="{21B2AA4F-B828-4D7C-AFD3-893933DAFCB4}" type="slidenum">
              <a:rPr lang="en-US" smtClean="0"/>
              <a:t>12</a:t>
            </a:fld>
            <a:endParaRPr lang="en-US"/>
          </a:p>
        </p:txBody>
      </p:sp>
    </p:spTree>
    <p:extLst>
      <p:ext uri="{BB962C8B-B14F-4D97-AF65-F5344CB8AC3E}">
        <p14:creationId xmlns:p14="http://schemas.microsoft.com/office/powerpoint/2010/main" val="8567683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195638" y="566738"/>
            <a:ext cx="3194050" cy="1797050"/>
          </a:xfrm>
          <a:prstGeom prst="rect">
            <a:avLst/>
          </a:prstGeom>
        </p:spPr>
      </p:sp>
      <p:sp>
        <p:nvSpPr>
          <p:cNvPr id="3" name="Notes Placeholder 2"/>
          <p:cNvSpPr>
            <a:spLocks noGrp="1"/>
          </p:cNvSpPr>
          <p:nvPr>
            <p:ph type="body" idx="1"/>
          </p:nvPr>
        </p:nvSpPr>
        <p:spPr>
          <a:xfrm>
            <a:off x="123452" y="2564124"/>
            <a:ext cx="9838645" cy="4340707"/>
          </a:xfrm>
          <a:prstGeom prst="rect">
            <a:avLst/>
          </a:prstGeom>
        </p:spPr>
        <p:txBody>
          <a:bodyPr>
            <a:normAutofit fontScale="70000" lnSpcReduction="20000"/>
          </a:bodyPr>
          <a:lstStyle/>
          <a:p>
            <a:r>
              <a:rPr lang="en-US" b="1" dirty="0"/>
              <a:t>Figure A: Inflatable Bag (Soft Container)</a:t>
            </a:r>
          </a:p>
          <a:p>
            <a:r>
              <a:rPr lang="en-US" dirty="0"/>
              <a:t>This figure shows a flexible, leak-proof plastic bag (often made of a material called </a:t>
            </a:r>
            <a:r>
              <a:rPr lang="en-US" b="1" dirty="0" err="1"/>
              <a:t>Tedlar</a:t>
            </a:r>
            <a:r>
              <a:rPr lang="en-US" dirty="0"/>
              <a:t>).</a:t>
            </a:r>
          </a:p>
          <a:p>
            <a:r>
              <a:rPr lang="en-US" b="1" dirty="0"/>
              <a:t>How it works</a:t>
            </a:r>
            <a:r>
              <a:rPr lang="en-US" dirty="0"/>
              <a:t>: A small, battery-operated pump is connected to the bag's valve. The pump sucks in the surrounding air and blows it into the bag until it is full, like blowing up a balloon.</a:t>
            </a:r>
          </a:p>
          <a:p>
            <a:r>
              <a:rPr lang="en-US" b="1" dirty="0"/>
              <a:t>Key Feature</a:t>
            </a:r>
            <a:r>
              <a:rPr lang="en-US" dirty="0"/>
              <a:t>: It is very lightweight and easy to carry into tight spaces or remote areas.</a:t>
            </a:r>
          </a:p>
          <a:p>
            <a:r>
              <a:rPr lang="en-US" b="1" dirty="0"/>
              <a:t>The Problem</a:t>
            </a:r>
            <a:r>
              <a:rPr lang="en-US" dirty="0"/>
              <a:t>: Because the walls are made of thin plastic, some gases can slowly leak out (</a:t>
            </a:r>
            <a:r>
              <a:rPr lang="en-US" b="1" dirty="0"/>
              <a:t>diffusion</a:t>
            </a:r>
            <a:r>
              <a:rPr lang="en-US" dirty="0"/>
              <a:t>), or water vapor can turn into liquid drops inside the bag (</a:t>
            </a:r>
            <a:r>
              <a:rPr lang="en-US" b="1" dirty="0"/>
              <a:t>condensation</a:t>
            </a:r>
            <a:r>
              <a:rPr lang="en-US" dirty="0"/>
              <a:t>), which might ruin the sample if not tested quickly.</a:t>
            </a:r>
          </a:p>
          <a:p>
            <a:br>
              <a:rPr lang="en-US" dirty="0"/>
            </a:br>
            <a:endParaRPr lang="en-US" dirty="0"/>
          </a:p>
          <a:p>
            <a:r>
              <a:rPr lang="en-US" b="1" dirty="0"/>
              <a:t>Figure B: Evacuated Rigid Container (Hard Container)</a:t>
            </a:r>
          </a:p>
          <a:p>
            <a:r>
              <a:rPr lang="en-US" dirty="0"/>
              <a:t>This figure shows a strong, solid bottle, usually made of </a:t>
            </a:r>
            <a:r>
              <a:rPr lang="en-US" b="1" dirty="0"/>
              <a:t>thick glass</a:t>
            </a:r>
            <a:r>
              <a:rPr lang="en-US" dirty="0"/>
              <a:t> or </a:t>
            </a:r>
            <a:r>
              <a:rPr lang="en-US" b="1" dirty="0"/>
              <a:t>stainless steel</a:t>
            </a:r>
            <a:r>
              <a:rPr lang="en-US" dirty="0"/>
              <a:t> (often called a Summa Canister).</a:t>
            </a:r>
          </a:p>
          <a:p>
            <a:r>
              <a:rPr lang="en-US" b="1" dirty="0"/>
              <a:t>How it works</a:t>
            </a:r>
            <a:r>
              <a:rPr lang="en-US" dirty="0"/>
              <a:t>: Before going to the site, a powerful laboratory pump is used to suck </a:t>
            </a:r>
            <a:r>
              <a:rPr lang="en-US" i="1" dirty="0"/>
              <a:t>all</a:t>
            </a:r>
            <a:r>
              <a:rPr lang="en-US" dirty="0"/>
              <a:t> the air out of the bottle, creating a </a:t>
            </a:r>
            <a:r>
              <a:rPr lang="en-US" b="1" dirty="0"/>
              <a:t>vacuum</a:t>
            </a:r>
            <a:r>
              <a:rPr lang="en-US" dirty="0"/>
              <a:t> (an empty space).</a:t>
            </a:r>
          </a:p>
          <a:p>
            <a:r>
              <a:rPr lang="en-US" b="1" dirty="0"/>
              <a:t>The "Grab"</a:t>
            </a:r>
            <a:r>
              <a:rPr lang="en-US" dirty="0"/>
              <a:t>: When the scientist is at the location, they simply turn a valve on the top. Because there is a vacuum inside, the outside air rushes in instantly to fill the empty space. No pump is needed at the site.</a:t>
            </a:r>
          </a:p>
          <a:p>
            <a:r>
              <a:rPr lang="en-US" b="1" dirty="0"/>
              <a:t>Key Feature</a:t>
            </a:r>
            <a:r>
              <a:rPr lang="en-US" dirty="0"/>
              <a:t>: These are much tougher than bags. Because the walls are made of steel or glass, the gas cannot leak out through the walls, making them better for storing samples for a longer time.</a:t>
            </a:r>
          </a:p>
          <a:p>
            <a:endParaRPr lang="en-IN" dirty="0"/>
          </a:p>
        </p:txBody>
      </p:sp>
      <p:sp>
        <p:nvSpPr>
          <p:cNvPr id="4" name="Slide Number Placeholder 3"/>
          <p:cNvSpPr>
            <a:spLocks noGrp="1"/>
          </p:cNvSpPr>
          <p:nvPr>
            <p:ph type="sldNum" sz="quarter" idx="5"/>
          </p:nvPr>
        </p:nvSpPr>
        <p:spPr/>
        <p:txBody>
          <a:bodyPr/>
          <a:lstStyle/>
          <a:p>
            <a:fld id="{21B2AA4F-B828-4D7C-AFD3-893933DAFCB4}" type="slidenum">
              <a:rPr lang="en-US" smtClean="0"/>
              <a:t>13</a:t>
            </a:fld>
            <a:endParaRPr lang="en-US"/>
          </a:p>
        </p:txBody>
      </p:sp>
    </p:spTree>
    <p:extLst>
      <p:ext uri="{BB962C8B-B14F-4D97-AF65-F5344CB8AC3E}">
        <p14:creationId xmlns:p14="http://schemas.microsoft.com/office/powerpoint/2010/main" val="41198335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195638" y="566738"/>
            <a:ext cx="3194050" cy="1797050"/>
          </a:xfrm>
          <a:prstGeom prst="rect">
            <a:avLst/>
          </a:prstGeom>
        </p:spPr>
      </p:sp>
      <p:sp>
        <p:nvSpPr>
          <p:cNvPr id="3" name="Notes Placeholder 2"/>
          <p:cNvSpPr>
            <a:spLocks noGrp="1"/>
          </p:cNvSpPr>
          <p:nvPr>
            <p:ph type="body" idx="1"/>
          </p:nvPr>
        </p:nvSpPr>
        <p:spPr>
          <a:xfrm>
            <a:off x="123452" y="2564124"/>
            <a:ext cx="9838645" cy="4340707"/>
          </a:xfrm>
          <a:prstGeom prst="rect">
            <a:avLst/>
          </a:prstGeom>
        </p:spPr>
        <p:txBody>
          <a:bodyPr>
            <a:normAutofit fontScale="77500" lnSpcReduction="20000"/>
          </a:bodyPr>
          <a:lstStyle/>
          <a:p>
            <a:r>
              <a:rPr lang="en-US" dirty="0"/>
              <a:t>to fill a container and how we keep the sample "perfect" while it's inside.</a:t>
            </a:r>
          </a:p>
          <a:p>
            <a:r>
              <a:rPr lang="en-US" b="1" dirty="0"/>
              <a:t>1. The Water Displacement Method</a:t>
            </a:r>
            <a:r>
              <a:rPr lang="en-US" dirty="0"/>
              <a:t> Imagine you have a bottle full of water. If you turn it upside down and let the water pour out, air has to rush in to take its place.</a:t>
            </a:r>
          </a:p>
          <a:p>
            <a:r>
              <a:rPr lang="en-US" dirty="0"/>
              <a:t>We use this simple trick to catch air! We fill a container with water, take it to the polluted site, and drain the water.</a:t>
            </a:r>
          </a:p>
          <a:p>
            <a:r>
              <a:rPr lang="en-US" dirty="0"/>
              <a:t>As the water leaves, the air from that specific spot is pulled inside.</a:t>
            </a:r>
          </a:p>
          <a:p>
            <a:r>
              <a:rPr lang="en-US" b="1" dirty="0"/>
              <a:t>Note</a:t>
            </a:r>
            <a:r>
              <a:rPr lang="en-US" dirty="0"/>
              <a:t>: This only works for gases that do </a:t>
            </a:r>
            <a:r>
              <a:rPr lang="en-US" b="1" dirty="0"/>
              <a:t>not</a:t>
            </a:r>
            <a:r>
              <a:rPr lang="en-US" dirty="0"/>
              <a:t> dissolve in water.</a:t>
            </a:r>
          </a:p>
          <a:p>
            <a:r>
              <a:rPr lang="en-US" b="1" dirty="0"/>
              <a:t>2. The Problem: "Cold Walls"</a:t>
            </a:r>
            <a:r>
              <a:rPr lang="en-US" dirty="0"/>
              <a:t> Just like a cold soda can gets "sweaty" on the outside, a cold sampling container can get "sweaty" on the inside (condensation).</a:t>
            </a:r>
          </a:p>
          <a:p>
            <a:r>
              <a:rPr lang="en-US" dirty="0"/>
              <a:t>If water droplets form inside the container, some pollutants might get trapped in that water.</a:t>
            </a:r>
          </a:p>
          <a:p>
            <a:r>
              <a:rPr lang="en-US" dirty="0"/>
              <a:t>This would mean when the lab tests the </a:t>
            </a:r>
            <a:r>
              <a:rPr lang="en-US" i="1" dirty="0"/>
              <a:t>gas</a:t>
            </a:r>
            <a:r>
              <a:rPr lang="en-US" dirty="0"/>
              <a:t>, the numbers will be too low because some of the pollution is stuck in the "sweat".</a:t>
            </a:r>
          </a:p>
          <a:p>
            <a:r>
              <a:rPr lang="en-US" b="1" dirty="0"/>
              <a:t>3. The Solution: Electric Blankets for Bottles</a:t>
            </a:r>
            <a:r>
              <a:rPr lang="en-US" dirty="0"/>
              <a:t> To stop this condensation, we keep the containers warm.</a:t>
            </a:r>
          </a:p>
          <a:p>
            <a:r>
              <a:rPr lang="en-US" dirty="0"/>
              <a:t>We wrap the glass or metal bottles in </a:t>
            </a:r>
            <a:r>
              <a:rPr lang="en-US" b="1" dirty="0"/>
              <a:t>heating tapes</a:t>
            </a:r>
            <a:r>
              <a:rPr lang="en-US" dirty="0"/>
              <a:t> or </a:t>
            </a:r>
            <a:r>
              <a:rPr lang="en-US" b="1" dirty="0"/>
              <a:t>nichrome wires</a:t>
            </a:r>
            <a:r>
              <a:rPr lang="en-US" dirty="0"/>
              <a:t> (which act like tiny electric heaters).</a:t>
            </a:r>
          </a:p>
          <a:p>
            <a:r>
              <a:rPr lang="en-US" dirty="0"/>
              <a:t>By keeping the bottle warm, we ensure no water drops form, and the pollutant stays in the air where we can measure it.</a:t>
            </a:r>
          </a:p>
          <a:p>
            <a:endParaRPr lang="en-IN" dirty="0"/>
          </a:p>
        </p:txBody>
      </p:sp>
      <p:sp>
        <p:nvSpPr>
          <p:cNvPr id="4" name="Slide Number Placeholder 3"/>
          <p:cNvSpPr>
            <a:spLocks noGrp="1"/>
          </p:cNvSpPr>
          <p:nvPr>
            <p:ph type="sldNum" sz="quarter" idx="5"/>
          </p:nvPr>
        </p:nvSpPr>
        <p:spPr/>
        <p:txBody>
          <a:bodyPr/>
          <a:lstStyle/>
          <a:p>
            <a:fld id="{21B2AA4F-B828-4D7C-AFD3-893933DAFCB4}" type="slidenum">
              <a:rPr lang="en-US" smtClean="0"/>
              <a:t>14</a:t>
            </a:fld>
            <a:endParaRPr lang="en-US"/>
          </a:p>
        </p:txBody>
      </p:sp>
    </p:spTree>
    <p:extLst>
      <p:ext uri="{BB962C8B-B14F-4D97-AF65-F5344CB8AC3E}">
        <p14:creationId xmlns:p14="http://schemas.microsoft.com/office/powerpoint/2010/main" val="2846695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195638" y="566738"/>
            <a:ext cx="3194050" cy="1797050"/>
          </a:xfrm>
          <a:prstGeom prst="rect">
            <a:avLst/>
          </a:prstGeom>
        </p:spPr>
      </p:sp>
      <p:sp>
        <p:nvSpPr>
          <p:cNvPr id="3" name="Notes Placeholder 2"/>
          <p:cNvSpPr>
            <a:spLocks noGrp="1"/>
          </p:cNvSpPr>
          <p:nvPr>
            <p:ph type="body" idx="1"/>
          </p:nvPr>
        </p:nvSpPr>
        <p:spPr>
          <a:xfrm>
            <a:off x="123452" y="2564124"/>
            <a:ext cx="9838645" cy="4340707"/>
          </a:xfrm>
          <a:prstGeom prst="rect">
            <a:avLst/>
          </a:prstGeom>
        </p:spPr>
        <p:txBody>
          <a:bodyPr>
            <a:normAutofit fontScale="77500" lnSpcReduction="20000"/>
          </a:bodyPr>
          <a:lstStyle/>
          <a:p>
            <a:r>
              <a:rPr lang="en-US" b="1" dirty="0"/>
              <a:t>The "Liquid Trap"</a:t>
            </a:r>
          </a:p>
          <a:p>
            <a:r>
              <a:rPr lang="en-US" dirty="0"/>
              <a:t>In simple language, absorption is like using a liquid filter to "wash" the pollution out of the air.</a:t>
            </a:r>
          </a:p>
          <a:p>
            <a:r>
              <a:rPr lang="en-US" b="1" dirty="0"/>
              <a:t>1. Why is it so popular?</a:t>
            </a:r>
            <a:r>
              <a:rPr lang="en-US" dirty="0"/>
              <a:t> This is the "gold standard" for many gas tests because it is relatively cheap, reliable, and allows us to concentrate the pollution from a large volume of air into a small bottle of liquid.</a:t>
            </a:r>
          </a:p>
          <a:p>
            <a:r>
              <a:rPr lang="en-US" b="1" dirty="0"/>
              <a:t>2. How the Separation Works</a:t>
            </a:r>
            <a:r>
              <a:rPr lang="en-US" dirty="0"/>
              <a:t> The goal is to pull the gas molecules out of the air and keep them in the liquid. This happens in two ways:</a:t>
            </a:r>
          </a:p>
          <a:p>
            <a:r>
              <a:rPr lang="en-US" b="1" dirty="0"/>
              <a:t>Method 1: Direct Solubility (Like Sugar in Water)</a:t>
            </a:r>
            <a:r>
              <a:rPr lang="en-US" dirty="0"/>
              <a:t> Some gases naturally like to dissolve in certain liquids. For example, if you bubble air containing ammonia through water, the ammonia will naturally stay in the water while the clean air passes through.</a:t>
            </a:r>
          </a:p>
          <a:p>
            <a:r>
              <a:rPr lang="en-US" b="1" dirty="0"/>
              <a:t>Method 2: Chemical Reaction (The "Permanent Lock")</a:t>
            </a:r>
            <a:r>
              <a:rPr lang="en-US" dirty="0"/>
              <a:t> Sometimes, we use a liquid that "attacks" the gas. When the gas touches the liquid, they react to form a new, stable chemical. This is even better because once the gas has reacted, it can't accidentally escape back into the air.</a:t>
            </a:r>
          </a:p>
          <a:p>
            <a:r>
              <a:rPr lang="en-US" b="1" dirty="0"/>
              <a:t>3. The Goal</a:t>
            </a:r>
            <a:r>
              <a:rPr lang="en-US" dirty="0"/>
              <a:t> By the end of the sampling period, the air is gone, but the pollutants are "stuck" in the liquid. We take this liquid to the lab, and because the pollutants are now concentrated in a small bottle, they are much easier to measure accurately.</a:t>
            </a:r>
          </a:p>
          <a:p>
            <a:endParaRPr lang="en-IN" dirty="0"/>
          </a:p>
        </p:txBody>
      </p:sp>
      <p:sp>
        <p:nvSpPr>
          <p:cNvPr id="4" name="Slide Number Placeholder 3"/>
          <p:cNvSpPr>
            <a:spLocks noGrp="1"/>
          </p:cNvSpPr>
          <p:nvPr>
            <p:ph type="sldNum" sz="quarter" idx="5"/>
          </p:nvPr>
        </p:nvSpPr>
        <p:spPr/>
        <p:txBody>
          <a:bodyPr/>
          <a:lstStyle/>
          <a:p>
            <a:fld id="{21B2AA4F-B828-4D7C-AFD3-893933DAFCB4}" type="slidenum">
              <a:rPr lang="en-US" smtClean="0"/>
              <a:t>15</a:t>
            </a:fld>
            <a:endParaRPr lang="en-US"/>
          </a:p>
        </p:txBody>
      </p:sp>
    </p:spTree>
    <p:extLst>
      <p:ext uri="{BB962C8B-B14F-4D97-AF65-F5344CB8AC3E}">
        <p14:creationId xmlns:p14="http://schemas.microsoft.com/office/powerpoint/2010/main" val="4660913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195638" y="566738"/>
            <a:ext cx="3194050" cy="1797050"/>
          </a:xfrm>
          <a:prstGeom prst="rect">
            <a:avLst/>
          </a:prstGeom>
        </p:spPr>
      </p:sp>
      <p:sp>
        <p:nvSpPr>
          <p:cNvPr id="3" name="Notes Placeholder 2"/>
          <p:cNvSpPr>
            <a:spLocks noGrp="1"/>
          </p:cNvSpPr>
          <p:nvPr>
            <p:ph type="body" idx="1"/>
          </p:nvPr>
        </p:nvSpPr>
        <p:spPr>
          <a:xfrm>
            <a:off x="123452" y="2564124"/>
            <a:ext cx="9838645" cy="4340707"/>
          </a:xfrm>
          <a:prstGeom prst="rect">
            <a:avLst/>
          </a:prstGeom>
        </p:spPr>
        <p:txBody>
          <a:bodyPr>
            <a:normAutofit fontScale="85000" lnSpcReduction="20000"/>
          </a:bodyPr>
          <a:lstStyle/>
          <a:p>
            <a:r>
              <a:rPr lang="en-US" b="1" dirty="0"/>
              <a:t>1. Simple Bubbler</a:t>
            </a:r>
            <a:r>
              <a:rPr lang="en-US" dirty="0"/>
              <a:t> This is the most basic version. It works like blowing through a straw into a glass of water. It creates large bubbles that rise quickly. Because the bubbles are big and fast, it isn't very efficient for catching gases that don't dissolve easily.</a:t>
            </a:r>
          </a:p>
          <a:p>
            <a:r>
              <a:rPr lang="en-US" b="1" dirty="0"/>
              <a:t>2. Disc and Tip Types (The "Micro-Bubblers")</a:t>
            </a:r>
            <a:r>
              <a:rPr lang="en-US" dirty="0"/>
              <a:t> These use a </a:t>
            </a:r>
            <a:r>
              <a:rPr lang="en-US" b="1" dirty="0"/>
              <a:t>frit</a:t>
            </a:r>
            <a:r>
              <a:rPr lang="en-US" dirty="0"/>
              <a:t> (porous glass).</a:t>
            </a:r>
          </a:p>
          <a:p>
            <a:r>
              <a:rPr lang="en-US" b="1" dirty="0"/>
              <a:t>Disc Type</a:t>
            </a:r>
            <a:r>
              <a:rPr lang="en-US" dirty="0"/>
              <a:t>: The air passes through a flat disc at the bottom, creating a wide "wall" of tiny bubbles.</a:t>
            </a:r>
          </a:p>
          <a:p>
            <a:r>
              <a:rPr lang="en-US" b="1" dirty="0"/>
              <a:t>Tip Type</a:t>
            </a:r>
            <a:r>
              <a:rPr lang="en-US" dirty="0"/>
              <a:t>: Only the very end of the tube is porous.</a:t>
            </a:r>
          </a:p>
          <a:p>
            <a:r>
              <a:rPr lang="en-US" b="1" dirty="0"/>
              <a:t>Why they are better</a:t>
            </a:r>
            <a:r>
              <a:rPr lang="en-US" dirty="0"/>
              <a:t>: Tiny bubbles have a huge amount of surface area. Think of it like this: one big bubble has a "skin" that touches the liquid, but if you break that big bubble into 1,000 tiny ones, there is 1,000 times more "skin" touching the liquid. This makes the trap much more effective.</a:t>
            </a:r>
          </a:p>
          <a:p>
            <a:r>
              <a:rPr lang="en-US" b="1" dirty="0"/>
              <a:t>3. Greenburg-Smith Impinger</a:t>
            </a:r>
            <a:r>
              <a:rPr lang="en-US" dirty="0"/>
              <a:t> This is a "heavy-duty" collector. The air is pulled through a very narrow opening at the bottom of the tube so fast that it actually "blasts" against the bottom of the flask. This "collision" forces dust and gases into the liquid.</a:t>
            </a:r>
          </a:p>
          <a:p>
            <a:r>
              <a:rPr lang="en-US" b="1" dirty="0"/>
              <a:t>4. Midget Impinger</a:t>
            </a:r>
            <a:r>
              <a:rPr lang="en-US" dirty="0"/>
              <a:t> As the name suggests, this is a small version. It is designed to be used with smaller, battery-operated pumps that a scientist can carry around. It is the most common tool for checking air quality in workplaces or specific small areas.</a:t>
            </a:r>
          </a:p>
          <a:p>
            <a:endParaRPr lang="en-IN" dirty="0"/>
          </a:p>
        </p:txBody>
      </p:sp>
      <p:sp>
        <p:nvSpPr>
          <p:cNvPr id="4" name="Slide Number Placeholder 3"/>
          <p:cNvSpPr>
            <a:spLocks noGrp="1"/>
          </p:cNvSpPr>
          <p:nvPr>
            <p:ph type="sldNum" sz="quarter" idx="5"/>
          </p:nvPr>
        </p:nvSpPr>
        <p:spPr/>
        <p:txBody>
          <a:bodyPr/>
          <a:lstStyle/>
          <a:p>
            <a:fld id="{21B2AA4F-B828-4D7C-AFD3-893933DAFCB4}" type="slidenum">
              <a:rPr lang="en-US" smtClean="0"/>
              <a:t>16</a:t>
            </a:fld>
            <a:endParaRPr lang="en-US"/>
          </a:p>
        </p:txBody>
      </p:sp>
    </p:spTree>
    <p:extLst>
      <p:ext uri="{BB962C8B-B14F-4D97-AF65-F5344CB8AC3E}">
        <p14:creationId xmlns:p14="http://schemas.microsoft.com/office/powerpoint/2010/main" val="19766878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195638" y="566738"/>
            <a:ext cx="3194050" cy="1797050"/>
          </a:xfrm>
          <a:prstGeom prst="rect">
            <a:avLst/>
          </a:prstGeom>
        </p:spPr>
      </p:sp>
      <p:sp>
        <p:nvSpPr>
          <p:cNvPr id="3" name="Notes Placeholder 2"/>
          <p:cNvSpPr>
            <a:spLocks noGrp="1"/>
          </p:cNvSpPr>
          <p:nvPr>
            <p:ph type="body" idx="1"/>
          </p:nvPr>
        </p:nvSpPr>
        <p:spPr>
          <a:xfrm>
            <a:off x="123452" y="2564124"/>
            <a:ext cx="9838645" cy="4340707"/>
          </a:xfrm>
          <a:prstGeom prst="rect">
            <a:avLst/>
          </a:prstGeom>
        </p:spPr>
        <p:txBody>
          <a:bodyPr>
            <a:normAutofit fontScale="85000" lnSpcReduction="20000"/>
          </a:bodyPr>
          <a:lstStyle/>
          <a:p>
            <a:r>
              <a:rPr lang="en-US" b="1" dirty="0"/>
              <a:t> Maximizing the "Contact"</a:t>
            </a:r>
          </a:p>
          <a:p>
            <a:r>
              <a:rPr lang="en-US" dirty="0"/>
              <a:t>In simple language, if we want to catch all the pollution, the air bubbles need to touch as much liquid as possible for as long as possible.</a:t>
            </a:r>
          </a:p>
          <a:p>
            <a:r>
              <a:rPr lang="en-US" b="1" dirty="0"/>
              <a:t>1. The Goal: Tiny Bubbles</a:t>
            </a:r>
            <a:r>
              <a:rPr lang="en-US" dirty="0"/>
              <a:t> As we saw in Fig. 2, the fritted-glass absorber is the star of the show for efficiency. By forcing air through a "frit" (a porous glass piece), </a:t>
            </a:r>
            <a:r>
              <a:rPr lang="en-US" dirty="0">
                <a:solidFill>
                  <a:srgbClr val="FF0000"/>
                </a:solidFill>
              </a:rPr>
              <a:t>the air is shattered into millions of tiny bubbles.</a:t>
            </a:r>
          </a:p>
          <a:p>
            <a:r>
              <a:rPr lang="en-US" b="1" dirty="0"/>
              <a:t>Why it works</a:t>
            </a:r>
            <a:r>
              <a:rPr lang="en-US" dirty="0"/>
              <a:t>: Tiny bubbles stay in the liquid longer and have a much larger surface area than one big bubble. Scientists call this "intimate contact".</a:t>
            </a:r>
          </a:p>
          <a:p>
            <a:r>
              <a:rPr lang="en-US" b="1" dirty="0"/>
              <a:t>2. The "Coarse" Standard</a:t>
            </a:r>
            <a:r>
              <a:rPr lang="en-US" dirty="0"/>
              <a:t> The holes in these glass frits come in different sizes. For air sampling, we usually </a:t>
            </a:r>
            <a:r>
              <a:rPr lang="en-US" dirty="0">
                <a:solidFill>
                  <a:srgbClr val="FF0000"/>
                </a:solidFill>
              </a:rPr>
              <a:t>use the "coarse" type, which has holes about 50 </a:t>
            </a:r>
            <a:r>
              <a:rPr lang="en-US" dirty="0" err="1">
                <a:solidFill>
                  <a:srgbClr val="FF0000"/>
                </a:solidFill>
              </a:rPr>
              <a:t>μm</a:t>
            </a:r>
            <a:r>
              <a:rPr lang="en-US" dirty="0">
                <a:solidFill>
                  <a:srgbClr val="FF0000"/>
                </a:solidFill>
              </a:rPr>
              <a:t> (micrometers) wide</a:t>
            </a:r>
            <a:r>
              <a:rPr lang="en-US" dirty="0"/>
              <a:t>. This size is the "</a:t>
            </a:r>
            <a:r>
              <a:rPr lang="en-US" b="1" dirty="0"/>
              <a:t>Goldilocks" zone</a:t>
            </a:r>
            <a:r>
              <a:rPr lang="en-US" dirty="0"/>
              <a:t>—it makes bubbles small enough to be efficient but doesn't require a massive pump to push the air through.</a:t>
            </a:r>
          </a:p>
          <a:p>
            <a:r>
              <a:rPr lang="en-US" b="1" dirty="0"/>
              <a:t>3. The Problem: Clogging</a:t>
            </a:r>
            <a:r>
              <a:rPr lang="en-US" dirty="0"/>
              <a:t> Because the holes in the frit are so tiny, they act like a filter and can easily get "choked" by dust or soot in the air.</a:t>
            </a:r>
          </a:p>
          <a:p>
            <a:r>
              <a:rPr lang="en-US" b="1" dirty="0"/>
              <a:t>4. The Solution: Pre-Filtering</a:t>
            </a:r>
            <a:r>
              <a:rPr lang="en-US" dirty="0"/>
              <a:t> To protect the expensive glass frit, we often add a pre-filter at the very start of the system. This </a:t>
            </a:r>
            <a:r>
              <a:rPr lang="en-US" dirty="0">
                <a:solidFill>
                  <a:srgbClr val="FF0000"/>
                </a:solidFill>
              </a:rPr>
              <a:t>filter catches the "big chunks" of dust so only the gas and clean air reach the frit</a:t>
            </a:r>
            <a:r>
              <a:rPr lang="en-US" dirty="0"/>
              <a:t>, keeping the system running smoothly.</a:t>
            </a:r>
          </a:p>
        </p:txBody>
      </p:sp>
      <p:sp>
        <p:nvSpPr>
          <p:cNvPr id="4" name="Slide Number Placeholder 3"/>
          <p:cNvSpPr>
            <a:spLocks noGrp="1"/>
          </p:cNvSpPr>
          <p:nvPr>
            <p:ph type="sldNum" sz="quarter" idx="5"/>
          </p:nvPr>
        </p:nvSpPr>
        <p:spPr/>
        <p:txBody>
          <a:bodyPr/>
          <a:lstStyle/>
          <a:p>
            <a:fld id="{21B2AA4F-B828-4D7C-AFD3-893933DAFCB4}" type="slidenum">
              <a:rPr lang="en-US" smtClean="0"/>
              <a:t>17</a:t>
            </a:fld>
            <a:endParaRPr lang="en-US"/>
          </a:p>
        </p:txBody>
      </p:sp>
    </p:spTree>
    <p:extLst>
      <p:ext uri="{BB962C8B-B14F-4D97-AF65-F5344CB8AC3E}">
        <p14:creationId xmlns:p14="http://schemas.microsoft.com/office/powerpoint/2010/main" val="96995703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195638" y="566738"/>
            <a:ext cx="3194050" cy="1797050"/>
          </a:xfrm>
          <a:prstGeom prst="rect">
            <a:avLst/>
          </a:prstGeom>
        </p:spPr>
      </p:sp>
      <p:sp>
        <p:nvSpPr>
          <p:cNvPr id="3" name="Notes Placeholder 2"/>
          <p:cNvSpPr>
            <a:spLocks noGrp="1"/>
          </p:cNvSpPr>
          <p:nvPr>
            <p:ph type="body" idx="1"/>
          </p:nvPr>
        </p:nvSpPr>
        <p:spPr>
          <a:xfrm>
            <a:off x="123452" y="2564124"/>
            <a:ext cx="9838645" cy="4340707"/>
          </a:xfrm>
          <a:prstGeom prst="rect">
            <a:avLst/>
          </a:prstGeom>
        </p:spPr>
        <p:txBody>
          <a:bodyPr>
            <a:normAutofit fontScale="92500" lnSpcReduction="20000"/>
          </a:bodyPr>
          <a:lstStyle/>
          <a:p>
            <a:r>
              <a:rPr lang="en-US" b="1" dirty="0"/>
              <a:t>1. How it Works (The Impact)</a:t>
            </a:r>
            <a:r>
              <a:rPr lang="en-US" dirty="0"/>
              <a:t> Instead of just making bubbles, the impinger shoots the air through a very skinny tube at a very high speed. The air "impinges" (slams) against a flat surface—either the very bottom of the glass jar or a special plate placed in the way. This crash forces the pollutants to stay in the liquid while the air bounces away and leaves the bottle.</a:t>
            </a:r>
          </a:p>
          <a:p>
            <a:r>
              <a:rPr lang="en-US" b="1" dirty="0"/>
              <a:t>2. Big vs. Small (Flow Rates)</a:t>
            </a:r>
            <a:endParaRPr lang="en-US" dirty="0"/>
          </a:p>
          <a:p>
            <a:r>
              <a:rPr lang="en-US" b="1" dirty="0"/>
              <a:t>Greenburg-Smith</a:t>
            </a:r>
            <a:r>
              <a:rPr lang="en-US" dirty="0"/>
              <a:t>: This is the big brother. It can handle 30 L/min of air, which is quite a lot for a glass collector.</a:t>
            </a:r>
          </a:p>
          <a:p>
            <a:r>
              <a:rPr lang="en-US" b="1" dirty="0"/>
              <a:t>Midget Type</a:t>
            </a:r>
            <a:r>
              <a:rPr lang="en-US" dirty="0"/>
              <a:t>: This is the smaller version, handling only 3 L/min. It is much easier to carry around for field work.</a:t>
            </a:r>
          </a:p>
          <a:p>
            <a:r>
              <a:rPr lang="en-US" b="1" dirty="0"/>
              <a:t>3. Why Scientists Love Them</a:t>
            </a:r>
            <a:r>
              <a:rPr lang="en-US" dirty="0"/>
              <a:t> While fritted-glass bubblers are slightly more efficient at catching gases, they are a nightmare to clean because the tiny holes get clogged. Impingers are just smooth glass tubes. They are almost as efficient but much easier to wash and reuse, which makes them the most popular choice for everyday air testing.</a:t>
            </a:r>
          </a:p>
          <a:p>
            <a:endParaRPr lang="en-IN" dirty="0"/>
          </a:p>
        </p:txBody>
      </p:sp>
      <p:sp>
        <p:nvSpPr>
          <p:cNvPr id="4" name="Slide Number Placeholder 3"/>
          <p:cNvSpPr>
            <a:spLocks noGrp="1"/>
          </p:cNvSpPr>
          <p:nvPr>
            <p:ph type="sldNum" sz="quarter" idx="5"/>
          </p:nvPr>
        </p:nvSpPr>
        <p:spPr/>
        <p:txBody>
          <a:bodyPr/>
          <a:lstStyle/>
          <a:p>
            <a:fld id="{21B2AA4F-B828-4D7C-AFD3-893933DAFCB4}" type="slidenum">
              <a:rPr lang="en-US" smtClean="0"/>
              <a:t>18</a:t>
            </a:fld>
            <a:endParaRPr lang="en-US"/>
          </a:p>
        </p:txBody>
      </p:sp>
    </p:spTree>
    <p:extLst>
      <p:ext uri="{BB962C8B-B14F-4D97-AF65-F5344CB8AC3E}">
        <p14:creationId xmlns:p14="http://schemas.microsoft.com/office/powerpoint/2010/main" val="5581267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195638" y="566738"/>
            <a:ext cx="3194050" cy="1797050"/>
          </a:xfrm>
          <a:prstGeom prst="rect">
            <a:avLst/>
          </a:prstGeom>
        </p:spPr>
      </p:sp>
      <p:sp>
        <p:nvSpPr>
          <p:cNvPr id="3" name="Notes Placeholder 2"/>
          <p:cNvSpPr>
            <a:spLocks noGrp="1"/>
          </p:cNvSpPr>
          <p:nvPr>
            <p:ph type="body" idx="1"/>
          </p:nvPr>
        </p:nvSpPr>
        <p:spPr>
          <a:xfrm>
            <a:off x="123452" y="2564124"/>
            <a:ext cx="9838645" cy="4416907"/>
          </a:xfrm>
          <a:prstGeom prst="rect">
            <a:avLst/>
          </a:prstGeom>
        </p:spPr>
        <p:txBody>
          <a:bodyPr>
            <a:normAutofit fontScale="85000" lnSpcReduction="10000"/>
          </a:bodyPr>
          <a:lstStyle/>
          <a:p>
            <a:r>
              <a:rPr lang="en-US" b="1" dirty="0"/>
              <a:t>1. Figure 1: The Air Sampling Train (Left)</a:t>
            </a:r>
            <a:r>
              <a:rPr lang="en-US" dirty="0"/>
              <a:t> This diagram shows the "engine" of the operation.</a:t>
            </a:r>
          </a:p>
          <a:p>
            <a:r>
              <a:rPr lang="en-US" b="1" dirty="0"/>
              <a:t>The Pump</a:t>
            </a:r>
            <a:r>
              <a:rPr lang="en-US" dirty="0"/>
              <a:t>: This is the box that creates the suction needed to pull air from the outside into our collector.</a:t>
            </a:r>
          </a:p>
          <a:p>
            <a:r>
              <a:rPr lang="en-US" b="1" dirty="0"/>
              <a:t>Flowmeter</a:t>
            </a:r>
            <a:r>
              <a:rPr lang="en-US" dirty="0"/>
              <a:t>: This is the glass tube with a little ball inside. It tells the scientist exactly how much air is being pulled through every minute (measured in Liters per minute).</a:t>
            </a:r>
          </a:p>
          <a:p>
            <a:r>
              <a:rPr lang="en-US" b="1" dirty="0"/>
              <a:t>The Path</a:t>
            </a:r>
            <a:r>
              <a:rPr lang="en-US" dirty="0"/>
              <a:t>: Air enters the </a:t>
            </a:r>
            <a:r>
              <a:rPr lang="en-US" b="1" dirty="0"/>
              <a:t>Intake Tube</a:t>
            </a:r>
            <a:r>
              <a:rPr lang="en-US" dirty="0"/>
              <a:t>, travels through the </a:t>
            </a:r>
            <a:r>
              <a:rPr lang="en-US" b="1" dirty="0"/>
              <a:t>Impinger Tube</a:t>
            </a:r>
            <a:r>
              <a:rPr lang="en-US" dirty="0"/>
              <a:t> where it bubbles in the liquid, and the "cleaned" air exits through the </a:t>
            </a:r>
            <a:r>
              <a:rPr lang="en-US" b="1" dirty="0"/>
              <a:t>Outlet Tube</a:t>
            </a:r>
            <a:r>
              <a:rPr lang="en-US" dirty="0"/>
              <a:t> toward the pump.</a:t>
            </a:r>
          </a:p>
          <a:p>
            <a:r>
              <a:rPr lang="en-US" b="1" dirty="0"/>
              <a:t>2. Figure 2: The Graduated Impinger (Right)</a:t>
            </a:r>
            <a:r>
              <a:rPr lang="en-US" dirty="0"/>
              <a:t> This is a close-up of a real </a:t>
            </a:r>
            <a:r>
              <a:rPr lang="en-US" b="1" dirty="0"/>
              <a:t>Midget Impinger</a:t>
            </a:r>
            <a:r>
              <a:rPr lang="en-US" dirty="0"/>
              <a:t> used in the laboratory.</a:t>
            </a:r>
          </a:p>
          <a:p>
            <a:r>
              <a:rPr lang="en-US" b="1" dirty="0"/>
              <a:t>Measurement Lines</a:t>
            </a:r>
            <a:r>
              <a:rPr lang="en-US" dirty="0"/>
              <a:t>: Note the lines and numbers (5, 10, 15, 20, 25 mL) on the side of the glass. These are "graduations."</a:t>
            </a:r>
          </a:p>
          <a:p>
            <a:r>
              <a:rPr lang="en-US" b="1" dirty="0"/>
              <a:t>Why they matter</a:t>
            </a:r>
            <a:r>
              <a:rPr lang="en-US" dirty="0"/>
              <a:t>: After the test is done, some of the liquid might have evaporated. Scientists use these lines to see exactly how much liquid is left.</a:t>
            </a:r>
          </a:p>
          <a:p>
            <a:r>
              <a:rPr lang="en-US" b="1" dirty="0"/>
              <a:t>Precision</a:t>
            </a:r>
            <a:r>
              <a:rPr lang="en-US" dirty="0"/>
              <a:t>: Knowing the exact amount of liquid is critical. If you have 10 units of pollution in 10 mL of liquid, it is a different concentration than 10 units in 5 </a:t>
            </a:r>
            <a:r>
              <a:rPr lang="en-US" dirty="0" err="1"/>
              <a:t>mL.</a:t>
            </a:r>
            <a:r>
              <a:rPr lang="en-US" dirty="0"/>
              <a:t> These lines help ensure the lab math is perfect.</a:t>
            </a:r>
          </a:p>
          <a:p>
            <a:endParaRPr lang="en-IN" dirty="0"/>
          </a:p>
        </p:txBody>
      </p:sp>
      <p:sp>
        <p:nvSpPr>
          <p:cNvPr id="4" name="Slide Number Placeholder 3"/>
          <p:cNvSpPr>
            <a:spLocks noGrp="1"/>
          </p:cNvSpPr>
          <p:nvPr>
            <p:ph type="sldNum" sz="quarter" idx="5"/>
          </p:nvPr>
        </p:nvSpPr>
        <p:spPr/>
        <p:txBody>
          <a:bodyPr/>
          <a:lstStyle/>
          <a:p>
            <a:fld id="{21B2AA4F-B828-4D7C-AFD3-893933DAFCB4}" type="slidenum">
              <a:rPr lang="en-US" smtClean="0"/>
              <a:t>19</a:t>
            </a:fld>
            <a:endParaRPr lang="en-US"/>
          </a:p>
        </p:txBody>
      </p:sp>
    </p:spTree>
    <p:extLst>
      <p:ext uri="{BB962C8B-B14F-4D97-AF65-F5344CB8AC3E}">
        <p14:creationId xmlns:p14="http://schemas.microsoft.com/office/powerpoint/2010/main" val="175980176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195638" y="566738"/>
            <a:ext cx="3194050" cy="1797050"/>
          </a:xfrm>
          <a:prstGeom prst="rect">
            <a:avLst/>
          </a:prstGeom>
        </p:spPr>
      </p:sp>
      <p:sp>
        <p:nvSpPr>
          <p:cNvPr id="3" name="Notes Placeholder 2"/>
          <p:cNvSpPr>
            <a:spLocks noGrp="1"/>
          </p:cNvSpPr>
          <p:nvPr>
            <p:ph type="body" idx="1"/>
          </p:nvPr>
        </p:nvSpPr>
        <p:spPr>
          <a:xfrm>
            <a:off x="123452" y="2564124"/>
            <a:ext cx="9838645" cy="4416907"/>
          </a:xfrm>
          <a:prstGeom prst="rect">
            <a:avLst/>
          </a:prstGeom>
        </p:spPr>
        <p:txBody>
          <a:bodyPr>
            <a:normAutofit fontScale="85000" lnSpcReduction="10000"/>
          </a:bodyPr>
          <a:lstStyle/>
          <a:p>
            <a:r>
              <a:rPr lang="en-US" dirty="0"/>
              <a:t>"Adsorption" (with a "d") is different from "Absorption" (with a "b"). While absorption is like a sponge soaking up water, adsorption is like dust sticking to a piece of tape.</a:t>
            </a:r>
          </a:p>
          <a:p>
            <a:r>
              <a:rPr lang="en-US" b="1" dirty="0"/>
              <a:t>1. How it Works</a:t>
            </a:r>
            <a:r>
              <a:rPr lang="en-US" dirty="0"/>
              <a:t> We use a </a:t>
            </a:r>
            <a:r>
              <a:rPr lang="en-US" dirty="0">
                <a:solidFill>
                  <a:srgbClr val="FF0000"/>
                </a:solidFill>
              </a:rPr>
              <a:t>small tube (a column) packed with special solid grains</a:t>
            </a:r>
            <a:r>
              <a:rPr lang="en-US" dirty="0"/>
              <a:t>. As the air flows through this tube, the gas pollutants "</a:t>
            </a:r>
            <a:r>
              <a:rPr lang="en-US" dirty="0">
                <a:solidFill>
                  <a:srgbClr val="FF0000"/>
                </a:solidFill>
              </a:rPr>
              <a:t>stick" to the surface</a:t>
            </a:r>
            <a:r>
              <a:rPr lang="en-US" dirty="0"/>
              <a:t> of these grains. The air itself passes right through, but the pollution is left behind, stuck to the solid.</a:t>
            </a:r>
          </a:p>
          <a:p>
            <a:r>
              <a:rPr lang="en-US" b="1" dirty="0"/>
              <a:t>2. Why Solids?</a:t>
            </a:r>
            <a:r>
              <a:rPr lang="en-US" dirty="0"/>
              <a:t> We use special materials like </a:t>
            </a:r>
            <a:r>
              <a:rPr lang="en-US" b="1" dirty="0"/>
              <a:t>activated charcoal</a:t>
            </a:r>
            <a:r>
              <a:rPr lang="en-US" dirty="0"/>
              <a:t> or </a:t>
            </a:r>
            <a:r>
              <a:rPr lang="en-US" b="1" dirty="0"/>
              <a:t>silica gel</a:t>
            </a:r>
            <a:r>
              <a:rPr lang="en-US" dirty="0"/>
              <a:t>.</a:t>
            </a:r>
          </a:p>
          <a:p>
            <a:r>
              <a:rPr lang="en-US" dirty="0"/>
              <a:t>These aren't just regular solids; </a:t>
            </a:r>
            <a:r>
              <a:rPr lang="en-US" dirty="0">
                <a:solidFill>
                  <a:srgbClr val="FF0000"/>
                </a:solidFill>
              </a:rPr>
              <a:t>they are "porous," </a:t>
            </a:r>
            <a:r>
              <a:rPr lang="en-US" dirty="0"/>
              <a:t>meaning they </a:t>
            </a:r>
            <a:r>
              <a:rPr lang="en-US" dirty="0">
                <a:solidFill>
                  <a:srgbClr val="FF0000"/>
                </a:solidFill>
              </a:rPr>
              <a:t>are filled with millions of microscopic tunnels and holes</a:t>
            </a:r>
            <a:r>
              <a:rPr lang="en-US" dirty="0"/>
              <a:t>.</a:t>
            </a:r>
          </a:p>
          <a:p>
            <a:r>
              <a:rPr lang="en-US" dirty="0"/>
              <a:t>Because of all these tiny holes, a single gram of activated charcoal can have a surface area larger than a football field!.</a:t>
            </a:r>
          </a:p>
          <a:p>
            <a:r>
              <a:rPr lang="en-US" dirty="0">
                <a:solidFill>
                  <a:srgbClr val="FF0000"/>
                </a:solidFill>
              </a:rPr>
              <a:t>More surface area means more "sticky" space to catch and concentrate the pollutants.</a:t>
            </a:r>
          </a:p>
          <a:p>
            <a:r>
              <a:rPr lang="en-US" b="1" dirty="0"/>
              <a:t>3. Concentrating the Sample</a:t>
            </a:r>
            <a:r>
              <a:rPr lang="en-US" dirty="0"/>
              <a:t> This method is excellent because it "concentrates" the pollution. You can pull air through the tube for hours, catching every tiny bit of gas. By the end, all that gas is trapped in one small tube, making it very easy for the lab to find and measure.</a:t>
            </a:r>
          </a:p>
          <a:p>
            <a:endParaRPr lang="en-IN" dirty="0"/>
          </a:p>
        </p:txBody>
      </p:sp>
      <p:sp>
        <p:nvSpPr>
          <p:cNvPr id="4" name="Slide Number Placeholder 3"/>
          <p:cNvSpPr>
            <a:spLocks noGrp="1"/>
          </p:cNvSpPr>
          <p:nvPr>
            <p:ph type="sldNum" sz="quarter" idx="5"/>
          </p:nvPr>
        </p:nvSpPr>
        <p:spPr/>
        <p:txBody>
          <a:bodyPr/>
          <a:lstStyle/>
          <a:p>
            <a:fld id="{21B2AA4F-B828-4D7C-AFD3-893933DAFCB4}" type="slidenum">
              <a:rPr lang="en-US" smtClean="0"/>
              <a:t>20</a:t>
            </a:fld>
            <a:endParaRPr lang="en-US"/>
          </a:p>
        </p:txBody>
      </p:sp>
    </p:spTree>
    <p:extLst>
      <p:ext uri="{BB962C8B-B14F-4D97-AF65-F5344CB8AC3E}">
        <p14:creationId xmlns:p14="http://schemas.microsoft.com/office/powerpoint/2010/main" val="338130466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195638" y="566738"/>
            <a:ext cx="3194050" cy="1797050"/>
          </a:xfrm>
          <a:prstGeom prst="rect">
            <a:avLst/>
          </a:prstGeom>
        </p:spPr>
      </p:sp>
      <p:sp>
        <p:nvSpPr>
          <p:cNvPr id="3" name="Notes Placeholder 2"/>
          <p:cNvSpPr>
            <a:spLocks noGrp="1"/>
          </p:cNvSpPr>
          <p:nvPr>
            <p:ph type="body" idx="1"/>
          </p:nvPr>
        </p:nvSpPr>
        <p:spPr>
          <a:xfrm>
            <a:off x="123452" y="2564124"/>
            <a:ext cx="9838645" cy="4112107"/>
          </a:xfrm>
          <a:prstGeom prst="rect">
            <a:avLst/>
          </a:prstGeom>
        </p:spPr>
        <p:txBody>
          <a:bodyPr>
            <a:normAutofit fontScale="70000" lnSpcReduction="20000"/>
          </a:bodyPr>
          <a:lstStyle/>
          <a:p>
            <a:r>
              <a:rPr lang="en-US" b="1" dirty="0"/>
              <a:t>Explaining the Fixed Bed Adsorber</a:t>
            </a:r>
          </a:p>
          <a:p>
            <a:r>
              <a:rPr lang="en-US" dirty="0"/>
              <a:t>In simple language, this figure shows a "Solid Trap" where gas pollutants are physically stuck onto the surface of a material like charcoal.</a:t>
            </a:r>
          </a:p>
          <a:p>
            <a:r>
              <a:rPr lang="en-US" b="1" dirty="0"/>
              <a:t>1. How the Adsorber Works (Figure 3)</a:t>
            </a:r>
            <a:r>
              <a:rPr lang="en-US" dirty="0"/>
              <a:t> The diagram illustrates a </a:t>
            </a:r>
            <a:r>
              <a:rPr lang="en-US" b="1" dirty="0"/>
              <a:t>Fixed Bed Adsorber</a:t>
            </a:r>
            <a:r>
              <a:rPr lang="en-US" dirty="0"/>
              <a:t>, which acts like a specialized filter for gases.</a:t>
            </a:r>
          </a:p>
          <a:p>
            <a:r>
              <a:rPr lang="en-US" b="1" dirty="0"/>
              <a:t>Adsorbate Inlet</a:t>
            </a:r>
            <a:r>
              <a:rPr lang="en-US" dirty="0"/>
              <a:t>: This is where the "dirty" air containing gas pollutants enters the machine.</a:t>
            </a:r>
          </a:p>
          <a:p>
            <a:r>
              <a:rPr lang="en-US" b="1" dirty="0"/>
              <a:t>The Distributor</a:t>
            </a:r>
            <a:r>
              <a:rPr lang="en-US" dirty="0"/>
              <a:t>: Once inside, this part spreads the air out evenly so it doesn't all rush through one spot.</a:t>
            </a:r>
          </a:p>
          <a:p>
            <a:r>
              <a:rPr lang="en-US" b="1" dirty="0"/>
              <a:t>The Adsorbent (The Bed)</a:t>
            </a:r>
            <a:r>
              <a:rPr lang="en-US" dirty="0"/>
              <a:t>: The air travels through a "bed" of solid particles (like activated charcoal or silica gel). These solids have a </a:t>
            </a:r>
            <a:r>
              <a:rPr lang="en-US" b="1" dirty="0"/>
              <a:t>very large surface area</a:t>
            </a:r>
            <a:r>
              <a:rPr lang="en-US" dirty="0"/>
              <a:t>, acting like millions of tiny magnets that pull the gas molecules out of the air and hold them on their surface.</a:t>
            </a:r>
          </a:p>
          <a:p>
            <a:r>
              <a:rPr lang="en-US" b="1" dirty="0"/>
              <a:t>Clean Gas Outlet</a:t>
            </a:r>
            <a:r>
              <a:rPr lang="en-US" dirty="0"/>
              <a:t>: After the pollutants are trapped on the solid surface, the clean air exits through the top.</a:t>
            </a:r>
          </a:p>
          <a:p>
            <a:r>
              <a:rPr lang="en-US" b="1" dirty="0"/>
              <a:t>2. Adsorption vs. Absorption</a:t>
            </a:r>
            <a:r>
              <a:rPr lang="en-US" dirty="0"/>
              <a:t> It is important to remember the difference between these two "traps":</a:t>
            </a:r>
          </a:p>
          <a:p>
            <a:r>
              <a:rPr lang="en-US" b="1" dirty="0"/>
              <a:t>Absorption (with a B)</a:t>
            </a:r>
            <a:r>
              <a:rPr lang="en-US" dirty="0"/>
              <a:t>: The gas dissolves </a:t>
            </a:r>
            <a:r>
              <a:rPr lang="en-US" i="1" dirty="0"/>
              <a:t>into</a:t>
            </a:r>
            <a:r>
              <a:rPr lang="en-US" dirty="0"/>
              <a:t> the liquid (like sugar in water).</a:t>
            </a:r>
          </a:p>
          <a:p>
            <a:r>
              <a:rPr lang="en-US" b="1" dirty="0"/>
              <a:t>Adsorption (with a D)</a:t>
            </a:r>
            <a:r>
              <a:rPr lang="en-US" dirty="0"/>
              <a:t>: The gas sticks </a:t>
            </a:r>
            <a:r>
              <a:rPr lang="en-US" i="1" dirty="0"/>
              <a:t>onto</a:t>
            </a:r>
            <a:r>
              <a:rPr lang="en-US" dirty="0"/>
              <a:t> the surface of a solid (like dust on a piece of tape).</a:t>
            </a:r>
          </a:p>
          <a:p>
            <a:r>
              <a:rPr lang="en-US" b="1" dirty="0"/>
              <a:t>3. Why it is Effective</a:t>
            </a:r>
            <a:r>
              <a:rPr lang="en-US" dirty="0"/>
              <a:t> Because the adsorbent material is </a:t>
            </a:r>
            <a:r>
              <a:rPr lang="en-US" b="1" dirty="0"/>
              <a:t>finely divided</a:t>
            </a:r>
            <a:r>
              <a:rPr lang="en-US" dirty="0"/>
              <a:t> (broken into tiny grains), there is an incredible amount of surface area for the pollutants to grab onto. This allows the machine to "concentrate" the pollutants in a very small space, making them easy to analyze later.</a:t>
            </a:r>
          </a:p>
          <a:p>
            <a:endParaRPr lang="en-IN" dirty="0"/>
          </a:p>
        </p:txBody>
      </p:sp>
      <p:sp>
        <p:nvSpPr>
          <p:cNvPr id="4" name="Slide Number Placeholder 3"/>
          <p:cNvSpPr>
            <a:spLocks noGrp="1"/>
          </p:cNvSpPr>
          <p:nvPr>
            <p:ph type="sldNum" sz="quarter" idx="5"/>
          </p:nvPr>
        </p:nvSpPr>
        <p:spPr/>
        <p:txBody>
          <a:bodyPr/>
          <a:lstStyle/>
          <a:p>
            <a:fld id="{21B2AA4F-B828-4D7C-AFD3-893933DAFCB4}" type="slidenum">
              <a:rPr lang="en-US" smtClean="0"/>
              <a:t>21</a:t>
            </a:fld>
            <a:endParaRPr lang="en-US"/>
          </a:p>
        </p:txBody>
      </p:sp>
    </p:spTree>
    <p:extLst>
      <p:ext uri="{BB962C8B-B14F-4D97-AF65-F5344CB8AC3E}">
        <p14:creationId xmlns:p14="http://schemas.microsoft.com/office/powerpoint/2010/main" val="224857597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195638" y="566738"/>
            <a:ext cx="3194050" cy="1797050"/>
          </a:xfrm>
          <a:prstGeom prst="rect">
            <a:avLst/>
          </a:prstGeom>
        </p:spPr>
      </p:sp>
      <p:sp>
        <p:nvSpPr>
          <p:cNvPr id="3" name="Notes Placeholder 2"/>
          <p:cNvSpPr>
            <a:spLocks noGrp="1"/>
          </p:cNvSpPr>
          <p:nvPr>
            <p:ph type="body" idx="1"/>
          </p:nvPr>
        </p:nvSpPr>
        <p:spPr>
          <a:xfrm>
            <a:off x="123452" y="2564124"/>
            <a:ext cx="9838645" cy="4340707"/>
          </a:xfrm>
          <a:prstGeom prst="rect">
            <a:avLst/>
          </a:prstGeom>
        </p:spPr>
        <p:txBody>
          <a:bodyPr>
            <a:normAutofit fontScale="77500" lnSpcReduction="20000"/>
          </a:bodyPr>
          <a:lstStyle/>
          <a:p>
            <a:r>
              <a:rPr lang="en-US" b="1" dirty="0"/>
              <a:t>Releasing the Trapped Gas</a:t>
            </a:r>
          </a:p>
          <a:p>
            <a:r>
              <a:rPr lang="en-US" dirty="0"/>
              <a:t>In simple language, once you have caught the pollution on your "sticky" solid, you have to get it back off so you can test it. This process is called </a:t>
            </a:r>
            <a:r>
              <a:rPr lang="en-US" b="1" dirty="0"/>
              <a:t>Desorption</a:t>
            </a:r>
            <a:r>
              <a:rPr lang="en-US" dirty="0"/>
              <a:t>.</a:t>
            </a:r>
          </a:p>
          <a:p>
            <a:r>
              <a:rPr lang="en-US" b="1" dirty="0"/>
              <a:t>1. How to "Unstick" the Gas</a:t>
            </a:r>
            <a:r>
              <a:rPr lang="en-US" dirty="0"/>
              <a:t> Since the gas is stuck tight to the charcoal or silica gel, we have two main ways to release it:</a:t>
            </a:r>
          </a:p>
          <a:p>
            <a:r>
              <a:rPr lang="en-US" b="1" dirty="0"/>
              <a:t>Heat it up</a:t>
            </a:r>
            <a:r>
              <a:rPr lang="en-US" dirty="0"/>
              <a:t>: Just like water turns to steam when heated, we bake the solid grains until the trapped pollutants turn back into a gas and float away into a testing machine.</a:t>
            </a:r>
          </a:p>
          <a:p>
            <a:r>
              <a:rPr lang="en-US" b="1" dirty="0"/>
              <a:t>Wash it away</a:t>
            </a:r>
            <a:r>
              <a:rPr lang="en-US" dirty="0"/>
              <a:t>: We use a special chemical liquid (a solvent) to rinse the solid grains. The pollutants prefer the liquid over the solid, so they jump into the liquid to be carried away.</a:t>
            </a:r>
          </a:p>
          <a:p>
            <a:r>
              <a:rPr lang="en-US" b="1" dirty="0"/>
              <a:t>2. Testing with Gas Chromatography</a:t>
            </a:r>
            <a:r>
              <a:rPr lang="en-US" dirty="0"/>
              <a:t> For most organic vapors (like fumes from gasoline or paint), we use a machine called a </a:t>
            </a:r>
            <a:r>
              <a:rPr lang="en-US" b="1" dirty="0"/>
              <a:t>Gas Chromatograph</a:t>
            </a:r>
            <a:r>
              <a:rPr lang="en-US" dirty="0"/>
              <a:t>.</a:t>
            </a:r>
          </a:p>
          <a:p>
            <a:r>
              <a:rPr lang="en-US" dirty="0"/>
              <a:t>Interestingly, this machine works on the same principle as the collector!.</a:t>
            </a:r>
          </a:p>
          <a:p>
            <a:r>
              <a:rPr lang="en-US" dirty="0"/>
              <a:t>It </a:t>
            </a:r>
            <a:r>
              <a:rPr lang="en-US" dirty="0">
                <a:solidFill>
                  <a:srgbClr val="FF0000"/>
                </a:solidFill>
              </a:rPr>
              <a:t>pushes the gas through a long, thin tube that makes different chemicals "stick" for different amounts of time. This allows us to separate and identify exactly what was in the air.</a:t>
            </a:r>
          </a:p>
          <a:p>
            <a:r>
              <a:rPr lang="en-US" b="1" dirty="0"/>
              <a:t>3. The Downside</a:t>
            </a:r>
            <a:r>
              <a:rPr lang="en-US" dirty="0"/>
              <a:t> Even though it sounds great, this method isn't used as much as liquid absorption.</a:t>
            </a:r>
          </a:p>
          <a:p>
            <a:r>
              <a:rPr lang="en-US" dirty="0"/>
              <a:t>Why? Because "unsticking" the gas (desorption) is difficult.</a:t>
            </a:r>
          </a:p>
          <a:p>
            <a:r>
              <a:rPr lang="en-US" dirty="0"/>
              <a:t>Sometimes the gas is stuck so hard it won't come off, or it changes chemically when we heat it up, which gives us the wrong results.</a:t>
            </a:r>
          </a:p>
          <a:p>
            <a:endParaRPr lang="en-IN" dirty="0"/>
          </a:p>
        </p:txBody>
      </p:sp>
      <p:sp>
        <p:nvSpPr>
          <p:cNvPr id="4" name="Slide Number Placeholder 3"/>
          <p:cNvSpPr>
            <a:spLocks noGrp="1"/>
          </p:cNvSpPr>
          <p:nvPr>
            <p:ph type="sldNum" sz="quarter" idx="5"/>
          </p:nvPr>
        </p:nvSpPr>
        <p:spPr/>
        <p:txBody>
          <a:bodyPr/>
          <a:lstStyle/>
          <a:p>
            <a:fld id="{21B2AA4F-B828-4D7C-AFD3-893933DAFCB4}" type="slidenum">
              <a:rPr lang="en-US" smtClean="0"/>
              <a:t>22</a:t>
            </a:fld>
            <a:endParaRPr lang="en-US"/>
          </a:p>
        </p:txBody>
      </p:sp>
    </p:spTree>
    <p:extLst>
      <p:ext uri="{BB962C8B-B14F-4D97-AF65-F5344CB8AC3E}">
        <p14:creationId xmlns:p14="http://schemas.microsoft.com/office/powerpoint/2010/main" val="134354942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195638" y="566738"/>
            <a:ext cx="3194050" cy="1797050"/>
          </a:xfrm>
          <a:prstGeom prst="rect">
            <a:avLst/>
          </a:prstGeom>
        </p:spPr>
      </p:sp>
      <p:sp>
        <p:nvSpPr>
          <p:cNvPr id="3" name="Notes Placeholder 2"/>
          <p:cNvSpPr>
            <a:spLocks noGrp="1"/>
          </p:cNvSpPr>
          <p:nvPr>
            <p:ph type="body" idx="1"/>
          </p:nvPr>
        </p:nvSpPr>
        <p:spPr>
          <a:xfrm>
            <a:off x="123452" y="2564124"/>
            <a:ext cx="9838645" cy="4416907"/>
          </a:xfrm>
          <a:prstGeom prst="rect">
            <a:avLst/>
          </a:prstGeom>
        </p:spPr>
        <p:txBody>
          <a:bodyPr>
            <a:normAutofit fontScale="85000" lnSpcReduction="20000"/>
          </a:bodyPr>
          <a:lstStyle/>
          <a:p>
            <a:r>
              <a:rPr lang="en-US" b="1" dirty="0"/>
              <a:t>The "Deep Freeze" Method</a:t>
            </a:r>
          </a:p>
          <a:p>
            <a:r>
              <a:rPr lang="en-US" dirty="0"/>
              <a:t>In simple language, this method is like making "pollutant ice cubes." We use extreme cold to turn gases back into liquids or solids so we can collect them.</a:t>
            </a:r>
          </a:p>
          <a:p>
            <a:r>
              <a:rPr lang="en-US" b="1" dirty="0"/>
              <a:t>1. How it Works: The Temperature Staircase</a:t>
            </a:r>
            <a:r>
              <a:rPr lang="en-US" dirty="0"/>
              <a:t> We pull the air through a chain of containers called </a:t>
            </a:r>
            <a:r>
              <a:rPr lang="en-US" b="1" dirty="0"/>
              <a:t>cold traps</a:t>
            </a:r>
            <a:r>
              <a:rPr lang="en-US" dirty="0"/>
              <a:t>. Each container in the chain is colder than the one before it.</a:t>
            </a:r>
          </a:p>
          <a:p>
            <a:r>
              <a:rPr lang="en-US" b="1" dirty="0"/>
              <a:t>The First Trap</a:t>
            </a:r>
            <a:r>
              <a:rPr lang="en-US" dirty="0"/>
              <a:t>: Might be cooled with ice to catch water vapor.</a:t>
            </a:r>
          </a:p>
          <a:p>
            <a:r>
              <a:rPr lang="en-US" b="1" dirty="0"/>
              <a:t>The Middle Traps</a:t>
            </a:r>
            <a:r>
              <a:rPr lang="en-US" dirty="0"/>
              <a:t>: Might use dry ice to catch certain chemicals.</a:t>
            </a:r>
          </a:p>
          <a:p>
            <a:r>
              <a:rPr lang="en-US" b="1" dirty="0"/>
              <a:t>The Last Trap</a:t>
            </a:r>
            <a:r>
              <a:rPr lang="en-US" dirty="0"/>
              <a:t>: Might use liquid nitrogen to catch gases that only freeze at incredibly low temperatures.</a:t>
            </a:r>
          </a:p>
          <a:p>
            <a:r>
              <a:rPr lang="en-US" b="1" dirty="0"/>
              <a:t>2. Why use a "Series" (Chain)?</a:t>
            </a:r>
            <a:r>
              <a:rPr lang="en-US" dirty="0"/>
              <a:t> We use progressively lower temperatures to separate the pollutants as we catch them. If we went straight to the coldest temperature, everything (including the moisture in the air) would freeze at once and clog the system. By stepping the temperature down, we catch different pollutants in different bottles.</a:t>
            </a:r>
          </a:p>
          <a:p>
            <a:r>
              <a:rPr lang="en-US" b="1" dirty="0"/>
              <a:t>3. Lab Analysis</a:t>
            </a:r>
            <a:r>
              <a:rPr lang="en-US" dirty="0"/>
              <a:t> Once the sampling is done, the scientist carefully seals the frozen traps and takes them to the lab. As the traps warm up, the pollutants are removed and tested using high-tech machines like a </a:t>
            </a:r>
            <a:r>
              <a:rPr lang="en-US" b="1" dirty="0"/>
              <a:t>Mass Spectrometer</a:t>
            </a:r>
            <a:r>
              <a:rPr lang="en-US" dirty="0"/>
              <a:t> or </a:t>
            </a:r>
            <a:r>
              <a:rPr lang="en-US" b="1" dirty="0"/>
              <a:t>Infrared Spectrophotometry</a:t>
            </a:r>
            <a:r>
              <a:rPr lang="en-US" dirty="0"/>
              <a:t> to see exactly what was caught.</a:t>
            </a:r>
          </a:p>
          <a:p>
            <a:endParaRPr lang="en-IN" dirty="0"/>
          </a:p>
        </p:txBody>
      </p:sp>
      <p:sp>
        <p:nvSpPr>
          <p:cNvPr id="4" name="Slide Number Placeholder 3"/>
          <p:cNvSpPr>
            <a:spLocks noGrp="1"/>
          </p:cNvSpPr>
          <p:nvPr>
            <p:ph type="sldNum" sz="quarter" idx="5"/>
          </p:nvPr>
        </p:nvSpPr>
        <p:spPr/>
        <p:txBody>
          <a:bodyPr/>
          <a:lstStyle/>
          <a:p>
            <a:fld id="{21B2AA4F-B828-4D7C-AFD3-893933DAFCB4}" type="slidenum">
              <a:rPr lang="en-US" smtClean="0"/>
              <a:t>23</a:t>
            </a:fld>
            <a:endParaRPr lang="en-US"/>
          </a:p>
        </p:txBody>
      </p:sp>
    </p:spTree>
    <p:extLst>
      <p:ext uri="{BB962C8B-B14F-4D97-AF65-F5344CB8AC3E}">
        <p14:creationId xmlns:p14="http://schemas.microsoft.com/office/powerpoint/2010/main" val="294745452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195638" y="566738"/>
            <a:ext cx="3194050" cy="1797050"/>
          </a:xfrm>
          <a:prstGeom prst="rect">
            <a:avLst/>
          </a:prstGeom>
        </p:spPr>
      </p:sp>
      <p:sp>
        <p:nvSpPr>
          <p:cNvPr id="3" name="Notes Placeholder 2"/>
          <p:cNvSpPr>
            <a:spLocks noGrp="1"/>
          </p:cNvSpPr>
          <p:nvPr>
            <p:ph type="body" idx="1"/>
          </p:nvPr>
        </p:nvSpPr>
        <p:spPr>
          <a:xfrm>
            <a:off x="123452" y="2564124"/>
            <a:ext cx="9838645" cy="4416907"/>
          </a:xfrm>
          <a:prstGeom prst="rect">
            <a:avLst/>
          </a:prstGeom>
        </p:spPr>
        <p:txBody>
          <a:bodyPr>
            <a:normAutofit fontScale="92500" lnSpcReduction="20000"/>
          </a:bodyPr>
          <a:lstStyle/>
          <a:p>
            <a:r>
              <a:rPr lang="en-US" dirty="0"/>
              <a:t>while "freezing" pollution sounds like a great idea, it is very difficult to do in the real world outside of a laboratory.</a:t>
            </a:r>
          </a:p>
          <a:p>
            <a:r>
              <a:rPr lang="en-US" b="1" dirty="0"/>
              <a:t>1. The "Ice Jam" Problem</a:t>
            </a:r>
            <a:r>
              <a:rPr lang="en-US" dirty="0"/>
              <a:t> The biggest enemy of this method is actually </a:t>
            </a:r>
            <a:r>
              <a:rPr lang="en-US" b="1" dirty="0"/>
              <a:t>water vapor</a:t>
            </a:r>
            <a:r>
              <a:rPr lang="en-US" dirty="0"/>
              <a:t> (humidity) in the air.</a:t>
            </a:r>
          </a:p>
          <a:p>
            <a:r>
              <a:rPr lang="en-US" dirty="0"/>
              <a:t>As the air hits the first cold trap, the water turns into ice.</a:t>
            </a:r>
          </a:p>
          <a:p>
            <a:r>
              <a:rPr lang="en-US" dirty="0"/>
              <a:t>Over time, this ice builds up like a frozen "plug" inside the glass tubes.</a:t>
            </a:r>
          </a:p>
          <a:p>
            <a:r>
              <a:rPr lang="en-US" dirty="0"/>
              <a:t>Once the tube is plugged, the air can no longer flow through, and the sampling stops completely.</a:t>
            </a:r>
          </a:p>
          <a:p>
            <a:r>
              <a:rPr lang="en-US" b="1" dirty="0"/>
              <a:t>2. Too Much Equipment</a:t>
            </a:r>
            <a:r>
              <a:rPr lang="en-US" dirty="0"/>
              <a:t> Assembling a "freeze-out train" is a major chore.</a:t>
            </a:r>
          </a:p>
          <a:p>
            <a:r>
              <a:rPr lang="en-US" dirty="0"/>
              <a:t>You need multiple glass traps, special insulated buckets (Dewar flasks), and dangerous cooling liquids like </a:t>
            </a:r>
            <a:r>
              <a:rPr lang="en-US" b="1" dirty="0"/>
              <a:t>liquid nitrogen</a:t>
            </a:r>
            <a:r>
              <a:rPr lang="en-US" dirty="0"/>
              <a:t> or chunks of </a:t>
            </a:r>
            <a:r>
              <a:rPr lang="en-US" b="1" dirty="0"/>
              <a:t>dry ice</a:t>
            </a:r>
            <a:r>
              <a:rPr lang="en-US" dirty="0"/>
              <a:t>.</a:t>
            </a:r>
          </a:p>
          <a:p>
            <a:r>
              <a:rPr lang="en-US" dirty="0"/>
              <a:t>Carrying all this heavy, fragile glass and freezing chemicals to a messy construction site or a busy street is just not practical for daily "routine" testing.</a:t>
            </a:r>
          </a:p>
          <a:p>
            <a:r>
              <a:rPr lang="en-US" b="1" dirty="0"/>
              <a:t>3. The Verdict</a:t>
            </a:r>
            <a:r>
              <a:rPr lang="en-US" dirty="0"/>
              <a:t> Because it is so "inconvenient" and prone to "plugging," scientists usually only save this method for very special research projects, not for everyday air quality monitoring.</a:t>
            </a:r>
          </a:p>
          <a:p>
            <a:endParaRPr lang="en-IN" dirty="0"/>
          </a:p>
        </p:txBody>
      </p:sp>
      <p:sp>
        <p:nvSpPr>
          <p:cNvPr id="4" name="Slide Number Placeholder 3"/>
          <p:cNvSpPr>
            <a:spLocks noGrp="1"/>
          </p:cNvSpPr>
          <p:nvPr>
            <p:ph type="sldNum" sz="quarter" idx="5"/>
          </p:nvPr>
        </p:nvSpPr>
        <p:spPr/>
        <p:txBody>
          <a:bodyPr/>
          <a:lstStyle/>
          <a:p>
            <a:fld id="{21B2AA4F-B828-4D7C-AFD3-893933DAFCB4}" type="slidenum">
              <a:rPr lang="en-US" smtClean="0"/>
              <a:t>24</a:t>
            </a:fld>
            <a:endParaRPr lang="en-US"/>
          </a:p>
        </p:txBody>
      </p:sp>
    </p:spTree>
    <p:extLst>
      <p:ext uri="{BB962C8B-B14F-4D97-AF65-F5344CB8AC3E}">
        <p14:creationId xmlns:p14="http://schemas.microsoft.com/office/powerpoint/2010/main" val="358625605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195638" y="566738"/>
            <a:ext cx="3194050" cy="1797050"/>
          </a:xfrm>
          <a:prstGeom prst="rect">
            <a:avLst/>
          </a:prstGeom>
        </p:spPr>
      </p:sp>
      <p:sp>
        <p:nvSpPr>
          <p:cNvPr id="3" name="Notes Placeholder 2"/>
          <p:cNvSpPr>
            <a:spLocks noGrp="1"/>
          </p:cNvSpPr>
          <p:nvPr>
            <p:ph type="body" idx="1"/>
          </p:nvPr>
        </p:nvSpPr>
        <p:spPr>
          <a:xfrm>
            <a:off x="123452" y="2564124"/>
            <a:ext cx="9838645" cy="4340707"/>
          </a:xfrm>
          <a:prstGeom prst="rect">
            <a:avLst/>
          </a:prstGeom>
        </p:spPr>
        <p:txBody>
          <a:bodyPr>
            <a:normAutofit fontScale="77500" lnSpcReduction="20000"/>
          </a:bodyPr>
          <a:lstStyle/>
          <a:p>
            <a:pPr rtl="0"/>
            <a:r>
              <a:rPr lang="en-US" sz="2400" b="1" i="0" kern="1200" dirty="0">
                <a:solidFill>
                  <a:schemeClr val="tx1"/>
                </a:solidFill>
                <a:effectLst/>
                <a:latin typeface="+mn-lt"/>
                <a:ea typeface="+mn-ea"/>
                <a:cs typeface="+mn-cs"/>
              </a:rPr>
              <a:t> Catching Dust and Aerosols</a:t>
            </a:r>
          </a:p>
          <a:p>
            <a:pPr rtl="0"/>
            <a:r>
              <a:rPr lang="en-US" sz="2400" b="0" i="0" kern="1200" dirty="0">
                <a:solidFill>
                  <a:schemeClr val="tx1"/>
                </a:solidFill>
                <a:effectLst/>
                <a:latin typeface="+mn-lt"/>
                <a:ea typeface="+mn-ea"/>
                <a:cs typeface="+mn-cs"/>
              </a:rPr>
              <a:t>In simple language, we have finished talking about gases and are now moving on to "Particulates"—the solid or liquid "bits" floating in the air.</a:t>
            </a:r>
          </a:p>
          <a:p>
            <a:pPr rtl="0"/>
            <a:r>
              <a:rPr lang="en-US" sz="2400" b="1" i="0" kern="1200" dirty="0">
                <a:solidFill>
                  <a:schemeClr val="tx1"/>
                </a:solidFill>
                <a:effectLst/>
                <a:latin typeface="+mn-lt"/>
                <a:ea typeface="+mn-ea"/>
                <a:cs typeface="+mn-cs"/>
              </a:rPr>
              <a:t>1. Heavy vs. Light Particles</a:t>
            </a:r>
            <a:r>
              <a:rPr lang="en-US" sz="2400" b="0" i="0" kern="1200" dirty="0">
                <a:solidFill>
                  <a:schemeClr val="tx1"/>
                </a:solidFill>
                <a:effectLst/>
                <a:latin typeface="+mn-lt"/>
                <a:ea typeface="+mn-ea"/>
                <a:cs typeface="+mn-cs"/>
              </a:rPr>
              <a:t> We separate these bits into two main groups based on how they behave in the air:</a:t>
            </a:r>
          </a:p>
          <a:p>
            <a:pPr rtl="0"/>
            <a:r>
              <a:rPr lang="en-US" sz="2400" b="1" i="0" kern="1200" dirty="0">
                <a:solidFill>
                  <a:schemeClr val="tx1"/>
                </a:solidFill>
                <a:effectLst/>
                <a:latin typeface="+mn-lt"/>
                <a:ea typeface="+mn-ea"/>
                <a:cs typeface="+mn-cs"/>
              </a:rPr>
              <a:t>The "Fallers" (Sedimentation)</a:t>
            </a:r>
            <a:r>
              <a:rPr lang="en-US" sz="2400" b="0" i="0" kern="1200" dirty="0">
                <a:solidFill>
                  <a:schemeClr val="tx1"/>
                </a:solidFill>
                <a:effectLst/>
                <a:latin typeface="+mn-lt"/>
                <a:ea typeface="+mn-ea"/>
                <a:cs typeface="+mn-cs"/>
              </a:rPr>
              <a:t>: These are large, heavy particles (bigger than 10 </a:t>
            </a:r>
            <a:r>
              <a:rPr lang="en-US" sz="2400" b="0" i="0" kern="1200" dirty="0" err="1">
                <a:solidFill>
                  <a:schemeClr val="tx1"/>
                </a:solidFill>
                <a:effectLst/>
                <a:latin typeface="+mn-lt"/>
                <a:ea typeface="+mn-ea"/>
                <a:cs typeface="+mn-cs"/>
              </a:rPr>
              <a:t>μm</a:t>
            </a:r>
            <a:r>
              <a:rPr lang="en-US" sz="2400" b="0" i="0" kern="1200" dirty="0">
                <a:solidFill>
                  <a:schemeClr val="tx1"/>
                </a:solidFill>
                <a:effectLst/>
                <a:latin typeface="+mn-lt"/>
                <a:ea typeface="+mn-ea"/>
                <a:cs typeface="+mn-cs"/>
              </a:rPr>
              <a:t>). Gravity is strong enough to pull them down, so they eventually "settle out" like dust on a table.</a:t>
            </a:r>
          </a:p>
          <a:p>
            <a:pPr rtl="0"/>
            <a:r>
              <a:rPr lang="en-US" sz="2400" b="1" i="0" kern="1200" dirty="0">
                <a:solidFill>
                  <a:schemeClr val="tx1"/>
                </a:solidFill>
                <a:effectLst/>
                <a:latin typeface="+mn-lt"/>
                <a:ea typeface="+mn-ea"/>
                <a:cs typeface="+mn-cs"/>
              </a:rPr>
              <a:t>The "Floaters" (Aerosols)</a:t>
            </a:r>
            <a:r>
              <a:rPr lang="en-US" sz="2400" b="0" i="0" kern="1200" dirty="0">
                <a:solidFill>
                  <a:schemeClr val="tx1"/>
                </a:solidFill>
                <a:effectLst/>
                <a:latin typeface="+mn-lt"/>
                <a:ea typeface="+mn-ea"/>
                <a:cs typeface="+mn-cs"/>
              </a:rPr>
              <a:t>: These are tiny particles that are so light they stay suspended in the air almost indefinitely.</a:t>
            </a:r>
          </a:p>
          <a:p>
            <a:pPr rtl="0"/>
            <a:r>
              <a:rPr lang="en-US" sz="2400" b="1" i="0" kern="1200" dirty="0">
                <a:solidFill>
                  <a:schemeClr val="tx1"/>
                </a:solidFill>
                <a:effectLst/>
                <a:latin typeface="+mn-lt"/>
                <a:ea typeface="+mn-ea"/>
                <a:cs typeface="+mn-cs"/>
              </a:rPr>
              <a:t>2. How We Catch the Big Stuff</a:t>
            </a:r>
            <a:r>
              <a:rPr lang="en-US" sz="2400" b="0" i="0" kern="1200" dirty="0">
                <a:solidFill>
                  <a:schemeClr val="tx1"/>
                </a:solidFill>
                <a:effectLst/>
                <a:latin typeface="+mn-lt"/>
                <a:ea typeface="+mn-ea"/>
                <a:cs typeface="+mn-cs"/>
              </a:rPr>
              <a:t> Because the large particles fall on their own, we use </a:t>
            </a:r>
            <a:r>
              <a:rPr lang="en-US" sz="2400" b="1" i="0" kern="1200" dirty="0">
                <a:solidFill>
                  <a:schemeClr val="tx1"/>
                </a:solidFill>
                <a:effectLst/>
                <a:latin typeface="+mn-lt"/>
                <a:ea typeface="+mn-ea"/>
                <a:cs typeface="+mn-cs"/>
              </a:rPr>
              <a:t>sedimentation techniques</a:t>
            </a:r>
            <a:r>
              <a:rPr lang="en-US" sz="2400" b="0" i="0" kern="1200" dirty="0">
                <a:solidFill>
                  <a:schemeClr val="tx1"/>
                </a:solidFill>
                <a:effectLst/>
                <a:latin typeface="+mn-lt"/>
                <a:ea typeface="+mn-ea"/>
                <a:cs typeface="+mn-cs"/>
              </a:rPr>
              <a:t>. This is often as simple as putting out a "</a:t>
            </a:r>
            <a:r>
              <a:rPr lang="en-US" sz="2400" b="0" i="0" kern="1200" dirty="0" err="1">
                <a:solidFill>
                  <a:schemeClr val="tx1"/>
                </a:solidFill>
                <a:effectLst/>
                <a:latin typeface="+mn-lt"/>
                <a:ea typeface="+mn-ea"/>
                <a:cs typeface="+mn-cs"/>
              </a:rPr>
              <a:t>dustfall</a:t>
            </a:r>
            <a:r>
              <a:rPr lang="en-US" sz="2400" b="0" i="0" kern="1200" dirty="0">
                <a:solidFill>
                  <a:schemeClr val="tx1"/>
                </a:solidFill>
                <a:effectLst/>
                <a:latin typeface="+mn-lt"/>
                <a:ea typeface="+mn-ea"/>
                <a:cs typeface="+mn-cs"/>
              </a:rPr>
              <a:t> jar" and waiting for the gravity to do the work.</a:t>
            </a:r>
          </a:p>
          <a:p>
            <a:pPr rtl="0"/>
            <a:r>
              <a:rPr lang="en-US" sz="2400" b="1" i="0" kern="1200" dirty="0">
                <a:solidFill>
                  <a:schemeClr val="tx1"/>
                </a:solidFill>
                <a:effectLst/>
                <a:latin typeface="+mn-lt"/>
                <a:ea typeface="+mn-ea"/>
                <a:cs typeface="+mn-cs"/>
              </a:rPr>
              <a:t>3. How We Catch the Tiny Stuff</a:t>
            </a:r>
            <a:r>
              <a:rPr lang="en-US" sz="2400" b="0" i="0" kern="1200" dirty="0">
                <a:solidFill>
                  <a:schemeClr val="tx1"/>
                </a:solidFill>
                <a:effectLst/>
                <a:latin typeface="+mn-lt"/>
                <a:ea typeface="+mn-ea"/>
                <a:cs typeface="+mn-cs"/>
              </a:rPr>
              <a:t> Since the tiny aerosols won't just fall into a jar, we have to "force" them out of the air using more complex methods:</a:t>
            </a:r>
          </a:p>
          <a:p>
            <a:pPr rtl="0"/>
            <a:r>
              <a:rPr lang="en-US" sz="2400" b="1" i="0" kern="1200" dirty="0">
                <a:solidFill>
                  <a:schemeClr val="tx1"/>
                </a:solidFill>
                <a:effectLst/>
                <a:latin typeface="+mn-lt"/>
                <a:ea typeface="+mn-ea"/>
                <a:cs typeface="+mn-cs"/>
              </a:rPr>
              <a:t>Filtration</a:t>
            </a:r>
            <a:r>
              <a:rPr lang="en-US" sz="2400" b="0" i="0" kern="1200" dirty="0">
                <a:solidFill>
                  <a:schemeClr val="tx1"/>
                </a:solidFill>
                <a:effectLst/>
                <a:latin typeface="+mn-lt"/>
                <a:ea typeface="+mn-ea"/>
                <a:cs typeface="+mn-cs"/>
              </a:rPr>
              <a:t>: Passing air through a paper or mesh filter.</a:t>
            </a:r>
          </a:p>
          <a:p>
            <a:pPr rtl="0"/>
            <a:r>
              <a:rPr lang="en-US" sz="2400" b="1" i="0" kern="1200" dirty="0">
                <a:solidFill>
                  <a:schemeClr val="tx1"/>
                </a:solidFill>
                <a:effectLst/>
                <a:latin typeface="+mn-lt"/>
                <a:ea typeface="+mn-ea"/>
                <a:cs typeface="+mn-cs"/>
              </a:rPr>
              <a:t>Impingement</a:t>
            </a:r>
            <a:r>
              <a:rPr lang="en-US" sz="2400" b="0" i="0" kern="1200" dirty="0">
                <a:solidFill>
                  <a:schemeClr val="tx1"/>
                </a:solidFill>
                <a:effectLst/>
                <a:latin typeface="+mn-lt"/>
                <a:ea typeface="+mn-ea"/>
                <a:cs typeface="+mn-cs"/>
              </a:rPr>
              <a:t>: Blasting the air against a surface (like we saw with the Greenburg-Smith).</a:t>
            </a:r>
          </a:p>
          <a:p>
            <a:pPr rtl="0"/>
            <a:r>
              <a:rPr lang="en-US" sz="2400" b="1" i="0" kern="1200" dirty="0">
                <a:solidFill>
                  <a:schemeClr val="tx1"/>
                </a:solidFill>
                <a:effectLst/>
                <a:latin typeface="+mn-lt"/>
                <a:ea typeface="+mn-ea"/>
                <a:cs typeface="+mn-cs"/>
              </a:rPr>
              <a:t>Electrostatic/Thermal</a:t>
            </a:r>
            <a:r>
              <a:rPr lang="en-US" sz="2400" b="0" i="0" kern="1200" dirty="0">
                <a:solidFill>
                  <a:schemeClr val="tx1"/>
                </a:solidFill>
                <a:effectLst/>
                <a:latin typeface="+mn-lt"/>
                <a:ea typeface="+mn-ea"/>
                <a:cs typeface="+mn-cs"/>
              </a:rPr>
              <a:t>: Using electricity or heat to "push" the particles toward a collection plate.</a:t>
            </a:r>
          </a:p>
          <a:p>
            <a:pPr rtl="0"/>
            <a:r>
              <a:rPr lang="en-US" sz="2400" b="1" i="0" kern="1200" dirty="0">
                <a:solidFill>
                  <a:schemeClr val="tx1"/>
                </a:solidFill>
                <a:effectLst/>
                <a:latin typeface="+mn-lt"/>
                <a:ea typeface="+mn-ea"/>
                <a:cs typeface="+mn-cs"/>
              </a:rPr>
              <a:t>Summary of Particulate Gr</a:t>
            </a:r>
          </a:p>
          <a:p>
            <a:endParaRPr lang="en-IN" dirty="0"/>
          </a:p>
        </p:txBody>
      </p:sp>
      <p:sp>
        <p:nvSpPr>
          <p:cNvPr id="4" name="Slide Number Placeholder 3"/>
          <p:cNvSpPr>
            <a:spLocks noGrp="1"/>
          </p:cNvSpPr>
          <p:nvPr>
            <p:ph type="sldNum" sz="quarter" idx="5"/>
          </p:nvPr>
        </p:nvSpPr>
        <p:spPr/>
        <p:txBody>
          <a:bodyPr/>
          <a:lstStyle/>
          <a:p>
            <a:fld id="{21B2AA4F-B828-4D7C-AFD3-893933DAFCB4}" type="slidenum">
              <a:rPr lang="en-US" smtClean="0"/>
              <a:t>25</a:t>
            </a:fld>
            <a:endParaRPr lang="en-US"/>
          </a:p>
        </p:txBody>
      </p:sp>
    </p:spTree>
    <p:extLst>
      <p:ext uri="{BB962C8B-B14F-4D97-AF65-F5344CB8AC3E}">
        <p14:creationId xmlns:p14="http://schemas.microsoft.com/office/powerpoint/2010/main" val="234356209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195638" y="566738"/>
            <a:ext cx="3194050" cy="1797050"/>
          </a:xfrm>
          <a:prstGeom prst="rect">
            <a:avLst/>
          </a:prstGeom>
        </p:spPr>
      </p:sp>
      <p:sp>
        <p:nvSpPr>
          <p:cNvPr id="3" name="Notes Placeholder 2"/>
          <p:cNvSpPr>
            <a:spLocks noGrp="1"/>
          </p:cNvSpPr>
          <p:nvPr>
            <p:ph type="body" idx="1"/>
          </p:nvPr>
        </p:nvSpPr>
        <p:spPr>
          <a:xfrm>
            <a:off x="123452" y="2564124"/>
            <a:ext cx="9838645" cy="4416907"/>
          </a:xfrm>
          <a:prstGeom prst="rect">
            <a:avLst/>
          </a:prstGeom>
        </p:spPr>
        <p:txBody>
          <a:bodyPr>
            <a:normAutofit fontScale="85000" lnSpcReduction="10000"/>
          </a:bodyPr>
          <a:lstStyle/>
          <a:p>
            <a:r>
              <a:rPr lang="en-US" b="1" dirty="0"/>
              <a:t>Catching vs. Counting</a:t>
            </a:r>
          </a:p>
          <a:p>
            <a:r>
              <a:rPr lang="en-US" dirty="0"/>
              <a:t>In simple language, the machines we use in the field usually don't give us a "final answer" on how much pollution there is; they are just high-tech "catchers".</a:t>
            </a:r>
          </a:p>
          <a:p>
            <a:r>
              <a:rPr lang="en-US" b="1" dirty="0"/>
              <a:t>1. The Collector's Job</a:t>
            </a:r>
            <a:r>
              <a:rPr lang="en-US" dirty="0"/>
              <a:t> Whether we are catching heavy dust (greater than 10 </a:t>
            </a:r>
            <a:r>
              <a:rPr lang="en-US" dirty="0" err="1"/>
              <a:t>μm</a:t>
            </a:r>
            <a:r>
              <a:rPr lang="en-US" dirty="0"/>
              <a:t>) or tiny aerosols, the instrument’s only job is to pull those particles out of the air and hold onto them (on a filter, in a liquid, or on a plate).</a:t>
            </a:r>
          </a:p>
          <a:p>
            <a:r>
              <a:rPr lang="en-US" b="1" dirty="0"/>
              <a:t>2. The Lab's Job (Separate Analysis)</a:t>
            </a:r>
            <a:r>
              <a:rPr lang="en-US" dirty="0"/>
              <a:t> Once the sampling time is finished, the scientist takes the "captured" material back to a clean laboratory to do the real math. This is done in two main ways:</a:t>
            </a:r>
          </a:p>
          <a:p>
            <a:r>
              <a:rPr lang="en-US" b="1" dirty="0"/>
              <a:t>By Weight (Gravimetric)</a:t>
            </a:r>
            <a:r>
              <a:rPr lang="en-US" dirty="0"/>
              <a:t>: The most common way. You weigh the filter before the test and after the test. The difference is the weight of the pollution caught.</a:t>
            </a:r>
          </a:p>
          <a:p>
            <a:r>
              <a:rPr lang="en-US" b="1" dirty="0"/>
              <a:t>By Number</a:t>
            </a:r>
            <a:r>
              <a:rPr lang="en-US" dirty="0"/>
              <a:t>: For very tiny or dangerous particles (like asbestos), scientists use powerful microscopes to actually count how many individual "specs" are in a specific area.</a:t>
            </a:r>
          </a:p>
          <a:p>
            <a:r>
              <a:rPr lang="en-US" b="1" dirty="0"/>
              <a:t>3. Why "Separate" is Better</a:t>
            </a:r>
            <a:r>
              <a:rPr lang="en-US" dirty="0"/>
              <a:t> Because field conditions (wind, humidity, heat) are messy, it is much more accurate to do the sensitive weighing and counting in a controlled lab environment where there is no vibration or dust to ruin the results.</a:t>
            </a:r>
          </a:p>
          <a:p>
            <a:endParaRPr lang="en-IN" dirty="0"/>
          </a:p>
        </p:txBody>
      </p:sp>
      <p:sp>
        <p:nvSpPr>
          <p:cNvPr id="4" name="Slide Number Placeholder 3"/>
          <p:cNvSpPr>
            <a:spLocks noGrp="1"/>
          </p:cNvSpPr>
          <p:nvPr>
            <p:ph type="sldNum" sz="quarter" idx="5"/>
          </p:nvPr>
        </p:nvSpPr>
        <p:spPr/>
        <p:txBody>
          <a:bodyPr/>
          <a:lstStyle/>
          <a:p>
            <a:fld id="{21B2AA4F-B828-4D7C-AFD3-893933DAFCB4}" type="slidenum">
              <a:rPr lang="en-US" smtClean="0"/>
              <a:t>26</a:t>
            </a:fld>
            <a:endParaRPr lang="en-US"/>
          </a:p>
        </p:txBody>
      </p:sp>
    </p:spTree>
    <p:extLst>
      <p:ext uri="{BB962C8B-B14F-4D97-AF65-F5344CB8AC3E}">
        <p14:creationId xmlns:p14="http://schemas.microsoft.com/office/powerpoint/2010/main" val="218670904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195638" y="566738"/>
            <a:ext cx="3194050" cy="1797050"/>
          </a:xfrm>
          <a:prstGeom prst="rect">
            <a:avLst/>
          </a:prstGeom>
        </p:spPr>
      </p:sp>
      <p:sp>
        <p:nvSpPr>
          <p:cNvPr id="3" name="Notes Placeholder 2"/>
          <p:cNvSpPr>
            <a:spLocks noGrp="1"/>
          </p:cNvSpPr>
          <p:nvPr>
            <p:ph type="body" idx="1"/>
          </p:nvPr>
        </p:nvSpPr>
        <p:spPr>
          <a:xfrm>
            <a:off x="123452" y="2564124"/>
            <a:ext cx="9838645" cy="4416907"/>
          </a:xfrm>
          <a:prstGeom prst="rect">
            <a:avLst/>
          </a:prstGeom>
        </p:spPr>
        <p:txBody>
          <a:bodyPr>
            <a:normAutofit/>
          </a:bodyPr>
          <a:lstStyle/>
          <a:p>
            <a:r>
              <a:rPr lang="en-US" dirty="0"/>
              <a:t>We leave the jar in an open area, and the heavy particles (larger than 10 </a:t>
            </a:r>
            <a:r>
              <a:rPr lang="en-US" dirty="0" err="1"/>
              <a:t>μm</a:t>
            </a:r>
            <a:r>
              <a:rPr lang="en-US" dirty="0"/>
              <a:t>) naturally fall into it.</a:t>
            </a:r>
          </a:p>
          <a:p>
            <a:r>
              <a:rPr lang="en-US" b="1" dirty="0"/>
              <a:t>Note</a:t>
            </a:r>
            <a:r>
              <a:rPr lang="en-US" dirty="0"/>
              <a:t>: Sometimes a small amount of liquid or fungicide is added to the bottom of the jar to keep the dust trapped and prevent algae from growing during the month.</a:t>
            </a:r>
          </a:p>
          <a:p>
            <a:r>
              <a:rPr lang="en-US" b="1" dirty="0"/>
              <a:t>3. Reporting the Results</a:t>
            </a:r>
            <a:r>
              <a:rPr lang="en-US" dirty="0"/>
              <a:t> After 30 days, we take the jar to the lab, dry out any liquid, and weigh the remaining solid "dirt."</a:t>
            </a:r>
          </a:p>
          <a:p>
            <a:r>
              <a:rPr lang="en-US" b="1" dirty="0"/>
              <a:t>Water-Insoluble</a:t>
            </a:r>
            <a:r>
              <a:rPr lang="en-US" dirty="0"/>
              <a:t>: We usually only count the stuff that doesn't dissolve in water (like sand, soot, or grit).</a:t>
            </a:r>
          </a:p>
          <a:p>
            <a:r>
              <a:rPr lang="en-US" b="1" dirty="0"/>
              <a:t>Units</a:t>
            </a:r>
            <a:r>
              <a:rPr lang="en-US" dirty="0"/>
              <a:t>: Because we are measuring how much dust falls over a huge area, we report it in </a:t>
            </a:r>
            <a:r>
              <a:rPr lang="en-US" b="1" dirty="0"/>
              <a:t>mg/cm2</a:t>
            </a:r>
            <a:r>
              <a:rPr lang="en-US" dirty="0"/>
              <a:t> (for small spots) or </a:t>
            </a:r>
            <a:r>
              <a:rPr lang="en-US" b="1" dirty="0"/>
              <a:t>tons/km2</a:t>
            </a:r>
            <a:r>
              <a:rPr lang="en-US" dirty="0"/>
              <a:t> (for an entire city).</a:t>
            </a:r>
          </a:p>
          <a:p>
            <a:endParaRPr lang="en-IN" dirty="0"/>
          </a:p>
        </p:txBody>
      </p:sp>
      <p:sp>
        <p:nvSpPr>
          <p:cNvPr id="4" name="Slide Number Placeholder 3"/>
          <p:cNvSpPr>
            <a:spLocks noGrp="1"/>
          </p:cNvSpPr>
          <p:nvPr>
            <p:ph type="sldNum" sz="quarter" idx="5"/>
          </p:nvPr>
        </p:nvSpPr>
        <p:spPr/>
        <p:txBody>
          <a:bodyPr/>
          <a:lstStyle/>
          <a:p>
            <a:fld id="{21B2AA4F-B828-4D7C-AFD3-893933DAFCB4}" type="slidenum">
              <a:rPr lang="en-US" smtClean="0"/>
              <a:t>27</a:t>
            </a:fld>
            <a:endParaRPr lang="en-US"/>
          </a:p>
        </p:txBody>
      </p:sp>
    </p:spTree>
    <p:extLst>
      <p:ext uri="{BB962C8B-B14F-4D97-AF65-F5344CB8AC3E}">
        <p14:creationId xmlns:p14="http://schemas.microsoft.com/office/powerpoint/2010/main" val="47607365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195638" y="566738"/>
            <a:ext cx="3194050" cy="1797050"/>
          </a:xfrm>
          <a:prstGeom prst="rect">
            <a:avLst/>
          </a:prstGeom>
        </p:spPr>
      </p:sp>
      <p:sp>
        <p:nvSpPr>
          <p:cNvPr id="3" name="Notes Placeholder 2"/>
          <p:cNvSpPr>
            <a:spLocks noGrp="1"/>
          </p:cNvSpPr>
          <p:nvPr>
            <p:ph type="body" idx="1"/>
          </p:nvPr>
        </p:nvSpPr>
        <p:spPr>
          <a:xfrm>
            <a:off x="123452" y="2564124"/>
            <a:ext cx="9838645" cy="2097919"/>
          </a:xfrm>
          <a:prstGeom prst="rect">
            <a:avLst/>
          </a:prstGeom>
        </p:spPr>
        <p:txBody>
          <a:bodyPr/>
          <a:lstStyle/>
          <a:p>
            <a:endParaRPr lang="en-IN"/>
          </a:p>
        </p:txBody>
      </p:sp>
      <p:sp>
        <p:nvSpPr>
          <p:cNvPr id="4" name="Slide Number Placeholder 3"/>
          <p:cNvSpPr>
            <a:spLocks noGrp="1"/>
          </p:cNvSpPr>
          <p:nvPr>
            <p:ph type="sldNum" sz="quarter" idx="5"/>
          </p:nvPr>
        </p:nvSpPr>
        <p:spPr/>
        <p:txBody>
          <a:bodyPr/>
          <a:lstStyle/>
          <a:p>
            <a:fld id="{21B2AA4F-B828-4D7C-AFD3-893933DAFCB4}" type="slidenum">
              <a:rPr lang="en-US" smtClean="0"/>
              <a:t>28</a:t>
            </a:fld>
            <a:endParaRPr lang="en-US"/>
          </a:p>
        </p:txBody>
      </p:sp>
    </p:spTree>
    <p:extLst>
      <p:ext uri="{BB962C8B-B14F-4D97-AF65-F5344CB8AC3E}">
        <p14:creationId xmlns:p14="http://schemas.microsoft.com/office/powerpoint/2010/main" val="91376947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195638" y="566738"/>
            <a:ext cx="3194050" cy="1797050"/>
          </a:xfrm>
          <a:prstGeom prst="rect">
            <a:avLst/>
          </a:prstGeom>
        </p:spPr>
      </p:sp>
      <p:sp>
        <p:nvSpPr>
          <p:cNvPr id="3" name="Notes Placeholder 2"/>
          <p:cNvSpPr>
            <a:spLocks noGrp="1"/>
          </p:cNvSpPr>
          <p:nvPr>
            <p:ph type="body" idx="1"/>
          </p:nvPr>
        </p:nvSpPr>
        <p:spPr>
          <a:xfrm>
            <a:off x="123452" y="2564124"/>
            <a:ext cx="9838645" cy="2097919"/>
          </a:xfrm>
          <a:prstGeom prst="rect">
            <a:avLst/>
          </a:prstGeom>
        </p:spPr>
        <p:txBody>
          <a:bodyPr/>
          <a:lstStyle/>
          <a:p>
            <a:endParaRPr lang="en-IN"/>
          </a:p>
        </p:txBody>
      </p:sp>
      <p:sp>
        <p:nvSpPr>
          <p:cNvPr id="4" name="Slide Number Placeholder 3"/>
          <p:cNvSpPr>
            <a:spLocks noGrp="1"/>
          </p:cNvSpPr>
          <p:nvPr>
            <p:ph type="sldNum" sz="quarter" idx="5"/>
          </p:nvPr>
        </p:nvSpPr>
        <p:spPr/>
        <p:txBody>
          <a:bodyPr/>
          <a:lstStyle/>
          <a:p>
            <a:fld id="{21B2AA4F-B828-4D7C-AFD3-893933DAFCB4}" type="slidenum">
              <a:rPr lang="en-US" smtClean="0"/>
              <a:t>29</a:t>
            </a:fld>
            <a:endParaRPr lang="en-US"/>
          </a:p>
        </p:txBody>
      </p:sp>
    </p:spTree>
    <p:extLst>
      <p:ext uri="{BB962C8B-B14F-4D97-AF65-F5344CB8AC3E}">
        <p14:creationId xmlns:p14="http://schemas.microsoft.com/office/powerpoint/2010/main" val="241886428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195638" y="566738"/>
            <a:ext cx="3194050" cy="1797050"/>
          </a:xfrm>
          <a:prstGeom prst="rect">
            <a:avLst/>
          </a:prstGeom>
        </p:spPr>
      </p:sp>
      <p:sp>
        <p:nvSpPr>
          <p:cNvPr id="3" name="Notes Placeholder 2"/>
          <p:cNvSpPr>
            <a:spLocks noGrp="1"/>
          </p:cNvSpPr>
          <p:nvPr>
            <p:ph type="body" idx="1"/>
          </p:nvPr>
        </p:nvSpPr>
        <p:spPr>
          <a:xfrm>
            <a:off x="123452" y="2564124"/>
            <a:ext cx="9838645" cy="4416907"/>
          </a:xfrm>
          <a:prstGeom prst="rect">
            <a:avLst/>
          </a:prstGeom>
        </p:spPr>
        <p:txBody>
          <a:bodyPr>
            <a:normAutofit fontScale="85000" lnSpcReduction="20000"/>
          </a:bodyPr>
          <a:lstStyle/>
          <a:p>
            <a:r>
              <a:rPr lang="en-US" b="1" dirty="0"/>
              <a:t>1. The "Distance" Problem</a:t>
            </a:r>
            <a:r>
              <a:rPr lang="en-US" dirty="0"/>
              <a:t> Heavy particles (greater than 10 </a:t>
            </a:r>
            <a:r>
              <a:rPr lang="en-US" dirty="0" err="1"/>
              <a:t>μm</a:t>
            </a:r>
            <a:r>
              <a:rPr lang="en-US" dirty="0"/>
              <a:t>) are like tiny pebbles; they don't float very far before falling.</a:t>
            </a:r>
          </a:p>
          <a:p>
            <a:r>
              <a:rPr lang="en-US" dirty="0"/>
              <a:t>Because they drop so quickly, a jar on one street corner might catch a lot of dust from a nearby construction site, while a jar just a few blocks away stays clean.</a:t>
            </a:r>
          </a:p>
          <a:p>
            <a:r>
              <a:rPr lang="en-US" dirty="0"/>
              <a:t>To get a real "map" of a city's pollution, you have to put these stations very close together.</a:t>
            </a:r>
          </a:p>
          <a:p>
            <a:r>
              <a:rPr lang="en-US" b="1" dirty="0"/>
              <a:t>2. Why We Use It: Simple and Cheap</a:t>
            </a:r>
            <a:r>
              <a:rPr lang="en-US" dirty="0"/>
              <a:t> The biggest advantage is that it is "low-tech".</a:t>
            </a:r>
          </a:p>
          <a:p>
            <a:r>
              <a:rPr lang="en-US" b="1" dirty="0"/>
              <a:t>No Power</a:t>
            </a:r>
            <a:r>
              <a:rPr lang="en-US" dirty="0"/>
              <a:t>: You can leave it in a remote field or on a rooftop without needing a battery or a plug.</a:t>
            </a:r>
          </a:p>
          <a:p>
            <a:r>
              <a:rPr lang="en-US" b="1" dirty="0"/>
              <a:t>No Moving Parts</a:t>
            </a:r>
            <a:r>
              <a:rPr lang="en-US" dirty="0"/>
              <a:t>: There are no motors to break or filters to clog. This makes it very inexpensive to maintain for long periods.</a:t>
            </a:r>
          </a:p>
          <a:p>
            <a:r>
              <a:rPr lang="en-US" b="1" dirty="0"/>
              <a:t>3. The Scientific Weakness</a:t>
            </a:r>
            <a:r>
              <a:rPr lang="en-US" dirty="0"/>
              <a:t> Despite being easy to use, it is not a "precise" scientific tool.</a:t>
            </a:r>
          </a:p>
          <a:p>
            <a:r>
              <a:rPr lang="en-US" b="1" dirty="0"/>
              <a:t>Non-repeatable</a:t>
            </a:r>
            <a:r>
              <a:rPr lang="en-US" dirty="0"/>
              <a:t>: If you put two jars right next to each other, they might catch different amounts of dust because a single gust of wind or a bird landing nearby can change the results.</a:t>
            </a:r>
          </a:p>
          <a:p>
            <a:r>
              <a:rPr lang="en-US" b="1" dirty="0"/>
              <a:t>Trends only</a:t>
            </a:r>
            <a:r>
              <a:rPr lang="en-US" dirty="0"/>
              <a:t>: It’s best for looking at the "big picture"—for example, seeing if a city has more dust this year than it did last year.</a:t>
            </a:r>
          </a:p>
          <a:p>
            <a:r>
              <a:rPr lang="en-US" b="1" dirty="0"/>
              <a:t>Summary of </a:t>
            </a:r>
            <a:r>
              <a:rPr lang="en-US" b="1" dirty="0" err="1"/>
              <a:t>Dustfall</a:t>
            </a:r>
            <a:r>
              <a:rPr lang="en-US" b="1" dirty="0"/>
              <a:t> Characteristics</a:t>
            </a:r>
          </a:p>
          <a:p>
            <a:endParaRPr lang="en-IN" dirty="0"/>
          </a:p>
        </p:txBody>
      </p:sp>
      <p:sp>
        <p:nvSpPr>
          <p:cNvPr id="4" name="Slide Number Placeholder 3"/>
          <p:cNvSpPr>
            <a:spLocks noGrp="1"/>
          </p:cNvSpPr>
          <p:nvPr>
            <p:ph type="sldNum" sz="quarter" idx="5"/>
          </p:nvPr>
        </p:nvSpPr>
        <p:spPr/>
        <p:txBody>
          <a:bodyPr/>
          <a:lstStyle/>
          <a:p>
            <a:fld id="{21B2AA4F-B828-4D7C-AFD3-893933DAFCB4}" type="slidenum">
              <a:rPr lang="en-US" smtClean="0"/>
              <a:t>30</a:t>
            </a:fld>
            <a:endParaRPr lang="en-US"/>
          </a:p>
        </p:txBody>
      </p:sp>
    </p:spTree>
    <p:extLst>
      <p:ext uri="{BB962C8B-B14F-4D97-AF65-F5344CB8AC3E}">
        <p14:creationId xmlns:p14="http://schemas.microsoft.com/office/powerpoint/2010/main" val="28034488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195638" y="566738"/>
            <a:ext cx="3194050" cy="1797050"/>
          </a:xfrm>
          <a:prstGeom prst="rect">
            <a:avLst/>
          </a:prstGeom>
        </p:spPr>
      </p:sp>
      <p:sp>
        <p:nvSpPr>
          <p:cNvPr id="3" name="Notes Placeholder 2"/>
          <p:cNvSpPr>
            <a:spLocks noGrp="1"/>
          </p:cNvSpPr>
          <p:nvPr>
            <p:ph type="body" idx="1"/>
          </p:nvPr>
        </p:nvSpPr>
        <p:spPr>
          <a:xfrm>
            <a:off x="123452" y="2564124"/>
            <a:ext cx="9838645" cy="2097919"/>
          </a:xfrm>
          <a:prstGeom prst="rect">
            <a:avLst/>
          </a:prstGeom>
        </p:spPr>
        <p:txBody>
          <a:bodyPr/>
          <a:lstStyle/>
          <a:p>
            <a:endParaRPr lang="en-IN"/>
          </a:p>
        </p:txBody>
      </p:sp>
      <p:sp>
        <p:nvSpPr>
          <p:cNvPr id="4" name="Slide Number Placeholder 3"/>
          <p:cNvSpPr>
            <a:spLocks noGrp="1"/>
          </p:cNvSpPr>
          <p:nvPr>
            <p:ph type="sldNum" sz="quarter" idx="5"/>
          </p:nvPr>
        </p:nvSpPr>
        <p:spPr/>
        <p:txBody>
          <a:bodyPr/>
          <a:lstStyle/>
          <a:p>
            <a:fld id="{21B2AA4F-B828-4D7C-AFD3-893933DAFCB4}" type="slidenum">
              <a:rPr lang="en-US" smtClean="0"/>
              <a:t>31</a:t>
            </a:fld>
            <a:endParaRPr lang="en-US"/>
          </a:p>
        </p:txBody>
      </p:sp>
    </p:spTree>
    <p:extLst>
      <p:ext uri="{BB962C8B-B14F-4D97-AF65-F5344CB8AC3E}">
        <p14:creationId xmlns:p14="http://schemas.microsoft.com/office/powerpoint/2010/main" val="192432072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195638" y="566738"/>
            <a:ext cx="3194050" cy="1797050"/>
          </a:xfrm>
          <a:prstGeom prst="rect">
            <a:avLst/>
          </a:prstGeom>
        </p:spPr>
      </p:sp>
      <p:sp>
        <p:nvSpPr>
          <p:cNvPr id="3" name="Notes Placeholder 2"/>
          <p:cNvSpPr>
            <a:spLocks noGrp="1"/>
          </p:cNvSpPr>
          <p:nvPr>
            <p:ph type="body" idx="1"/>
          </p:nvPr>
        </p:nvSpPr>
        <p:spPr>
          <a:xfrm>
            <a:off x="123452" y="2564124"/>
            <a:ext cx="9838645" cy="4340707"/>
          </a:xfrm>
          <a:prstGeom prst="rect">
            <a:avLst/>
          </a:prstGeom>
        </p:spPr>
        <p:txBody>
          <a:bodyPr>
            <a:normAutofit fontScale="77500" lnSpcReduction="20000"/>
          </a:bodyPr>
          <a:lstStyle/>
          <a:p>
            <a:r>
              <a:rPr lang="en-US" dirty="0"/>
              <a:t>the Hi-Vol is an "active" vacuum cleaner for the sky. It is designed to catch the tiny aerosols that are too light to fall by gravity.</a:t>
            </a:r>
          </a:p>
          <a:p>
            <a:r>
              <a:rPr lang="en-US" b="1" dirty="0"/>
              <a:t>1. The High-Speed Blower</a:t>
            </a:r>
            <a:r>
              <a:rPr lang="en-US" dirty="0"/>
              <a:t> The machine uses a powerful motor to suck in a huge amount of air. Because we know exactly how much air the blower pulls (the "known volume"), we can calculate exactly how much pollution is in every cubic meter of air.</a:t>
            </a:r>
          </a:p>
          <a:p>
            <a:r>
              <a:rPr lang="en-US" b="1" dirty="0"/>
              <a:t>2. The Filter "Maze"</a:t>
            </a:r>
            <a:r>
              <a:rPr lang="en-US" dirty="0"/>
              <a:t> The filter is not just a screen with holes; it is a thick, messy forest of glass fibers.</a:t>
            </a:r>
          </a:p>
          <a:p>
            <a:r>
              <a:rPr lang="en-US" dirty="0"/>
              <a:t>As the air is sucked through, it has to twist and turn to get through the fibers.</a:t>
            </a:r>
          </a:p>
          <a:p>
            <a:r>
              <a:rPr lang="en-US" dirty="0"/>
              <a:t>The tiny particles are moving too fast to make those sharp turns, so they "impact" (crash) into a fiber and get stuck.</a:t>
            </a:r>
          </a:p>
          <a:p>
            <a:r>
              <a:rPr lang="en-US" b="1" dirty="0"/>
              <a:t>3. Incredible Efficiency</a:t>
            </a:r>
            <a:r>
              <a:rPr lang="en-US" dirty="0"/>
              <a:t> Even though we are looking for particles smaller than 10 </a:t>
            </a:r>
            <a:r>
              <a:rPr lang="en-US" dirty="0" err="1"/>
              <a:t>μm</a:t>
            </a:r>
            <a:r>
              <a:rPr lang="en-US" dirty="0"/>
              <a:t>, these glass fiber filters are powerful enough to catch almost everything (99%) down to </a:t>
            </a:r>
            <a:r>
              <a:rPr lang="en-US" b="1" dirty="0"/>
              <a:t>0.3 </a:t>
            </a:r>
            <a:r>
              <a:rPr lang="en-US" b="1" dirty="0" err="1"/>
              <a:t>μm</a:t>
            </a:r>
            <a:r>
              <a:rPr lang="en-US" dirty="0"/>
              <a:t>—which is about 200 times thinner than a human hair.</a:t>
            </a:r>
          </a:p>
          <a:p>
            <a:r>
              <a:rPr lang="en-US" b="1" dirty="0"/>
              <a:t>4. Analysis (Weight)</a:t>
            </a:r>
            <a:r>
              <a:rPr lang="en-US" dirty="0"/>
              <a:t> As we learned earlier, this is a </a:t>
            </a:r>
            <a:r>
              <a:rPr lang="en-US" b="1" dirty="0"/>
              <a:t>collector</a:t>
            </a:r>
            <a:r>
              <a:rPr lang="en-US" dirty="0"/>
              <a:t>.</a:t>
            </a:r>
          </a:p>
          <a:p>
            <a:r>
              <a:rPr lang="en-US" dirty="0"/>
              <a:t>We weigh the filter in the lab before the test.</a:t>
            </a:r>
          </a:p>
          <a:p>
            <a:r>
              <a:rPr lang="en-US" dirty="0"/>
              <a:t>We run the machine (usually for 24 hours).</a:t>
            </a:r>
          </a:p>
          <a:p>
            <a:r>
              <a:rPr lang="en-US" dirty="0"/>
              <a:t>We weigh the dirty filter again.</a:t>
            </a:r>
          </a:p>
          <a:p>
            <a:r>
              <a:rPr lang="en-US" dirty="0"/>
              <a:t>The difference in weight tells us the total mass of the particles.</a:t>
            </a:r>
          </a:p>
          <a:p>
            <a:endParaRPr lang="en-IN" dirty="0"/>
          </a:p>
        </p:txBody>
      </p:sp>
      <p:sp>
        <p:nvSpPr>
          <p:cNvPr id="4" name="Slide Number Placeholder 3"/>
          <p:cNvSpPr>
            <a:spLocks noGrp="1"/>
          </p:cNvSpPr>
          <p:nvPr>
            <p:ph type="sldNum" sz="quarter" idx="5"/>
          </p:nvPr>
        </p:nvSpPr>
        <p:spPr/>
        <p:txBody>
          <a:bodyPr/>
          <a:lstStyle/>
          <a:p>
            <a:fld id="{21B2AA4F-B828-4D7C-AFD3-893933DAFCB4}" type="slidenum">
              <a:rPr lang="en-US" smtClean="0"/>
              <a:t>32</a:t>
            </a:fld>
            <a:endParaRPr lang="en-US"/>
          </a:p>
        </p:txBody>
      </p:sp>
    </p:spTree>
    <p:extLst>
      <p:ext uri="{BB962C8B-B14F-4D97-AF65-F5344CB8AC3E}">
        <p14:creationId xmlns:p14="http://schemas.microsoft.com/office/powerpoint/2010/main" val="161654926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195638" y="566738"/>
            <a:ext cx="3194050" cy="1797050"/>
          </a:xfrm>
          <a:prstGeom prst="rect">
            <a:avLst/>
          </a:prstGeom>
        </p:spPr>
      </p:sp>
      <p:sp>
        <p:nvSpPr>
          <p:cNvPr id="3" name="Notes Placeholder 2"/>
          <p:cNvSpPr>
            <a:spLocks noGrp="1"/>
          </p:cNvSpPr>
          <p:nvPr>
            <p:ph type="body" idx="1"/>
          </p:nvPr>
        </p:nvSpPr>
        <p:spPr>
          <a:xfrm>
            <a:off x="123452" y="2564124"/>
            <a:ext cx="9838645" cy="2097919"/>
          </a:xfrm>
          <a:prstGeom prst="rect">
            <a:avLst/>
          </a:prstGeom>
        </p:spPr>
        <p:txBody>
          <a:bodyPr/>
          <a:lstStyle/>
          <a:p>
            <a:endParaRPr lang="en-IN"/>
          </a:p>
        </p:txBody>
      </p:sp>
      <p:sp>
        <p:nvSpPr>
          <p:cNvPr id="4" name="Slide Number Placeholder 3"/>
          <p:cNvSpPr>
            <a:spLocks noGrp="1"/>
          </p:cNvSpPr>
          <p:nvPr>
            <p:ph type="sldNum" sz="quarter" idx="5"/>
          </p:nvPr>
        </p:nvSpPr>
        <p:spPr/>
        <p:txBody>
          <a:bodyPr/>
          <a:lstStyle/>
          <a:p>
            <a:fld id="{21B2AA4F-B828-4D7C-AFD3-893933DAFCB4}" type="slidenum">
              <a:rPr lang="en-US" smtClean="0"/>
              <a:t>33</a:t>
            </a:fld>
            <a:endParaRPr lang="en-US"/>
          </a:p>
        </p:txBody>
      </p:sp>
    </p:spTree>
    <p:extLst>
      <p:ext uri="{BB962C8B-B14F-4D97-AF65-F5344CB8AC3E}">
        <p14:creationId xmlns:p14="http://schemas.microsoft.com/office/powerpoint/2010/main" val="152673163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195638" y="566738"/>
            <a:ext cx="3194050" cy="1797050"/>
          </a:xfrm>
          <a:prstGeom prst="rect">
            <a:avLst/>
          </a:prstGeom>
        </p:spPr>
      </p:sp>
      <p:sp>
        <p:nvSpPr>
          <p:cNvPr id="3" name="Notes Placeholder 2"/>
          <p:cNvSpPr>
            <a:spLocks noGrp="1"/>
          </p:cNvSpPr>
          <p:nvPr>
            <p:ph type="body" idx="1"/>
          </p:nvPr>
        </p:nvSpPr>
        <p:spPr>
          <a:xfrm>
            <a:off x="123452" y="2564124"/>
            <a:ext cx="9838645" cy="4188307"/>
          </a:xfrm>
          <a:prstGeom prst="rect">
            <a:avLst/>
          </a:prstGeom>
        </p:spPr>
        <p:txBody>
          <a:bodyPr>
            <a:normAutofit/>
          </a:bodyPr>
          <a:lstStyle/>
          <a:p>
            <a:r>
              <a:rPr lang="en-US" dirty="0"/>
              <a:t>this method is much faster and more aggressive than the </a:t>
            </a:r>
            <a:r>
              <a:rPr lang="en-US" dirty="0" err="1"/>
              <a:t>dustfall</a:t>
            </a:r>
            <a:r>
              <a:rPr lang="en-US" dirty="0"/>
              <a:t> jar. Instead of waiting a month for dust to fall, we pull a massive amount of air through a filter in just one day.</a:t>
            </a:r>
          </a:p>
          <a:p>
            <a:r>
              <a:rPr lang="en-US" b="1" dirty="0"/>
              <a:t>Gravimetric Analysis</a:t>
            </a:r>
            <a:r>
              <a:rPr lang="en-US" dirty="0"/>
              <a:t> As with the </a:t>
            </a:r>
            <a:r>
              <a:rPr lang="en-US" dirty="0" err="1"/>
              <a:t>dustfall</a:t>
            </a:r>
            <a:r>
              <a:rPr lang="en-US" dirty="0"/>
              <a:t> jar, we use the </a:t>
            </a:r>
            <a:r>
              <a:rPr lang="en-US" b="1" dirty="0"/>
              <a:t>gravimetric</a:t>
            </a:r>
            <a:r>
              <a:rPr lang="en-US" dirty="0"/>
              <a:t> method.</a:t>
            </a:r>
          </a:p>
          <a:p>
            <a:r>
              <a:rPr lang="en-US" dirty="0"/>
              <a:t>We weigh the clean filter before the 24 hours start.</a:t>
            </a:r>
          </a:p>
          <a:p>
            <a:r>
              <a:rPr lang="en-US" dirty="0"/>
              <a:t>We weigh the dirty filter after the 24 hours end.</a:t>
            </a:r>
          </a:p>
          <a:p>
            <a:r>
              <a:rPr lang="en-US" dirty="0"/>
              <a:t>The difference is the total mass of the trapped particles.</a:t>
            </a:r>
          </a:p>
          <a:p>
            <a:endParaRPr lang="en-IN" dirty="0"/>
          </a:p>
        </p:txBody>
      </p:sp>
      <p:sp>
        <p:nvSpPr>
          <p:cNvPr id="4" name="Slide Number Placeholder 3"/>
          <p:cNvSpPr>
            <a:spLocks noGrp="1"/>
          </p:cNvSpPr>
          <p:nvPr>
            <p:ph type="sldNum" sz="quarter" idx="5"/>
          </p:nvPr>
        </p:nvSpPr>
        <p:spPr/>
        <p:txBody>
          <a:bodyPr/>
          <a:lstStyle/>
          <a:p>
            <a:fld id="{21B2AA4F-B828-4D7C-AFD3-893933DAFCB4}" type="slidenum">
              <a:rPr lang="en-US" smtClean="0"/>
              <a:t>34</a:t>
            </a:fld>
            <a:endParaRPr lang="en-US"/>
          </a:p>
        </p:txBody>
      </p:sp>
    </p:spTree>
    <p:extLst>
      <p:ext uri="{BB962C8B-B14F-4D97-AF65-F5344CB8AC3E}">
        <p14:creationId xmlns:p14="http://schemas.microsoft.com/office/powerpoint/2010/main" val="259956719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195638" y="566738"/>
            <a:ext cx="3194050" cy="1797050"/>
          </a:xfrm>
          <a:prstGeom prst="rect">
            <a:avLst/>
          </a:prstGeom>
        </p:spPr>
      </p:sp>
      <p:sp>
        <p:nvSpPr>
          <p:cNvPr id="3" name="Notes Placeholder 2"/>
          <p:cNvSpPr>
            <a:spLocks noGrp="1"/>
          </p:cNvSpPr>
          <p:nvPr>
            <p:ph type="body" idx="1"/>
          </p:nvPr>
        </p:nvSpPr>
        <p:spPr>
          <a:xfrm>
            <a:off x="123452" y="2564124"/>
            <a:ext cx="9838645" cy="2097919"/>
          </a:xfrm>
          <a:prstGeom prst="rect">
            <a:avLst/>
          </a:prstGeom>
        </p:spPr>
        <p:txBody>
          <a:bodyPr/>
          <a:lstStyle/>
          <a:p>
            <a:endParaRPr lang="en-IN"/>
          </a:p>
        </p:txBody>
      </p:sp>
      <p:sp>
        <p:nvSpPr>
          <p:cNvPr id="4" name="Slide Number Placeholder 3"/>
          <p:cNvSpPr>
            <a:spLocks noGrp="1"/>
          </p:cNvSpPr>
          <p:nvPr>
            <p:ph type="sldNum" sz="quarter" idx="5"/>
          </p:nvPr>
        </p:nvSpPr>
        <p:spPr/>
        <p:txBody>
          <a:bodyPr/>
          <a:lstStyle/>
          <a:p>
            <a:fld id="{21B2AA4F-B828-4D7C-AFD3-893933DAFCB4}" type="slidenum">
              <a:rPr lang="en-US" smtClean="0"/>
              <a:t>35</a:t>
            </a:fld>
            <a:endParaRPr lang="en-US"/>
          </a:p>
        </p:txBody>
      </p:sp>
    </p:spTree>
    <p:extLst>
      <p:ext uri="{BB962C8B-B14F-4D97-AF65-F5344CB8AC3E}">
        <p14:creationId xmlns:p14="http://schemas.microsoft.com/office/powerpoint/2010/main" val="384977190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195638" y="566738"/>
            <a:ext cx="3194050" cy="1797050"/>
          </a:xfrm>
          <a:prstGeom prst="rect">
            <a:avLst/>
          </a:prstGeom>
        </p:spPr>
      </p:sp>
      <p:sp>
        <p:nvSpPr>
          <p:cNvPr id="3" name="Notes Placeholder 2"/>
          <p:cNvSpPr>
            <a:spLocks noGrp="1"/>
          </p:cNvSpPr>
          <p:nvPr>
            <p:ph type="body" idx="1"/>
          </p:nvPr>
        </p:nvSpPr>
        <p:spPr>
          <a:xfrm>
            <a:off x="123452" y="2564124"/>
            <a:ext cx="9838645" cy="4416907"/>
          </a:xfrm>
          <a:prstGeom prst="rect">
            <a:avLst/>
          </a:prstGeom>
        </p:spPr>
        <p:txBody>
          <a:bodyPr>
            <a:normAutofit/>
          </a:bodyPr>
          <a:lstStyle/>
          <a:p>
            <a:r>
              <a:rPr lang="en-US" b="1" dirty="0"/>
              <a:t>2. Flexible Timing</a:t>
            </a:r>
            <a:r>
              <a:rPr lang="en-US" dirty="0"/>
              <a:t> Unlike the Hi-Vol which usually runs for 24 hours straight, this sampler can take "snapshots".</a:t>
            </a:r>
          </a:p>
          <a:p>
            <a:r>
              <a:rPr lang="en-US" b="1" dirty="0"/>
              <a:t>Dirty Areas</a:t>
            </a:r>
            <a:r>
              <a:rPr lang="en-US" dirty="0"/>
              <a:t>: If there is a lot of smoke or haze, we might set it for only </a:t>
            </a:r>
            <a:r>
              <a:rPr lang="en-US" b="1" dirty="0"/>
              <a:t>10 minutes</a:t>
            </a:r>
            <a:r>
              <a:rPr lang="en-US" dirty="0"/>
              <a:t> so the filter doesn't get too clogged to read.</a:t>
            </a:r>
          </a:p>
          <a:p>
            <a:r>
              <a:rPr lang="en-US" b="1" dirty="0"/>
              <a:t>Clean Areas</a:t>
            </a:r>
            <a:r>
              <a:rPr lang="en-US" dirty="0"/>
              <a:t>: In very clean air, we might leave it for </a:t>
            </a:r>
            <a:r>
              <a:rPr lang="en-US" b="1" dirty="0"/>
              <a:t>2 hours</a:t>
            </a:r>
            <a:r>
              <a:rPr lang="en-US" dirty="0"/>
              <a:t> to make sure enough dust gathers to be visible.</a:t>
            </a:r>
          </a:p>
          <a:p>
            <a:r>
              <a:rPr lang="en-US" b="1" dirty="0"/>
              <a:t>3. The Result: A Visual Timeline</a:t>
            </a:r>
            <a:r>
              <a:rPr lang="en-US" dirty="0"/>
              <a:t> When the test is done, you have a roll of paper with a series of dark circles.</a:t>
            </a:r>
          </a:p>
          <a:p>
            <a:r>
              <a:rPr lang="en-US" dirty="0"/>
              <a:t>A dark circle means high pollution during that time slot.</a:t>
            </a:r>
          </a:p>
          <a:p>
            <a:r>
              <a:rPr lang="en-US" dirty="0"/>
              <a:t>A light circle means lower pollution.</a:t>
            </a:r>
          </a:p>
          <a:p>
            <a:r>
              <a:rPr lang="en-US" dirty="0"/>
              <a:t>This is excellent for seeing </a:t>
            </a:r>
            <a:r>
              <a:rPr lang="en-US" b="1" dirty="0"/>
              <a:t>peaks</a:t>
            </a:r>
            <a:r>
              <a:rPr lang="en-US" dirty="0"/>
              <a:t> in pollution, such as during morning rush hour traffic.</a:t>
            </a:r>
          </a:p>
          <a:p>
            <a:endParaRPr lang="en-IN" dirty="0"/>
          </a:p>
        </p:txBody>
      </p:sp>
      <p:sp>
        <p:nvSpPr>
          <p:cNvPr id="4" name="Slide Number Placeholder 3"/>
          <p:cNvSpPr>
            <a:spLocks noGrp="1"/>
          </p:cNvSpPr>
          <p:nvPr>
            <p:ph type="sldNum" sz="quarter" idx="5"/>
          </p:nvPr>
        </p:nvSpPr>
        <p:spPr/>
        <p:txBody>
          <a:bodyPr/>
          <a:lstStyle/>
          <a:p>
            <a:fld id="{21B2AA4F-B828-4D7C-AFD3-893933DAFCB4}" type="slidenum">
              <a:rPr lang="en-US" smtClean="0"/>
              <a:t>36</a:t>
            </a:fld>
            <a:endParaRPr lang="en-US"/>
          </a:p>
        </p:txBody>
      </p:sp>
    </p:spTree>
    <p:extLst>
      <p:ext uri="{BB962C8B-B14F-4D97-AF65-F5344CB8AC3E}">
        <p14:creationId xmlns:p14="http://schemas.microsoft.com/office/powerpoint/2010/main" val="153566246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195638" y="566738"/>
            <a:ext cx="3194050" cy="1797050"/>
          </a:xfrm>
          <a:prstGeom prst="rect">
            <a:avLst/>
          </a:prstGeom>
        </p:spPr>
      </p:sp>
      <p:sp>
        <p:nvSpPr>
          <p:cNvPr id="3" name="Notes Placeholder 2"/>
          <p:cNvSpPr>
            <a:spLocks noGrp="1"/>
          </p:cNvSpPr>
          <p:nvPr>
            <p:ph type="body" idx="1"/>
          </p:nvPr>
        </p:nvSpPr>
        <p:spPr>
          <a:xfrm>
            <a:off x="123452" y="2564124"/>
            <a:ext cx="9838645" cy="2097919"/>
          </a:xfrm>
          <a:prstGeom prst="rect">
            <a:avLst/>
          </a:prstGeom>
        </p:spPr>
        <p:txBody>
          <a:bodyPr/>
          <a:lstStyle/>
          <a:p>
            <a:endParaRPr lang="en-IN"/>
          </a:p>
        </p:txBody>
      </p:sp>
      <p:sp>
        <p:nvSpPr>
          <p:cNvPr id="4" name="Slide Number Placeholder 3"/>
          <p:cNvSpPr>
            <a:spLocks noGrp="1"/>
          </p:cNvSpPr>
          <p:nvPr>
            <p:ph type="sldNum" sz="quarter" idx="5"/>
          </p:nvPr>
        </p:nvSpPr>
        <p:spPr/>
        <p:txBody>
          <a:bodyPr/>
          <a:lstStyle/>
          <a:p>
            <a:fld id="{21B2AA4F-B828-4D7C-AFD3-893933DAFCB4}" type="slidenum">
              <a:rPr lang="en-US" smtClean="0"/>
              <a:t>37</a:t>
            </a:fld>
            <a:endParaRPr lang="en-US"/>
          </a:p>
        </p:txBody>
      </p:sp>
    </p:spTree>
    <p:extLst>
      <p:ext uri="{BB962C8B-B14F-4D97-AF65-F5344CB8AC3E}">
        <p14:creationId xmlns:p14="http://schemas.microsoft.com/office/powerpoint/2010/main" val="19641061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195638" y="566738"/>
            <a:ext cx="3194050" cy="1797050"/>
          </a:xfrm>
          <a:prstGeom prst="rect">
            <a:avLst/>
          </a:prstGeom>
        </p:spPr>
      </p:sp>
      <p:sp>
        <p:nvSpPr>
          <p:cNvPr id="3" name="Notes Placeholder 2"/>
          <p:cNvSpPr>
            <a:spLocks noGrp="1"/>
          </p:cNvSpPr>
          <p:nvPr>
            <p:ph type="body" idx="1"/>
          </p:nvPr>
        </p:nvSpPr>
        <p:spPr>
          <a:xfrm>
            <a:off x="123452" y="2564124"/>
            <a:ext cx="9838645" cy="2097919"/>
          </a:xfrm>
          <a:prstGeom prst="rect">
            <a:avLst/>
          </a:prstGeom>
        </p:spPr>
        <p:txBody>
          <a:bodyPr/>
          <a:lstStyle/>
          <a:p>
            <a:endParaRPr lang="en-IN"/>
          </a:p>
        </p:txBody>
      </p:sp>
      <p:sp>
        <p:nvSpPr>
          <p:cNvPr id="4" name="Slide Number Placeholder 3"/>
          <p:cNvSpPr>
            <a:spLocks noGrp="1"/>
          </p:cNvSpPr>
          <p:nvPr>
            <p:ph type="sldNum" sz="quarter" idx="5"/>
          </p:nvPr>
        </p:nvSpPr>
        <p:spPr/>
        <p:txBody>
          <a:bodyPr/>
          <a:lstStyle/>
          <a:p>
            <a:fld id="{21B2AA4F-B828-4D7C-AFD3-893933DAFCB4}" type="slidenum">
              <a:rPr lang="en-US" smtClean="0"/>
              <a:t>38</a:t>
            </a:fld>
            <a:endParaRPr lang="en-US"/>
          </a:p>
        </p:txBody>
      </p:sp>
    </p:spTree>
    <p:extLst>
      <p:ext uri="{BB962C8B-B14F-4D97-AF65-F5344CB8AC3E}">
        <p14:creationId xmlns:p14="http://schemas.microsoft.com/office/powerpoint/2010/main" val="411914952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195638" y="566738"/>
            <a:ext cx="3194050" cy="1797050"/>
          </a:xfrm>
          <a:prstGeom prst="rect">
            <a:avLst/>
          </a:prstGeom>
        </p:spPr>
      </p:sp>
      <p:sp>
        <p:nvSpPr>
          <p:cNvPr id="3" name="Notes Placeholder 2"/>
          <p:cNvSpPr>
            <a:spLocks noGrp="1"/>
          </p:cNvSpPr>
          <p:nvPr>
            <p:ph type="body" idx="1"/>
          </p:nvPr>
        </p:nvSpPr>
        <p:spPr>
          <a:xfrm>
            <a:off x="123452" y="2564124"/>
            <a:ext cx="9838645" cy="2097919"/>
          </a:xfrm>
          <a:prstGeom prst="rect">
            <a:avLst/>
          </a:prstGeom>
        </p:spPr>
        <p:txBody>
          <a:bodyPr/>
          <a:lstStyle/>
          <a:p>
            <a:endParaRPr lang="en-IN"/>
          </a:p>
        </p:txBody>
      </p:sp>
      <p:sp>
        <p:nvSpPr>
          <p:cNvPr id="4" name="Slide Number Placeholder 3"/>
          <p:cNvSpPr>
            <a:spLocks noGrp="1"/>
          </p:cNvSpPr>
          <p:nvPr>
            <p:ph type="sldNum" sz="quarter" idx="5"/>
          </p:nvPr>
        </p:nvSpPr>
        <p:spPr/>
        <p:txBody>
          <a:bodyPr/>
          <a:lstStyle/>
          <a:p>
            <a:fld id="{21B2AA4F-B828-4D7C-AFD3-893933DAFCB4}" type="slidenum">
              <a:rPr lang="en-US" smtClean="0"/>
              <a:t>39</a:t>
            </a:fld>
            <a:endParaRPr lang="en-US"/>
          </a:p>
        </p:txBody>
      </p:sp>
    </p:spTree>
    <p:extLst>
      <p:ext uri="{BB962C8B-B14F-4D97-AF65-F5344CB8AC3E}">
        <p14:creationId xmlns:p14="http://schemas.microsoft.com/office/powerpoint/2010/main" val="21831294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195638" y="566738"/>
            <a:ext cx="3194050" cy="1797050"/>
          </a:xfrm>
          <a:prstGeom prst="rect">
            <a:avLst/>
          </a:prstGeom>
        </p:spPr>
      </p:sp>
      <p:sp>
        <p:nvSpPr>
          <p:cNvPr id="3" name="Notes Placeholder 2"/>
          <p:cNvSpPr>
            <a:spLocks noGrp="1"/>
          </p:cNvSpPr>
          <p:nvPr>
            <p:ph type="body" idx="1"/>
          </p:nvPr>
        </p:nvSpPr>
        <p:spPr>
          <a:xfrm>
            <a:off x="123452" y="2564124"/>
            <a:ext cx="9838645" cy="2097919"/>
          </a:xfrm>
          <a:prstGeom prst="rect">
            <a:avLst/>
          </a:prstGeom>
        </p:spPr>
        <p:txBody>
          <a:bodyPr/>
          <a:lstStyle/>
          <a:p>
            <a:r>
              <a:rPr lang="en-US" b="1" dirty="0"/>
              <a:t>Optical Property vs. Mass</a:t>
            </a:r>
            <a:endParaRPr lang="en-US" dirty="0"/>
          </a:p>
          <a:p>
            <a:r>
              <a:rPr lang="en-US" b="1" dirty="0"/>
              <a:t>Mass Methods (Hi-Vol)</a:t>
            </a:r>
            <a:r>
              <a:rPr lang="en-US" dirty="0"/>
              <a:t>: These tell you how many milligrams of "stuff" are in the air.</a:t>
            </a:r>
          </a:p>
          <a:p>
            <a:r>
              <a:rPr lang="en-US" b="1" dirty="0"/>
              <a:t>Optical Methods (Tape Sampler)</a:t>
            </a:r>
            <a:r>
              <a:rPr lang="en-US" dirty="0"/>
              <a:t>: These tell you how much the air </a:t>
            </a:r>
            <a:r>
              <a:rPr lang="en-US" b="1" dirty="0"/>
              <a:t>blocks light</a:t>
            </a:r>
            <a:r>
              <a:rPr lang="en-US" dirty="0"/>
              <a:t>.</a:t>
            </a:r>
          </a:p>
          <a:p>
            <a:endParaRPr lang="en-IN" dirty="0"/>
          </a:p>
        </p:txBody>
      </p:sp>
      <p:sp>
        <p:nvSpPr>
          <p:cNvPr id="4" name="Slide Number Placeholder 3"/>
          <p:cNvSpPr>
            <a:spLocks noGrp="1"/>
          </p:cNvSpPr>
          <p:nvPr>
            <p:ph type="sldNum" sz="quarter" idx="5"/>
          </p:nvPr>
        </p:nvSpPr>
        <p:spPr/>
        <p:txBody>
          <a:bodyPr/>
          <a:lstStyle/>
          <a:p>
            <a:fld id="{21B2AA4F-B828-4D7C-AFD3-893933DAFCB4}" type="slidenum">
              <a:rPr lang="en-US" smtClean="0"/>
              <a:t>40</a:t>
            </a:fld>
            <a:endParaRPr lang="en-US"/>
          </a:p>
        </p:txBody>
      </p:sp>
    </p:spTree>
    <p:extLst>
      <p:ext uri="{BB962C8B-B14F-4D97-AF65-F5344CB8AC3E}">
        <p14:creationId xmlns:p14="http://schemas.microsoft.com/office/powerpoint/2010/main" val="176043826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195638" y="566738"/>
            <a:ext cx="3194050" cy="1797050"/>
          </a:xfrm>
          <a:prstGeom prst="rect">
            <a:avLst/>
          </a:prstGeom>
        </p:spPr>
      </p:sp>
      <p:sp>
        <p:nvSpPr>
          <p:cNvPr id="3" name="Notes Placeholder 2"/>
          <p:cNvSpPr>
            <a:spLocks noGrp="1"/>
          </p:cNvSpPr>
          <p:nvPr>
            <p:ph type="body" idx="1"/>
          </p:nvPr>
        </p:nvSpPr>
        <p:spPr>
          <a:xfrm>
            <a:off x="123452" y="2564124"/>
            <a:ext cx="9838645" cy="2097919"/>
          </a:xfrm>
          <a:prstGeom prst="rect">
            <a:avLst/>
          </a:prstGeom>
        </p:spPr>
        <p:txBody>
          <a:bodyPr>
            <a:normAutofit fontScale="55000" lnSpcReduction="20000"/>
          </a:bodyPr>
          <a:lstStyle/>
          <a:p>
            <a:r>
              <a:rPr lang="en-US" dirty="0"/>
              <a:t>The </a:t>
            </a:r>
            <a:r>
              <a:rPr lang="en-US" sz="2400" b="1" kern="1200" dirty="0">
                <a:solidFill>
                  <a:schemeClr val="tx1"/>
                </a:solidFill>
                <a:effectLst/>
                <a:latin typeface="+mn-lt"/>
                <a:ea typeface="+mn-ea"/>
                <a:cs typeface="+mn-cs"/>
              </a:rPr>
              <a:t>beta-ray attenuation</a:t>
            </a:r>
            <a:r>
              <a:rPr lang="en-US" dirty="0"/>
              <a:t> method is considered more "realistic" because it can actually estimate the </a:t>
            </a:r>
            <a:r>
              <a:rPr lang="en-US" sz="2400" b="1" kern="1200" dirty="0">
                <a:solidFill>
                  <a:schemeClr val="tx1"/>
                </a:solidFill>
                <a:effectLst/>
                <a:latin typeface="+mn-lt"/>
                <a:ea typeface="+mn-ea"/>
                <a:cs typeface="+mn-cs"/>
              </a:rPr>
              <a:t>physical mass</a:t>
            </a:r>
            <a:r>
              <a:rPr lang="en-US" dirty="0"/>
              <a:t> of the dust on the tape.</a:t>
            </a:r>
            <a:endParaRPr lang="en-US" sz="2400" kern="1200" dirty="0">
              <a:solidFill>
                <a:schemeClr val="tx1"/>
              </a:solidFill>
              <a:effectLst/>
              <a:latin typeface="+mn-lt"/>
              <a:ea typeface="+mn-ea"/>
              <a:cs typeface="+mn-cs"/>
            </a:endParaRPr>
          </a:p>
          <a:p>
            <a:r>
              <a:rPr lang="en-US" sz="2400" kern="1200" dirty="0">
                <a:solidFill>
                  <a:schemeClr val="tx1"/>
                </a:solidFill>
                <a:effectLst/>
                <a:latin typeface="+mn-lt"/>
                <a:ea typeface="+mn-ea"/>
                <a:cs typeface="+mn-cs"/>
              </a:rPr>
              <a:t>Instead of a light bulb, we use a small radioactive source that emits electrons (beta particles).</a:t>
            </a:r>
          </a:p>
          <a:p>
            <a:r>
              <a:rPr lang="en-US" sz="2400" b="1" kern="1200" dirty="0">
                <a:solidFill>
                  <a:schemeClr val="tx1"/>
                </a:solidFill>
                <a:effectLst/>
                <a:latin typeface="+mn-lt"/>
                <a:ea typeface="+mn-ea"/>
                <a:cs typeface="+mn-cs"/>
              </a:rPr>
              <a:t>Attenuation</a:t>
            </a:r>
            <a:r>
              <a:rPr lang="en-US" sz="2400" kern="1200" dirty="0">
                <a:solidFill>
                  <a:schemeClr val="tx1"/>
                </a:solidFill>
                <a:effectLst/>
                <a:latin typeface="+mn-lt"/>
                <a:ea typeface="+mn-ea"/>
                <a:cs typeface="+mn-cs"/>
              </a:rPr>
              <a:t> simply means "weakening".</a:t>
            </a:r>
          </a:p>
          <a:p>
            <a:r>
              <a:rPr lang="en-US" sz="2400" kern="1200" dirty="0">
                <a:solidFill>
                  <a:schemeClr val="tx1"/>
                </a:solidFill>
                <a:effectLst/>
                <a:latin typeface="+mn-lt"/>
                <a:ea typeface="+mn-ea"/>
                <a:cs typeface="+mn-cs"/>
              </a:rPr>
              <a:t>When these beta-particles hit the dust on the tape, some of them are blocked or absorbed.</a:t>
            </a:r>
          </a:p>
          <a:p>
            <a:endParaRPr lang="en-US" sz="2400" kern="1200" dirty="0">
              <a:solidFill>
                <a:schemeClr val="tx1"/>
              </a:solidFill>
              <a:effectLst/>
              <a:latin typeface="+mn-lt"/>
              <a:ea typeface="+mn-ea"/>
              <a:cs typeface="+mn-cs"/>
            </a:endParaRPr>
          </a:p>
          <a:p>
            <a:r>
              <a:rPr lang="en-US" sz="2400" b="1" kern="1200" dirty="0">
                <a:solidFill>
                  <a:schemeClr val="tx1"/>
                </a:solidFill>
                <a:effectLst/>
                <a:latin typeface="+mn-lt"/>
                <a:ea typeface="+mn-ea"/>
                <a:cs typeface="+mn-cs"/>
              </a:rPr>
              <a:t>Color Blind</a:t>
            </a:r>
            <a:r>
              <a:rPr lang="en-US" sz="2400" kern="1200" dirty="0">
                <a:solidFill>
                  <a:schemeClr val="tx1"/>
                </a:solidFill>
                <a:effectLst/>
                <a:latin typeface="+mn-lt"/>
                <a:ea typeface="+mn-ea"/>
                <a:cs typeface="+mn-cs"/>
              </a:rPr>
              <a:t>: Light transmission is affected by the </a:t>
            </a:r>
            <a:r>
              <a:rPr lang="en-US" sz="2400" i="1" kern="1200" dirty="0">
                <a:solidFill>
                  <a:schemeClr val="tx1"/>
                </a:solidFill>
                <a:effectLst/>
                <a:latin typeface="+mn-lt"/>
                <a:ea typeface="+mn-ea"/>
                <a:cs typeface="+mn-cs"/>
              </a:rPr>
              <a:t>color</a:t>
            </a:r>
            <a:r>
              <a:rPr lang="en-US" sz="2400" kern="1200" dirty="0">
                <a:solidFill>
                  <a:schemeClr val="tx1"/>
                </a:solidFill>
                <a:effectLst/>
                <a:latin typeface="+mn-lt"/>
                <a:ea typeface="+mn-ea"/>
                <a:cs typeface="+mn-cs"/>
              </a:rPr>
              <a:t> of the dust (black soot blocks more light than white silica).</a:t>
            </a:r>
          </a:p>
          <a:p>
            <a:r>
              <a:rPr lang="en-US" sz="2400" b="1" kern="1200" dirty="0">
                <a:solidFill>
                  <a:schemeClr val="tx1"/>
                </a:solidFill>
                <a:effectLst/>
                <a:latin typeface="+mn-lt"/>
                <a:ea typeface="+mn-ea"/>
                <a:cs typeface="+mn-cs"/>
              </a:rPr>
              <a:t>Mass Focused</a:t>
            </a:r>
            <a:r>
              <a:rPr lang="en-US" sz="2400" kern="1200" dirty="0">
                <a:solidFill>
                  <a:schemeClr val="tx1"/>
                </a:solidFill>
                <a:effectLst/>
                <a:latin typeface="+mn-lt"/>
                <a:ea typeface="+mn-ea"/>
                <a:cs typeface="+mn-cs"/>
              </a:rPr>
              <a:t>: $\beta$-rays are blocked based on the </a:t>
            </a:r>
            <a:r>
              <a:rPr lang="en-US" sz="2400" b="1" kern="1200" dirty="0">
                <a:solidFill>
                  <a:schemeClr val="tx1"/>
                </a:solidFill>
                <a:effectLst/>
                <a:latin typeface="+mn-lt"/>
                <a:ea typeface="+mn-ea"/>
                <a:cs typeface="+mn-cs"/>
              </a:rPr>
              <a:t>atomic mass</a:t>
            </a:r>
            <a:r>
              <a:rPr lang="en-US" sz="2400" kern="1200" dirty="0">
                <a:solidFill>
                  <a:schemeClr val="tx1"/>
                </a:solidFill>
                <a:effectLst/>
                <a:latin typeface="+mn-lt"/>
                <a:ea typeface="+mn-ea"/>
                <a:cs typeface="+mn-cs"/>
              </a:rPr>
              <a:t> of the material. This means it doesn't matter if the dust is black, white, or red—the machine can tell how much "weight" is there.</a:t>
            </a:r>
          </a:p>
          <a:p>
            <a:r>
              <a:rPr lang="en-US" sz="2400" b="1" kern="1200" dirty="0">
                <a:solidFill>
                  <a:schemeClr val="tx1"/>
                </a:solidFill>
                <a:effectLst/>
                <a:latin typeface="+mn-lt"/>
                <a:ea typeface="+mn-ea"/>
                <a:cs typeface="+mn-cs"/>
              </a:rPr>
              <a:t>. The Intensity ($I_0$)</a:t>
            </a:r>
            <a:endParaRPr lang="en-US" sz="2400" kern="1200" dirty="0">
              <a:solidFill>
                <a:schemeClr val="tx1"/>
              </a:solidFill>
              <a:effectLst/>
              <a:latin typeface="+mn-lt"/>
              <a:ea typeface="+mn-ea"/>
              <a:cs typeface="+mn-cs"/>
            </a:endParaRPr>
          </a:p>
          <a:p>
            <a:r>
              <a:rPr lang="en-US" sz="2400" b="1" kern="1200" dirty="0">
                <a:solidFill>
                  <a:schemeClr val="tx1"/>
                </a:solidFill>
                <a:effectLst/>
                <a:latin typeface="+mn-lt"/>
                <a:ea typeface="+mn-ea"/>
                <a:cs typeface="+mn-cs"/>
              </a:rPr>
              <a:t>$I_0$</a:t>
            </a:r>
            <a:r>
              <a:rPr lang="en-US" sz="2400" kern="1200" dirty="0">
                <a:solidFill>
                  <a:schemeClr val="tx1"/>
                </a:solidFill>
                <a:effectLst/>
                <a:latin typeface="+mn-lt"/>
                <a:ea typeface="+mn-ea"/>
                <a:cs typeface="+mn-cs"/>
              </a:rPr>
              <a:t> is the starting strength of the beam.</a:t>
            </a:r>
          </a:p>
          <a:p>
            <a:r>
              <a:rPr lang="en-US" sz="2400" kern="1200" dirty="0">
                <a:solidFill>
                  <a:schemeClr val="tx1"/>
                </a:solidFill>
                <a:effectLst/>
                <a:latin typeface="+mn-lt"/>
                <a:ea typeface="+mn-ea"/>
                <a:cs typeface="+mn-cs"/>
              </a:rPr>
              <a:t>By measuring how much that intensity drops after passing through the dusty tape, we can calculate the exact thickness and mass of the particulate layer.</a:t>
            </a:r>
          </a:p>
          <a:p>
            <a:endParaRPr lang="en-US" sz="2400" kern="1200" dirty="0">
              <a:solidFill>
                <a:schemeClr val="tx1"/>
              </a:solidFill>
              <a:effectLst/>
              <a:latin typeface="+mn-lt"/>
              <a:ea typeface="+mn-ea"/>
              <a:cs typeface="+mn-cs"/>
            </a:endParaRPr>
          </a:p>
          <a:p>
            <a:endParaRPr lang="en-IN" dirty="0"/>
          </a:p>
        </p:txBody>
      </p:sp>
      <p:sp>
        <p:nvSpPr>
          <p:cNvPr id="4" name="Slide Number Placeholder 3"/>
          <p:cNvSpPr>
            <a:spLocks noGrp="1"/>
          </p:cNvSpPr>
          <p:nvPr>
            <p:ph type="sldNum" sz="quarter" idx="5"/>
          </p:nvPr>
        </p:nvSpPr>
        <p:spPr/>
        <p:txBody>
          <a:bodyPr/>
          <a:lstStyle/>
          <a:p>
            <a:fld id="{21B2AA4F-B828-4D7C-AFD3-893933DAFCB4}" type="slidenum">
              <a:rPr lang="en-US" smtClean="0"/>
              <a:t>41</a:t>
            </a:fld>
            <a:endParaRPr lang="en-US"/>
          </a:p>
        </p:txBody>
      </p:sp>
    </p:spTree>
    <p:extLst>
      <p:ext uri="{BB962C8B-B14F-4D97-AF65-F5344CB8AC3E}">
        <p14:creationId xmlns:p14="http://schemas.microsoft.com/office/powerpoint/2010/main" val="335559452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195638" y="566738"/>
            <a:ext cx="3194050" cy="1797050"/>
          </a:xfrm>
          <a:prstGeom prst="rect">
            <a:avLst/>
          </a:prstGeom>
        </p:spPr>
      </p:sp>
      <p:sp>
        <p:nvSpPr>
          <p:cNvPr id="3" name="Notes Placeholder 2"/>
          <p:cNvSpPr>
            <a:spLocks noGrp="1"/>
          </p:cNvSpPr>
          <p:nvPr>
            <p:ph type="body" idx="1"/>
          </p:nvPr>
        </p:nvSpPr>
        <p:spPr>
          <a:xfrm>
            <a:off x="123452" y="2564124"/>
            <a:ext cx="9838645" cy="2097919"/>
          </a:xfrm>
          <a:prstGeom prst="rect">
            <a:avLst/>
          </a:prstGeom>
        </p:spPr>
        <p:txBody>
          <a:bodyPr/>
          <a:lstStyle/>
          <a:p>
            <a:r>
              <a:rPr lang="en-US" b="1" dirty="0"/>
              <a:t>The Geiger Counter</a:t>
            </a:r>
            <a:r>
              <a:rPr lang="en-US" dirty="0"/>
              <a:t> Instead of a simple light sensor, we use a </a:t>
            </a:r>
            <a:r>
              <a:rPr lang="en-US" b="1" dirty="0"/>
              <a:t>Geiger counter</a:t>
            </a:r>
            <a:r>
              <a:rPr lang="en-US" dirty="0"/>
              <a:t>. It is highly sensitive and can count every individual beta particle that makes it through the tape, providing a very precise measurement of the particulate mass per unit area (</a:t>
            </a:r>
            <a:r>
              <a:rPr lang="en-US" dirty="0" err="1"/>
              <a:t>μp</a:t>
            </a:r>
            <a:r>
              <a:rPr lang="en-US" dirty="0"/>
              <a:t>).</a:t>
            </a:r>
            <a:endParaRPr lang="en-IN" dirty="0"/>
          </a:p>
        </p:txBody>
      </p:sp>
      <p:sp>
        <p:nvSpPr>
          <p:cNvPr id="4" name="Slide Number Placeholder 3"/>
          <p:cNvSpPr>
            <a:spLocks noGrp="1"/>
          </p:cNvSpPr>
          <p:nvPr>
            <p:ph type="sldNum" sz="quarter" idx="5"/>
          </p:nvPr>
        </p:nvSpPr>
        <p:spPr/>
        <p:txBody>
          <a:bodyPr/>
          <a:lstStyle/>
          <a:p>
            <a:fld id="{21B2AA4F-B828-4D7C-AFD3-893933DAFCB4}" type="slidenum">
              <a:rPr lang="en-US" smtClean="0"/>
              <a:t>42</a:t>
            </a:fld>
            <a:endParaRPr lang="en-US"/>
          </a:p>
        </p:txBody>
      </p:sp>
    </p:spTree>
    <p:extLst>
      <p:ext uri="{BB962C8B-B14F-4D97-AF65-F5344CB8AC3E}">
        <p14:creationId xmlns:p14="http://schemas.microsoft.com/office/powerpoint/2010/main" val="319348183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195638" y="566738"/>
            <a:ext cx="3194050" cy="1797050"/>
          </a:xfrm>
          <a:prstGeom prst="rect">
            <a:avLst/>
          </a:prstGeom>
        </p:spPr>
      </p:sp>
      <p:sp>
        <p:nvSpPr>
          <p:cNvPr id="3" name="Notes Placeholder 2"/>
          <p:cNvSpPr>
            <a:spLocks noGrp="1"/>
          </p:cNvSpPr>
          <p:nvPr>
            <p:ph type="body" idx="1"/>
          </p:nvPr>
        </p:nvSpPr>
        <p:spPr>
          <a:xfrm>
            <a:off x="123452" y="2564124"/>
            <a:ext cx="9838645" cy="2097919"/>
          </a:xfrm>
          <a:prstGeom prst="rect">
            <a:avLst/>
          </a:prstGeom>
        </p:spPr>
        <p:txBody>
          <a:bodyPr/>
          <a:lstStyle/>
          <a:p>
            <a:endParaRPr lang="en-IN"/>
          </a:p>
        </p:txBody>
      </p:sp>
      <p:sp>
        <p:nvSpPr>
          <p:cNvPr id="4" name="Slide Number Placeholder 3"/>
          <p:cNvSpPr>
            <a:spLocks noGrp="1"/>
          </p:cNvSpPr>
          <p:nvPr>
            <p:ph type="sldNum" sz="quarter" idx="5"/>
          </p:nvPr>
        </p:nvSpPr>
        <p:spPr/>
        <p:txBody>
          <a:bodyPr/>
          <a:lstStyle/>
          <a:p>
            <a:fld id="{21B2AA4F-B828-4D7C-AFD3-893933DAFCB4}" type="slidenum">
              <a:rPr lang="en-US" smtClean="0"/>
              <a:t>43</a:t>
            </a:fld>
            <a:endParaRPr lang="en-US"/>
          </a:p>
        </p:txBody>
      </p:sp>
    </p:spTree>
    <p:extLst>
      <p:ext uri="{BB962C8B-B14F-4D97-AF65-F5344CB8AC3E}">
        <p14:creationId xmlns:p14="http://schemas.microsoft.com/office/powerpoint/2010/main" val="114229966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195638" y="566738"/>
            <a:ext cx="3194050" cy="1797050"/>
          </a:xfrm>
          <a:prstGeom prst="rect">
            <a:avLst/>
          </a:prstGeom>
        </p:spPr>
      </p:sp>
      <p:sp>
        <p:nvSpPr>
          <p:cNvPr id="3" name="Notes Placeholder 2"/>
          <p:cNvSpPr>
            <a:spLocks noGrp="1"/>
          </p:cNvSpPr>
          <p:nvPr>
            <p:ph type="body" idx="1"/>
          </p:nvPr>
        </p:nvSpPr>
        <p:spPr>
          <a:xfrm>
            <a:off x="123452" y="2564124"/>
            <a:ext cx="9838645" cy="4112107"/>
          </a:xfrm>
          <a:prstGeom prst="rect">
            <a:avLst/>
          </a:prstGeom>
        </p:spPr>
        <p:txBody>
          <a:bodyPr>
            <a:normAutofit fontScale="77500" lnSpcReduction="20000"/>
          </a:bodyPr>
          <a:lstStyle/>
          <a:p>
            <a:pPr rtl="0"/>
            <a:r>
              <a:rPr lang="en-US" sz="2400" b="1" i="0" kern="1200" dirty="0">
                <a:solidFill>
                  <a:schemeClr val="tx1"/>
                </a:solidFill>
                <a:effectLst/>
                <a:latin typeface="+mn-lt"/>
                <a:ea typeface="+mn-ea"/>
                <a:cs typeface="+mn-cs"/>
              </a:rPr>
              <a:t>How an Impinger Works</a:t>
            </a:r>
          </a:p>
          <a:p>
            <a:pPr rtl="0"/>
            <a:r>
              <a:rPr lang="en-US" sz="2400" b="0" i="0" kern="1200" dirty="0">
                <a:solidFill>
                  <a:schemeClr val="tx1"/>
                </a:solidFill>
                <a:effectLst/>
                <a:latin typeface="+mn-lt"/>
                <a:ea typeface="+mn-ea"/>
                <a:cs typeface="+mn-cs"/>
              </a:rPr>
              <a:t>In simple language, if the Hi-Vol is a "vacuum" and the Tape Sampler is a "spot-maker," the Impinger is like a </a:t>
            </a:r>
            <a:r>
              <a:rPr lang="en-US" sz="2400" b="1" i="0" kern="1200" dirty="0">
                <a:solidFill>
                  <a:schemeClr val="tx1"/>
                </a:solidFill>
                <a:effectLst/>
                <a:latin typeface="+mn-lt"/>
                <a:ea typeface="+mn-ea"/>
                <a:cs typeface="+mn-cs"/>
              </a:rPr>
              <a:t>scrubber</a:t>
            </a:r>
            <a:r>
              <a:rPr lang="en-US" sz="2400" b="0" i="0" kern="1200" dirty="0">
                <a:solidFill>
                  <a:schemeClr val="tx1"/>
                </a:solidFill>
                <a:effectLst/>
                <a:latin typeface="+mn-lt"/>
                <a:ea typeface="+mn-ea"/>
                <a:cs typeface="+mn-cs"/>
              </a:rPr>
              <a:t> that washes the air.</a:t>
            </a:r>
          </a:p>
          <a:p>
            <a:pPr rtl="0"/>
            <a:r>
              <a:rPr lang="en-US" sz="2400" b="1" i="0" kern="1200" dirty="0">
                <a:solidFill>
                  <a:schemeClr val="tx1"/>
                </a:solidFill>
                <a:effectLst/>
                <a:latin typeface="+mn-lt"/>
                <a:ea typeface="+mn-ea"/>
                <a:cs typeface="+mn-cs"/>
              </a:rPr>
              <a:t>1. The Mechanics of Collision</a:t>
            </a:r>
            <a:r>
              <a:rPr lang="en-US" sz="2400" b="0" i="0" kern="1200" dirty="0">
                <a:solidFill>
                  <a:schemeClr val="tx1"/>
                </a:solidFill>
                <a:effectLst/>
                <a:latin typeface="+mn-lt"/>
                <a:ea typeface="+mn-ea"/>
                <a:cs typeface="+mn-cs"/>
              </a:rPr>
              <a:t> The device forces air through a narrow tube at very high speeds.</a:t>
            </a:r>
          </a:p>
          <a:p>
            <a:pPr rtl="0"/>
            <a:r>
              <a:rPr lang="en-US" sz="2400" b="0" i="0" kern="1200" dirty="0">
                <a:solidFill>
                  <a:schemeClr val="tx1"/>
                </a:solidFill>
                <a:effectLst/>
                <a:latin typeface="+mn-lt"/>
                <a:ea typeface="+mn-ea"/>
                <a:cs typeface="+mn-cs"/>
              </a:rPr>
              <a:t>At the end of the tube is a </a:t>
            </a:r>
            <a:r>
              <a:rPr lang="en-US" sz="2400" b="1" i="0" kern="1200" dirty="0">
                <a:solidFill>
                  <a:schemeClr val="tx1"/>
                </a:solidFill>
                <a:effectLst/>
                <a:latin typeface="+mn-lt"/>
                <a:ea typeface="+mn-ea"/>
                <a:cs typeface="+mn-cs"/>
              </a:rPr>
              <a:t>flat surface</a:t>
            </a:r>
            <a:r>
              <a:rPr lang="en-US" sz="2400" b="0" i="0" kern="1200" dirty="0">
                <a:solidFill>
                  <a:schemeClr val="tx1"/>
                </a:solidFill>
                <a:effectLst/>
                <a:latin typeface="+mn-lt"/>
                <a:ea typeface="+mn-ea"/>
                <a:cs typeface="+mn-cs"/>
              </a:rPr>
              <a:t> (an "impaction plate").</a:t>
            </a:r>
          </a:p>
          <a:p>
            <a:pPr rtl="0"/>
            <a:r>
              <a:rPr lang="en-US" sz="2400" b="0" i="0" kern="1200" dirty="0">
                <a:solidFill>
                  <a:schemeClr val="tx1"/>
                </a:solidFill>
                <a:effectLst/>
                <a:latin typeface="+mn-lt"/>
                <a:ea typeface="+mn-ea"/>
                <a:cs typeface="+mn-cs"/>
              </a:rPr>
              <a:t>The air is light enough to make a sharp turn around the plate, but the heavier dust particles have too much momentum; they crash (collide) into the surface and get trapped.</a:t>
            </a:r>
          </a:p>
          <a:p>
            <a:pPr rtl="0"/>
            <a:r>
              <a:rPr lang="en-US" sz="2400" b="1" i="0" kern="1200" dirty="0">
                <a:solidFill>
                  <a:schemeClr val="tx1"/>
                </a:solidFill>
                <a:effectLst/>
                <a:latin typeface="+mn-lt"/>
                <a:ea typeface="+mn-ea"/>
                <a:cs typeface="+mn-cs"/>
              </a:rPr>
              <a:t>2. Wet Impingement</a:t>
            </a:r>
            <a:r>
              <a:rPr lang="en-US" sz="2400" b="0" i="0" kern="1200" dirty="0">
                <a:solidFill>
                  <a:schemeClr val="tx1"/>
                </a:solidFill>
                <a:effectLst/>
                <a:latin typeface="+mn-lt"/>
                <a:ea typeface="+mn-ea"/>
                <a:cs typeface="+mn-cs"/>
              </a:rPr>
              <a:t> In "wet" impingement, the impact plate is submerged in a </a:t>
            </a:r>
            <a:r>
              <a:rPr lang="en-US" sz="2400" b="1" i="0" kern="1200" dirty="0">
                <a:solidFill>
                  <a:schemeClr val="tx1"/>
                </a:solidFill>
                <a:effectLst/>
                <a:latin typeface="+mn-lt"/>
                <a:ea typeface="+mn-ea"/>
                <a:cs typeface="+mn-cs"/>
              </a:rPr>
              <a:t>liquid</a:t>
            </a:r>
            <a:r>
              <a:rPr lang="en-US" sz="2400" b="0" i="0" kern="1200" dirty="0">
                <a:solidFill>
                  <a:schemeClr val="tx1"/>
                </a:solidFill>
                <a:effectLst/>
                <a:latin typeface="+mn-lt"/>
                <a:ea typeface="+mn-ea"/>
                <a:cs typeface="+mn-cs"/>
              </a:rPr>
              <a:t> (usually water or a specific chemical solvent).</a:t>
            </a:r>
          </a:p>
          <a:p>
            <a:pPr rtl="0"/>
            <a:r>
              <a:rPr lang="en-US" sz="2400" b="0" i="0" kern="1200" dirty="0">
                <a:solidFill>
                  <a:schemeClr val="tx1"/>
                </a:solidFill>
                <a:effectLst/>
                <a:latin typeface="+mn-lt"/>
                <a:ea typeface="+mn-ea"/>
                <a:cs typeface="+mn-cs"/>
              </a:rPr>
              <a:t>When the air hits the liquid, it breaks into </a:t>
            </a:r>
            <a:r>
              <a:rPr lang="en-US" sz="2400" b="1" i="0" kern="1200" dirty="0">
                <a:solidFill>
                  <a:schemeClr val="tx1"/>
                </a:solidFill>
                <a:effectLst/>
                <a:latin typeface="+mn-lt"/>
                <a:ea typeface="+mn-ea"/>
                <a:cs typeface="+mn-cs"/>
              </a:rPr>
              <a:t>tiny bubbles</a:t>
            </a:r>
            <a:r>
              <a:rPr lang="en-US" sz="2400" b="0" i="0" kern="1200" dirty="0">
                <a:solidFill>
                  <a:schemeClr val="tx1"/>
                </a:solidFill>
                <a:effectLst/>
                <a:latin typeface="+mn-lt"/>
                <a:ea typeface="+mn-ea"/>
                <a:cs typeface="+mn-cs"/>
              </a:rPr>
              <a:t>.</a:t>
            </a:r>
          </a:p>
          <a:p>
            <a:pPr rtl="0"/>
            <a:r>
              <a:rPr lang="en-US" sz="2400" b="0" i="0" kern="1200" dirty="0">
                <a:solidFill>
                  <a:schemeClr val="tx1"/>
                </a:solidFill>
                <a:effectLst/>
                <a:latin typeface="+mn-lt"/>
                <a:ea typeface="+mn-ea"/>
                <a:cs typeface="+mn-cs"/>
              </a:rPr>
              <a:t>As these bubbles rise through the liquid, the particles inside them are forced to touch the liquid and stay there. This is great for collecting particles that might be soluble or for analyzing the chemicals </a:t>
            </a:r>
            <a:r>
              <a:rPr lang="en-US" sz="2400" b="0" i="1" kern="1200" dirty="0">
                <a:solidFill>
                  <a:schemeClr val="tx1"/>
                </a:solidFill>
                <a:effectLst/>
                <a:latin typeface="+mn-lt"/>
                <a:ea typeface="+mn-ea"/>
                <a:cs typeface="+mn-cs"/>
              </a:rPr>
              <a:t>on</a:t>
            </a:r>
            <a:r>
              <a:rPr lang="en-US" sz="2400" b="0" i="0" kern="1200" dirty="0">
                <a:solidFill>
                  <a:schemeClr val="tx1"/>
                </a:solidFill>
                <a:effectLst/>
                <a:latin typeface="+mn-lt"/>
                <a:ea typeface="+mn-ea"/>
                <a:cs typeface="+mn-cs"/>
              </a:rPr>
              <a:t> the dust.</a:t>
            </a:r>
          </a:p>
          <a:p>
            <a:pPr rtl="0"/>
            <a:r>
              <a:rPr lang="en-US" sz="2400" b="1" i="0" kern="1200" dirty="0">
                <a:solidFill>
                  <a:schemeClr val="tx1"/>
                </a:solidFill>
                <a:effectLst/>
                <a:latin typeface="+mn-lt"/>
                <a:ea typeface="+mn-ea"/>
                <a:cs typeface="+mn-cs"/>
              </a:rPr>
              <a:t>3. Efficiency of the Greenburg-Smith Impinger</a:t>
            </a:r>
            <a:r>
              <a:rPr lang="en-US" sz="2400" b="0" i="0" kern="1200" dirty="0">
                <a:solidFill>
                  <a:schemeClr val="tx1"/>
                </a:solidFill>
                <a:effectLst/>
                <a:latin typeface="+mn-lt"/>
                <a:ea typeface="+mn-ea"/>
                <a:cs typeface="+mn-cs"/>
              </a:rPr>
              <a:t> The Greenburg-Smith is a world-standard design.</a:t>
            </a:r>
          </a:p>
          <a:p>
            <a:pPr rtl="0"/>
            <a:r>
              <a:rPr lang="en-US" sz="2400" b="0" i="0" kern="1200" dirty="0">
                <a:solidFill>
                  <a:schemeClr val="tx1"/>
                </a:solidFill>
                <a:effectLst/>
                <a:latin typeface="+mn-lt"/>
                <a:ea typeface="+mn-ea"/>
                <a:cs typeface="+mn-cs"/>
              </a:rPr>
              <a:t>It is incredibly effective (up to </a:t>
            </a:r>
            <a:r>
              <a:rPr lang="en-US" sz="2400" b="1" i="0" kern="1200" dirty="0">
                <a:solidFill>
                  <a:schemeClr val="tx1"/>
                </a:solidFill>
                <a:effectLst/>
                <a:latin typeface="+mn-lt"/>
                <a:ea typeface="+mn-ea"/>
                <a:cs typeface="+mn-cs"/>
              </a:rPr>
              <a:t>99%</a:t>
            </a:r>
            <a:r>
              <a:rPr lang="en-US" sz="2400" b="0" i="0" kern="1200" dirty="0">
                <a:solidFill>
                  <a:schemeClr val="tx1"/>
                </a:solidFill>
                <a:effectLst/>
                <a:latin typeface="+mn-lt"/>
                <a:ea typeface="+mn-ea"/>
                <a:cs typeface="+mn-cs"/>
              </a:rPr>
              <a:t>) at catching particles as small as </a:t>
            </a:r>
            <a:r>
              <a:rPr lang="en-US" sz="2400" b="1" i="0" kern="1200" dirty="0">
                <a:solidFill>
                  <a:schemeClr val="tx1"/>
                </a:solidFill>
                <a:effectLst/>
                <a:latin typeface="+mn-lt"/>
                <a:ea typeface="+mn-ea"/>
                <a:cs typeface="+mn-cs"/>
              </a:rPr>
              <a:t>1 </a:t>
            </a:r>
            <a:r>
              <a:rPr lang="en-US" sz="2400" b="1" i="0" kern="1200" dirty="0" err="1">
                <a:solidFill>
                  <a:schemeClr val="tx1"/>
                </a:solidFill>
                <a:effectLst/>
                <a:latin typeface="+mn-lt"/>
                <a:ea typeface="+mn-ea"/>
                <a:cs typeface="+mn-cs"/>
              </a:rPr>
              <a:t>μm</a:t>
            </a:r>
            <a:r>
              <a:rPr lang="en-US" sz="2400" b="0" i="0" kern="1200" dirty="0">
                <a:solidFill>
                  <a:schemeClr val="tx1"/>
                </a:solidFill>
                <a:effectLst/>
                <a:latin typeface="+mn-lt"/>
                <a:ea typeface="+mn-ea"/>
                <a:cs typeface="+mn-cs"/>
              </a:rPr>
              <a:t>.</a:t>
            </a:r>
          </a:p>
          <a:p>
            <a:pPr rtl="0"/>
            <a:r>
              <a:rPr lang="en-US" sz="2400" b="0" i="0" kern="1200" dirty="0">
                <a:solidFill>
                  <a:schemeClr val="tx1"/>
                </a:solidFill>
                <a:effectLst/>
                <a:latin typeface="+mn-lt"/>
                <a:ea typeface="+mn-ea"/>
                <a:cs typeface="+mn-cs"/>
              </a:rPr>
              <a:t>For context, 1 </a:t>
            </a:r>
            <a:r>
              <a:rPr lang="en-US" sz="2400" b="0" i="0" kern="1200" dirty="0" err="1">
                <a:solidFill>
                  <a:schemeClr val="tx1"/>
                </a:solidFill>
                <a:effectLst/>
                <a:latin typeface="+mn-lt"/>
                <a:ea typeface="+mn-ea"/>
                <a:cs typeface="+mn-cs"/>
              </a:rPr>
              <a:t>μm</a:t>
            </a:r>
            <a:r>
              <a:rPr lang="en-US" sz="2400" b="0" i="0" kern="1200" dirty="0">
                <a:solidFill>
                  <a:schemeClr val="tx1"/>
                </a:solidFill>
                <a:effectLst/>
                <a:latin typeface="+mn-lt"/>
                <a:ea typeface="+mn-ea"/>
                <a:cs typeface="+mn-cs"/>
              </a:rPr>
              <a:t> is roughly the size of a single bacterium.</a:t>
            </a:r>
            <a:endParaRPr lang="en-IN" dirty="0"/>
          </a:p>
        </p:txBody>
      </p:sp>
      <p:sp>
        <p:nvSpPr>
          <p:cNvPr id="4" name="Slide Number Placeholder 3"/>
          <p:cNvSpPr>
            <a:spLocks noGrp="1"/>
          </p:cNvSpPr>
          <p:nvPr>
            <p:ph type="sldNum" sz="quarter" idx="5"/>
          </p:nvPr>
        </p:nvSpPr>
        <p:spPr/>
        <p:txBody>
          <a:bodyPr/>
          <a:lstStyle/>
          <a:p>
            <a:fld id="{21B2AA4F-B828-4D7C-AFD3-893933DAFCB4}" type="slidenum">
              <a:rPr lang="en-US" smtClean="0"/>
              <a:t>44</a:t>
            </a:fld>
            <a:endParaRPr lang="en-US"/>
          </a:p>
        </p:txBody>
      </p:sp>
    </p:spTree>
    <p:extLst>
      <p:ext uri="{BB962C8B-B14F-4D97-AF65-F5344CB8AC3E}">
        <p14:creationId xmlns:p14="http://schemas.microsoft.com/office/powerpoint/2010/main" val="122422999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195638" y="566738"/>
            <a:ext cx="3194050" cy="1797050"/>
          </a:xfrm>
          <a:prstGeom prst="rect">
            <a:avLst/>
          </a:prstGeom>
        </p:spPr>
      </p:sp>
      <p:sp>
        <p:nvSpPr>
          <p:cNvPr id="3" name="Notes Placeholder 2"/>
          <p:cNvSpPr>
            <a:spLocks noGrp="1"/>
          </p:cNvSpPr>
          <p:nvPr>
            <p:ph type="body" idx="1"/>
          </p:nvPr>
        </p:nvSpPr>
        <p:spPr>
          <a:xfrm>
            <a:off x="123452" y="2564124"/>
            <a:ext cx="9838645" cy="2097919"/>
          </a:xfrm>
          <a:prstGeom prst="rect">
            <a:avLst/>
          </a:prstGeom>
        </p:spPr>
        <p:txBody>
          <a:bodyPr/>
          <a:lstStyle/>
          <a:p>
            <a:endParaRPr lang="en-IN"/>
          </a:p>
        </p:txBody>
      </p:sp>
      <p:sp>
        <p:nvSpPr>
          <p:cNvPr id="4" name="Slide Number Placeholder 3"/>
          <p:cNvSpPr>
            <a:spLocks noGrp="1"/>
          </p:cNvSpPr>
          <p:nvPr>
            <p:ph type="sldNum" sz="quarter" idx="5"/>
          </p:nvPr>
        </p:nvSpPr>
        <p:spPr/>
        <p:txBody>
          <a:bodyPr/>
          <a:lstStyle/>
          <a:p>
            <a:fld id="{21B2AA4F-B828-4D7C-AFD3-893933DAFCB4}" type="slidenum">
              <a:rPr lang="en-US" smtClean="0"/>
              <a:t>45</a:t>
            </a:fld>
            <a:endParaRPr lang="en-US"/>
          </a:p>
        </p:txBody>
      </p:sp>
    </p:spTree>
    <p:extLst>
      <p:ext uri="{BB962C8B-B14F-4D97-AF65-F5344CB8AC3E}">
        <p14:creationId xmlns:p14="http://schemas.microsoft.com/office/powerpoint/2010/main" val="141449502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195638" y="566738"/>
            <a:ext cx="3194050" cy="1797050"/>
          </a:xfrm>
          <a:prstGeom prst="rect">
            <a:avLst/>
          </a:prstGeom>
        </p:spPr>
      </p:sp>
      <p:sp>
        <p:nvSpPr>
          <p:cNvPr id="3" name="Notes Placeholder 2"/>
          <p:cNvSpPr>
            <a:spLocks noGrp="1"/>
          </p:cNvSpPr>
          <p:nvPr>
            <p:ph type="body" idx="1"/>
          </p:nvPr>
        </p:nvSpPr>
        <p:spPr>
          <a:xfrm>
            <a:off x="123452" y="2564124"/>
            <a:ext cx="9838645" cy="4340707"/>
          </a:xfrm>
          <a:prstGeom prst="rect">
            <a:avLst/>
          </a:prstGeom>
        </p:spPr>
        <p:txBody>
          <a:bodyPr>
            <a:normAutofit fontScale="85000" lnSpcReduction="20000"/>
          </a:bodyPr>
          <a:lstStyle/>
          <a:p>
            <a:r>
              <a:rPr lang="en-US" dirty="0"/>
              <a:t>The cascade impactor is the gold standard for understanding not just </a:t>
            </a:r>
            <a:r>
              <a:rPr lang="en-US" b="1" dirty="0"/>
              <a:t>how much</a:t>
            </a:r>
            <a:r>
              <a:rPr lang="en-US" dirty="0"/>
              <a:t> dust is in the air, but </a:t>
            </a:r>
            <a:r>
              <a:rPr lang="en-US" b="1" dirty="0"/>
              <a:t>what size</a:t>
            </a:r>
            <a:r>
              <a:rPr lang="en-US" dirty="0"/>
              <a:t> it is. This is critical because smaller particles (like PM2.5) penetrate deeper into the human lungs than larger particles.</a:t>
            </a:r>
          </a:p>
          <a:p>
            <a:r>
              <a:rPr lang="en-US" b="1" dirty="0"/>
              <a:t>1. Momentum and Impact</a:t>
            </a:r>
            <a:endParaRPr lang="en-US" dirty="0"/>
          </a:p>
          <a:p>
            <a:r>
              <a:rPr lang="en-US" b="1" dirty="0"/>
              <a:t>Large particles</a:t>
            </a:r>
            <a:r>
              <a:rPr lang="en-US" dirty="0"/>
              <a:t> are like heavy trucks; they cannot turn quickly. Even when the air turns to go around a plate, their momentum carries them straight into the surface.</a:t>
            </a:r>
          </a:p>
          <a:p>
            <a:r>
              <a:rPr lang="en-US" b="1" dirty="0"/>
              <a:t>Small particles</a:t>
            </a:r>
            <a:r>
              <a:rPr lang="en-US" dirty="0"/>
              <a:t> are like agile birds; they follow the air's "slipstream" and dodge the plates in the early, slower stages.</a:t>
            </a:r>
          </a:p>
          <a:p>
            <a:r>
              <a:rPr lang="en-US" b="1" dirty="0"/>
              <a:t>2. Increasing the "Speed Limit"</a:t>
            </a:r>
            <a:r>
              <a:rPr lang="en-US" dirty="0"/>
              <a:t> As you move down the "cascade," the nozzle holes get smaller. According to fluid dynamics, as the area decreases, the </a:t>
            </a:r>
            <a:r>
              <a:rPr lang="en-US" b="1" dirty="0"/>
              <a:t>velocity increases</a:t>
            </a:r>
            <a:r>
              <a:rPr lang="en-US" dirty="0"/>
              <a:t>. This extra speed gives the tiny particles enough "kick" (momentum) to finally crash into the lower plates.</a:t>
            </a:r>
          </a:p>
          <a:p>
            <a:r>
              <a:rPr lang="en-US" b="1" dirty="0"/>
              <a:t>3. The Analytical Result</a:t>
            </a:r>
            <a:r>
              <a:rPr lang="en-US" dirty="0"/>
              <a:t> At the end of the sampling period, the scientist weighs each of the 5 to 10 plates.</a:t>
            </a:r>
          </a:p>
          <a:p>
            <a:r>
              <a:rPr lang="en-US" b="1" dirty="0"/>
              <a:t>Top Plate Weight</a:t>
            </a:r>
            <a:r>
              <a:rPr lang="en-US" dirty="0"/>
              <a:t>: Mass of large particles (e.g., &gt; 10 </a:t>
            </a:r>
            <a:r>
              <a:rPr lang="en-US" dirty="0" err="1"/>
              <a:t>μm</a:t>
            </a:r>
            <a:r>
              <a:rPr lang="en-US" dirty="0"/>
              <a:t>).</a:t>
            </a:r>
          </a:p>
          <a:p>
            <a:r>
              <a:rPr lang="en-US" b="1" dirty="0"/>
              <a:t>Middle Plate Weight</a:t>
            </a:r>
            <a:r>
              <a:rPr lang="en-US" dirty="0"/>
              <a:t>: Mass of medium particles (e.g., 2.5 – 10 </a:t>
            </a:r>
            <a:r>
              <a:rPr lang="en-US" dirty="0" err="1"/>
              <a:t>μm</a:t>
            </a:r>
            <a:r>
              <a:rPr lang="en-US" dirty="0"/>
              <a:t>).</a:t>
            </a:r>
          </a:p>
          <a:p>
            <a:r>
              <a:rPr lang="en-US" b="1" dirty="0"/>
              <a:t>Bottom Filter Weight</a:t>
            </a:r>
            <a:r>
              <a:rPr lang="en-US" dirty="0"/>
              <a:t>: Mass of the finest sub-micron particles.</a:t>
            </a:r>
          </a:p>
          <a:p>
            <a:endParaRPr lang="en-IN" dirty="0"/>
          </a:p>
        </p:txBody>
      </p:sp>
      <p:sp>
        <p:nvSpPr>
          <p:cNvPr id="4" name="Slide Number Placeholder 3"/>
          <p:cNvSpPr>
            <a:spLocks noGrp="1"/>
          </p:cNvSpPr>
          <p:nvPr>
            <p:ph type="sldNum" sz="quarter" idx="5"/>
          </p:nvPr>
        </p:nvSpPr>
        <p:spPr/>
        <p:txBody>
          <a:bodyPr/>
          <a:lstStyle/>
          <a:p>
            <a:fld id="{21B2AA4F-B828-4D7C-AFD3-893933DAFCB4}" type="slidenum">
              <a:rPr lang="en-US" smtClean="0"/>
              <a:t>46</a:t>
            </a:fld>
            <a:endParaRPr lang="en-US"/>
          </a:p>
        </p:txBody>
      </p:sp>
    </p:spTree>
    <p:extLst>
      <p:ext uri="{BB962C8B-B14F-4D97-AF65-F5344CB8AC3E}">
        <p14:creationId xmlns:p14="http://schemas.microsoft.com/office/powerpoint/2010/main" val="317564855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195638" y="566738"/>
            <a:ext cx="3194050" cy="1797050"/>
          </a:xfrm>
          <a:prstGeom prst="rect">
            <a:avLst/>
          </a:prstGeom>
        </p:spPr>
      </p:sp>
      <p:sp>
        <p:nvSpPr>
          <p:cNvPr id="3" name="Notes Placeholder 2"/>
          <p:cNvSpPr>
            <a:spLocks noGrp="1"/>
          </p:cNvSpPr>
          <p:nvPr>
            <p:ph type="body" idx="1"/>
          </p:nvPr>
        </p:nvSpPr>
        <p:spPr>
          <a:xfrm>
            <a:off x="123452" y="2564124"/>
            <a:ext cx="9838645" cy="2097919"/>
          </a:xfrm>
          <a:prstGeom prst="rect">
            <a:avLst/>
          </a:prstGeom>
        </p:spPr>
        <p:txBody>
          <a:bodyPr/>
          <a:lstStyle/>
          <a:p>
            <a:endParaRPr lang="en-IN"/>
          </a:p>
        </p:txBody>
      </p:sp>
      <p:sp>
        <p:nvSpPr>
          <p:cNvPr id="4" name="Slide Number Placeholder 3"/>
          <p:cNvSpPr>
            <a:spLocks noGrp="1"/>
          </p:cNvSpPr>
          <p:nvPr>
            <p:ph type="sldNum" sz="quarter" idx="5"/>
          </p:nvPr>
        </p:nvSpPr>
        <p:spPr/>
        <p:txBody>
          <a:bodyPr/>
          <a:lstStyle/>
          <a:p>
            <a:fld id="{21B2AA4F-B828-4D7C-AFD3-893933DAFCB4}" type="slidenum">
              <a:rPr lang="en-US" smtClean="0"/>
              <a:t>47</a:t>
            </a:fld>
            <a:endParaRPr lang="en-US"/>
          </a:p>
        </p:txBody>
      </p:sp>
    </p:spTree>
    <p:extLst>
      <p:ext uri="{BB962C8B-B14F-4D97-AF65-F5344CB8AC3E}">
        <p14:creationId xmlns:p14="http://schemas.microsoft.com/office/powerpoint/2010/main" val="356134973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195638" y="566738"/>
            <a:ext cx="3194050" cy="1797050"/>
          </a:xfrm>
          <a:prstGeom prst="rect">
            <a:avLst/>
          </a:prstGeom>
        </p:spPr>
      </p:sp>
      <p:sp>
        <p:nvSpPr>
          <p:cNvPr id="3" name="Notes Placeholder 2"/>
          <p:cNvSpPr>
            <a:spLocks noGrp="1"/>
          </p:cNvSpPr>
          <p:nvPr>
            <p:ph type="body" idx="1"/>
          </p:nvPr>
        </p:nvSpPr>
        <p:spPr>
          <a:xfrm>
            <a:off x="123452" y="2564124"/>
            <a:ext cx="9838645" cy="2097919"/>
          </a:xfrm>
          <a:prstGeom prst="rect">
            <a:avLst/>
          </a:prstGeom>
        </p:spPr>
        <p:txBody>
          <a:bodyPr/>
          <a:lstStyle/>
          <a:p>
            <a:endParaRPr lang="en-IN"/>
          </a:p>
        </p:txBody>
      </p:sp>
      <p:sp>
        <p:nvSpPr>
          <p:cNvPr id="4" name="Slide Number Placeholder 3"/>
          <p:cNvSpPr>
            <a:spLocks noGrp="1"/>
          </p:cNvSpPr>
          <p:nvPr>
            <p:ph type="sldNum" sz="quarter" idx="5"/>
          </p:nvPr>
        </p:nvSpPr>
        <p:spPr/>
        <p:txBody>
          <a:bodyPr/>
          <a:lstStyle/>
          <a:p>
            <a:fld id="{21B2AA4F-B828-4D7C-AFD3-893933DAFCB4}" type="slidenum">
              <a:rPr lang="en-US" smtClean="0"/>
              <a:t>48</a:t>
            </a:fld>
            <a:endParaRPr lang="en-US"/>
          </a:p>
        </p:txBody>
      </p:sp>
    </p:spTree>
    <p:extLst>
      <p:ext uri="{BB962C8B-B14F-4D97-AF65-F5344CB8AC3E}">
        <p14:creationId xmlns:p14="http://schemas.microsoft.com/office/powerpoint/2010/main" val="182148601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195638" y="566738"/>
            <a:ext cx="3194050" cy="1797050"/>
          </a:xfrm>
          <a:prstGeom prst="rect">
            <a:avLst/>
          </a:prstGeom>
        </p:spPr>
      </p:sp>
      <p:sp>
        <p:nvSpPr>
          <p:cNvPr id="3" name="Notes Placeholder 2"/>
          <p:cNvSpPr>
            <a:spLocks noGrp="1"/>
          </p:cNvSpPr>
          <p:nvPr>
            <p:ph type="body" idx="1"/>
          </p:nvPr>
        </p:nvSpPr>
        <p:spPr>
          <a:xfrm>
            <a:off x="123452" y="2564124"/>
            <a:ext cx="9838645" cy="2097919"/>
          </a:xfrm>
          <a:prstGeom prst="rect">
            <a:avLst/>
          </a:prstGeom>
        </p:spPr>
        <p:txBody>
          <a:bodyPr/>
          <a:lstStyle/>
          <a:p>
            <a:endParaRPr lang="en-IN"/>
          </a:p>
        </p:txBody>
      </p:sp>
      <p:sp>
        <p:nvSpPr>
          <p:cNvPr id="4" name="Slide Number Placeholder 3"/>
          <p:cNvSpPr>
            <a:spLocks noGrp="1"/>
          </p:cNvSpPr>
          <p:nvPr>
            <p:ph type="sldNum" sz="quarter" idx="5"/>
          </p:nvPr>
        </p:nvSpPr>
        <p:spPr/>
        <p:txBody>
          <a:bodyPr/>
          <a:lstStyle/>
          <a:p>
            <a:fld id="{21B2AA4F-B828-4D7C-AFD3-893933DAFCB4}" type="slidenum">
              <a:rPr lang="en-US" smtClean="0"/>
              <a:t>49</a:t>
            </a:fld>
            <a:endParaRPr lang="en-US"/>
          </a:p>
        </p:txBody>
      </p:sp>
    </p:spTree>
    <p:extLst>
      <p:ext uri="{BB962C8B-B14F-4D97-AF65-F5344CB8AC3E}">
        <p14:creationId xmlns:p14="http://schemas.microsoft.com/office/powerpoint/2010/main" val="90498410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195638" y="566738"/>
            <a:ext cx="3194050" cy="1797050"/>
          </a:xfrm>
          <a:prstGeom prst="rect">
            <a:avLst/>
          </a:prstGeom>
        </p:spPr>
      </p:sp>
      <p:sp>
        <p:nvSpPr>
          <p:cNvPr id="3" name="Notes Placeholder 2"/>
          <p:cNvSpPr>
            <a:spLocks noGrp="1"/>
          </p:cNvSpPr>
          <p:nvPr>
            <p:ph type="body" idx="1"/>
          </p:nvPr>
        </p:nvSpPr>
        <p:spPr>
          <a:xfrm>
            <a:off x="123452" y="2564124"/>
            <a:ext cx="9838645" cy="2097919"/>
          </a:xfrm>
          <a:prstGeom prst="rect">
            <a:avLst/>
          </a:prstGeom>
        </p:spPr>
        <p:txBody>
          <a:bodyPr/>
          <a:lstStyle/>
          <a:p>
            <a:endParaRPr lang="en-IN"/>
          </a:p>
        </p:txBody>
      </p:sp>
      <p:sp>
        <p:nvSpPr>
          <p:cNvPr id="4" name="Slide Number Placeholder 3"/>
          <p:cNvSpPr>
            <a:spLocks noGrp="1"/>
          </p:cNvSpPr>
          <p:nvPr>
            <p:ph type="sldNum" sz="quarter" idx="5"/>
          </p:nvPr>
        </p:nvSpPr>
        <p:spPr/>
        <p:txBody>
          <a:bodyPr/>
          <a:lstStyle/>
          <a:p>
            <a:fld id="{21B2AA4F-B828-4D7C-AFD3-893933DAFCB4}" type="slidenum">
              <a:rPr lang="en-US" smtClean="0"/>
              <a:t>50</a:t>
            </a:fld>
            <a:endParaRPr lang="en-US"/>
          </a:p>
        </p:txBody>
      </p:sp>
    </p:spTree>
    <p:extLst>
      <p:ext uri="{BB962C8B-B14F-4D97-AF65-F5344CB8AC3E}">
        <p14:creationId xmlns:p14="http://schemas.microsoft.com/office/powerpoint/2010/main" val="121586612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195638" y="566738"/>
            <a:ext cx="3194050" cy="1797050"/>
          </a:xfrm>
          <a:prstGeom prst="rect">
            <a:avLst/>
          </a:prstGeom>
        </p:spPr>
      </p:sp>
      <p:sp>
        <p:nvSpPr>
          <p:cNvPr id="3" name="Notes Placeholder 2"/>
          <p:cNvSpPr>
            <a:spLocks noGrp="1"/>
          </p:cNvSpPr>
          <p:nvPr>
            <p:ph type="body" idx="1"/>
          </p:nvPr>
        </p:nvSpPr>
        <p:spPr>
          <a:xfrm>
            <a:off x="123452" y="2564124"/>
            <a:ext cx="9838645" cy="2097919"/>
          </a:xfrm>
          <a:prstGeom prst="rect">
            <a:avLst/>
          </a:prstGeom>
        </p:spPr>
        <p:txBody>
          <a:bodyPr/>
          <a:lstStyle/>
          <a:p>
            <a:endParaRPr lang="en-IN"/>
          </a:p>
        </p:txBody>
      </p:sp>
      <p:sp>
        <p:nvSpPr>
          <p:cNvPr id="4" name="Slide Number Placeholder 3"/>
          <p:cNvSpPr>
            <a:spLocks noGrp="1"/>
          </p:cNvSpPr>
          <p:nvPr>
            <p:ph type="sldNum" sz="quarter" idx="5"/>
          </p:nvPr>
        </p:nvSpPr>
        <p:spPr/>
        <p:txBody>
          <a:bodyPr/>
          <a:lstStyle/>
          <a:p>
            <a:fld id="{21B2AA4F-B828-4D7C-AFD3-893933DAFCB4}" type="slidenum">
              <a:rPr lang="en-US" smtClean="0"/>
              <a:t>51</a:t>
            </a:fld>
            <a:endParaRPr lang="en-US"/>
          </a:p>
        </p:txBody>
      </p:sp>
    </p:spTree>
    <p:extLst>
      <p:ext uri="{BB962C8B-B14F-4D97-AF65-F5344CB8AC3E}">
        <p14:creationId xmlns:p14="http://schemas.microsoft.com/office/powerpoint/2010/main" val="254589963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195638" y="566738"/>
            <a:ext cx="3194050" cy="1797050"/>
          </a:xfrm>
          <a:prstGeom prst="rect">
            <a:avLst/>
          </a:prstGeom>
        </p:spPr>
      </p:sp>
      <p:sp>
        <p:nvSpPr>
          <p:cNvPr id="3" name="Notes Placeholder 2"/>
          <p:cNvSpPr>
            <a:spLocks noGrp="1"/>
          </p:cNvSpPr>
          <p:nvPr>
            <p:ph type="body" idx="1"/>
          </p:nvPr>
        </p:nvSpPr>
        <p:spPr>
          <a:xfrm>
            <a:off x="123452" y="2564124"/>
            <a:ext cx="9838645" cy="2097919"/>
          </a:xfrm>
          <a:prstGeom prst="rect">
            <a:avLst/>
          </a:prstGeom>
        </p:spPr>
        <p:txBody>
          <a:bodyPr/>
          <a:lstStyle/>
          <a:p>
            <a:r>
              <a:rPr lang="en-US" dirty="0"/>
              <a:t>If the air moves too fast, the temperature gradient is "washed away" or neutralized; hence, the extremely </a:t>
            </a:r>
            <a:r>
              <a:rPr lang="en-US" b="1" dirty="0"/>
              <a:t>low sampling rates</a:t>
            </a:r>
            <a:r>
              <a:rPr lang="en-US" dirty="0"/>
              <a:t> (ml/min) are necessary to ensure the particles have enough time to migrate to the cold plate.</a:t>
            </a:r>
            <a:endParaRPr lang="en-IN" dirty="0"/>
          </a:p>
        </p:txBody>
      </p:sp>
      <p:sp>
        <p:nvSpPr>
          <p:cNvPr id="4" name="Slide Number Placeholder 3"/>
          <p:cNvSpPr>
            <a:spLocks noGrp="1"/>
          </p:cNvSpPr>
          <p:nvPr>
            <p:ph type="sldNum" sz="quarter" idx="5"/>
          </p:nvPr>
        </p:nvSpPr>
        <p:spPr/>
        <p:txBody>
          <a:bodyPr/>
          <a:lstStyle/>
          <a:p>
            <a:fld id="{21B2AA4F-B828-4D7C-AFD3-893933DAFCB4}" type="slidenum">
              <a:rPr lang="en-US" smtClean="0"/>
              <a:t>52</a:t>
            </a:fld>
            <a:endParaRPr lang="en-US"/>
          </a:p>
        </p:txBody>
      </p:sp>
    </p:spTree>
    <p:extLst>
      <p:ext uri="{BB962C8B-B14F-4D97-AF65-F5344CB8AC3E}">
        <p14:creationId xmlns:p14="http://schemas.microsoft.com/office/powerpoint/2010/main" val="68158998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195638" y="566738"/>
            <a:ext cx="3194050" cy="1797050"/>
          </a:xfrm>
          <a:prstGeom prst="rect">
            <a:avLst/>
          </a:prstGeom>
        </p:spPr>
      </p:sp>
      <p:sp>
        <p:nvSpPr>
          <p:cNvPr id="3" name="Notes Placeholder 2"/>
          <p:cNvSpPr>
            <a:spLocks noGrp="1"/>
          </p:cNvSpPr>
          <p:nvPr>
            <p:ph type="body" idx="1"/>
          </p:nvPr>
        </p:nvSpPr>
        <p:spPr>
          <a:xfrm>
            <a:off x="123452" y="2564124"/>
            <a:ext cx="9838645" cy="2097919"/>
          </a:xfrm>
          <a:prstGeom prst="rect">
            <a:avLst/>
          </a:prstGeom>
        </p:spPr>
        <p:txBody>
          <a:bodyPr/>
          <a:lstStyle/>
          <a:p>
            <a:endParaRPr lang="en-IN"/>
          </a:p>
        </p:txBody>
      </p:sp>
      <p:sp>
        <p:nvSpPr>
          <p:cNvPr id="4" name="Slide Number Placeholder 3"/>
          <p:cNvSpPr>
            <a:spLocks noGrp="1"/>
          </p:cNvSpPr>
          <p:nvPr>
            <p:ph type="sldNum" sz="quarter" idx="5"/>
          </p:nvPr>
        </p:nvSpPr>
        <p:spPr/>
        <p:txBody>
          <a:bodyPr/>
          <a:lstStyle/>
          <a:p>
            <a:fld id="{21B2AA4F-B828-4D7C-AFD3-893933DAFCB4}" type="slidenum">
              <a:rPr lang="en-US" smtClean="0"/>
              <a:t>53</a:t>
            </a:fld>
            <a:endParaRPr lang="en-US"/>
          </a:p>
        </p:txBody>
      </p:sp>
    </p:spTree>
    <p:extLst>
      <p:ext uri="{BB962C8B-B14F-4D97-AF65-F5344CB8AC3E}">
        <p14:creationId xmlns:p14="http://schemas.microsoft.com/office/powerpoint/2010/main" val="34802888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195638" y="566738"/>
            <a:ext cx="3194050" cy="1797050"/>
          </a:xfrm>
          <a:prstGeom prst="rect">
            <a:avLst/>
          </a:prstGeom>
        </p:spPr>
      </p:sp>
      <p:sp>
        <p:nvSpPr>
          <p:cNvPr id="3" name="Notes Placeholder 2"/>
          <p:cNvSpPr>
            <a:spLocks noGrp="1"/>
          </p:cNvSpPr>
          <p:nvPr>
            <p:ph type="body" idx="1"/>
          </p:nvPr>
        </p:nvSpPr>
        <p:spPr>
          <a:xfrm>
            <a:off x="123452" y="2564124"/>
            <a:ext cx="9838645" cy="2097919"/>
          </a:xfrm>
          <a:prstGeom prst="rect">
            <a:avLst/>
          </a:prstGeom>
        </p:spPr>
        <p:txBody>
          <a:bodyPr/>
          <a:lstStyle/>
          <a:p>
            <a:endParaRPr lang="en-IN"/>
          </a:p>
        </p:txBody>
      </p:sp>
      <p:sp>
        <p:nvSpPr>
          <p:cNvPr id="4" name="Slide Number Placeholder 3"/>
          <p:cNvSpPr>
            <a:spLocks noGrp="1"/>
          </p:cNvSpPr>
          <p:nvPr>
            <p:ph type="sldNum" sz="quarter" idx="5"/>
          </p:nvPr>
        </p:nvSpPr>
        <p:spPr/>
        <p:txBody>
          <a:bodyPr/>
          <a:lstStyle/>
          <a:p>
            <a:fld id="{21B2AA4F-B828-4D7C-AFD3-893933DAFCB4}" type="slidenum">
              <a:rPr lang="en-US" smtClean="0"/>
              <a:t>54</a:t>
            </a:fld>
            <a:endParaRPr lang="en-US"/>
          </a:p>
        </p:txBody>
      </p:sp>
    </p:spTree>
    <p:extLst>
      <p:ext uri="{BB962C8B-B14F-4D97-AF65-F5344CB8AC3E}">
        <p14:creationId xmlns:p14="http://schemas.microsoft.com/office/powerpoint/2010/main" val="138103659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195638" y="566738"/>
            <a:ext cx="3194050" cy="1797050"/>
          </a:xfrm>
          <a:prstGeom prst="rect">
            <a:avLst/>
          </a:prstGeom>
        </p:spPr>
      </p:sp>
      <p:sp>
        <p:nvSpPr>
          <p:cNvPr id="3" name="Notes Placeholder 2"/>
          <p:cNvSpPr>
            <a:spLocks noGrp="1"/>
          </p:cNvSpPr>
          <p:nvPr>
            <p:ph type="body" idx="1"/>
          </p:nvPr>
        </p:nvSpPr>
        <p:spPr>
          <a:xfrm>
            <a:off x="123452" y="2564124"/>
            <a:ext cx="9838645" cy="2097919"/>
          </a:xfrm>
          <a:prstGeom prst="rect">
            <a:avLst/>
          </a:prstGeom>
        </p:spPr>
        <p:txBody>
          <a:bodyPr/>
          <a:lstStyle/>
          <a:p>
            <a:endParaRPr lang="en-IN"/>
          </a:p>
        </p:txBody>
      </p:sp>
      <p:sp>
        <p:nvSpPr>
          <p:cNvPr id="4" name="Slide Number Placeholder 3"/>
          <p:cNvSpPr>
            <a:spLocks noGrp="1"/>
          </p:cNvSpPr>
          <p:nvPr>
            <p:ph type="sldNum" sz="quarter" idx="5"/>
          </p:nvPr>
        </p:nvSpPr>
        <p:spPr/>
        <p:txBody>
          <a:bodyPr/>
          <a:lstStyle/>
          <a:p>
            <a:fld id="{21B2AA4F-B828-4D7C-AFD3-893933DAFCB4}" type="slidenum">
              <a:rPr lang="en-US" smtClean="0"/>
              <a:t>55</a:t>
            </a:fld>
            <a:endParaRPr lang="en-US"/>
          </a:p>
        </p:txBody>
      </p:sp>
    </p:spTree>
    <p:extLst>
      <p:ext uri="{BB962C8B-B14F-4D97-AF65-F5344CB8AC3E}">
        <p14:creationId xmlns:p14="http://schemas.microsoft.com/office/powerpoint/2010/main" val="73829279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195638" y="566738"/>
            <a:ext cx="3194050" cy="1797050"/>
          </a:xfrm>
          <a:prstGeom prst="rect">
            <a:avLst/>
          </a:prstGeom>
        </p:spPr>
      </p:sp>
      <p:sp>
        <p:nvSpPr>
          <p:cNvPr id="3" name="Notes Placeholder 2"/>
          <p:cNvSpPr>
            <a:spLocks noGrp="1"/>
          </p:cNvSpPr>
          <p:nvPr>
            <p:ph type="body" idx="1"/>
          </p:nvPr>
        </p:nvSpPr>
        <p:spPr>
          <a:xfrm>
            <a:off x="123452" y="2564124"/>
            <a:ext cx="9838645" cy="2097919"/>
          </a:xfrm>
          <a:prstGeom prst="rect">
            <a:avLst/>
          </a:prstGeom>
        </p:spPr>
        <p:txBody>
          <a:bodyPr/>
          <a:lstStyle/>
          <a:p>
            <a:endParaRPr lang="en-IN"/>
          </a:p>
        </p:txBody>
      </p:sp>
      <p:sp>
        <p:nvSpPr>
          <p:cNvPr id="4" name="Slide Number Placeholder 3"/>
          <p:cNvSpPr>
            <a:spLocks noGrp="1"/>
          </p:cNvSpPr>
          <p:nvPr>
            <p:ph type="sldNum" sz="quarter" idx="5"/>
          </p:nvPr>
        </p:nvSpPr>
        <p:spPr/>
        <p:txBody>
          <a:bodyPr/>
          <a:lstStyle/>
          <a:p>
            <a:fld id="{21B2AA4F-B828-4D7C-AFD3-893933DAFCB4}" type="slidenum">
              <a:rPr lang="en-US" smtClean="0"/>
              <a:t>56</a:t>
            </a:fld>
            <a:endParaRPr lang="en-US"/>
          </a:p>
        </p:txBody>
      </p:sp>
    </p:spTree>
    <p:extLst>
      <p:ext uri="{BB962C8B-B14F-4D97-AF65-F5344CB8AC3E}">
        <p14:creationId xmlns:p14="http://schemas.microsoft.com/office/powerpoint/2010/main" val="412054211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195638" y="566738"/>
            <a:ext cx="3194050" cy="1797050"/>
          </a:xfrm>
          <a:prstGeom prst="rect">
            <a:avLst/>
          </a:prstGeom>
        </p:spPr>
      </p:sp>
      <p:sp>
        <p:nvSpPr>
          <p:cNvPr id="3" name="Notes Placeholder 2"/>
          <p:cNvSpPr>
            <a:spLocks noGrp="1"/>
          </p:cNvSpPr>
          <p:nvPr>
            <p:ph type="body" idx="1"/>
          </p:nvPr>
        </p:nvSpPr>
        <p:spPr>
          <a:xfrm>
            <a:off x="123452" y="2564124"/>
            <a:ext cx="9838645" cy="2097919"/>
          </a:xfrm>
          <a:prstGeom prst="rect">
            <a:avLst/>
          </a:prstGeom>
        </p:spPr>
        <p:txBody>
          <a:bodyPr/>
          <a:lstStyle/>
          <a:p>
            <a:endParaRPr lang="en-IN"/>
          </a:p>
        </p:txBody>
      </p:sp>
      <p:sp>
        <p:nvSpPr>
          <p:cNvPr id="4" name="Slide Number Placeholder 3"/>
          <p:cNvSpPr>
            <a:spLocks noGrp="1"/>
          </p:cNvSpPr>
          <p:nvPr>
            <p:ph type="sldNum" sz="quarter" idx="5"/>
          </p:nvPr>
        </p:nvSpPr>
        <p:spPr/>
        <p:txBody>
          <a:bodyPr/>
          <a:lstStyle/>
          <a:p>
            <a:fld id="{21B2AA4F-B828-4D7C-AFD3-893933DAFCB4}" type="slidenum">
              <a:rPr lang="en-US" smtClean="0"/>
              <a:t>57</a:t>
            </a:fld>
            <a:endParaRPr lang="en-US"/>
          </a:p>
        </p:txBody>
      </p:sp>
    </p:spTree>
    <p:extLst>
      <p:ext uri="{BB962C8B-B14F-4D97-AF65-F5344CB8AC3E}">
        <p14:creationId xmlns:p14="http://schemas.microsoft.com/office/powerpoint/2010/main" val="141418508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195638" y="566738"/>
            <a:ext cx="3194050" cy="1797050"/>
          </a:xfrm>
          <a:prstGeom prst="rect">
            <a:avLst/>
          </a:prstGeom>
        </p:spPr>
      </p:sp>
      <p:sp>
        <p:nvSpPr>
          <p:cNvPr id="3" name="Notes Placeholder 2"/>
          <p:cNvSpPr>
            <a:spLocks noGrp="1"/>
          </p:cNvSpPr>
          <p:nvPr>
            <p:ph type="body" idx="1"/>
          </p:nvPr>
        </p:nvSpPr>
        <p:spPr>
          <a:xfrm>
            <a:off x="123452" y="2564124"/>
            <a:ext cx="9838645" cy="2097919"/>
          </a:xfrm>
          <a:prstGeom prst="rect">
            <a:avLst/>
          </a:prstGeom>
        </p:spPr>
        <p:txBody>
          <a:bodyPr/>
          <a:lstStyle/>
          <a:p>
            <a:endParaRPr lang="en-IN"/>
          </a:p>
        </p:txBody>
      </p:sp>
      <p:sp>
        <p:nvSpPr>
          <p:cNvPr id="4" name="Slide Number Placeholder 3"/>
          <p:cNvSpPr>
            <a:spLocks noGrp="1"/>
          </p:cNvSpPr>
          <p:nvPr>
            <p:ph type="sldNum" sz="quarter" idx="5"/>
          </p:nvPr>
        </p:nvSpPr>
        <p:spPr/>
        <p:txBody>
          <a:bodyPr/>
          <a:lstStyle/>
          <a:p>
            <a:fld id="{21B2AA4F-B828-4D7C-AFD3-893933DAFCB4}" type="slidenum">
              <a:rPr lang="en-US" smtClean="0"/>
              <a:t>58</a:t>
            </a:fld>
            <a:endParaRPr lang="en-US"/>
          </a:p>
        </p:txBody>
      </p:sp>
    </p:spTree>
    <p:extLst>
      <p:ext uri="{BB962C8B-B14F-4D97-AF65-F5344CB8AC3E}">
        <p14:creationId xmlns:p14="http://schemas.microsoft.com/office/powerpoint/2010/main" val="387605974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195638" y="566738"/>
            <a:ext cx="3194050" cy="1797050"/>
          </a:xfrm>
          <a:prstGeom prst="rect">
            <a:avLst/>
          </a:prstGeom>
        </p:spPr>
      </p:sp>
      <p:sp>
        <p:nvSpPr>
          <p:cNvPr id="3" name="Notes Placeholder 2"/>
          <p:cNvSpPr>
            <a:spLocks noGrp="1"/>
          </p:cNvSpPr>
          <p:nvPr>
            <p:ph type="body" idx="1"/>
          </p:nvPr>
        </p:nvSpPr>
        <p:spPr>
          <a:xfrm>
            <a:off x="123452" y="2564124"/>
            <a:ext cx="9838645" cy="2097919"/>
          </a:xfrm>
          <a:prstGeom prst="rect">
            <a:avLst/>
          </a:prstGeom>
        </p:spPr>
        <p:txBody>
          <a:bodyPr/>
          <a:lstStyle/>
          <a:p>
            <a:endParaRPr lang="en-IN"/>
          </a:p>
        </p:txBody>
      </p:sp>
      <p:sp>
        <p:nvSpPr>
          <p:cNvPr id="4" name="Slide Number Placeholder 3"/>
          <p:cNvSpPr>
            <a:spLocks noGrp="1"/>
          </p:cNvSpPr>
          <p:nvPr>
            <p:ph type="sldNum" sz="quarter" idx="5"/>
          </p:nvPr>
        </p:nvSpPr>
        <p:spPr/>
        <p:txBody>
          <a:bodyPr/>
          <a:lstStyle/>
          <a:p>
            <a:fld id="{21B2AA4F-B828-4D7C-AFD3-893933DAFCB4}" type="slidenum">
              <a:rPr lang="en-US" smtClean="0"/>
              <a:t>59</a:t>
            </a:fld>
            <a:endParaRPr lang="en-US"/>
          </a:p>
        </p:txBody>
      </p:sp>
    </p:spTree>
    <p:extLst>
      <p:ext uri="{BB962C8B-B14F-4D97-AF65-F5344CB8AC3E}">
        <p14:creationId xmlns:p14="http://schemas.microsoft.com/office/powerpoint/2010/main" val="19759002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195638" y="566738"/>
            <a:ext cx="3194050" cy="1797050"/>
          </a:xfrm>
          <a:prstGeom prst="rect">
            <a:avLst/>
          </a:prstGeom>
        </p:spPr>
      </p:sp>
      <p:sp>
        <p:nvSpPr>
          <p:cNvPr id="3" name="Notes Placeholder 2"/>
          <p:cNvSpPr>
            <a:spLocks noGrp="1"/>
          </p:cNvSpPr>
          <p:nvPr>
            <p:ph type="body" idx="1"/>
          </p:nvPr>
        </p:nvSpPr>
        <p:spPr>
          <a:xfrm>
            <a:off x="123452" y="2564124"/>
            <a:ext cx="9838645" cy="2097919"/>
          </a:xfrm>
          <a:prstGeom prst="rect">
            <a:avLst/>
          </a:prstGeom>
        </p:spPr>
        <p:txBody>
          <a:bodyPr/>
          <a:lstStyle/>
          <a:p>
            <a:endParaRPr lang="en-IN"/>
          </a:p>
        </p:txBody>
      </p:sp>
      <p:sp>
        <p:nvSpPr>
          <p:cNvPr id="4" name="Slide Number Placeholder 3"/>
          <p:cNvSpPr>
            <a:spLocks noGrp="1"/>
          </p:cNvSpPr>
          <p:nvPr>
            <p:ph type="sldNum" sz="quarter" idx="5"/>
          </p:nvPr>
        </p:nvSpPr>
        <p:spPr/>
        <p:txBody>
          <a:bodyPr/>
          <a:lstStyle/>
          <a:p>
            <a:fld id="{21B2AA4F-B828-4D7C-AFD3-893933DAFCB4}" type="slidenum">
              <a:rPr lang="en-US" smtClean="0"/>
              <a:t>60</a:t>
            </a:fld>
            <a:endParaRPr lang="en-US"/>
          </a:p>
        </p:txBody>
      </p:sp>
    </p:spTree>
    <p:extLst>
      <p:ext uri="{BB962C8B-B14F-4D97-AF65-F5344CB8AC3E}">
        <p14:creationId xmlns:p14="http://schemas.microsoft.com/office/powerpoint/2010/main" val="18162737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195638" y="566738"/>
            <a:ext cx="3194050" cy="1797050"/>
          </a:xfrm>
          <a:prstGeom prst="rect">
            <a:avLst/>
          </a:prstGeom>
        </p:spPr>
      </p:sp>
      <p:sp>
        <p:nvSpPr>
          <p:cNvPr id="3" name="Notes Placeholder 2"/>
          <p:cNvSpPr>
            <a:spLocks noGrp="1"/>
          </p:cNvSpPr>
          <p:nvPr>
            <p:ph type="body" idx="1"/>
          </p:nvPr>
        </p:nvSpPr>
        <p:spPr>
          <a:xfrm>
            <a:off x="123452" y="2564124"/>
            <a:ext cx="9838645" cy="2097919"/>
          </a:xfrm>
          <a:prstGeom prst="rect">
            <a:avLst/>
          </a:prstGeom>
        </p:spPr>
        <p:txBody>
          <a:bodyPr/>
          <a:lstStyle/>
          <a:p>
            <a:endParaRPr lang="en-IN"/>
          </a:p>
        </p:txBody>
      </p:sp>
      <p:sp>
        <p:nvSpPr>
          <p:cNvPr id="4" name="Slide Number Placeholder 3"/>
          <p:cNvSpPr>
            <a:spLocks noGrp="1"/>
          </p:cNvSpPr>
          <p:nvPr>
            <p:ph type="sldNum" sz="quarter" idx="5"/>
          </p:nvPr>
        </p:nvSpPr>
        <p:spPr/>
        <p:txBody>
          <a:bodyPr/>
          <a:lstStyle/>
          <a:p>
            <a:fld id="{21B2AA4F-B828-4D7C-AFD3-893933DAFCB4}" type="slidenum">
              <a:rPr lang="en-US" smtClean="0"/>
              <a:t>61</a:t>
            </a:fld>
            <a:endParaRPr lang="en-US"/>
          </a:p>
        </p:txBody>
      </p:sp>
    </p:spTree>
    <p:extLst>
      <p:ext uri="{BB962C8B-B14F-4D97-AF65-F5344CB8AC3E}">
        <p14:creationId xmlns:p14="http://schemas.microsoft.com/office/powerpoint/2010/main" val="210386942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195638" y="566738"/>
            <a:ext cx="3194050" cy="1797050"/>
          </a:xfrm>
          <a:prstGeom prst="rect">
            <a:avLst/>
          </a:prstGeom>
        </p:spPr>
      </p:sp>
      <p:sp>
        <p:nvSpPr>
          <p:cNvPr id="3" name="Notes Placeholder 2"/>
          <p:cNvSpPr>
            <a:spLocks noGrp="1"/>
          </p:cNvSpPr>
          <p:nvPr>
            <p:ph type="body" idx="1"/>
          </p:nvPr>
        </p:nvSpPr>
        <p:spPr>
          <a:xfrm>
            <a:off x="123452" y="2564124"/>
            <a:ext cx="9838645" cy="4340707"/>
          </a:xfrm>
          <a:prstGeom prst="rect">
            <a:avLst/>
          </a:prstGeom>
        </p:spPr>
        <p:txBody>
          <a:bodyPr>
            <a:normAutofit fontScale="62500" lnSpcReduction="20000"/>
          </a:bodyPr>
          <a:lstStyle/>
          <a:p>
            <a:r>
              <a:rPr lang="en-US" sz="2400" b="1" kern="1200" dirty="0">
                <a:solidFill>
                  <a:schemeClr val="tx1"/>
                </a:solidFill>
                <a:effectLst/>
                <a:latin typeface="+mn-lt"/>
                <a:ea typeface="+mn-ea"/>
                <a:cs typeface="+mn-cs"/>
              </a:rPr>
              <a:t>(a) Standard Probe</a:t>
            </a:r>
            <a:r>
              <a:rPr lang="en-US" sz="2400" kern="1200" dirty="0">
                <a:solidFill>
                  <a:schemeClr val="tx1"/>
                </a:solidFill>
                <a:effectLst/>
                <a:latin typeface="+mn-lt"/>
                <a:ea typeface="+mn-ea"/>
                <a:cs typeface="+mn-cs"/>
              </a:rPr>
              <a:t>: Features an </a:t>
            </a:r>
            <a:r>
              <a:rPr lang="en-US" sz="2400" b="1" kern="1200" dirty="0">
                <a:solidFill>
                  <a:schemeClr val="tx1"/>
                </a:solidFill>
                <a:effectLst/>
                <a:latin typeface="+mn-lt"/>
                <a:ea typeface="+mn-ea"/>
                <a:cs typeface="+mn-cs"/>
              </a:rPr>
              <a:t>interchangeable or single-size nozzle</a:t>
            </a:r>
            <a:r>
              <a:rPr lang="en-US" sz="2400" kern="1200" dirty="0">
                <a:solidFill>
                  <a:schemeClr val="tx1"/>
                </a:solidFill>
                <a:effectLst/>
                <a:latin typeface="+mn-lt"/>
                <a:ea typeface="+mn-ea"/>
                <a:cs typeface="+mn-cs"/>
              </a:rPr>
              <a:t> at the tip.</a:t>
            </a:r>
          </a:p>
          <a:p>
            <a:r>
              <a:rPr lang="en-US" sz="2400" b="1" kern="1200" dirty="0">
                <a:solidFill>
                  <a:schemeClr val="tx1"/>
                </a:solidFill>
                <a:effectLst/>
                <a:latin typeface="+mn-lt"/>
                <a:ea typeface="+mn-ea"/>
                <a:cs typeface="+mn-cs"/>
              </a:rPr>
              <a:t>(b) In-Stack Filter</a:t>
            </a:r>
            <a:r>
              <a:rPr lang="en-US" sz="2400" kern="1200" dirty="0">
                <a:solidFill>
                  <a:schemeClr val="tx1"/>
                </a:solidFill>
                <a:effectLst/>
                <a:latin typeface="+mn-lt"/>
                <a:ea typeface="+mn-ea"/>
                <a:cs typeface="+mn-cs"/>
              </a:rPr>
              <a:t>: Shows a probe where the </a:t>
            </a:r>
            <a:r>
              <a:rPr lang="en-US" sz="2400" b="1" kern="1200" dirty="0">
                <a:solidFill>
                  <a:schemeClr val="tx1"/>
                </a:solidFill>
                <a:effectLst/>
                <a:latin typeface="+mn-lt"/>
                <a:ea typeface="+mn-ea"/>
                <a:cs typeface="+mn-cs"/>
              </a:rPr>
              <a:t>filter media</a:t>
            </a:r>
            <a:r>
              <a:rPr lang="en-US" sz="2400" kern="1200" dirty="0">
                <a:solidFill>
                  <a:schemeClr val="tx1"/>
                </a:solidFill>
                <a:effectLst/>
                <a:latin typeface="+mn-lt"/>
                <a:ea typeface="+mn-ea"/>
                <a:cs typeface="+mn-cs"/>
              </a:rPr>
              <a:t> is located directly inside the nozzle, protecting the rest of the train from heavy dust.</a:t>
            </a:r>
          </a:p>
          <a:p>
            <a:r>
              <a:rPr lang="en-US" sz="2400" b="1" kern="1200" dirty="0">
                <a:solidFill>
                  <a:schemeClr val="tx1"/>
                </a:solidFill>
                <a:effectLst/>
                <a:latin typeface="+mn-lt"/>
                <a:ea typeface="+mn-ea"/>
                <a:cs typeface="+mn-cs"/>
              </a:rPr>
              <a:t>(c) Cyclone Probe</a:t>
            </a:r>
            <a:r>
              <a:rPr lang="en-US" sz="2400" kern="1200" dirty="0">
                <a:solidFill>
                  <a:schemeClr val="tx1"/>
                </a:solidFill>
                <a:effectLst/>
                <a:latin typeface="+mn-lt"/>
                <a:ea typeface="+mn-ea"/>
                <a:cs typeface="+mn-cs"/>
              </a:rPr>
              <a:t>: Includes a </a:t>
            </a:r>
            <a:r>
              <a:rPr lang="en-US" sz="2400" b="1" kern="1200" dirty="0">
                <a:solidFill>
                  <a:schemeClr val="tx1"/>
                </a:solidFill>
                <a:effectLst/>
                <a:latin typeface="+mn-lt"/>
                <a:ea typeface="+mn-ea"/>
                <a:cs typeface="+mn-cs"/>
              </a:rPr>
              <a:t>cyclone and filter</a:t>
            </a:r>
            <a:r>
              <a:rPr lang="en-US" sz="2400" kern="1200" dirty="0">
                <a:solidFill>
                  <a:schemeClr val="tx1"/>
                </a:solidFill>
                <a:effectLst/>
                <a:latin typeface="+mn-lt"/>
                <a:ea typeface="+mn-ea"/>
                <a:cs typeface="+mn-cs"/>
              </a:rPr>
              <a:t> combination for separating larger particles before the sample enters the probe line.</a:t>
            </a:r>
          </a:p>
          <a:p>
            <a:r>
              <a:rPr lang="en-US" sz="2400" b="1" kern="1200" dirty="0">
                <a:solidFill>
                  <a:schemeClr val="tx1"/>
                </a:solidFill>
                <a:effectLst/>
                <a:latin typeface="+mn-lt"/>
                <a:ea typeface="+mn-ea"/>
                <a:cs typeface="+mn-cs"/>
              </a:rPr>
              <a:t>2. Separation and Collection Devices</a:t>
            </a:r>
          </a:p>
          <a:p>
            <a:r>
              <a:rPr lang="en-US" sz="2400" kern="1200" dirty="0">
                <a:solidFill>
                  <a:schemeClr val="tx1"/>
                </a:solidFill>
                <a:effectLst/>
                <a:latin typeface="+mn-lt"/>
                <a:ea typeface="+mn-ea"/>
                <a:cs typeface="+mn-cs"/>
              </a:rPr>
              <a:t>These components (Middle Left) remove particulates and chemical pollutants from the air stream:</a:t>
            </a:r>
          </a:p>
          <a:p>
            <a:r>
              <a:rPr lang="en-US" sz="2400" b="1" kern="1200" dirty="0">
                <a:solidFill>
                  <a:schemeClr val="tx1"/>
                </a:solidFill>
                <a:effectLst/>
                <a:latin typeface="+mn-lt"/>
                <a:ea typeface="+mn-ea"/>
                <a:cs typeface="+mn-cs"/>
              </a:rPr>
              <a:t>(d) Filter Media</a:t>
            </a:r>
            <a:r>
              <a:rPr lang="en-US" sz="2400" kern="1200" dirty="0">
                <a:solidFill>
                  <a:schemeClr val="tx1"/>
                </a:solidFill>
                <a:effectLst/>
                <a:latin typeface="+mn-lt"/>
                <a:ea typeface="+mn-ea"/>
                <a:cs typeface="+mn-cs"/>
              </a:rPr>
              <a:t>: May be </a:t>
            </a:r>
            <a:r>
              <a:rPr lang="en-US" sz="2400" b="1" kern="1200" dirty="0">
                <a:solidFill>
                  <a:schemeClr val="tx1"/>
                </a:solidFill>
                <a:effectLst/>
                <a:latin typeface="+mn-lt"/>
                <a:ea typeface="+mn-ea"/>
                <a:cs typeface="+mn-cs"/>
              </a:rPr>
              <a:t>heated to prevent condensation</a:t>
            </a:r>
            <a:r>
              <a:rPr lang="en-US" sz="2400" kern="1200" dirty="0">
                <a:solidFill>
                  <a:schemeClr val="tx1"/>
                </a:solidFill>
                <a:effectLst/>
                <a:latin typeface="+mn-lt"/>
                <a:ea typeface="+mn-ea"/>
                <a:cs typeface="+mn-cs"/>
              </a:rPr>
              <a:t> of moisture which could interfere with the sample.</a:t>
            </a:r>
          </a:p>
          <a:p>
            <a:r>
              <a:rPr lang="en-US" sz="2400" b="1" kern="1200" dirty="0">
                <a:solidFill>
                  <a:schemeClr val="tx1"/>
                </a:solidFill>
                <a:effectLst/>
                <a:latin typeface="+mn-lt"/>
                <a:ea typeface="+mn-ea"/>
                <a:cs typeface="+mn-cs"/>
              </a:rPr>
              <a:t>(e) Cyclone</a:t>
            </a:r>
            <a:r>
              <a:rPr lang="en-US" sz="2400" kern="1200" dirty="0">
                <a:solidFill>
                  <a:schemeClr val="tx1"/>
                </a:solidFill>
                <a:effectLst/>
                <a:latin typeface="+mn-lt"/>
                <a:ea typeface="+mn-ea"/>
                <a:cs typeface="+mn-cs"/>
              </a:rPr>
              <a:t>: Uses centrifugal force to separate solid materials.</a:t>
            </a:r>
          </a:p>
          <a:p>
            <a:r>
              <a:rPr lang="en-US" sz="2400" b="1" kern="1200" dirty="0">
                <a:solidFill>
                  <a:schemeClr val="tx1"/>
                </a:solidFill>
                <a:effectLst/>
                <a:latin typeface="+mn-lt"/>
                <a:ea typeface="+mn-ea"/>
                <a:cs typeface="+mn-cs"/>
              </a:rPr>
              <a:t>(f) Impingers/Bubblers</a:t>
            </a:r>
            <a:r>
              <a:rPr lang="en-US" sz="2400" kern="1200" dirty="0">
                <a:solidFill>
                  <a:schemeClr val="tx1"/>
                </a:solidFill>
                <a:effectLst/>
                <a:latin typeface="+mn-lt"/>
                <a:ea typeface="+mn-ea"/>
                <a:cs typeface="+mn-cs"/>
              </a:rPr>
              <a:t>: Glass containers often used in a </a:t>
            </a:r>
            <a:r>
              <a:rPr lang="en-US" sz="2400" b="1" kern="1200" dirty="0">
                <a:solidFill>
                  <a:schemeClr val="tx1"/>
                </a:solidFill>
                <a:effectLst/>
                <a:latin typeface="+mn-lt"/>
                <a:ea typeface="+mn-ea"/>
                <a:cs typeface="+mn-cs"/>
              </a:rPr>
              <a:t>temperature-controlled bath</a:t>
            </a:r>
            <a:r>
              <a:rPr lang="en-US" sz="2400" kern="1200" dirty="0">
                <a:solidFill>
                  <a:schemeClr val="tx1"/>
                </a:solidFill>
                <a:effectLst/>
                <a:latin typeface="+mn-lt"/>
                <a:ea typeface="+mn-ea"/>
                <a:cs typeface="+mn-cs"/>
              </a:rPr>
              <a:t> to absorb gaseous pollutants into a liquid.</a:t>
            </a:r>
          </a:p>
          <a:p>
            <a:r>
              <a:rPr lang="en-US" sz="2400" b="1" kern="1200" dirty="0">
                <a:solidFill>
                  <a:schemeClr val="tx1"/>
                </a:solidFill>
                <a:effectLst/>
                <a:latin typeface="+mn-lt"/>
                <a:ea typeface="+mn-ea"/>
                <a:cs typeface="+mn-cs"/>
              </a:rPr>
              <a:t>(g) Freeze-out Trap</a:t>
            </a:r>
            <a:r>
              <a:rPr lang="en-US" sz="2400" kern="1200" dirty="0">
                <a:solidFill>
                  <a:schemeClr val="tx1"/>
                </a:solidFill>
                <a:effectLst/>
                <a:latin typeface="+mn-lt"/>
                <a:ea typeface="+mn-ea"/>
                <a:cs typeface="+mn-cs"/>
              </a:rPr>
              <a:t>: Used to condense and collect pollutants by cooling them to very low temperatures.</a:t>
            </a:r>
          </a:p>
          <a:p>
            <a:r>
              <a:rPr lang="en-US" sz="2400" b="1" kern="1200" dirty="0">
                <a:solidFill>
                  <a:schemeClr val="tx1"/>
                </a:solidFill>
                <a:effectLst/>
                <a:latin typeface="+mn-lt"/>
                <a:ea typeface="+mn-ea"/>
                <a:cs typeface="+mn-cs"/>
              </a:rPr>
              <a:t>(h) Adsorption</a:t>
            </a:r>
            <a:r>
              <a:rPr lang="en-US" sz="2400" kern="1200" dirty="0">
                <a:solidFill>
                  <a:schemeClr val="tx1"/>
                </a:solidFill>
                <a:effectLst/>
                <a:latin typeface="+mn-lt"/>
                <a:ea typeface="+mn-ea"/>
                <a:cs typeface="+mn-cs"/>
              </a:rPr>
              <a:t>: Uses materials like </a:t>
            </a:r>
            <a:r>
              <a:rPr lang="en-US" sz="2400" b="1" kern="1200" dirty="0">
                <a:solidFill>
                  <a:schemeClr val="tx1"/>
                </a:solidFill>
                <a:effectLst/>
                <a:latin typeface="+mn-lt"/>
                <a:ea typeface="+mn-ea"/>
                <a:cs typeface="+mn-cs"/>
              </a:rPr>
              <a:t>Activated Carbon or Silica Gel</a:t>
            </a:r>
            <a:r>
              <a:rPr lang="en-US" sz="2400" kern="1200" dirty="0">
                <a:solidFill>
                  <a:schemeClr val="tx1"/>
                </a:solidFill>
                <a:effectLst/>
                <a:latin typeface="+mn-lt"/>
                <a:ea typeface="+mn-ea"/>
                <a:cs typeface="+mn-cs"/>
              </a:rPr>
              <a:t> to trap gas molecules on a solid surface.</a:t>
            </a:r>
          </a:p>
          <a:p>
            <a:r>
              <a:rPr lang="en-US" sz="2400" b="1" kern="1200" dirty="0">
                <a:solidFill>
                  <a:schemeClr val="tx1"/>
                </a:solidFill>
                <a:effectLst/>
                <a:latin typeface="+mn-lt"/>
                <a:ea typeface="+mn-ea"/>
                <a:cs typeface="+mn-cs"/>
              </a:rPr>
              <a:t>3. Gas Conditioning and Flow Measurement</a:t>
            </a:r>
          </a:p>
          <a:p>
            <a:r>
              <a:rPr lang="en-US" sz="2400" kern="1200" dirty="0">
                <a:solidFill>
                  <a:schemeClr val="tx1"/>
                </a:solidFill>
                <a:effectLst/>
                <a:latin typeface="+mn-lt"/>
                <a:ea typeface="+mn-ea"/>
                <a:cs typeface="+mn-cs"/>
              </a:rPr>
              <a:t>Before measuring the volume, the gas must be conditioned:</a:t>
            </a:r>
          </a:p>
          <a:p>
            <a:r>
              <a:rPr lang="en-US" sz="2400" b="1" kern="1200" dirty="0">
                <a:solidFill>
                  <a:schemeClr val="tx1"/>
                </a:solidFill>
                <a:effectLst/>
                <a:latin typeface="+mn-lt"/>
                <a:ea typeface="+mn-ea"/>
                <a:cs typeface="+mn-cs"/>
              </a:rPr>
              <a:t>(</a:t>
            </a:r>
            <a:r>
              <a:rPr lang="en-US" sz="2400" b="1" kern="1200" dirty="0" err="1">
                <a:solidFill>
                  <a:schemeClr val="tx1"/>
                </a:solidFill>
                <a:effectLst/>
                <a:latin typeface="+mn-lt"/>
                <a:ea typeface="+mn-ea"/>
                <a:cs typeface="+mn-cs"/>
              </a:rPr>
              <a:t>i</a:t>
            </a:r>
            <a:r>
              <a:rPr lang="en-US" sz="2400" b="1" kern="1200" dirty="0">
                <a:solidFill>
                  <a:schemeClr val="tx1"/>
                </a:solidFill>
                <a:effectLst/>
                <a:latin typeface="+mn-lt"/>
                <a:ea typeface="+mn-ea"/>
                <a:cs typeface="+mn-cs"/>
              </a:rPr>
              <a:t>) Condenser</a:t>
            </a:r>
            <a:r>
              <a:rPr lang="en-US" sz="2400" kern="1200" dirty="0">
                <a:solidFill>
                  <a:schemeClr val="tx1"/>
                </a:solidFill>
                <a:effectLst/>
                <a:latin typeface="+mn-lt"/>
                <a:ea typeface="+mn-ea"/>
                <a:cs typeface="+mn-cs"/>
              </a:rPr>
              <a:t>: Removes water vapor if required.</a:t>
            </a:r>
          </a:p>
          <a:p>
            <a:r>
              <a:rPr lang="en-US" sz="2400" b="1" kern="1200" dirty="0">
                <a:solidFill>
                  <a:schemeClr val="tx1"/>
                </a:solidFill>
                <a:effectLst/>
                <a:latin typeface="+mn-lt"/>
                <a:ea typeface="+mn-ea"/>
                <a:cs typeface="+mn-cs"/>
              </a:rPr>
              <a:t>(j) Orifice Flowmeter</a:t>
            </a:r>
            <a:r>
              <a:rPr lang="en-US" sz="2400" kern="1200" dirty="0">
                <a:solidFill>
                  <a:schemeClr val="tx1"/>
                </a:solidFill>
                <a:effectLst/>
                <a:latin typeface="+mn-lt"/>
                <a:ea typeface="+mn-ea"/>
                <a:cs typeface="+mn-cs"/>
              </a:rPr>
              <a:t>: Measures the </a:t>
            </a:r>
            <a:r>
              <a:rPr lang="en-US" sz="2400" b="1" kern="1200" dirty="0">
                <a:solidFill>
                  <a:schemeClr val="tx1"/>
                </a:solidFill>
                <a:effectLst/>
                <a:latin typeface="+mn-lt"/>
                <a:ea typeface="+mn-ea"/>
                <a:cs typeface="+mn-cs"/>
              </a:rPr>
              <a:t>pressure drop</a:t>
            </a:r>
            <a:r>
              <a:rPr lang="en-US" sz="2400" kern="1200" dirty="0">
                <a:solidFill>
                  <a:schemeClr val="tx1"/>
                </a:solidFill>
                <a:effectLst/>
                <a:latin typeface="+mn-lt"/>
                <a:ea typeface="+mn-ea"/>
                <a:cs typeface="+mn-cs"/>
              </a:rPr>
              <a:t> ($\Delta P$) to calculate the flow rate.</a:t>
            </a:r>
          </a:p>
          <a:p>
            <a:r>
              <a:rPr lang="en-US" sz="2400" b="1" kern="1200" dirty="0">
                <a:solidFill>
                  <a:schemeClr val="tx1"/>
                </a:solidFill>
                <a:effectLst/>
                <a:latin typeface="+mn-lt"/>
                <a:ea typeface="+mn-ea"/>
                <a:cs typeface="+mn-cs"/>
              </a:rPr>
              <a:t>(l) Rotameter</a:t>
            </a:r>
            <a:r>
              <a:rPr lang="en-US" sz="2400" kern="1200" dirty="0">
                <a:solidFill>
                  <a:schemeClr val="tx1"/>
                </a:solidFill>
                <a:effectLst/>
                <a:latin typeface="+mn-lt"/>
                <a:ea typeface="+mn-ea"/>
                <a:cs typeface="+mn-cs"/>
              </a:rPr>
              <a:t>: A simple visual device to monitor the </a:t>
            </a:r>
            <a:r>
              <a:rPr lang="en-US" sz="2400" b="1" kern="1200" dirty="0">
                <a:solidFill>
                  <a:schemeClr val="tx1"/>
                </a:solidFill>
                <a:effectLst/>
                <a:latin typeface="+mn-lt"/>
                <a:ea typeface="+mn-ea"/>
                <a:cs typeface="+mn-cs"/>
              </a:rPr>
              <a:t>instantaneous rate of flow</a:t>
            </a:r>
            <a:r>
              <a:rPr lang="en-US" sz="2400" kern="1200" dirty="0">
                <a:solidFill>
                  <a:schemeClr val="tx1"/>
                </a:solidFill>
                <a:effectLst/>
                <a:latin typeface="+mn-lt"/>
                <a:ea typeface="+mn-ea"/>
                <a:cs typeface="+mn-cs"/>
              </a:rPr>
              <a:t>.</a:t>
            </a:r>
          </a:p>
          <a:p>
            <a:r>
              <a:rPr lang="en-US" sz="2400" b="1" kern="1200" dirty="0">
                <a:solidFill>
                  <a:schemeClr val="tx1"/>
                </a:solidFill>
                <a:effectLst/>
                <a:latin typeface="+mn-lt"/>
                <a:ea typeface="+mn-ea"/>
                <a:cs typeface="+mn-cs"/>
              </a:rPr>
              <a:t>(m) Gas Meter</a:t>
            </a:r>
            <a:r>
              <a:rPr lang="en-US" sz="2400" kern="1200" dirty="0">
                <a:solidFill>
                  <a:schemeClr val="tx1"/>
                </a:solidFill>
                <a:effectLst/>
                <a:latin typeface="+mn-lt"/>
                <a:ea typeface="+mn-ea"/>
                <a:cs typeface="+mn-cs"/>
              </a:rPr>
              <a:t>: Specifically a </a:t>
            </a:r>
            <a:r>
              <a:rPr lang="en-US" sz="2400" b="1" kern="1200" dirty="0">
                <a:solidFill>
                  <a:schemeClr val="tx1"/>
                </a:solidFill>
                <a:effectLst/>
                <a:latin typeface="+mn-lt"/>
                <a:ea typeface="+mn-ea"/>
                <a:cs typeface="+mn-cs"/>
              </a:rPr>
              <a:t>dry gas meter</a:t>
            </a:r>
            <a:r>
              <a:rPr lang="en-US" sz="2400" kern="1200" dirty="0">
                <a:solidFill>
                  <a:schemeClr val="tx1"/>
                </a:solidFill>
                <a:effectLst/>
                <a:latin typeface="+mn-lt"/>
                <a:ea typeface="+mn-ea"/>
                <a:cs typeface="+mn-cs"/>
              </a:rPr>
              <a:t> used when the </a:t>
            </a:r>
            <a:r>
              <a:rPr lang="en-US" sz="2400" b="1" kern="1200" dirty="0">
                <a:solidFill>
                  <a:schemeClr val="tx1"/>
                </a:solidFill>
                <a:effectLst/>
                <a:latin typeface="+mn-lt"/>
                <a:ea typeface="+mn-ea"/>
                <a:cs typeface="+mn-cs"/>
              </a:rPr>
              <a:t>total volume</a:t>
            </a:r>
            <a:r>
              <a:rPr lang="en-US" sz="2400" kern="1200" dirty="0">
                <a:solidFill>
                  <a:schemeClr val="tx1"/>
                </a:solidFill>
                <a:effectLst/>
                <a:latin typeface="+mn-lt"/>
                <a:ea typeface="+mn-ea"/>
                <a:cs typeface="+mn-cs"/>
              </a:rPr>
              <a:t> of the sampled gas is required.</a:t>
            </a:r>
          </a:p>
          <a:p>
            <a:r>
              <a:rPr lang="en-US" sz="2400" b="1" kern="1200" dirty="0">
                <a:solidFill>
                  <a:schemeClr val="tx1"/>
                </a:solidFill>
                <a:effectLst/>
                <a:latin typeface="+mn-lt"/>
                <a:ea typeface="+mn-ea"/>
                <a:cs typeface="+mn-cs"/>
              </a:rPr>
              <a:t>4. Vacuum Sources (Prime Movers)</a:t>
            </a:r>
          </a:p>
          <a:p>
            <a:r>
              <a:rPr lang="en-US" sz="2400" kern="1200" dirty="0">
                <a:solidFill>
                  <a:schemeClr val="tx1"/>
                </a:solidFill>
                <a:effectLst/>
                <a:latin typeface="+mn-lt"/>
                <a:ea typeface="+mn-ea"/>
                <a:cs typeface="+mn-cs"/>
              </a:rPr>
              <a:t>The "suction" that pulls the gas through the system is provided by:</a:t>
            </a:r>
          </a:p>
          <a:p>
            <a:r>
              <a:rPr lang="en-US" sz="2400" b="1" kern="1200" dirty="0">
                <a:solidFill>
                  <a:schemeClr val="tx1"/>
                </a:solidFill>
                <a:effectLst/>
                <a:latin typeface="+mn-lt"/>
                <a:ea typeface="+mn-ea"/>
                <a:cs typeface="+mn-cs"/>
              </a:rPr>
              <a:t>(n) Pump</a:t>
            </a:r>
            <a:r>
              <a:rPr lang="en-US" sz="2400" kern="1200" dirty="0">
                <a:solidFill>
                  <a:schemeClr val="tx1"/>
                </a:solidFill>
                <a:effectLst/>
                <a:latin typeface="+mn-lt"/>
                <a:ea typeface="+mn-ea"/>
                <a:cs typeface="+mn-cs"/>
              </a:rPr>
              <a:t>: A standard mechanical vacuum pump.</a:t>
            </a:r>
          </a:p>
          <a:p>
            <a:r>
              <a:rPr lang="en-US" sz="2400" b="1" kern="1200" dirty="0">
                <a:solidFill>
                  <a:schemeClr val="tx1"/>
                </a:solidFill>
                <a:effectLst/>
                <a:latin typeface="+mn-lt"/>
                <a:ea typeface="+mn-ea"/>
                <a:cs typeface="+mn-cs"/>
              </a:rPr>
              <a:t>(o) Ejector</a:t>
            </a:r>
            <a:r>
              <a:rPr lang="en-US" sz="2400" kern="1200" dirty="0">
                <a:solidFill>
                  <a:schemeClr val="tx1"/>
                </a:solidFill>
                <a:effectLst/>
                <a:latin typeface="+mn-lt"/>
                <a:ea typeface="+mn-ea"/>
                <a:cs typeface="+mn-cs"/>
              </a:rPr>
              <a:t>: Uses high-pressure </a:t>
            </a:r>
            <a:r>
              <a:rPr lang="en-US" sz="2400" b="1" kern="1200" dirty="0">
                <a:solidFill>
                  <a:schemeClr val="tx1"/>
                </a:solidFill>
                <a:effectLst/>
                <a:latin typeface="+mn-lt"/>
                <a:ea typeface="+mn-ea"/>
                <a:cs typeface="+mn-cs"/>
              </a:rPr>
              <a:t>water, steam, or compressed air</a:t>
            </a:r>
            <a:r>
              <a:rPr lang="en-US" sz="2400" kern="1200" dirty="0">
                <a:solidFill>
                  <a:schemeClr val="tx1"/>
                </a:solidFill>
                <a:effectLst/>
                <a:latin typeface="+mn-lt"/>
                <a:ea typeface="+mn-ea"/>
                <a:cs typeface="+mn-cs"/>
              </a:rPr>
              <a:t> to create suction without moving mechanical parts.</a:t>
            </a:r>
          </a:p>
          <a:p>
            <a:endParaRPr lang="en-IN" dirty="0"/>
          </a:p>
        </p:txBody>
      </p:sp>
      <p:sp>
        <p:nvSpPr>
          <p:cNvPr id="4" name="Slide Number Placeholder 3"/>
          <p:cNvSpPr>
            <a:spLocks noGrp="1"/>
          </p:cNvSpPr>
          <p:nvPr>
            <p:ph type="sldNum" sz="quarter" idx="5"/>
          </p:nvPr>
        </p:nvSpPr>
        <p:spPr/>
        <p:txBody>
          <a:bodyPr/>
          <a:lstStyle/>
          <a:p>
            <a:fld id="{21B2AA4F-B828-4D7C-AFD3-893933DAFCB4}" type="slidenum">
              <a:rPr lang="en-US" smtClean="0"/>
              <a:t>62</a:t>
            </a:fld>
            <a:endParaRPr lang="en-US"/>
          </a:p>
        </p:txBody>
      </p:sp>
    </p:spTree>
    <p:extLst>
      <p:ext uri="{BB962C8B-B14F-4D97-AF65-F5344CB8AC3E}">
        <p14:creationId xmlns:p14="http://schemas.microsoft.com/office/powerpoint/2010/main" val="291016449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195638" y="566738"/>
            <a:ext cx="3194050" cy="1797050"/>
          </a:xfrm>
          <a:prstGeom prst="rect">
            <a:avLst/>
          </a:prstGeom>
        </p:spPr>
      </p:sp>
      <p:sp>
        <p:nvSpPr>
          <p:cNvPr id="3" name="Notes Placeholder 2"/>
          <p:cNvSpPr>
            <a:spLocks noGrp="1"/>
          </p:cNvSpPr>
          <p:nvPr>
            <p:ph type="body" idx="1"/>
          </p:nvPr>
        </p:nvSpPr>
        <p:spPr>
          <a:xfrm>
            <a:off x="123452" y="2564124"/>
            <a:ext cx="9838645" cy="2097919"/>
          </a:xfrm>
          <a:prstGeom prst="rect">
            <a:avLst/>
          </a:prstGeom>
        </p:spPr>
        <p:txBody>
          <a:bodyPr/>
          <a:lstStyle/>
          <a:p>
            <a:endParaRPr lang="en-IN"/>
          </a:p>
        </p:txBody>
      </p:sp>
      <p:sp>
        <p:nvSpPr>
          <p:cNvPr id="4" name="Slide Number Placeholder 3"/>
          <p:cNvSpPr>
            <a:spLocks noGrp="1"/>
          </p:cNvSpPr>
          <p:nvPr>
            <p:ph type="sldNum" sz="quarter" idx="5"/>
          </p:nvPr>
        </p:nvSpPr>
        <p:spPr/>
        <p:txBody>
          <a:bodyPr/>
          <a:lstStyle/>
          <a:p>
            <a:fld id="{21B2AA4F-B828-4D7C-AFD3-893933DAFCB4}" type="slidenum">
              <a:rPr lang="en-US" smtClean="0"/>
              <a:t>63</a:t>
            </a:fld>
            <a:endParaRPr lang="en-US"/>
          </a:p>
        </p:txBody>
      </p:sp>
    </p:spTree>
    <p:extLst>
      <p:ext uri="{BB962C8B-B14F-4D97-AF65-F5344CB8AC3E}">
        <p14:creationId xmlns:p14="http://schemas.microsoft.com/office/powerpoint/2010/main" val="3407409125"/>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195638" y="566738"/>
            <a:ext cx="3194050" cy="1797050"/>
          </a:xfrm>
          <a:prstGeom prst="rect">
            <a:avLst/>
          </a:prstGeom>
        </p:spPr>
      </p:sp>
      <p:sp>
        <p:nvSpPr>
          <p:cNvPr id="3" name="Notes Placeholder 2"/>
          <p:cNvSpPr>
            <a:spLocks noGrp="1"/>
          </p:cNvSpPr>
          <p:nvPr>
            <p:ph type="body" idx="1"/>
          </p:nvPr>
        </p:nvSpPr>
        <p:spPr>
          <a:xfrm>
            <a:off x="123452" y="2564124"/>
            <a:ext cx="9838645" cy="2097919"/>
          </a:xfrm>
          <a:prstGeom prst="rect">
            <a:avLst/>
          </a:prstGeom>
        </p:spPr>
        <p:txBody>
          <a:bodyPr/>
          <a:lstStyle/>
          <a:p>
            <a:r>
              <a:rPr lang="en-US" dirty="0"/>
              <a:t>when the nozzle velocity matches the stack velocity, the gas streamlines enter the probe straight and undisturbed. The ratio of dust to gas in your sample is identical to the ratio in the stack</a:t>
            </a:r>
            <a:endParaRPr lang="en-IN" dirty="0"/>
          </a:p>
        </p:txBody>
      </p:sp>
      <p:sp>
        <p:nvSpPr>
          <p:cNvPr id="4" name="Slide Number Placeholder 3"/>
          <p:cNvSpPr>
            <a:spLocks noGrp="1"/>
          </p:cNvSpPr>
          <p:nvPr>
            <p:ph type="sldNum" sz="quarter" idx="5"/>
          </p:nvPr>
        </p:nvSpPr>
        <p:spPr/>
        <p:txBody>
          <a:bodyPr/>
          <a:lstStyle/>
          <a:p>
            <a:fld id="{21B2AA4F-B828-4D7C-AFD3-893933DAFCB4}" type="slidenum">
              <a:rPr lang="en-US" smtClean="0"/>
              <a:t>64</a:t>
            </a:fld>
            <a:endParaRPr lang="en-US"/>
          </a:p>
        </p:txBody>
      </p:sp>
    </p:spTree>
    <p:extLst>
      <p:ext uri="{BB962C8B-B14F-4D97-AF65-F5344CB8AC3E}">
        <p14:creationId xmlns:p14="http://schemas.microsoft.com/office/powerpoint/2010/main" val="396499132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195638" y="566738"/>
            <a:ext cx="3194050" cy="1797050"/>
          </a:xfrm>
          <a:prstGeom prst="rect">
            <a:avLst/>
          </a:prstGeom>
        </p:spPr>
      </p:sp>
      <p:sp>
        <p:nvSpPr>
          <p:cNvPr id="3" name="Notes Placeholder 2"/>
          <p:cNvSpPr>
            <a:spLocks noGrp="1"/>
          </p:cNvSpPr>
          <p:nvPr>
            <p:ph type="body" idx="1"/>
          </p:nvPr>
        </p:nvSpPr>
        <p:spPr>
          <a:xfrm>
            <a:off x="123452" y="2564124"/>
            <a:ext cx="9838645" cy="2097919"/>
          </a:xfrm>
          <a:prstGeom prst="rect">
            <a:avLst/>
          </a:prstGeom>
        </p:spPr>
        <p:txBody>
          <a:bodyPr/>
          <a:lstStyle/>
          <a:p>
            <a:endParaRPr lang="en-IN"/>
          </a:p>
        </p:txBody>
      </p:sp>
      <p:sp>
        <p:nvSpPr>
          <p:cNvPr id="4" name="Slide Number Placeholder 3"/>
          <p:cNvSpPr>
            <a:spLocks noGrp="1"/>
          </p:cNvSpPr>
          <p:nvPr>
            <p:ph type="sldNum" sz="quarter" idx="5"/>
          </p:nvPr>
        </p:nvSpPr>
        <p:spPr/>
        <p:txBody>
          <a:bodyPr/>
          <a:lstStyle/>
          <a:p>
            <a:fld id="{21B2AA4F-B828-4D7C-AFD3-893933DAFCB4}" type="slidenum">
              <a:rPr lang="en-US" smtClean="0"/>
              <a:t>65</a:t>
            </a:fld>
            <a:endParaRPr lang="en-US"/>
          </a:p>
        </p:txBody>
      </p:sp>
    </p:spTree>
    <p:extLst>
      <p:ext uri="{BB962C8B-B14F-4D97-AF65-F5344CB8AC3E}">
        <p14:creationId xmlns:p14="http://schemas.microsoft.com/office/powerpoint/2010/main" val="298123194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195638" y="566738"/>
            <a:ext cx="3194050" cy="1797050"/>
          </a:xfrm>
          <a:prstGeom prst="rect">
            <a:avLst/>
          </a:prstGeom>
        </p:spPr>
      </p:sp>
      <p:sp>
        <p:nvSpPr>
          <p:cNvPr id="3" name="Notes Placeholder 2"/>
          <p:cNvSpPr>
            <a:spLocks noGrp="1"/>
          </p:cNvSpPr>
          <p:nvPr>
            <p:ph type="body" idx="1"/>
          </p:nvPr>
        </p:nvSpPr>
        <p:spPr>
          <a:xfrm>
            <a:off x="123452" y="2564124"/>
            <a:ext cx="9838645" cy="2097919"/>
          </a:xfrm>
          <a:prstGeom prst="rect">
            <a:avLst/>
          </a:prstGeom>
        </p:spPr>
        <p:txBody>
          <a:bodyPr/>
          <a:lstStyle/>
          <a:p>
            <a:endParaRPr lang="en-IN"/>
          </a:p>
        </p:txBody>
      </p:sp>
      <p:sp>
        <p:nvSpPr>
          <p:cNvPr id="4" name="Slide Number Placeholder 3"/>
          <p:cNvSpPr>
            <a:spLocks noGrp="1"/>
          </p:cNvSpPr>
          <p:nvPr>
            <p:ph type="sldNum" sz="quarter" idx="5"/>
          </p:nvPr>
        </p:nvSpPr>
        <p:spPr/>
        <p:txBody>
          <a:bodyPr/>
          <a:lstStyle/>
          <a:p>
            <a:fld id="{21B2AA4F-B828-4D7C-AFD3-893933DAFCB4}" type="slidenum">
              <a:rPr lang="en-US" smtClean="0"/>
              <a:t>66</a:t>
            </a:fld>
            <a:endParaRPr lang="en-US"/>
          </a:p>
        </p:txBody>
      </p:sp>
    </p:spTree>
    <p:extLst>
      <p:ext uri="{BB962C8B-B14F-4D97-AF65-F5344CB8AC3E}">
        <p14:creationId xmlns:p14="http://schemas.microsoft.com/office/powerpoint/2010/main" val="224187053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195638" y="566738"/>
            <a:ext cx="3194050" cy="1797050"/>
          </a:xfrm>
          <a:prstGeom prst="rect">
            <a:avLst/>
          </a:prstGeom>
        </p:spPr>
      </p:sp>
      <p:sp>
        <p:nvSpPr>
          <p:cNvPr id="3" name="Notes Placeholder 2"/>
          <p:cNvSpPr>
            <a:spLocks noGrp="1"/>
          </p:cNvSpPr>
          <p:nvPr>
            <p:ph type="body" idx="1"/>
          </p:nvPr>
        </p:nvSpPr>
        <p:spPr>
          <a:xfrm>
            <a:off x="123452" y="2564124"/>
            <a:ext cx="9838645" cy="2097919"/>
          </a:xfrm>
          <a:prstGeom prst="rect">
            <a:avLst/>
          </a:prstGeom>
        </p:spPr>
        <p:txBody>
          <a:bodyPr/>
          <a:lstStyle/>
          <a:p>
            <a:endParaRPr lang="en-IN"/>
          </a:p>
        </p:txBody>
      </p:sp>
      <p:sp>
        <p:nvSpPr>
          <p:cNvPr id="4" name="Slide Number Placeholder 3"/>
          <p:cNvSpPr>
            <a:spLocks noGrp="1"/>
          </p:cNvSpPr>
          <p:nvPr>
            <p:ph type="sldNum" sz="quarter" idx="5"/>
          </p:nvPr>
        </p:nvSpPr>
        <p:spPr/>
        <p:txBody>
          <a:bodyPr/>
          <a:lstStyle/>
          <a:p>
            <a:fld id="{21B2AA4F-B828-4D7C-AFD3-893933DAFCB4}" type="slidenum">
              <a:rPr lang="en-US" smtClean="0"/>
              <a:t>67</a:t>
            </a:fld>
            <a:endParaRPr lang="en-US"/>
          </a:p>
        </p:txBody>
      </p:sp>
    </p:spTree>
    <p:extLst>
      <p:ext uri="{BB962C8B-B14F-4D97-AF65-F5344CB8AC3E}">
        <p14:creationId xmlns:p14="http://schemas.microsoft.com/office/powerpoint/2010/main" val="148182673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195638" y="566738"/>
            <a:ext cx="3194050" cy="1797050"/>
          </a:xfrm>
          <a:prstGeom prst="rect">
            <a:avLst/>
          </a:prstGeom>
        </p:spPr>
      </p:sp>
      <p:sp>
        <p:nvSpPr>
          <p:cNvPr id="3" name="Notes Placeholder 2"/>
          <p:cNvSpPr>
            <a:spLocks noGrp="1"/>
          </p:cNvSpPr>
          <p:nvPr>
            <p:ph type="body" idx="1"/>
          </p:nvPr>
        </p:nvSpPr>
        <p:spPr>
          <a:xfrm>
            <a:off x="123452" y="2564124"/>
            <a:ext cx="9838645" cy="2097919"/>
          </a:xfrm>
          <a:prstGeom prst="rect">
            <a:avLst/>
          </a:prstGeom>
        </p:spPr>
        <p:txBody>
          <a:bodyPr/>
          <a:lstStyle/>
          <a:p>
            <a:endParaRPr lang="en-IN"/>
          </a:p>
        </p:txBody>
      </p:sp>
      <p:sp>
        <p:nvSpPr>
          <p:cNvPr id="4" name="Slide Number Placeholder 3"/>
          <p:cNvSpPr>
            <a:spLocks noGrp="1"/>
          </p:cNvSpPr>
          <p:nvPr>
            <p:ph type="sldNum" sz="quarter" idx="5"/>
          </p:nvPr>
        </p:nvSpPr>
        <p:spPr/>
        <p:txBody>
          <a:bodyPr/>
          <a:lstStyle/>
          <a:p>
            <a:fld id="{21B2AA4F-B828-4D7C-AFD3-893933DAFCB4}" type="slidenum">
              <a:rPr lang="en-US" smtClean="0"/>
              <a:t>68</a:t>
            </a:fld>
            <a:endParaRPr lang="en-US"/>
          </a:p>
        </p:txBody>
      </p:sp>
    </p:spTree>
    <p:extLst>
      <p:ext uri="{BB962C8B-B14F-4D97-AF65-F5344CB8AC3E}">
        <p14:creationId xmlns:p14="http://schemas.microsoft.com/office/powerpoint/2010/main" val="2820494500"/>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195638" y="566738"/>
            <a:ext cx="3194050" cy="1797050"/>
          </a:xfrm>
          <a:prstGeom prst="rect">
            <a:avLst/>
          </a:prstGeom>
        </p:spPr>
      </p:sp>
      <p:sp>
        <p:nvSpPr>
          <p:cNvPr id="3" name="Notes Placeholder 2"/>
          <p:cNvSpPr>
            <a:spLocks noGrp="1"/>
          </p:cNvSpPr>
          <p:nvPr>
            <p:ph type="body" idx="1"/>
          </p:nvPr>
        </p:nvSpPr>
        <p:spPr>
          <a:xfrm>
            <a:off x="123452" y="2564124"/>
            <a:ext cx="9838645" cy="2097919"/>
          </a:xfrm>
          <a:prstGeom prst="rect">
            <a:avLst/>
          </a:prstGeom>
        </p:spPr>
        <p:txBody>
          <a:bodyPr/>
          <a:lstStyle/>
          <a:p>
            <a:endParaRPr lang="en-IN"/>
          </a:p>
        </p:txBody>
      </p:sp>
      <p:sp>
        <p:nvSpPr>
          <p:cNvPr id="4" name="Slide Number Placeholder 3"/>
          <p:cNvSpPr>
            <a:spLocks noGrp="1"/>
          </p:cNvSpPr>
          <p:nvPr>
            <p:ph type="sldNum" sz="quarter" idx="5"/>
          </p:nvPr>
        </p:nvSpPr>
        <p:spPr/>
        <p:txBody>
          <a:bodyPr/>
          <a:lstStyle/>
          <a:p>
            <a:fld id="{21B2AA4F-B828-4D7C-AFD3-893933DAFCB4}" type="slidenum">
              <a:rPr lang="en-US" smtClean="0"/>
              <a:t>69</a:t>
            </a:fld>
            <a:endParaRPr lang="en-US"/>
          </a:p>
        </p:txBody>
      </p:sp>
    </p:spTree>
    <p:extLst>
      <p:ext uri="{BB962C8B-B14F-4D97-AF65-F5344CB8AC3E}">
        <p14:creationId xmlns:p14="http://schemas.microsoft.com/office/powerpoint/2010/main" val="269911696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195638" y="566738"/>
            <a:ext cx="3194050" cy="1797050"/>
          </a:xfrm>
          <a:prstGeom prst="rect">
            <a:avLst/>
          </a:prstGeom>
        </p:spPr>
      </p:sp>
      <p:sp>
        <p:nvSpPr>
          <p:cNvPr id="3" name="Notes Placeholder 2"/>
          <p:cNvSpPr>
            <a:spLocks noGrp="1"/>
          </p:cNvSpPr>
          <p:nvPr>
            <p:ph type="body" idx="1"/>
          </p:nvPr>
        </p:nvSpPr>
        <p:spPr>
          <a:xfrm>
            <a:off x="123452" y="2564124"/>
            <a:ext cx="9838645" cy="2097919"/>
          </a:xfrm>
          <a:prstGeom prst="rect">
            <a:avLst/>
          </a:prstGeom>
        </p:spPr>
        <p:txBody>
          <a:bodyPr/>
          <a:lstStyle/>
          <a:p>
            <a:endParaRPr lang="en-IN"/>
          </a:p>
        </p:txBody>
      </p:sp>
      <p:sp>
        <p:nvSpPr>
          <p:cNvPr id="4" name="Slide Number Placeholder 3"/>
          <p:cNvSpPr>
            <a:spLocks noGrp="1"/>
          </p:cNvSpPr>
          <p:nvPr>
            <p:ph type="sldNum" sz="quarter" idx="5"/>
          </p:nvPr>
        </p:nvSpPr>
        <p:spPr/>
        <p:txBody>
          <a:bodyPr/>
          <a:lstStyle/>
          <a:p>
            <a:fld id="{21B2AA4F-B828-4D7C-AFD3-893933DAFCB4}" type="slidenum">
              <a:rPr lang="en-US" smtClean="0"/>
              <a:t>70</a:t>
            </a:fld>
            <a:endParaRPr lang="en-US"/>
          </a:p>
        </p:txBody>
      </p:sp>
    </p:spTree>
    <p:extLst>
      <p:ext uri="{BB962C8B-B14F-4D97-AF65-F5344CB8AC3E}">
        <p14:creationId xmlns:p14="http://schemas.microsoft.com/office/powerpoint/2010/main" val="253520256"/>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195638" y="566738"/>
            <a:ext cx="3194050" cy="1797050"/>
          </a:xfrm>
          <a:prstGeom prst="rect">
            <a:avLst/>
          </a:prstGeom>
        </p:spPr>
      </p:sp>
      <p:sp>
        <p:nvSpPr>
          <p:cNvPr id="3" name="Notes Placeholder 2"/>
          <p:cNvSpPr>
            <a:spLocks noGrp="1"/>
          </p:cNvSpPr>
          <p:nvPr>
            <p:ph type="body" idx="1"/>
          </p:nvPr>
        </p:nvSpPr>
        <p:spPr>
          <a:xfrm>
            <a:off x="123452" y="2564124"/>
            <a:ext cx="9838645" cy="2097919"/>
          </a:xfrm>
          <a:prstGeom prst="rect">
            <a:avLst/>
          </a:prstGeom>
        </p:spPr>
        <p:txBody>
          <a:bodyPr/>
          <a:lstStyle/>
          <a:p>
            <a:endParaRPr lang="en-IN"/>
          </a:p>
        </p:txBody>
      </p:sp>
      <p:sp>
        <p:nvSpPr>
          <p:cNvPr id="4" name="Slide Number Placeholder 3"/>
          <p:cNvSpPr>
            <a:spLocks noGrp="1"/>
          </p:cNvSpPr>
          <p:nvPr>
            <p:ph type="sldNum" sz="quarter" idx="5"/>
          </p:nvPr>
        </p:nvSpPr>
        <p:spPr/>
        <p:txBody>
          <a:bodyPr/>
          <a:lstStyle/>
          <a:p>
            <a:fld id="{21B2AA4F-B828-4D7C-AFD3-893933DAFCB4}" type="slidenum">
              <a:rPr lang="en-US" smtClean="0"/>
              <a:t>71</a:t>
            </a:fld>
            <a:endParaRPr lang="en-US"/>
          </a:p>
        </p:txBody>
      </p:sp>
    </p:spTree>
    <p:extLst>
      <p:ext uri="{BB962C8B-B14F-4D97-AF65-F5344CB8AC3E}">
        <p14:creationId xmlns:p14="http://schemas.microsoft.com/office/powerpoint/2010/main" val="4097729538"/>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195638" y="566738"/>
            <a:ext cx="3194050" cy="1797050"/>
          </a:xfrm>
          <a:prstGeom prst="rect">
            <a:avLst/>
          </a:prstGeom>
        </p:spPr>
      </p:sp>
      <p:sp>
        <p:nvSpPr>
          <p:cNvPr id="3" name="Notes Placeholder 2"/>
          <p:cNvSpPr>
            <a:spLocks noGrp="1"/>
          </p:cNvSpPr>
          <p:nvPr>
            <p:ph type="body" idx="1"/>
          </p:nvPr>
        </p:nvSpPr>
        <p:spPr>
          <a:xfrm>
            <a:off x="123452" y="2564124"/>
            <a:ext cx="9838645" cy="2097919"/>
          </a:xfrm>
          <a:prstGeom prst="rect">
            <a:avLst/>
          </a:prstGeom>
        </p:spPr>
        <p:txBody>
          <a:bodyPr/>
          <a:lstStyle/>
          <a:p>
            <a:endParaRPr lang="en-IN"/>
          </a:p>
        </p:txBody>
      </p:sp>
      <p:sp>
        <p:nvSpPr>
          <p:cNvPr id="4" name="Slide Number Placeholder 3"/>
          <p:cNvSpPr>
            <a:spLocks noGrp="1"/>
          </p:cNvSpPr>
          <p:nvPr>
            <p:ph type="sldNum" sz="quarter" idx="5"/>
          </p:nvPr>
        </p:nvSpPr>
        <p:spPr/>
        <p:txBody>
          <a:bodyPr/>
          <a:lstStyle/>
          <a:p>
            <a:fld id="{21B2AA4F-B828-4D7C-AFD3-893933DAFCB4}" type="slidenum">
              <a:rPr lang="en-US" smtClean="0"/>
              <a:t>72</a:t>
            </a:fld>
            <a:endParaRPr lang="en-US"/>
          </a:p>
        </p:txBody>
      </p:sp>
    </p:spTree>
    <p:extLst>
      <p:ext uri="{BB962C8B-B14F-4D97-AF65-F5344CB8AC3E}">
        <p14:creationId xmlns:p14="http://schemas.microsoft.com/office/powerpoint/2010/main" val="402781237"/>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195638" y="566738"/>
            <a:ext cx="3194050" cy="1797050"/>
          </a:xfrm>
          <a:prstGeom prst="rect">
            <a:avLst/>
          </a:prstGeom>
        </p:spPr>
      </p:sp>
      <p:sp>
        <p:nvSpPr>
          <p:cNvPr id="3" name="Notes Placeholder 2"/>
          <p:cNvSpPr>
            <a:spLocks noGrp="1"/>
          </p:cNvSpPr>
          <p:nvPr>
            <p:ph type="body" idx="1"/>
          </p:nvPr>
        </p:nvSpPr>
        <p:spPr>
          <a:xfrm>
            <a:off x="123452" y="2564124"/>
            <a:ext cx="9838645" cy="2097919"/>
          </a:xfrm>
          <a:prstGeom prst="rect">
            <a:avLst/>
          </a:prstGeom>
        </p:spPr>
        <p:txBody>
          <a:bodyPr/>
          <a:lstStyle/>
          <a:p>
            <a:endParaRPr lang="en-IN"/>
          </a:p>
        </p:txBody>
      </p:sp>
      <p:sp>
        <p:nvSpPr>
          <p:cNvPr id="4" name="Slide Number Placeholder 3"/>
          <p:cNvSpPr>
            <a:spLocks noGrp="1"/>
          </p:cNvSpPr>
          <p:nvPr>
            <p:ph type="sldNum" sz="quarter" idx="5"/>
          </p:nvPr>
        </p:nvSpPr>
        <p:spPr/>
        <p:txBody>
          <a:bodyPr/>
          <a:lstStyle/>
          <a:p>
            <a:fld id="{21B2AA4F-B828-4D7C-AFD3-893933DAFCB4}" type="slidenum">
              <a:rPr lang="en-US" smtClean="0"/>
              <a:t>73</a:t>
            </a:fld>
            <a:endParaRPr lang="en-US"/>
          </a:p>
        </p:txBody>
      </p:sp>
    </p:spTree>
    <p:extLst>
      <p:ext uri="{BB962C8B-B14F-4D97-AF65-F5344CB8AC3E}">
        <p14:creationId xmlns:p14="http://schemas.microsoft.com/office/powerpoint/2010/main" val="3803780844"/>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195638" y="566738"/>
            <a:ext cx="3194050" cy="1797050"/>
          </a:xfrm>
          <a:prstGeom prst="rect">
            <a:avLst/>
          </a:prstGeom>
        </p:spPr>
      </p:sp>
      <p:sp>
        <p:nvSpPr>
          <p:cNvPr id="3" name="Notes Placeholder 2"/>
          <p:cNvSpPr>
            <a:spLocks noGrp="1"/>
          </p:cNvSpPr>
          <p:nvPr>
            <p:ph type="body" idx="1"/>
          </p:nvPr>
        </p:nvSpPr>
        <p:spPr>
          <a:xfrm>
            <a:off x="123452" y="2564124"/>
            <a:ext cx="9838645" cy="2097919"/>
          </a:xfrm>
          <a:prstGeom prst="rect">
            <a:avLst/>
          </a:prstGeom>
        </p:spPr>
        <p:txBody>
          <a:bodyPr/>
          <a:lstStyle/>
          <a:p>
            <a:endParaRPr lang="en-IN"/>
          </a:p>
        </p:txBody>
      </p:sp>
      <p:sp>
        <p:nvSpPr>
          <p:cNvPr id="4" name="Slide Number Placeholder 3"/>
          <p:cNvSpPr>
            <a:spLocks noGrp="1"/>
          </p:cNvSpPr>
          <p:nvPr>
            <p:ph type="sldNum" sz="quarter" idx="5"/>
          </p:nvPr>
        </p:nvSpPr>
        <p:spPr/>
        <p:txBody>
          <a:bodyPr/>
          <a:lstStyle/>
          <a:p>
            <a:fld id="{21B2AA4F-B828-4D7C-AFD3-893933DAFCB4}" type="slidenum">
              <a:rPr lang="en-US" smtClean="0"/>
              <a:t>74</a:t>
            </a:fld>
            <a:endParaRPr lang="en-US"/>
          </a:p>
        </p:txBody>
      </p:sp>
    </p:spTree>
    <p:extLst>
      <p:ext uri="{BB962C8B-B14F-4D97-AF65-F5344CB8AC3E}">
        <p14:creationId xmlns:p14="http://schemas.microsoft.com/office/powerpoint/2010/main" val="2349528677"/>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195638" y="566738"/>
            <a:ext cx="3194050" cy="1797050"/>
          </a:xfrm>
          <a:prstGeom prst="rect">
            <a:avLst/>
          </a:prstGeom>
        </p:spPr>
      </p:sp>
      <p:sp>
        <p:nvSpPr>
          <p:cNvPr id="3" name="Notes Placeholder 2"/>
          <p:cNvSpPr>
            <a:spLocks noGrp="1"/>
          </p:cNvSpPr>
          <p:nvPr>
            <p:ph type="body" idx="1"/>
          </p:nvPr>
        </p:nvSpPr>
        <p:spPr>
          <a:xfrm>
            <a:off x="123452" y="2564124"/>
            <a:ext cx="9838645" cy="2097919"/>
          </a:xfrm>
          <a:prstGeom prst="rect">
            <a:avLst/>
          </a:prstGeom>
        </p:spPr>
        <p:txBody>
          <a:bodyPr/>
          <a:lstStyle/>
          <a:p>
            <a:endParaRPr lang="en-IN"/>
          </a:p>
        </p:txBody>
      </p:sp>
      <p:sp>
        <p:nvSpPr>
          <p:cNvPr id="4" name="Slide Number Placeholder 3"/>
          <p:cNvSpPr>
            <a:spLocks noGrp="1"/>
          </p:cNvSpPr>
          <p:nvPr>
            <p:ph type="sldNum" sz="quarter" idx="5"/>
          </p:nvPr>
        </p:nvSpPr>
        <p:spPr/>
        <p:txBody>
          <a:bodyPr/>
          <a:lstStyle/>
          <a:p>
            <a:fld id="{21B2AA4F-B828-4D7C-AFD3-893933DAFCB4}" type="slidenum">
              <a:rPr lang="en-US" smtClean="0"/>
              <a:t>75</a:t>
            </a:fld>
            <a:endParaRPr lang="en-US"/>
          </a:p>
        </p:txBody>
      </p:sp>
    </p:spTree>
    <p:extLst>
      <p:ext uri="{BB962C8B-B14F-4D97-AF65-F5344CB8AC3E}">
        <p14:creationId xmlns:p14="http://schemas.microsoft.com/office/powerpoint/2010/main" val="2738521630"/>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195638" y="566738"/>
            <a:ext cx="3194050" cy="1797050"/>
          </a:xfrm>
          <a:prstGeom prst="rect">
            <a:avLst/>
          </a:prstGeom>
        </p:spPr>
      </p:sp>
      <p:sp>
        <p:nvSpPr>
          <p:cNvPr id="3" name="Notes Placeholder 2"/>
          <p:cNvSpPr>
            <a:spLocks noGrp="1"/>
          </p:cNvSpPr>
          <p:nvPr>
            <p:ph type="body" idx="1"/>
          </p:nvPr>
        </p:nvSpPr>
        <p:spPr>
          <a:xfrm>
            <a:off x="123452" y="2564124"/>
            <a:ext cx="9838645" cy="2097919"/>
          </a:xfrm>
          <a:prstGeom prst="rect">
            <a:avLst/>
          </a:prstGeom>
        </p:spPr>
        <p:txBody>
          <a:bodyPr/>
          <a:lstStyle/>
          <a:p>
            <a:endParaRPr lang="en-IN"/>
          </a:p>
        </p:txBody>
      </p:sp>
      <p:sp>
        <p:nvSpPr>
          <p:cNvPr id="4" name="Slide Number Placeholder 3"/>
          <p:cNvSpPr>
            <a:spLocks noGrp="1"/>
          </p:cNvSpPr>
          <p:nvPr>
            <p:ph type="sldNum" sz="quarter" idx="5"/>
          </p:nvPr>
        </p:nvSpPr>
        <p:spPr/>
        <p:txBody>
          <a:bodyPr/>
          <a:lstStyle/>
          <a:p>
            <a:fld id="{21B2AA4F-B828-4D7C-AFD3-893933DAFCB4}" type="slidenum">
              <a:rPr lang="en-US" smtClean="0"/>
              <a:t>76</a:t>
            </a:fld>
            <a:endParaRPr lang="en-US"/>
          </a:p>
        </p:txBody>
      </p:sp>
    </p:spTree>
    <p:extLst>
      <p:ext uri="{BB962C8B-B14F-4D97-AF65-F5344CB8AC3E}">
        <p14:creationId xmlns:p14="http://schemas.microsoft.com/office/powerpoint/2010/main" val="2206499478"/>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4178B0-8C38-7C0B-CF73-634F6EFE83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57103B-F811-EC4E-DBD1-8299011F8505}"/>
              </a:ext>
            </a:extLst>
          </p:cNvPr>
          <p:cNvSpPr>
            <a:spLocks noGrp="1" noRot="1" noChangeAspect="1"/>
          </p:cNvSpPr>
          <p:nvPr>
            <p:ph type="sldImg"/>
          </p:nvPr>
        </p:nvSpPr>
        <p:spPr>
          <a:xfrm>
            <a:off x="3195638" y="566738"/>
            <a:ext cx="3194050" cy="1797050"/>
          </a:xfrm>
          <a:prstGeom prst="rect">
            <a:avLst/>
          </a:prstGeom>
        </p:spPr>
      </p:sp>
      <p:sp>
        <p:nvSpPr>
          <p:cNvPr id="3" name="Notes Placeholder 2">
            <a:extLst>
              <a:ext uri="{FF2B5EF4-FFF2-40B4-BE49-F238E27FC236}">
                <a16:creationId xmlns:a16="http://schemas.microsoft.com/office/drawing/2014/main" id="{76E09C3E-609C-C249-5237-B8F5CBF4DC96}"/>
              </a:ext>
            </a:extLst>
          </p:cNvPr>
          <p:cNvSpPr>
            <a:spLocks noGrp="1"/>
          </p:cNvSpPr>
          <p:nvPr>
            <p:ph type="body" idx="1"/>
          </p:nvPr>
        </p:nvSpPr>
        <p:spPr>
          <a:xfrm>
            <a:off x="123452" y="2564124"/>
            <a:ext cx="9838645" cy="2097919"/>
          </a:xfrm>
          <a:prstGeom prst="rect">
            <a:avLst/>
          </a:prstGeom>
        </p:spPr>
        <p:txBody>
          <a:bodyPr/>
          <a:lstStyle/>
          <a:p>
            <a:endParaRPr lang="en-IN"/>
          </a:p>
        </p:txBody>
      </p:sp>
      <p:sp>
        <p:nvSpPr>
          <p:cNvPr id="4" name="Slide Number Placeholder 3">
            <a:extLst>
              <a:ext uri="{FF2B5EF4-FFF2-40B4-BE49-F238E27FC236}">
                <a16:creationId xmlns:a16="http://schemas.microsoft.com/office/drawing/2014/main" id="{75902956-A39E-7FC9-4562-7ED1319BEA3E}"/>
              </a:ext>
            </a:extLst>
          </p:cNvPr>
          <p:cNvSpPr>
            <a:spLocks noGrp="1"/>
          </p:cNvSpPr>
          <p:nvPr>
            <p:ph type="sldNum" sz="quarter" idx="5"/>
          </p:nvPr>
        </p:nvSpPr>
        <p:spPr/>
        <p:txBody>
          <a:bodyPr/>
          <a:lstStyle/>
          <a:p>
            <a:fld id="{21B2AA4F-B828-4D7C-AFD3-893933DAFCB4}" type="slidenum">
              <a:rPr lang="en-US" smtClean="0"/>
              <a:t>77</a:t>
            </a:fld>
            <a:endParaRPr lang="en-US"/>
          </a:p>
        </p:txBody>
      </p:sp>
    </p:spTree>
    <p:extLst>
      <p:ext uri="{BB962C8B-B14F-4D97-AF65-F5344CB8AC3E}">
        <p14:creationId xmlns:p14="http://schemas.microsoft.com/office/powerpoint/2010/main" val="3006760129"/>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195638" y="566738"/>
            <a:ext cx="3194050" cy="1797050"/>
          </a:xfrm>
          <a:prstGeom prst="rect">
            <a:avLst/>
          </a:prstGeom>
        </p:spPr>
      </p:sp>
      <p:sp>
        <p:nvSpPr>
          <p:cNvPr id="3" name="Notes Placeholder 2"/>
          <p:cNvSpPr>
            <a:spLocks noGrp="1"/>
          </p:cNvSpPr>
          <p:nvPr>
            <p:ph type="body" idx="1"/>
          </p:nvPr>
        </p:nvSpPr>
        <p:spPr>
          <a:xfrm>
            <a:off x="123452" y="2564124"/>
            <a:ext cx="9838645" cy="2097919"/>
          </a:xfrm>
          <a:prstGeom prst="rect">
            <a:avLst/>
          </a:prstGeom>
        </p:spPr>
        <p:txBody>
          <a:bodyPr/>
          <a:lstStyle/>
          <a:p>
            <a:endParaRPr lang="en-IN"/>
          </a:p>
        </p:txBody>
      </p:sp>
      <p:sp>
        <p:nvSpPr>
          <p:cNvPr id="4" name="Slide Number Placeholder 3"/>
          <p:cNvSpPr>
            <a:spLocks noGrp="1"/>
          </p:cNvSpPr>
          <p:nvPr>
            <p:ph type="sldNum" sz="quarter" idx="5"/>
          </p:nvPr>
        </p:nvSpPr>
        <p:spPr/>
        <p:txBody>
          <a:bodyPr/>
          <a:lstStyle/>
          <a:p>
            <a:fld id="{21B2AA4F-B828-4D7C-AFD3-893933DAFCB4}" type="slidenum">
              <a:rPr lang="en-US" smtClean="0"/>
              <a:t>78</a:t>
            </a:fld>
            <a:endParaRPr lang="en-US"/>
          </a:p>
        </p:txBody>
      </p:sp>
    </p:spTree>
    <p:extLst>
      <p:ext uri="{BB962C8B-B14F-4D97-AF65-F5344CB8AC3E}">
        <p14:creationId xmlns:p14="http://schemas.microsoft.com/office/powerpoint/2010/main" val="169141836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195638" y="566738"/>
            <a:ext cx="3194050" cy="1797050"/>
          </a:xfrm>
          <a:prstGeom prst="rect">
            <a:avLst/>
          </a:prstGeom>
        </p:spPr>
      </p:sp>
      <p:sp>
        <p:nvSpPr>
          <p:cNvPr id="3" name="Notes Placeholder 2"/>
          <p:cNvSpPr>
            <a:spLocks noGrp="1"/>
          </p:cNvSpPr>
          <p:nvPr>
            <p:ph type="body" idx="1"/>
          </p:nvPr>
        </p:nvSpPr>
        <p:spPr>
          <a:xfrm>
            <a:off x="123452" y="2564124"/>
            <a:ext cx="9838645" cy="2097919"/>
          </a:xfrm>
          <a:prstGeom prst="rect">
            <a:avLst/>
          </a:prstGeom>
        </p:spPr>
        <p:txBody>
          <a:bodyPr/>
          <a:lstStyle/>
          <a:p>
            <a:endParaRPr lang="en-IN"/>
          </a:p>
        </p:txBody>
      </p:sp>
      <p:sp>
        <p:nvSpPr>
          <p:cNvPr id="4" name="Slide Number Placeholder 3"/>
          <p:cNvSpPr>
            <a:spLocks noGrp="1"/>
          </p:cNvSpPr>
          <p:nvPr>
            <p:ph type="sldNum" sz="quarter" idx="5"/>
          </p:nvPr>
        </p:nvSpPr>
        <p:spPr/>
        <p:txBody>
          <a:bodyPr/>
          <a:lstStyle/>
          <a:p>
            <a:fld id="{21B2AA4F-B828-4D7C-AFD3-893933DAFCB4}" type="slidenum">
              <a:rPr lang="en-US" smtClean="0"/>
              <a:t>79</a:t>
            </a:fld>
            <a:endParaRPr lang="en-US"/>
          </a:p>
        </p:txBody>
      </p:sp>
    </p:spTree>
    <p:extLst>
      <p:ext uri="{BB962C8B-B14F-4D97-AF65-F5344CB8AC3E}">
        <p14:creationId xmlns:p14="http://schemas.microsoft.com/office/powerpoint/2010/main" val="2849065739"/>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195638" y="566738"/>
            <a:ext cx="3194050" cy="1797050"/>
          </a:xfrm>
          <a:prstGeom prst="rect">
            <a:avLst/>
          </a:prstGeom>
        </p:spPr>
      </p:sp>
      <p:sp>
        <p:nvSpPr>
          <p:cNvPr id="3" name="Notes Placeholder 2"/>
          <p:cNvSpPr>
            <a:spLocks noGrp="1"/>
          </p:cNvSpPr>
          <p:nvPr>
            <p:ph type="body" idx="1"/>
          </p:nvPr>
        </p:nvSpPr>
        <p:spPr>
          <a:xfrm>
            <a:off x="123452" y="2564124"/>
            <a:ext cx="9838645" cy="2097919"/>
          </a:xfrm>
          <a:prstGeom prst="rect">
            <a:avLst/>
          </a:prstGeom>
        </p:spPr>
        <p:txBody>
          <a:bodyPr/>
          <a:lstStyle/>
          <a:p>
            <a:endParaRPr lang="en-IN"/>
          </a:p>
        </p:txBody>
      </p:sp>
      <p:sp>
        <p:nvSpPr>
          <p:cNvPr id="4" name="Slide Number Placeholder 3"/>
          <p:cNvSpPr>
            <a:spLocks noGrp="1"/>
          </p:cNvSpPr>
          <p:nvPr>
            <p:ph type="sldNum" sz="quarter" idx="5"/>
          </p:nvPr>
        </p:nvSpPr>
        <p:spPr/>
        <p:txBody>
          <a:bodyPr/>
          <a:lstStyle/>
          <a:p>
            <a:fld id="{21B2AA4F-B828-4D7C-AFD3-893933DAFCB4}" type="slidenum">
              <a:rPr lang="en-US" smtClean="0"/>
              <a:t>80</a:t>
            </a:fld>
            <a:endParaRPr lang="en-US"/>
          </a:p>
        </p:txBody>
      </p:sp>
    </p:spTree>
    <p:extLst>
      <p:ext uri="{BB962C8B-B14F-4D97-AF65-F5344CB8AC3E}">
        <p14:creationId xmlns:p14="http://schemas.microsoft.com/office/powerpoint/2010/main" val="1576381188"/>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195638" y="566738"/>
            <a:ext cx="3194050" cy="1797050"/>
          </a:xfrm>
          <a:prstGeom prst="rect">
            <a:avLst/>
          </a:prstGeom>
        </p:spPr>
      </p:sp>
      <p:sp>
        <p:nvSpPr>
          <p:cNvPr id="3" name="Notes Placeholder 2"/>
          <p:cNvSpPr>
            <a:spLocks noGrp="1"/>
          </p:cNvSpPr>
          <p:nvPr>
            <p:ph type="body" idx="1"/>
          </p:nvPr>
        </p:nvSpPr>
        <p:spPr>
          <a:xfrm>
            <a:off x="123452" y="2564124"/>
            <a:ext cx="9838645" cy="2097919"/>
          </a:xfrm>
          <a:prstGeom prst="rect">
            <a:avLst/>
          </a:prstGeom>
        </p:spPr>
        <p:txBody>
          <a:bodyPr/>
          <a:lstStyle/>
          <a:p>
            <a:endParaRPr lang="en-IN"/>
          </a:p>
        </p:txBody>
      </p:sp>
      <p:sp>
        <p:nvSpPr>
          <p:cNvPr id="4" name="Slide Number Placeholder 3"/>
          <p:cNvSpPr>
            <a:spLocks noGrp="1"/>
          </p:cNvSpPr>
          <p:nvPr>
            <p:ph type="sldNum" sz="quarter" idx="5"/>
          </p:nvPr>
        </p:nvSpPr>
        <p:spPr/>
        <p:txBody>
          <a:bodyPr/>
          <a:lstStyle/>
          <a:p>
            <a:fld id="{21B2AA4F-B828-4D7C-AFD3-893933DAFCB4}" type="slidenum">
              <a:rPr lang="en-US" smtClean="0"/>
              <a:t>81</a:t>
            </a:fld>
            <a:endParaRPr lang="en-US"/>
          </a:p>
        </p:txBody>
      </p:sp>
    </p:spTree>
    <p:extLst>
      <p:ext uri="{BB962C8B-B14F-4D97-AF65-F5344CB8AC3E}">
        <p14:creationId xmlns:p14="http://schemas.microsoft.com/office/powerpoint/2010/main" val="2213469920"/>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195638" y="566738"/>
            <a:ext cx="3194050" cy="1797050"/>
          </a:xfrm>
          <a:prstGeom prst="rect">
            <a:avLst/>
          </a:prstGeom>
        </p:spPr>
      </p:sp>
      <p:sp>
        <p:nvSpPr>
          <p:cNvPr id="3" name="Notes Placeholder 2"/>
          <p:cNvSpPr>
            <a:spLocks noGrp="1"/>
          </p:cNvSpPr>
          <p:nvPr>
            <p:ph type="body" idx="1"/>
          </p:nvPr>
        </p:nvSpPr>
        <p:spPr>
          <a:xfrm>
            <a:off x="123452" y="2564124"/>
            <a:ext cx="9838645" cy="2097919"/>
          </a:xfrm>
          <a:prstGeom prst="rect">
            <a:avLst/>
          </a:prstGeom>
        </p:spPr>
        <p:txBody>
          <a:bodyPr/>
          <a:lstStyle/>
          <a:p>
            <a:endParaRPr lang="en-IN"/>
          </a:p>
        </p:txBody>
      </p:sp>
      <p:sp>
        <p:nvSpPr>
          <p:cNvPr id="4" name="Slide Number Placeholder 3"/>
          <p:cNvSpPr>
            <a:spLocks noGrp="1"/>
          </p:cNvSpPr>
          <p:nvPr>
            <p:ph type="sldNum" sz="quarter" idx="5"/>
          </p:nvPr>
        </p:nvSpPr>
        <p:spPr/>
        <p:txBody>
          <a:bodyPr/>
          <a:lstStyle/>
          <a:p>
            <a:fld id="{21B2AA4F-B828-4D7C-AFD3-893933DAFCB4}" type="slidenum">
              <a:rPr lang="en-US" smtClean="0"/>
              <a:t>82</a:t>
            </a:fld>
            <a:endParaRPr lang="en-US"/>
          </a:p>
        </p:txBody>
      </p:sp>
    </p:spTree>
    <p:extLst>
      <p:ext uri="{BB962C8B-B14F-4D97-AF65-F5344CB8AC3E}">
        <p14:creationId xmlns:p14="http://schemas.microsoft.com/office/powerpoint/2010/main" val="264197953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195638" y="566738"/>
            <a:ext cx="3194050" cy="1797050"/>
          </a:xfrm>
          <a:prstGeom prst="rect">
            <a:avLst/>
          </a:prstGeom>
        </p:spPr>
      </p:sp>
      <p:sp>
        <p:nvSpPr>
          <p:cNvPr id="3" name="Notes Placeholder 2"/>
          <p:cNvSpPr>
            <a:spLocks noGrp="1"/>
          </p:cNvSpPr>
          <p:nvPr>
            <p:ph type="body" idx="1"/>
          </p:nvPr>
        </p:nvSpPr>
        <p:spPr>
          <a:xfrm>
            <a:off x="123452" y="2564124"/>
            <a:ext cx="9838645" cy="2097919"/>
          </a:xfrm>
          <a:prstGeom prst="rect">
            <a:avLst/>
          </a:prstGeom>
        </p:spPr>
        <p:txBody>
          <a:bodyPr/>
          <a:lstStyle/>
          <a:p>
            <a:endParaRPr lang="en-IN"/>
          </a:p>
        </p:txBody>
      </p:sp>
      <p:sp>
        <p:nvSpPr>
          <p:cNvPr id="4" name="Slide Number Placeholder 3"/>
          <p:cNvSpPr>
            <a:spLocks noGrp="1"/>
          </p:cNvSpPr>
          <p:nvPr>
            <p:ph type="sldNum" sz="quarter" idx="5"/>
          </p:nvPr>
        </p:nvSpPr>
        <p:spPr/>
        <p:txBody>
          <a:bodyPr/>
          <a:lstStyle/>
          <a:p>
            <a:fld id="{21B2AA4F-B828-4D7C-AFD3-893933DAFCB4}" type="slidenum">
              <a:rPr lang="en-US" smtClean="0"/>
              <a:t>83</a:t>
            </a:fld>
            <a:endParaRPr lang="en-US"/>
          </a:p>
        </p:txBody>
      </p:sp>
    </p:spTree>
    <p:extLst>
      <p:ext uri="{BB962C8B-B14F-4D97-AF65-F5344CB8AC3E}">
        <p14:creationId xmlns:p14="http://schemas.microsoft.com/office/powerpoint/2010/main" val="393664542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195638" y="566738"/>
            <a:ext cx="3194050" cy="1797050"/>
          </a:xfrm>
          <a:prstGeom prst="rect">
            <a:avLst/>
          </a:prstGeom>
        </p:spPr>
      </p:sp>
      <p:sp>
        <p:nvSpPr>
          <p:cNvPr id="3" name="Notes Placeholder 2"/>
          <p:cNvSpPr>
            <a:spLocks noGrp="1"/>
          </p:cNvSpPr>
          <p:nvPr>
            <p:ph type="body" idx="1"/>
          </p:nvPr>
        </p:nvSpPr>
        <p:spPr>
          <a:xfrm>
            <a:off x="123452" y="2564124"/>
            <a:ext cx="9838645" cy="2097919"/>
          </a:xfrm>
          <a:prstGeom prst="rect">
            <a:avLst/>
          </a:prstGeom>
        </p:spPr>
        <p:txBody>
          <a:bodyPr/>
          <a:lstStyle/>
          <a:p>
            <a:endParaRPr lang="en-IN"/>
          </a:p>
        </p:txBody>
      </p:sp>
      <p:sp>
        <p:nvSpPr>
          <p:cNvPr id="4" name="Slide Number Placeholder 3"/>
          <p:cNvSpPr>
            <a:spLocks noGrp="1"/>
          </p:cNvSpPr>
          <p:nvPr>
            <p:ph type="sldNum" sz="quarter" idx="5"/>
          </p:nvPr>
        </p:nvSpPr>
        <p:spPr/>
        <p:txBody>
          <a:bodyPr/>
          <a:lstStyle/>
          <a:p>
            <a:fld id="{21B2AA4F-B828-4D7C-AFD3-893933DAFCB4}" type="slidenum">
              <a:rPr lang="en-US" smtClean="0"/>
              <a:t>84</a:t>
            </a:fld>
            <a:endParaRPr lang="en-US"/>
          </a:p>
        </p:txBody>
      </p:sp>
    </p:spTree>
    <p:extLst>
      <p:ext uri="{BB962C8B-B14F-4D97-AF65-F5344CB8AC3E}">
        <p14:creationId xmlns:p14="http://schemas.microsoft.com/office/powerpoint/2010/main" val="1794876706"/>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195638" y="566738"/>
            <a:ext cx="3194050" cy="1797050"/>
          </a:xfrm>
          <a:prstGeom prst="rect">
            <a:avLst/>
          </a:prstGeom>
        </p:spPr>
      </p:sp>
      <p:sp>
        <p:nvSpPr>
          <p:cNvPr id="3" name="Notes Placeholder 2"/>
          <p:cNvSpPr>
            <a:spLocks noGrp="1"/>
          </p:cNvSpPr>
          <p:nvPr>
            <p:ph type="body" idx="1"/>
          </p:nvPr>
        </p:nvSpPr>
        <p:spPr>
          <a:xfrm>
            <a:off x="123452" y="2564124"/>
            <a:ext cx="9838645" cy="2097919"/>
          </a:xfrm>
          <a:prstGeom prst="rect">
            <a:avLst/>
          </a:prstGeom>
        </p:spPr>
        <p:txBody>
          <a:bodyPr/>
          <a:lstStyle/>
          <a:p>
            <a:endParaRPr lang="en-IN"/>
          </a:p>
        </p:txBody>
      </p:sp>
      <p:sp>
        <p:nvSpPr>
          <p:cNvPr id="4" name="Slide Number Placeholder 3"/>
          <p:cNvSpPr>
            <a:spLocks noGrp="1"/>
          </p:cNvSpPr>
          <p:nvPr>
            <p:ph type="sldNum" sz="quarter" idx="5"/>
          </p:nvPr>
        </p:nvSpPr>
        <p:spPr/>
        <p:txBody>
          <a:bodyPr/>
          <a:lstStyle/>
          <a:p>
            <a:fld id="{21B2AA4F-B828-4D7C-AFD3-893933DAFCB4}" type="slidenum">
              <a:rPr lang="en-US" smtClean="0"/>
              <a:t>85</a:t>
            </a:fld>
            <a:endParaRPr lang="en-US"/>
          </a:p>
        </p:txBody>
      </p:sp>
    </p:spTree>
    <p:extLst>
      <p:ext uri="{BB962C8B-B14F-4D97-AF65-F5344CB8AC3E}">
        <p14:creationId xmlns:p14="http://schemas.microsoft.com/office/powerpoint/2010/main" val="2795215572"/>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195638" y="566738"/>
            <a:ext cx="3194050" cy="1797050"/>
          </a:xfrm>
          <a:prstGeom prst="rect">
            <a:avLst/>
          </a:prstGeom>
        </p:spPr>
      </p:sp>
      <p:sp>
        <p:nvSpPr>
          <p:cNvPr id="3" name="Notes Placeholder 2"/>
          <p:cNvSpPr>
            <a:spLocks noGrp="1"/>
          </p:cNvSpPr>
          <p:nvPr>
            <p:ph type="body" idx="1"/>
          </p:nvPr>
        </p:nvSpPr>
        <p:spPr>
          <a:xfrm>
            <a:off x="123452" y="2564124"/>
            <a:ext cx="9838645" cy="2097919"/>
          </a:xfrm>
          <a:prstGeom prst="rect">
            <a:avLst/>
          </a:prstGeom>
        </p:spPr>
        <p:txBody>
          <a:bodyPr/>
          <a:lstStyle/>
          <a:p>
            <a:endParaRPr lang="en-IN"/>
          </a:p>
        </p:txBody>
      </p:sp>
      <p:sp>
        <p:nvSpPr>
          <p:cNvPr id="4" name="Slide Number Placeholder 3"/>
          <p:cNvSpPr>
            <a:spLocks noGrp="1"/>
          </p:cNvSpPr>
          <p:nvPr>
            <p:ph type="sldNum" sz="quarter" idx="5"/>
          </p:nvPr>
        </p:nvSpPr>
        <p:spPr/>
        <p:txBody>
          <a:bodyPr/>
          <a:lstStyle/>
          <a:p>
            <a:fld id="{21B2AA4F-B828-4D7C-AFD3-893933DAFCB4}" type="slidenum">
              <a:rPr lang="en-US" smtClean="0"/>
              <a:t>86</a:t>
            </a:fld>
            <a:endParaRPr lang="en-US"/>
          </a:p>
        </p:txBody>
      </p:sp>
    </p:spTree>
    <p:extLst>
      <p:ext uri="{BB962C8B-B14F-4D97-AF65-F5344CB8AC3E}">
        <p14:creationId xmlns:p14="http://schemas.microsoft.com/office/powerpoint/2010/main" val="3262969468"/>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195638" y="566738"/>
            <a:ext cx="3194050" cy="1797050"/>
          </a:xfrm>
          <a:prstGeom prst="rect">
            <a:avLst/>
          </a:prstGeom>
        </p:spPr>
      </p:sp>
      <p:sp>
        <p:nvSpPr>
          <p:cNvPr id="3" name="Notes Placeholder 2"/>
          <p:cNvSpPr>
            <a:spLocks noGrp="1"/>
          </p:cNvSpPr>
          <p:nvPr>
            <p:ph type="body" idx="1"/>
          </p:nvPr>
        </p:nvSpPr>
        <p:spPr>
          <a:xfrm>
            <a:off x="123452" y="2564124"/>
            <a:ext cx="9838645" cy="2097919"/>
          </a:xfrm>
          <a:prstGeom prst="rect">
            <a:avLst/>
          </a:prstGeom>
        </p:spPr>
        <p:txBody>
          <a:bodyPr/>
          <a:lstStyle/>
          <a:p>
            <a:endParaRPr lang="en-IN"/>
          </a:p>
        </p:txBody>
      </p:sp>
      <p:sp>
        <p:nvSpPr>
          <p:cNvPr id="4" name="Slide Number Placeholder 3"/>
          <p:cNvSpPr>
            <a:spLocks noGrp="1"/>
          </p:cNvSpPr>
          <p:nvPr>
            <p:ph type="sldNum" sz="quarter" idx="5"/>
          </p:nvPr>
        </p:nvSpPr>
        <p:spPr/>
        <p:txBody>
          <a:bodyPr/>
          <a:lstStyle/>
          <a:p>
            <a:fld id="{21B2AA4F-B828-4D7C-AFD3-893933DAFCB4}" type="slidenum">
              <a:rPr lang="en-US" smtClean="0"/>
              <a:t>87</a:t>
            </a:fld>
            <a:endParaRPr lang="en-US"/>
          </a:p>
        </p:txBody>
      </p:sp>
    </p:spTree>
    <p:extLst>
      <p:ext uri="{BB962C8B-B14F-4D97-AF65-F5344CB8AC3E}">
        <p14:creationId xmlns:p14="http://schemas.microsoft.com/office/powerpoint/2010/main" val="1229196500"/>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195638" y="566738"/>
            <a:ext cx="3194050" cy="1797050"/>
          </a:xfrm>
          <a:prstGeom prst="rect">
            <a:avLst/>
          </a:prstGeom>
        </p:spPr>
      </p:sp>
      <p:sp>
        <p:nvSpPr>
          <p:cNvPr id="3" name="Notes Placeholder 2"/>
          <p:cNvSpPr>
            <a:spLocks noGrp="1"/>
          </p:cNvSpPr>
          <p:nvPr>
            <p:ph type="body" idx="1"/>
          </p:nvPr>
        </p:nvSpPr>
        <p:spPr>
          <a:xfrm>
            <a:off x="123452" y="2564124"/>
            <a:ext cx="9838645" cy="2097919"/>
          </a:xfrm>
          <a:prstGeom prst="rect">
            <a:avLst/>
          </a:prstGeom>
        </p:spPr>
        <p:txBody>
          <a:bodyPr/>
          <a:lstStyle/>
          <a:p>
            <a:endParaRPr lang="en-IN"/>
          </a:p>
        </p:txBody>
      </p:sp>
      <p:sp>
        <p:nvSpPr>
          <p:cNvPr id="4" name="Slide Number Placeholder 3"/>
          <p:cNvSpPr>
            <a:spLocks noGrp="1"/>
          </p:cNvSpPr>
          <p:nvPr>
            <p:ph type="sldNum" sz="quarter" idx="5"/>
          </p:nvPr>
        </p:nvSpPr>
        <p:spPr/>
        <p:txBody>
          <a:bodyPr/>
          <a:lstStyle/>
          <a:p>
            <a:fld id="{21B2AA4F-B828-4D7C-AFD3-893933DAFCB4}" type="slidenum">
              <a:rPr lang="en-US" smtClean="0"/>
              <a:t>88</a:t>
            </a:fld>
            <a:endParaRPr lang="en-US"/>
          </a:p>
        </p:txBody>
      </p:sp>
    </p:spTree>
    <p:extLst>
      <p:ext uri="{BB962C8B-B14F-4D97-AF65-F5344CB8AC3E}">
        <p14:creationId xmlns:p14="http://schemas.microsoft.com/office/powerpoint/2010/main" val="267434496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195638" y="566738"/>
            <a:ext cx="3194050" cy="1797050"/>
          </a:xfrm>
          <a:prstGeom prst="rect">
            <a:avLst/>
          </a:prstGeom>
        </p:spPr>
      </p:sp>
      <p:sp>
        <p:nvSpPr>
          <p:cNvPr id="3" name="Notes Placeholder 2"/>
          <p:cNvSpPr>
            <a:spLocks noGrp="1"/>
          </p:cNvSpPr>
          <p:nvPr>
            <p:ph type="body" idx="1"/>
          </p:nvPr>
        </p:nvSpPr>
        <p:spPr>
          <a:xfrm>
            <a:off x="123452" y="2564124"/>
            <a:ext cx="9838645" cy="2097919"/>
          </a:xfrm>
          <a:prstGeom prst="rect">
            <a:avLst/>
          </a:prstGeom>
        </p:spPr>
        <p:txBody>
          <a:bodyPr/>
          <a:lstStyle/>
          <a:p>
            <a:endParaRPr lang="en-IN"/>
          </a:p>
        </p:txBody>
      </p:sp>
      <p:sp>
        <p:nvSpPr>
          <p:cNvPr id="4" name="Slide Number Placeholder 3"/>
          <p:cNvSpPr>
            <a:spLocks noGrp="1"/>
          </p:cNvSpPr>
          <p:nvPr>
            <p:ph type="sldNum" sz="quarter" idx="5"/>
          </p:nvPr>
        </p:nvSpPr>
        <p:spPr/>
        <p:txBody>
          <a:bodyPr/>
          <a:lstStyle/>
          <a:p>
            <a:fld id="{21B2AA4F-B828-4D7C-AFD3-893933DAFCB4}" type="slidenum">
              <a:rPr lang="en-US" smtClean="0"/>
              <a:t>89</a:t>
            </a:fld>
            <a:endParaRPr lang="en-US"/>
          </a:p>
        </p:txBody>
      </p:sp>
    </p:spTree>
    <p:extLst>
      <p:ext uri="{BB962C8B-B14F-4D97-AF65-F5344CB8AC3E}">
        <p14:creationId xmlns:p14="http://schemas.microsoft.com/office/powerpoint/2010/main" val="1498446936"/>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195638" y="566738"/>
            <a:ext cx="3194050" cy="1797050"/>
          </a:xfrm>
          <a:prstGeom prst="rect">
            <a:avLst/>
          </a:prstGeom>
        </p:spPr>
      </p:sp>
      <p:sp>
        <p:nvSpPr>
          <p:cNvPr id="3" name="Notes Placeholder 2"/>
          <p:cNvSpPr>
            <a:spLocks noGrp="1"/>
          </p:cNvSpPr>
          <p:nvPr>
            <p:ph type="body" idx="1"/>
          </p:nvPr>
        </p:nvSpPr>
        <p:spPr>
          <a:xfrm>
            <a:off x="123452" y="2564124"/>
            <a:ext cx="9838645" cy="2097919"/>
          </a:xfrm>
          <a:prstGeom prst="rect">
            <a:avLst/>
          </a:prstGeom>
        </p:spPr>
        <p:txBody>
          <a:bodyPr/>
          <a:lstStyle/>
          <a:p>
            <a:endParaRPr lang="en-IN"/>
          </a:p>
        </p:txBody>
      </p:sp>
      <p:sp>
        <p:nvSpPr>
          <p:cNvPr id="4" name="Slide Number Placeholder 3"/>
          <p:cNvSpPr>
            <a:spLocks noGrp="1"/>
          </p:cNvSpPr>
          <p:nvPr>
            <p:ph type="sldNum" sz="quarter" idx="5"/>
          </p:nvPr>
        </p:nvSpPr>
        <p:spPr/>
        <p:txBody>
          <a:bodyPr/>
          <a:lstStyle/>
          <a:p>
            <a:fld id="{21B2AA4F-B828-4D7C-AFD3-893933DAFCB4}" type="slidenum">
              <a:rPr lang="en-US" smtClean="0"/>
              <a:t>90</a:t>
            </a:fld>
            <a:endParaRPr lang="en-US"/>
          </a:p>
        </p:txBody>
      </p:sp>
    </p:spTree>
    <p:extLst>
      <p:ext uri="{BB962C8B-B14F-4D97-AF65-F5344CB8AC3E}">
        <p14:creationId xmlns:p14="http://schemas.microsoft.com/office/powerpoint/2010/main" val="64696917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195638" y="566738"/>
            <a:ext cx="3194050" cy="1797050"/>
          </a:xfrm>
          <a:prstGeom prst="rect">
            <a:avLst/>
          </a:prstGeom>
        </p:spPr>
      </p:sp>
      <p:sp>
        <p:nvSpPr>
          <p:cNvPr id="3" name="Notes Placeholder 2"/>
          <p:cNvSpPr>
            <a:spLocks noGrp="1"/>
          </p:cNvSpPr>
          <p:nvPr>
            <p:ph type="body" idx="1"/>
          </p:nvPr>
        </p:nvSpPr>
        <p:spPr>
          <a:xfrm>
            <a:off x="123452" y="2564124"/>
            <a:ext cx="9838645" cy="2097919"/>
          </a:xfrm>
          <a:prstGeom prst="rect">
            <a:avLst/>
          </a:prstGeom>
        </p:spPr>
        <p:txBody>
          <a:bodyPr/>
          <a:lstStyle/>
          <a:p>
            <a:endParaRPr lang="en-IN"/>
          </a:p>
        </p:txBody>
      </p:sp>
      <p:sp>
        <p:nvSpPr>
          <p:cNvPr id="4" name="Slide Number Placeholder 3"/>
          <p:cNvSpPr>
            <a:spLocks noGrp="1"/>
          </p:cNvSpPr>
          <p:nvPr>
            <p:ph type="sldNum" sz="quarter" idx="5"/>
          </p:nvPr>
        </p:nvSpPr>
        <p:spPr/>
        <p:txBody>
          <a:bodyPr/>
          <a:lstStyle/>
          <a:p>
            <a:fld id="{21B2AA4F-B828-4D7C-AFD3-893933DAFCB4}" type="slidenum">
              <a:rPr lang="en-US" smtClean="0"/>
              <a:t>91</a:t>
            </a:fld>
            <a:endParaRPr lang="en-US"/>
          </a:p>
        </p:txBody>
      </p:sp>
    </p:spTree>
    <p:extLst>
      <p:ext uri="{BB962C8B-B14F-4D97-AF65-F5344CB8AC3E}">
        <p14:creationId xmlns:p14="http://schemas.microsoft.com/office/powerpoint/2010/main" val="311108113"/>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195638" y="566738"/>
            <a:ext cx="3194050" cy="1797050"/>
          </a:xfrm>
          <a:prstGeom prst="rect">
            <a:avLst/>
          </a:prstGeom>
        </p:spPr>
      </p:sp>
      <p:sp>
        <p:nvSpPr>
          <p:cNvPr id="3" name="Notes Placeholder 2"/>
          <p:cNvSpPr>
            <a:spLocks noGrp="1"/>
          </p:cNvSpPr>
          <p:nvPr>
            <p:ph type="body" idx="1"/>
          </p:nvPr>
        </p:nvSpPr>
        <p:spPr>
          <a:xfrm>
            <a:off x="123452" y="2564124"/>
            <a:ext cx="9838645" cy="2097919"/>
          </a:xfrm>
          <a:prstGeom prst="rect">
            <a:avLst/>
          </a:prstGeom>
        </p:spPr>
        <p:txBody>
          <a:bodyPr/>
          <a:lstStyle/>
          <a:p>
            <a:endParaRPr lang="en-IN"/>
          </a:p>
        </p:txBody>
      </p:sp>
      <p:sp>
        <p:nvSpPr>
          <p:cNvPr id="4" name="Slide Number Placeholder 3"/>
          <p:cNvSpPr>
            <a:spLocks noGrp="1"/>
          </p:cNvSpPr>
          <p:nvPr>
            <p:ph type="sldNum" sz="quarter" idx="5"/>
          </p:nvPr>
        </p:nvSpPr>
        <p:spPr/>
        <p:txBody>
          <a:bodyPr/>
          <a:lstStyle/>
          <a:p>
            <a:fld id="{21B2AA4F-B828-4D7C-AFD3-893933DAFCB4}" type="slidenum">
              <a:rPr lang="en-US" smtClean="0"/>
              <a:t>92</a:t>
            </a:fld>
            <a:endParaRPr lang="en-US"/>
          </a:p>
        </p:txBody>
      </p:sp>
    </p:spTree>
    <p:extLst>
      <p:ext uri="{BB962C8B-B14F-4D97-AF65-F5344CB8AC3E}">
        <p14:creationId xmlns:p14="http://schemas.microsoft.com/office/powerpoint/2010/main" val="16222196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2"/>
            <a:ext cx="10363200" cy="492443"/>
          </a:xfrm>
          <a:prstGeom prst="rect">
            <a:avLst/>
          </a:prstGeom>
        </p:spPr>
        <p:txBody>
          <a:bodyPr wrap="square" lIns="0" tIns="0" rIns="0" bIns="0">
            <a:spAutoFit/>
          </a:bodyPr>
          <a:lstStyle>
            <a:lvl1pPr>
              <a:defRPr sz="3200" b="1" i="0">
                <a:solidFill>
                  <a:schemeClr val="tx1"/>
                </a:solidFill>
                <a:latin typeface="Arial" panose="020B0604020202020204"/>
                <a:cs typeface="Arial" panose="020B0604020202020204"/>
              </a:defRPr>
            </a:lvl1pPr>
          </a:lstStyle>
          <a:p>
            <a:endParaRPr/>
          </a:p>
        </p:txBody>
      </p:sp>
      <p:sp>
        <p:nvSpPr>
          <p:cNvPr id="3" name="Holder 3"/>
          <p:cNvSpPr>
            <a:spLocks noGrp="1"/>
          </p:cNvSpPr>
          <p:nvPr>
            <p:ph type="subTitle" idx="4"/>
          </p:nvPr>
        </p:nvSpPr>
        <p:spPr>
          <a:xfrm>
            <a:off x="1828800" y="3840480"/>
            <a:ext cx="8534400" cy="369332"/>
          </a:xfrm>
          <a:prstGeom prst="rect">
            <a:avLst/>
          </a:prstGeom>
        </p:spPr>
        <p:txBody>
          <a:bodyPr wrap="square" lIns="0" tIns="0" rIns="0" bIns="0">
            <a:spAutoFit/>
          </a:bodyPr>
          <a:lstStyle>
            <a:lvl1pPr>
              <a:defRPr sz="2400" b="0" i="0">
                <a:solidFill>
                  <a:schemeClr val="tx1"/>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2/28/2026</a:t>
            </a:fld>
            <a:endParaRPr lang="en-US"/>
          </a:p>
        </p:txBody>
      </p:sp>
      <p:sp>
        <p:nvSpPr>
          <p:cNvPr id="6" name="Holder 6"/>
          <p:cNvSpPr>
            <a:spLocks noGrp="1"/>
          </p:cNvSpPr>
          <p:nvPr>
            <p:ph type="sldNum" sz="quarter" idx="7"/>
          </p:nvPr>
        </p:nvSpPr>
        <p:spPr/>
        <p:txBody>
          <a:bodyPr lIns="0" tIns="0" rIns="0" bIns="0"/>
          <a:lstStyle>
            <a:lvl1pPr>
              <a:defRPr sz="1200" b="0" i="0">
                <a:solidFill>
                  <a:srgbClr val="888888"/>
                </a:solidFill>
                <a:latin typeface="Calibri" panose="020F0502020204030204"/>
                <a:cs typeface="Calibri" panose="020F0502020204030204"/>
              </a:defRPr>
            </a:lvl1pPr>
          </a:lstStyle>
          <a:p>
            <a:pPr marL="38101">
              <a:lnSpc>
                <a:spcPts val="1239"/>
              </a:lnSpc>
            </a:pPr>
            <a:fld id="{81D60167-4931-47E6-BA6A-407CBD079E47}" type="slidenum">
              <a:rPr lang="en-IN" spc="-25" smtClean="0"/>
              <a:pPr marL="38101">
                <a:lnSpc>
                  <a:spcPts val="1239"/>
                </a:lnSpc>
              </a:pPr>
              <a:t>‹#›</a:t>
            </a:fld>
            <a:endParaRPr lang="en-IN"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78918" y="133353"/>
            <a:ext cx="9355023" cy="492443"/>
          </a:xfrm>
        </p:spPr>
        <p:txBody>
          <a:bodyPr lIns="0" tIns="0" rIns="0" bIns="0"/>
          <a:lstStyle>
            <a:lvl1pPr>
              <a:defRPr sz="3200" b="1" i="0">
                <a:solidFill>
                  <a:schemeClr val="tx1"/>
                </a:solidFill>
                <a:latin typeface="Arial" panose="020B0604020202020204"/>
                <a:cs typeface="Arial" panose="020B0604020202020204"/>
              </a:defRPr>
            </a:lvl1pPr>
          </a:lstStyle>
          <a:p>
            <a:endParaRPr/>
          </a:p>
        </p:txBody>
      </p:sp>
      <p:sp>
        <p:nvSpPr>
          <p:cNvPr id="3" name="Holder 3"/>
          <p:cNvSpPr>
            <a:spLocks noGrp="1"/>
          </p:cNvSpPr>
          <p:nvPr>
            <p:ph type="body" idx="1"/>
          </p:nvPr>
        </p:nvSpPr>
        <p:spPr>
          <a:xfrm>
            <a:off x="555446" y="1243919"/>
            <a:ext cx="11038841" cy="369332"/>
          </a:xfrm>
        </p:spPr>
        <p:txBody>
          <a:bodyPr lIns="0" tIns="0" rIns="0" bIns="0"/>
          <a:lstStyle>
            <a:lvl1pPr>
              <a:defRPr sz="2400" b="0" i="0">
                <a:solidFill>
                  <a:schemeClr val="tx1"/>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2/28/2026</a:t>
            </a:fld>
            <a:endParaRPr lang="en-US"/>
          </a:p>
        </p:txBody>
      </p:sp>
      <p:sp>
        <p:nvSpPr>
          <p:cNvPr id="6" name="Holder 6"/>
          <p:cNvSpPr>
            <a:spLocks noGrp="1"/>
          </p:cNvSpPr>
          <p:nvPr>
            <p:ph type="sldNum" sz="quarter" idx="7"/>
          </p:nvPr>
        </p:nvSpPr>
        <p:spPr/>
        <p:txBody>
          <a:bodyPr lIns="0" tIns="0" rIns="0" bIns="0"/>
          <a:lstStyle>
            <a:lvl1pPr>
              <a:defRPr sz="1200" b="0" i="0">
                <a:solidFill>
                  <a:srgbClr val="888888"/>
                </a:solidFill>
                <a:latin typeface="Calibri" panose="020F0502020204030204"/>
                <a:cs typeface="Calibri" panose="020F0502020204030204"/>
              </a:defRPr>
            </a:lvl1pPr>
          </a:lstStyle>
          <a:p>
            <a:pPr marL="38101">
              <a:lnSpc>
                <a:spcPts val="1239"/>
              </a:lnSpc>
            </a:pPr>
            <a:fld id="{81D60167-4931-47E6-BA6A-407CBD079E47}" type="slidenum">
              <a:rPr lang="en-IN" spc="-25" smtClean="0"/>
              <a:pPr marL="38101">
                <a:lnSpc>
                  <a:spcPts val="1239"/>
                </a:lnSpc>
              </a:pPr>
              <a:t>‹#›</a:t>
            </a:fld>
            <a:endParaRPr lang="en-IN"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578918" y="133353"/>
            <a:ext cx="9355023" cy="492443"/>
          </a:xfrm>
        </p:spPr>
        <p:txBody>
          <a:bodyPr lIns="0" tIns="0" rIns="0" bIns="0"/>
          <a:lstStyle>
            <a:lvl1pPr>
              <a:defRPr sz="3200" b="1" i="0">
                <a:solidFill>
                  <a:schemeClr val="tx1"/>
                </a:solidFill>
                <a:latin typeface="Arial" panose="020B0604020202020204"/>
                <a:cs typeface="Arial" panose="020B0604020202020204"/>
              </a:defRPr>
            </a:lvl1pPr>
          </a:lstStyle>
          <a:p>
            <a:endParaRPr/>
          </a:p>
        </p:txBody>
      </p:sp>
      <p:sp>
        <p:nvSpPr>
          <p:cNvPr id="3" name="Holder 3"/>
          <p:cNvSpPr>
            <a:spLocks noGrp="1"/>
          </p:cNvSpPr>
          <p:nvPr>
            <p:ph sz="half" idx="2"/>
          </p:nvPr>
        </p:nvSpPr>
        <p:spPr>
          <a:xfrm>
            <a:off x="609600" y="1577340"/>
            <a:ext cx="5303520" cy="369332"/>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369332"/>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2/28/2026</a:t>
            </a:fld>
            <a:endParaRPr lang="en-US"/>
          </a:p>
        </p:txBody>
      </p:sp>
      <p:sp>
        <p:nvSpPr>
          <p:cNvPr id="7" name="Holder 7"/>
          <p:cNvSpPr>
            <a:spLocks noGrp="1"/>
          </p:cNvSpPr>
          <p:nvPr>
            <p:ph type="sldNum" sz="quarter" idx="7"/>
          </p:nvPr>
        </p:nvSpPr>
        <p:spPr/>
        <p:txBody>
          <a:bodyPr lIns="0" tIns="0" rIns="0" bIns="0"/>
          <a:lstStyle>
            <a:lvl1pPr>
              <a:defRPr sz="1200" b="0" i="0">
                <a:solidFill>
                  <a:srgbClr val="888888"/>
                </a:solidFill>
                <a:latin typeface="Calibri" panose="020F0502020204030204"/>
                <a:cs typeface="Calibri" panose="020F0502020204030204"/>
              </a:defRPr>
            </a:lvl1pPr>
          </a:lstStyle>
          <a:p>
            <a:pPr marL="38101">
              <a:lnSpc>
                <a:spcPts val="1239"/>
              </a:lnSpc>
            </a:pPr>
            <a:fld id="{81D60167-4931-47E6-BA6A-407CBD079E47}" type="slidenum">
              <a:rPr lang="en-IN" spc="-25" smtClean="0"/>
              <a:pPr marL="38101">
                <a:lnSpc>
                  <a:spcPts val="1239"/>
                </a:lnSpc>
              </a:pPr>
              <a:t>‹#›</a:t>
            </a:fld>
            <a:endParaRPr lang="en-IN"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a:xfrm>
            <a:off x="578918" y="133353"/>
            <a:ext cx="9355023" cy="492443"/>
          </a:xfrm>
        </p:spPr>
        <p:txBody>
          <a:bodyPr lIns="0" tIns="0" rIns="0" bIns="0"/>
          <a:lstStyle>
            <a:lvl1pPr>
              <a:defRPr sz="3200" b="1" i="0">
                <a:solidFill>
                  <a:schemeClr val="tx1"/>
                </a:solidFill>
                <a:latin typeface="Arial" panose="020B0604020202020204"/>
                <a:cs typeface="Arial" panose="020B0604020202020204"/>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2/28/2026</a:t>
            </a:fld>
            <a:endParaRPr lang="en-US"/>
          </a:p>
        </p:txBody>
      </p:sp>
      <p:sp>
        <p:nvSpPr>
          <p:cNvPr id="5" name="Holder 5"/>
          <p:cNvSpPr>
            <a:spLocks noGrp="1"/>
          </p:cNvSpPr>
          <p:nvPr>
            <p:ph type="sldNum" sz="quarter" idx="7"/>
          </p:nvPr>
        </p:nvSpPr>
        <p:spPr/>
        <p:txBody>
          <a:bodyPr lIns="0" tIns="0" rIns="0" bIns="0"/>
          <a:lstStyle>
            <a:lvl1pPr>
              <a:defRPr sz="1200" b="0" i="0">
                <a:solidFill>
                  <a:srgbClr val="888888"/>
                </a:solidFill>
                <a:latin typeface="Calibri" panose="020F0502020204030204"/>
                <a:cs typeface="Calibri" panose="020F0502020204030204"/>
              </a:defRPr>
            </a:lvl1pPr>
          </a:lstStyle>
          <a:p>
            <a:pPr marL="38101">
              <a:lnSpc>
                <a:spcPts val="1239"/>
              </a:lnSpc>
            </a:pPr>
            <a:fld id="{81D60167-4931-47E6-BA6A-407CBD079E47}" type="slidenum">
              <a:rPr lang="en-IN" spc="-25" smtClean="0"/>
              <a:pPr marL="38101">
                <a:lnSpc>
                  <a:spcPts val="1239"/>
                </a:lnSpc>
              </a:pPr>
              <a:t>‹#›</a:t>
            </a:fld>
            <a:endParaRPr lang="en-IN"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2/28/2026</a:t>
            </a:fld>
            <a:endParaRPr lang="en-US"/>
          </a:p>
        </p:txBody>
      </p:sp>
      <p:sp>
        <p:nvSpPr>
          <p:cNvPr id="4" name="Holder 4"/>
          <p:cNvSpPr>
            <a:spLocks noGrp="1"/>
          </p:cNvSpPr>
          <p:nvPr>
            <p:ph type="sldNum" sz="quarter" idx="7"/>
          </p:nvPr>
        </p:nvSpPr>
        <p:spPr/>
        <p:txBody>
          <a:bodyPr lIns="0" tIns="0" rIns="0" bIns="0"/>
          <a:lstStyle>
            <a:lvl1pPr>
              <a:defRPr sz="1200" b="0" i="0">
                <a:solidFill>
                  <a:srgbClr val="888888"/>
                </a:solidFill>
                <a:latin typeface="Calibri" panose="020F0502020204030204"/>
                <a:cs typeface="Calibri" panose="020F0502020204030204"/>
              </a:defRPr>
            </a:lvl1pPr>
          </a:lstStyle>
          <a:p>
            <a:pPr marL="38101">
              <a:lnSpc>
                <a:spcPts val="1239"/>
              </a:lnSpc>
            </a:pPr>
            <a:fld id="{81D60167-4931-47E6-BA6A-407CBD079E47}" type="slidenum">
              <a:rPr lang="en-IN" spc="-25" smtClean="0"/>
              <a:pPr marL="38101">
                <a:lnSpc>
                  <a:spcPts val="1239"/>
                </a:lnSpc>
              </a:pPr>
              <a:t>‹#›</a:t>
            </a:fld>
            <a:endParaRPr lang="en-IN" spc="-25"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8"/>
        <p:cNvGrpSpPr/>
        <p:nvPr/>
      </p:nvGrpSpPr>
      <p:grpSpPr>
        <a:xfrm>
          <a:off x="0" y="0"/>
          <a:ext cx="0" cy="0"/>
          <a:chOff x="0" y="0"/>
          <a:chExt cx="0" cy="0"/>
        </a:xfrm>
      </p:grpSpPr>
      <p:grpSp>
        <p:nvGrpSpPr>
          <p:cNvPr id="29" name="Google Shape;29;p4"/>
          <p:cNvGrpSpPr/>
          <p:nvPr/>
        </p:nvGrpSpPr>
        <p:grpSpPr>
          <a:xfrm>
            <a:off x="0" y="5204896"/>
            <a:ext cx="12192000" cy="1653233"/>
            <a:chOff x="0" y="3903669"/>
            <a:chExt cx="9144000" cy="1239925"/>
          </a:xfrm>
        </p:grpSpPr>
        <p:sp>
          <p:nvSpPr>
            <p:cNvPr id="30" name="Google Shape;30;p4"/>
            <p:cNvSpPr/>
            <p:nvPr/>
          </p:nvSpPr>
          <p:spPr>
            <a:xfrm>
              <a:off x="8154895" y="3903669"/>
              <a:ext cx="989100" cy="987900"/>
            </a:xfrm>
            <a:prstGeom prst="rtTriangle">
              <a:avLst/>
            </a:prstGeom>
            <a:solidFill>
              <a:schemeClr val="accent5"/>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23"/>
            </a:p>
          </p:txBody>
        </p:sp>
        <p:sp>
          <p:nvSpPr>
            <p:cNvPr id="31" name="Google Shape;31;p4"/>
            <p:cNvSpPr/>
            <p:nvPr/>
          </p:nvSpPr>
          <p:spPr>
            <a:xfrm flipH="1">
              <a:off x="6181163" y="3903669"/>
              <a:ext cx="989100" cy="987900"/>
            </a:xfrm>
            <a:prstGeom prst="rtTriangle">
              <a:avLst/>
            </a:prstGeom>
            <a:solidFill>
              <a:schemeClr val="accent5"/>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23"/>
            </a:p>
          </p:txBody>
        </p:sp>
        <p:sp>
          <p:nvSpPr>
            <p:cNvPr id="32" name="Google Shape;32;p4"/>
            <p:cNvSpPr/>
            <p:nvPr/>
          </p:nvSpPr>
          <p:spPr>
            <a:xfrm>
              <a:off x="7170274" y="3903669"/>
              <a:ext cx="989100" cy="987900"/>
            </a:xfrm>
            <a:prstGeom prst="rect">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23"/>
            </a:p>
          </p:txBody>
        </p:sp>
        <p:sp>
          <p:nvSpPr>
            <p:cNvPr id="33" name="Google Shape;33;p4"/>
            <p:cNvSpPr/>
            <p:nvPr/>
          </p:nvSpPr>
          <p:spPr>
            <a:xfrm rot="10800000">
              <a:off x="8154757" y="3903682"/>
              <a:ext cx="989100" cy="987900"/>
            </a:xfrm>
            <a:prstGeom prst="rtTriangle">
              <a:avLst/>
            </a:pr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23"/>
            </a:p>
          </p:txBody>
        </p:sp>
        <p:sp>
          <p:nvSpPr>
            <p:cNvPr id="34" name="Google Shape;34;p4"/>
            <p:cNvSpPr/>
            <p:nvPr/>
          </p:nvSpPr>
          <p:spPr>
            <a:xfrm>
              <a:off x="0" y="4891594"/>
              <a:ext cx="9144000" cy="252000"/>
            </a:xfrm>
            <a:prstGeom prst="rect">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23"/>
            </a:p>
          </p:txBody>
        </p:sp>
      </p:grpSp>
      <p:sp>
        <p:nvSpPr>
          <p:cNvPr id="35" name="Google Shape;35;p4"/>
          <p:cNvSpPr txBox="1">
            <a:spLocks noGrp="1"/>
          </p:cNvSpPr>
          <p:nvPr>
            <p:ph type="title"/>
          </p:nvPr>
        </p:nvSpPr>
        <p:spPr>
          <a:xfrm>
            <a:off x="415600" y="546667"/>
            <a:ext cx="11360800" cy="8104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6" name="Google Shape;36;p4"/>
          <p:cNvSpPr txBox="1">
            <a:spLocks noGrp="1"/>
          </p:cNvSpPr>
          <p:nvPr>
            <p:ph type="body" idx="1"/>
          </p:nvPr>
        </p:nvSpPr>
        <p:spPr>
          <a:xfrm>
            <a:off x="415600" y="1639833"/>
            <a:ext cx="11360800" cy="4452000"/>
          </a:xfrm>
          <a:prstGeom prst="rect">
            <a:avLst/>
          </a:prstGeom>
        </p:spPr>
        <p:txBody>
          <a:bodyPr spcFirstLastPara="1" wrap="square" lIns="91425" tIns="91425" rIns="91425" bIns="91425" anchor="t" anchorCtr="0">
            <a:normAutofit/>
          </a:bodyPr>
          <a:lstStyle>
            <a:lvl1pPr marL="609615" lvl="0" indent="-457211">
              <a:spcBef>
                <a:spcPts val="0"/>
              </a:spcBef>
              <a:spcAft>
                <a:spcPts val="0"/>
              </a:spcAft>
              <a:buSzPts val="1800"/>
              <a:buChar char="●"/>
              <a:defRPr/>
            </a:lvl1pPr>
            <a:lvl2pPr marL="1219230" lvl="1" indent="-423555">
              <a:spcBef>
                <a:spcPts val="0"/>
              </a:spcBef>
              <a:spcAft>
                <a:spcPts val="0"/>
              </a:spcAft>
              <a:buSzPts val="1400"/>
              <a:buChar char="○"/>
              <a:defRPr/>
            </a:lvl2pPr>
            <a:lvl3pPr marL="1828846" lvl="2" indent="-423555">
              <a:spcBef>
                <a:spcPts val="0"/>
              </a:spcBef>
              <a:spcAft>
                <a:spcPts val="0"/>
              </a:spcAft>
              <a:buSzPts val="1400"/>
              <a:buChar char="■"/>
              <a:defRPr/>
            </a:lvl3pPr>
            <a:lvl4pPr marL="2438461" lvl="3" indent="-423555">
              <a:spcBef>
                <a:spcPts val="0"/>
              </a:spcBef>
              <a:spcAft>
                <a:spcPts val="0"/>
              </a:spcAft>
              <a:buSzPts val="1400"/>
              <a:buChar char="●"/>
              <a:defRPr/>
            </a:lvl4pPr>
            <a:lvl5pPr marL="3048076" lvl="4" indent="-423555">
              <a:spcBef>
                <a:spcPts val="0"/>
              </a:spcBef>
              <a:spcAft>
                <a:spcPts val="0"/>
              </a:spcAft>
              <a:buSzPts val="1400"/>
              <a:buChar char="○"/>
              <a:defRPr/>
            </a:lvl5pPr>
            <a:lvl6pPr marL="3657691" lvl="5" indent="-423555">
              <a:spcBef>
                <a:spcPts val="0"/>
              </a:spcBef>
              <a:spcAft>
                <a:spcPts val="0"/>
              </a:spcAft>
              <a:buSzPts val="1400"/>
              <a:buChar char="■"/>
              <a:defRPr/>
            </a:lvl6pPr>
            <a:lvl7pPr marL="4267307" lvl="6" indent="-423555">
              <a:spcBef>
                <a:spcPts val="0"/>
              </a:spcBef>
              <a:spcAft>
                <a:spcPts val="0"/>
              </a:spcAft>
              <a:buSzPts val="1400"/>
              <a:buChar char="●"/>
              <a:defRPr/>
            </a:lvl7pPr>
            <a:lvl8pPr marL="4876922" lvl="7" indent="-423555">
              <a:spcBef>
                <a:spcPts val="0"/>
              </a:spcBef>
              <a:spcAft>
                <a:spcPts val="0"/>
              </a:spcAft>
              <a:buSzPts val="1400"/>
              <a:buChar char="○"/>
              <a:defRPr/>
            </a:lvl8pPr>
            <a:lvl9pPr marL="5486537" lvl="8" indent="-423555">
              <a:spcBef>
                <a:spcPts val="0"/>
              </a:spcBef>
              <a:spcAft>
                <a:spcPts val="0"/>
              </a:spcAft>
              <a:buSzPts val="1400"/>
              <a:buChar char="■"/>
              <a:defRPr/>
            </a:lvl9pPr>
          </a:lstStyle>
          <a:p>
            <a:endParaRPr/>
          </a:p>
        </p:txBody>
      </p:sp>
      <p:sp>
        <p:nvSpPr>
          <p:cNvPr id="37" name="Google Shape;37;p4"/>
          <p:cNvSpPr txBox="1">
            <a:spLocks noGrp="1"/>
          </p:cNvSpPr>
          <p:nvPr>
            <p:ph type="sldNum" idx="12"/>
          </p:nvPr>
        </p:nvSpPr>
        <p:spPr>
          <a:xfrm>
            <a:off x="11280575" y="6201587"/>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r" rtl="0"/>
            <a:fld id="{00000000-1234-1234-1234-123412341234}" type="slidenum">
              <a:rPr lang="en-GB" smtClean="0"/>
              <a:pPr algn="r" rtl="0"/>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grpSp>
        <p:nvGrpSpPr>
          <p:cNvPr id="10" name="Google Shape;10;p2"/>
          <p:cNvGrpSpPr/>
          <p:nvPr/>
        </p:nvGrpSpPr>
        <p:grpSpPr>
          <a:xfrm>
            <a:off x="8131174" y="11"/>
            <a:ext cx="4060833" cy="2707427"/>
            <a:chOff x="6098378" y="5"/>
            <a:chExt cx="3045625" cy="2030570"/>
          </a:xfrm>
        </p:grpSpPr>
        <p:sp>
          <p:nvSpPr>
            <p:cNvPr id="11" name="Google Shape;11;p2"/>
            <p:cNvSpPr/>
            <p:nvPr/>
          </p:nvSpPr>
          <p:spPr>
            <a:xfrm>
              <a:off x="8128803" y="16"/>
              <a:ext cx="1015200" cy="1015200"/>
            </a:xfrm>
            <a:prstGeom prst="rect">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23"/>
            </a:p>
          </p:txBody>
        </p:sp>
        <p:sp>
          <p:nvSpPr>
            <p:cNvPr id="12" name="Google Shape;12;p2"/>
            <p:cNvSpPr/>
            <p:nvPr/>
          </p:nvSpPr>
          <p:spPr>
            <a:xfrm flipH="1">
              <a:off x="7113463" y="5"/>
              <a:ext cx="1015200" cy="1015200"/>
            </a:xfrm>
            <a:prstGeom prst="rtTriangle">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23"/>
            </a:p>
          </p:txBody>
        </p:sp>
        <p:sp>
          <p:nvSpPr>
            <p:cNvPr id="13" name="Google Shape;13;p2"/>
            <p:cNvSpPr/>
            <p:nvPr/>
          </p:nvSpPr>
          <p:spPr>
            <a:xfrm rot="10800000" flipH="1">
              <a:off x="7113588" y="107"/>
              <a:ext cx="1015200" cy="1015200"/>
            </a:xfrm>
            <a:prstGeom prst="rtTriangle">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23"/>
            </a:p>
          </p:txBody>
        </p:sp>
        <p:sp>
          <p:nvSpPr>
            <p:cNvPr id="14" name="Google Shape;14;p2"/>
            <p:cNvSpPr/>
            <p:nvPr/>
          </p:nvSpPr>
          <p:spPr>
            <a:xfrm rot="10800000">
              <a:off x="6098378" y="97"/>
              <a:ext cx="1015200" cy="1015200"/>
            </a:xfrm>
            <a:prstGeom prst="rtTriangle">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23"/>
            </a:p>
          </p:txBody>
        </p:sp>
        <p:sp>
          <p:nvSpPr>
            <p:cNvPr id="15" name="Google Shape;15;p2"/>
            <p:cNvSpPr/>
            <p:nvPr/>
          </p:nvSpPr>
          <p:spPr>
            <a:xfrm rot="10800000">
              <a:off x="8128789" y="1015375"/>
              <a:ext cx="1015200" cy="1015200"/>
            </a:xfrm>
            <a:prstGeom prst="rtTriangle">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23"/>
            </a:p>
          </p:txBody>
        </p:sp>
      </p:grpSp>
      <p:sp>
        <p:nvSpPr>
          <p:cNvPr id="16" name="Google Shape;16;p2"/>
          <p:cNvSpPr txBox="1">
            <a:spLocks noGrp="1"/>
          </p:cNvSpPr>
          <p:nvPr>
            <p:ph type="ctrTitle"/>
          </p:nvPr>
        </p:nvSpPr>
        <p:spPr>
          <a:xfrm>
            <a:off x="797469" y="2366963"/>
            <a:ext cx="10962800" cy="1118400"/>
          </a:xfrm>
          <a:prstGeom prst="rect">
            <a:avLst/>
          </a:prstGeom>
        </p:spPr>
        <p:txBody>
          <a:bodyPr spcFirstLastPara="1" wrap="square" lIns="91425" tIns="91425" rIns="91425" bIns="91425" anchor="b" anchorCtr="0">
            <a:normAutofit/>
          </a:bodyPr>
          <a:lstStyle>
            <a:lvl1pPr lvl="0">
              <a:spcBef>
                <a:spcPts val="0"/>
              </a:spcBef>
              <a:spcAft>
                <a:spcPts val="0"/>
              </a:spcAft>
              <a:buClr>
                <a:schemeClr val="lt1"/>
              </a:buClr>
              <a:buSzPts val="4200"/>
              <a:buNone/>
              <a:defRPr sz="5600">
                <a:solidFill>
                  <a:schemeClr val="lt1"/>
                </a:solidFill>
              </a:defRPr>
            </a:lvl1pPr>
            <a:lvl2pPr lvl="1">
              <a:spcBef>
                <a:spcPts val="0"/>
              </a:spcBef>
              <a:spcAft>
                <a:spcPts val="0"/>
              </a:spcAft>
              <a:buClr>
                <a:schemeClr val="lt1"/>
              </a:buClr>
              <a:buSzPts val="4200"/>
              <a:buNone/>
              <a:defRPr sz="5600">
                <a:solidFill>
                  <a:schemeClr val="lt1"/>
                </a:solidFill>
              </a:defRPr>
            </a:lvl2pPr>
            <a:lvl3pPr lvl="2">
              <a:spcBef>
                <a:spcPts val="0"/>
              </a:spcBef>
              <a:spcAft>
                <a:spcPts val="0"/>
              </a:spcAft>
              <a:buClr>
                <a:schemeClr val="lt1"/>
              </a:buClr>
              <a:buSzPts val="4200"/>
              <a:buNone/>
              <a:defRPr sz="5600">
                <a:solidFill>
                  <a:schemeClr val="lt1"/>
                </a:solidFill>
              </a:defRPr>
            </a:lvl3pPr>
            <a:lvl4pPr lvl="3">
              <a:spcBef>
                <a:spcPts val="0"/>
              </a:spcBef>
              <a:spcAft>
                <a:spcPts val="0"/>
              </a:spcAft>
              <a:buClr>
                <a:schemeClr val="lt1"/>
              </a:buClr>
              <a:buSzPts val="4200"/>
              <a:buNone/>
              <a:defRPr sz="5600">
                <a:solidFill>
                  <a:schemeClr val="lt1"/>
                </a:solidFill>
              </a:defRPr>
            </a:lvl4pPr>
            <a:lvl5pPr lvl="4">
              <a:spcBef>
                <a:spcPts val="0"/>
              </a:spcBef>
              <a:spcAft>
                <a:spcPts val="0"/>
              </a:spcAft>
              <a:buClr>
                <a:schemeClr val="lt1"/>
              </a:buClr>
              <a:buSzPts val="4200"/>
              <a:buNone/>
              <a:defRPr sz="5600">
                <a:solidFill>
                  <a:schemeClr val="lt1"/>
                </a:solidFill>
              </a:defRPr>
            </a:lvl5pPr>
            <a:lvl6pPr lvl="5">
              <a:spcBef>
                <a:spcPts val="0"/>
              </a:spcBef>
              <a:spcAft>
                <a:spcPts val="0"/>
              </a:spcAft>
              <a:buClr>
                <a:schemeClr val="lt1"/>
              </a:buClr>
              <a:buSzPts val="4200"/>
              <a:buNone/>
              <a:defRPr sz="5600">
                <a:solidFill>
                  <a:schemeClr val="lt1"/>
                </a:solidFill>
              </a:defRPr>
            </a:lvl6pPr>
            <a:lvl7pPr lvl="6">
              <a:spcBef>
                <a:spcPts val="0"/>
              </a:spcBef>
              <a:spcAft>
                <a:spcPts val="0"/>
              </a:spcAft>
              <a:buClr>
                <a:schemeClr val="lt1"/>
              </a:buClr>
              <a:buSzPts val="4200"/>
              <a:buNone/>
              <a:defRPr sz="5600">
                <a:solidFill>
                  <a:schemeClr val="lt1"/>
                </a:solidFill>
              </a:defRPr>
            </a:lvl7pPr>
            <a:lvl8pPr lvl="7">
              <a:spcBef>
                <a:spcPts val="0"/>
              </a:spcBef>
              <a:spcAft>
                <a:spcPts val="0"/>
              </a:spcAft>
              <a:buClr>
                <a:schemeClr val="lt1"/>
              </a:buClr>
              <a:buSzPts val="4200"/>
              <a:buNone/>
              <a:defRPr sz="5600">
                <a:solidFill>
                  <a:schemeClr val="lt1"/>
                </a:solidFill>
              </a:defRPr>
            </a:lvl8pPr>
            <a:lvl9pPr lvl="8">
              <a:spcBef>
                <a:spcPts val="0"/>
              </a:spcBef>
              <a:spcAft>
                <a:spcPts val="0"/>
              </a:spcAft>
              <a:buClr>
                <a:schemeClr val="lt1"/>
              </a:buClr>
              <a:buSzPts val="4200"/>
              <a:buNone/>
              <a:defRPr sz="5600">
                <a:solidFill>
                  <a:schemeClr val="lt1"/>
                </a:solidFill>
              </a:defRPr>
            </a:lvl9pPr>
          </a:lstStyle>
          <a:p>
            <a:endParaRPr/>
          </a:p>
        </p:txBody>
      </p:sp>
      <p:sp>
        <p:nvSpPr>
          <p:cNvPr id="17" name="Google Shape;17;p2"/>
          <p:cNvSpPr txBox="1">
            <a:spLocks noGrp="1"/>
          </p:cNvSpPr>
          <p:nvPr>
            <p:ph type="subTitle" idx="1"/>
          </p:nvPr>
        </p:nvSpPr>
        <p:spPr>
          <a:xfrm>
            <a:off x="797453" y="3621217"/>
            <a:ext cx="10962800" cy="5772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lt1"/>
              </a:buClr>
              <a:buSzPts val="2100"/>
              <a:buNone/>
              <a:defRPr sz="2800">
                <a:solidFill>
                  <a:schemeClr val="lt1"/>
                </a:solidFill>
              </a:defRPr>
            </a:lvl1pPr>
            <a:lvl2pPr lvl="1">
              <a:lnSpc>
                <a:spcPct val="100000"/>
              </a:lnSpc>
              <a:spcBef>
                <a:spcPts val="0"/>
              </a:spcBef>
              <a:spcAft>
                <a:spcPts val="0"/>
              </a:spcAft>
              <a:buClr>
                <a:schemeClr val="lt1"/>
              </a:buClr>
              <a:buSzPts val="2100"/>
              <a:buNone/>
              <a:defRPr sz="2800">
                <a:solidFill>
                  <a:schemeClr val="lt1"/>
                </a:solidFill>
              </a:defRPr>
            </a:lvl2pPr>
            <a:lvl3pPr lvl="2">
              <a:lnSpc>
                <a:spcPct val="100000"/>
              </a:lnSpc>
              <a:spcBef>
                <a:spcPts val="0"/>
              </a:spcBef>
              <a:spcAft>
                <a:spcPts val="0"/>
              </a:spcAft>
              <a:buClr>
                <a:schemeClr val="lt1"/>
              </a:buClr>
              <a:buSzPts val="2100"/>
              <a:buNone/>
              <a:defRPr sz="2800">
                <a:solidFill>
                  <a:schemeClr val="lt1"/>
                </a:solidFill>
              </a:defRPr>
            </a:lvl3pPr>
            <a:lvl4pPr lvl="3">
              <a:lnSpc>
                <a:spcPct val="100000"/>
              </a:lnSpc>
              <a:spcBef>
                <a:spcPts val="0"/>
              </a:spcBef>
              <a:spcAft>
                <a:spcPts val="0"/>
              </a:spcAft>
              <a:buClr>
                <a:schemeClr val="lt1"/>
              </a:buClr>
              <a:buSzPts val="2100"/>
              <a:buNone/>
              <a:defRPr sz="2800">
                <a:solidFill>
                  <a:schemeClr val="lt1"/>
                </a:solidFill>
              </a:defRPr>
            </a:lvl4pPr>
            <a:lvl5pPr lvl="4">
              <a:lnSpc>
                <a:spcPct val="100000"/>
              </a:lnSpc>
              <a:spcBef>
                <a:spcPts val="0"/>
              </a:spcBef>
              <a:spcAft>
                <a:spcPts val="0"/>
              </a:spcAft>
              <a:buClr>
                <a:schemeClr val="lt1"/>
              </a:buClr>
              <a:buSzPts val="2100"/>
              <a:buNone/>
              <a:defRPr sz="2800">
                <a:solidFill>
                  <a:schemeClr val="lt1"/>
                </a:solidFill>
              </a:defRPr>
            </a:lvl5pPr>
            <a:lvl6pPr lvl="5">
              <a:lnSpc>
                <a:spcPct val="100000"/>
              </a:lnSpc>
              <a:spcBef>
                <a:spcPts val="0"/>
              </a:spcBef>
              <a:spcAft>
                <a:spcPts val="0"/>
              </a:spcAft>
              <a:buClr>
                <a:schemeClr val="lt1"/>
              </a:buClr>
              <a:buSzPts val="2100"/>
              <a:buNone/>
              <a:defRPr sz="2800">
                <a:solidFill>
                  <a:schemeClr val="lt1"/>
                </a:solidFill>
              </a:defRPr>
            </a:lvl6pPr>
            <a:lvl7pPr lvl="6">
              <a:lnSpc>
                <a:spcPct val="100000"/>
              </a:lnSpc>
              <a:spcBef>
                <a:spcPts val="0"/>
              </a:spcBef>
              <a:spcAft>
                <a:spcPts val="0"/>
              </a:spcAft>
              <a:buClr>
                <a:schemeClr val="lt1"/>
              </a:buClr>
              <a:buSzPts val="2100"/>
              <a:buNone/>
              <a:defRPr sz="2800">
                <a:solidFill>
                  <a:schemeClr val="lt1"/>
                </a:solidFill>
              </a:defRPr>
            </a:lvl7pPr>
            <a:lvl8pPr lvl="7">
              <a:lnSpc>
                <a:spcPct val="100000"/>
              </a:lnSpc>
              <a:spcBef>
                <a:spcPts val="0"/>
              </a:spcBef>
              <a:spcAft>
                <a:spcPts val="0"/>
              </a:spcAft>
              <a:buClr>
                <a:schemeClr val="lt1"/>
              </a:buClr>
              <a:buSzPts val="2100"/>
              <a:buNone/>
              <a:defRPr sz="2800">
                <a:solidFill>
                  <a:schemeClr val="lt1"/>
                </a:solidFill>
              </a:defRPr>
            </a:lvl8pPr>
            <a:lvl9pPr lvl="8">
              <a:lnSpc>
                <a:spcPct val="100000"/>
              </a:lnSpc>
              <a:spcBef>
                <a:spcPts val="0"/>
              </a:spcBef>
              <a:spcAft>
                <a:spcPts val="0"/>
              </a:spcAft>
              <a:buClr>
                <a:schemeClr val="lt1"/>
              </a:buClr>
              <a:buSzPts val="2100"/>
              <a:buNone/>
              <a:defRPr sz="2800">
                <a:solidFill>
                  <a:schemeClr val="lt1"/>
                </a:solidFill>
              </a:defRPr>
            </a:lvl9pPr>
          </a:lstStyle>
          <a:p>
            <a:endParaRPr/>
          </a:p>
        </p:txBody>
      </p:sp>
      <p:sp>
        <p:nvSpPr>
          <p:cNvPr id="18" name="Google Shape;18;p2"/>
          <p:cNvSpPr txBox="1">
            <a:spLocks noGrp="1"/>
          </p:cNvSpPr>
          <p:nvPr>
            <p:ph type="sldNum" idx="12"/>
          </p:nvPr>
        </p:nvSpPr>
        <p:spPr>
          <a:xfrm>
            <a:off x="11280575" y="6201587"/>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r" rtl="0"/>
            <a:fld id="{00000000-1234-1234-1234-123412341234}" type="slidenum">
              <a:rPr lang="en-GB" smtClean="0"/>
              <a:pPr algn="r" rtl="0"/>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578918" y="133354"/>
            <a:ext cx="9355023" cy="492443"/>
          </a:xfrm>
          <a:prstGeom prst="rect">
            <a:avLst/>
          </a:prstGeom>
        </p:spPr>
        <p:txBody>
          <a:bodyPr wrap="square" lIns="0" tIns="0" rIns="0" bIns="0">
            <a:spAutoFit/>
          </a:bodyPr>
          <a:lstStyle>
            <a:lvl1pPr>
              <a:defRPr sz="3200" b="1" i="0">
                <a:solidFill>
                  <a:schemeClr val="tx1"/>
                </a:solidFill>
                <a:latin typeface="Arial" panose="020B0604020202020204"/>
                <a:cs typeface="Arial" panose="020B0604020202020204"/>
              </a:defRPr>
            </a:lvl1pPr>
          </a:lstStyle>
          <a:p>
            <a:endParaRPr/>
          </a:p>
        </p:txBody>
      </p:sp>
      <p:sp>
        <p:nvSpPr>
          <p:cNvPr id="3" name="Holder 3"/>
          <p:cNvSpPr>
            <a:spLocks noGrp="1"/>
          </p:cNvSpPr>
          <p:nvPr>
            <p:ph type="body" idx="1"/>
          </p:nvPr>
        </p:nvSpPr>
        <p:spPr>
          <a:xfrm>
            <a:off x="555446" y="1243919"/>
            <a:ext cx="11038841" cy="369332"/>
          </a:xfrm>
          <a:prstGeom prst="rect">
            <a:avLst/>
          </a:prstGeom>
        </p:spPr>
        <p:txBody>
          <a:bodyPr wrap="square" lIns="0" tIns="0" rIns="0" bIns="0">
            <a:spAutoFit/>
          </a:bodyPr>
          <a:lstStyle>
            <a:lvl1pPr>
              <a:defRPr sz="2400" b="0" i="0">
                <a:solidFill>
                  <a:schemeClr val="tx1"/>
                </a:solidFill>
                <a:latin typeface="Arial MT"/>
                <a:cs typeface="Arial MT"/>
              </a:defRPr>
            </a:lvl1pPr>
          </a:lstStyle>
          <a:p>
            <a:endParaRPr/>
          </a:p>
        </p:txBody>
      </p:sp>
      <p:sp>
        <p:nvSpPr>
          <p:cNvPr id="4" name="Holder 4"/>
          <p:cNvSpPr>
            <a:spLocks noGrp="1"/>
          </p:cNvSpPr>
          <p:nvPr>
            <p:ph type="ftr" sz="quarter" idx="5"/>
          </p:nvPr>
        </p:nvSpPr>
        <p:spPr>
          <a:xfrm>
            <a:off x="4145280" y="6377943"/>
            <a:ext cx="3901440" cy="276999"/>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3"/>
            <a:ext cx="2804160" cy="276999"/>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2/28/2026</a:t>
            </a:fld>
            <a:endParaRPr lang="en-US"/>
          </a:p>
        </p:txBody>
      </p:sp>
      <p:sp>
        <p:nvSpPr>
          <p:cNvPr id="6" name="Holder 6"/>
          <p:cNvSpPr>
            <a:spLocks noGrp="1"/>
          </p:cNvSpPr>
          <p:nvPr>
            <p:ph type="sldNum" sz="quarter" idx="7"/>
          </p:nvPr>
        </p:nvSpPr>
        <p:spPr>
          <a:xfrm>
            <a:off x="11068811" y="6464912"/>
            <a:ext cx="244475" cy="156068"/>
          </a:xfrm>
          <a:prstGeom prst="rect">
            <a:avLst/>
          </a:prstGeom>
        </p:spPr>
        <p:txBody>
          <a:bodyPr wrap="square" lIns="0" tIns="0" rIns="0" bIns="0">
            <a:spAutoFit/>
          </a:bodyPr>
          <a:lstStyle>
            <a:lvl1pPr>
              <a:defRPr sz="1200" b="0" i="0">
                <a:solidFill>
                  <a:srgbClr val="888888"/>
                </a:solidFill>
                <a:latin typeface="Calibri" panose="020F0502020204030204"/>
                <a:cs typeface="Calibri" panose="020F0502020204030204"/>
              </a:defRPr>
            </a:lvl1pPr>
          </a:lstStyle>
          <a:p>
            <a:pPr marL="38101">
              <a:lnSpc>
                <a:spcPts val="1239"/>
              </a:lnSpc>
            </a:pPr>
            <a:fld id="{81D60167-4931-47E6-BA6A-407CBD079E47}" type="slidenum">
              <a:rPr lang="en-IN" spc="-25" smtClean="0"/>
              <a:pPr marL="38101">
                <a:lnSpc>
                  <a:spcPts val="1239"/>
                </a:lnSpc>
              </a:pPr>
              <a:t>‹#›</a:t>
            </a:fld>
            <a:endParaRPr lang="en-IN" spc="-25"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xStyles>
    <p:titleStyle>
      <a:lvl1pPr>
        <a:defRPr>
          <a:latin typeface="+mj-lt"/>
          <a:ea typeface="+mj-ea"/>
          <a:cs typeface="+mj-cs"/>
        </a:defRPr>
      </a:lvl1pPr>
    </p:titleStyle>
    <p:bodyStyle>
      <a:lvl1pPr marL="0">
        <a:defRPr>
          <a:latin typeface="+mn-lt"/>
          <a:ea typeface="+mn-ea"/>
          <a:cs typeface="+mn-cs"/>
        </a:defRPr>
      </a:lvl1pPr>
      <a:lvl2pPr marL="457211">
        <a:defRPr>
          <a:latin typeface="+mn-lt"/>
          <a:ea typeface="+mn-ea"/>
          <a:cs typeface="+mn-cs"/>
        </a:defRPr>
      </a:lvl2pPr>
      <a:lvl3pPr marL="914423">
        <a:defRPr>
          <a:latin typeface="+mn-lt"/>
          <a:ea typeface="+mn-ea"/>
          <a:cs typeface="+mn-cs"/>
        </a:defRPr>
      </a:lvl3pPr>
      <a:lvl4pPr marL="1371634">
        <a:defRPr>
          <a:latin typeface="+mn-lt"/>
          <a:ea typeface="+mn-ea"/>
          <a:cs typeface="+mn-cs"/>
        </a:defRPr>
      </a:lvl4pPr>
      <a:lvl5pPr marL="1828846">
        <a:defRPr>
          <a:latin typeface="+mn-lt"/>
          <a:ea typeface="+mn-ea"/>
          <a:cs typeface="+mn-cs"/>
        </a:defRPr>
      </a:lvl5pPr>
      <a:lvl6pPr marL="2286057">
        <a:defRPr>
          <a:latin typeface="+mn-lt"/>
          <a:ea typeface="+mn-ea"/>
          <a:cs typeface="+mn-cs"/>
        </a:defRPr>
      </a:lvl6pPr>
      <a:lvl7pPr marL="2743269">
        <a:defRPr>
          <a:latin typeface="+mn-lt"/>
          <a:ea typeface="+mn-ea"/>
          <a:cs typeface="+mn-cs"/>
        </a:defRPr>
      </a:lvl7pPr>
      <a:lvl8pPr marL="3200480">
        <a:defRPr>
          <a:latin typeface="+mn-lt"/>
          <a:ea typeface="+mn-ea"/>
          <a:cs typeface="+mn-cs"/>
        </a:defRPr>
      </a:lvl8pPr>
      <a:lvl9pPr marL="3657691">
        <a:defRPr>
          <a:latin typeface="+mn-lt"/>
          <a:ea typeface="+mn-ea"/>
          <a:cs typeface="+mn-cs"/>
        </a:defRPr>
      </a:lvl9pPr>
    </p:bodyStyle>
    <p:otherStyle>
      <a:lvl1pPr marL="0">
        <a:defRPr>
          <a:latin typeface="+mn-lt"/>
          <a:ea typeface="+mn-ea"/>
          <a:cs typeface="+mn-cs"/>
        </a:defRPr>
      </a:lvl1pPr>
      <a:lvl2pPr marL="457211">
        <a:defRPr>
          <a:latin typeface="+mn-lt"/>
          <a:ea typeface="+mn-ea"/>
          <a:cs typeface="+mn-cs"/>
        </a:defRPr>
      </a:lvl2pPr>
      <a:lvl3pPr marL="914423">
        <a:defRPr>
          <a:latin typeface="+mn-lt"/>
          <a:ea typeface="+mn-ea"/>
          <a:cs typeface="+mn-cs"/>
        </a:defRPr>
      </a:lvl3pPr>
      <a:lvl4pPr marL="1371634">
        <a:defRPr>
          <a:latin typeface="+mn-lt"/>
          <a:ea typeface="+mn-ea"/>
          <a:cs typeface="+mn-cs"/>
        </a:defRPr>
      </a:lvl4pPr>
      <a:lvl5pPr marL="1828846">
        <a:defRPr>
          <a:latin typeface="+mn-lt"/>
          <a:ea typeface="+mn-ea"/>
          <a:cs typeface="+mn-cs"/>
        </a:defRPr>
      </a:lvl5pPr>
      <a:lvl6pPr marL="2286057">
        <a:defRPr>
          <a:latin typeface="+mn-lt"/>
          <a:ea typeface="+mn-ea"/>
          <a:cs typeface="+mn-cs"/>
        </a:defRPr>
      </a:lvl6pPr>
      <a:lvl7pPr marL="2743269">
        <a:defRPr>
          <a:latin typeface="+mn-lt"/>
          <a:ea typeface="+mn-ea"/>
          <a:cs typeface="+mn-cs"/>
        </a:defRPr>
      </a:lvl7pPr>
      <a:lvl8pPr marL="3200480">
        <a:defRPr>
          <a:latin typeface="+mn-lt"/>
          <a:ea typeface="+mn-ea"/>
          <a:cs typeface="+mn-cs"/>
        </a:defRPr>
      </a:lvl8pPr>
      <a:lvl9pPr marL="3657691">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2.jpe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9.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9.jpe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8.xml"/><Relationship Id="rId1" Type="http://schemas.openxmlformats.org/officeDocument/2006/relationships/slideLayout" Target="../slideLayouts/slideLayout4.xml"/><Relationship Id="rId4" Type="http://schemas.openxmlformats.org/officeDocument/2006/relationships/image" Target="../media/image11.jpeg"/></Relationships>
</file>

<file path=ppt/slides/_rels/slide2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33.xml"/><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53.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9.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2.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63.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66.xml"/><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67.xml"/><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73.xml"/><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74.xml"/><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78.xml"/><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79.xml"/><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84.xml"/><Relationship Id="rId1" Type="http://schemas.openxmlformats.org/officeDocument/2006/relationships/slideLayout" Target="../slideLayouts/slideLayout5.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3"/>
          <p:cNvSpPr txBox="1">
            <a:spLocks noGrp="1"/>
          </p:cNvSpPr>
          <p:nvPr>
            <p:ph type="ctrTitle"/>
          </p:nvPr>
        </p:nvSpPr>
        <p:spPr>
          <a:prstGeom prst="rect">
            <a:avLst/>
          </a:prstGeom>
        </p:spPr>
        <p:txBody>
          <a:bodyPr spcFirstLastPara="1" wrap="square" lIns="121900" tIns="121900" rIns="121900" bIns="121900" anchor="b" anchorCtr="0">
            <a:noAutofit/>
          </a:bodyPr>
          <a:lstStyle/>
          <a:p>
            <a:pPr algn="ctr" rtl="0"/>
            <a:r>
              <a:rPr lang="en-GB" sz="6665"/>
              <a:t>AIR QUALITY MANAGEMENT</a:t>
            </a:r>
            <a:endParaRPr sz="6665"/>
          </a:p>
        </p:txBody>
      </p:sp>
      <p:sp>
        <p:nvSpPr>
          <p:cNvPr id="86" name="Google Shape;86;p13"/>
          <p:cNvSpPr txBox="1">
            <a:spLocks noGrp="1"/>
          </p:cNvSpPr>
          <p:nvPr>
            <p:ph type="subTitle" idx="1"/>
          </p:nvPr>
        </p:nvSpPr>
        <p:spPr>
          <a:prstGeom prst="rect">
            <a:avLst/>
          </a:prstGeom>
        </p:spPr>
        <p:txBody>
          <a:bodyPr spcFirstLastPara="1" wrap="square" lIns="121900" tIns="121900" rIns="121900" bIns="121900" anchor="t" anchorCtr="0">
            <a:noAutofit/>
          </a:bodyPr>
          <a:lstStyle/>
          <a:p>
            <a:pPr lvl="8" indent="457211" algn="l" rtl="0">
              <a:lnSpc>
                <a:spcPct val="80000"/>
              </a:lnSpc>
              <a:buSzPts val="1018"/>
            </a:pPr>
            <a:r>
              <a:rPr lang="en-GB" sz="3655" b="1"/>
              <a:t>MODULE </a:t>
            </a:r>
            <a:r>
              <a:rPr lang="en-US" altLang="en-GB" sz="3655" b="1"/>
              <a:t>4</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a:t>AIR QUALITY MONITORING</a:t>
            </a:r>
          </a:p>
        </p:txBody>
      </p:sp>
      <p:sp>
        <p:nvSpPr>
          <p:cNvPr id="3" name="Text Placeholder 2"/>
          <p:cNvSpPr>
            <a:spLocks noGrp="1"/>
          </p:cNvSpPr>
          <p:nvPr>
            <p:ph type="body" idx="1"/>
          </p:nvPr>
        </p:nvSpPr>
        <p:spPr>
          <a:xfrm>
            <a:off x="415600" y="1639833"/>
            <a:ext cx="10328601" cy="4452000"/>
          </a:xfrm>
        </p:spPr>
        <p:txBody>
          <a:bodyPr>
            <a:normAutofit lnSpcReduction="10000"/>
          </a:bodyPr>
          <a:lstStyle/>
          <a:p>
            <a:pPr algn="just">
              <a:lnSpc>
                <a:spcPct val="150000"/>
              </a:lnSpc>
            </a:pPr>
            <a:r>
              <a:rPr lang="en-US" altLang="en-US" b="1" dirty="0"/>
              <a:t>Sampling and measurement </a:t>
            </a:r>
            <a:r>
              <a:rPr lang="en-US" altLang="en-US" dirty="0"/>
              <a:t>of air pollutants is called Air Quality Monitoring </a:t>
            </a:r>
          </a:p>
          <a:p>
            <a:pPr algn="just">
              <a:lnSpc>
                <a:spcPct val="150000"/>
              </a:lnSpc>
            </a:pPr>
            <a:r>
              <a:rPr lang="en-US" altLang="en-US" dirty="0"/>
              <a:t> An integral component of any </a:t>
            </a:r>
            <a:r>
              <a:rPr lang="en-US" altLang="en-US" b="1" dirty="0"/>
              <a:t>pollution control </a:t>
            </a:r>
            <a:r>
              <a:rPr lang="en-US" altLang="en-US" b="1" dirty="0" err="1"/>
              <a:t>programme</a:t>
            </a:r>
            <a:endParaRPr lang="en-US" altLang="en-US" b="1" dirty="0"/>
          </a:p>
          <a:p>
            <a:pPr algn="just">
              <a:lnSpc>
                <a:spcPct val="150000"/>
              </a:lnSpc>
            </a:pPr>
            <a:r>
              <a:rPr lang="en-US" altLang="en-US" dirty="0"/>
              <a:t>The information so obtained is helpful in </a:t>
            </a:r>
            <a:r>
              <a:rPr lang="en-US" altLang="en-US" b="1" dirty="0"/>
              <a:t>monitoring and implementing control measures </a:t>
            </a:r>
            <a:r>
              <a:rPr lang="en-US" altLang="en-US" dirty="0"/>
              <a:t>for reducing pollutant concentrations</a:t>
            </a:r>
          </a:p>
          <a:p>
            <a:pPr algn="just">
              <a:lnSpc>
                <a:spcPct val="150000"/>
              </a:lnSpc>
            </a:pPr>
            <a:r>
              <a:rPr lang="en-US" altLang="en-US" dirty="0"/>
              <a:t>Through monitoring, the </a:t>
            </a:r>
            <a:r>
              <a:rPr lang="en-US" altLang="en-US" b="1" dirty="0"/>
              <a:t>current trends in air quality </a:t>
            </a:r>
            <a:r>
              <a:rPr lang="en-US" altLang="en-US" dirty="0"/>
              <a:t>can be evaluated by comparing the data with the regulated standards</a:t>
            </a:r>
          </a:p>
          <a:p>
            <a:pPr marL="297823" indent="-285757" algn="just">
              <a:lnSpc>
                <a:spcPct val="150000"/>
              </a:lnSpc>
              <a:buFont typeface="Arial" panose="020B0604020202020204" pitchFamily="34" charset="0"/>
              <a:buChar char="•"/>
              <a:tabLst>
                <a:tab pos="241941" algn="l"/>
              </a:tabLst>
            </a:pPr>
            <a:endParaRPr lang="en-US"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a:sym typeface="+mn-ea"/>
              </a:rPr>
              <a:t>AIR QUALITY MONITORING</a:t>
            </a:r>
            <a:endParaRPr lang="en-US"/>
          </a:p>
        </p:txBody>
      </p:sp>
      <p:sp>
        <p:nvSpPr>
          <p:cNvPr id="3" name="Text Placeholder 2"/>
          <p:cNvSpPr>
            <a:spLocks noGrp="1"/>
          </p:cNvSpPr>
          <p:nvPr>
            <p:ph type="body" idx="1"/>
          </p:nvPr>
        </p:nvSpPr>
        <p:spPr/>
        <p:txBody>
          <a:bodyPr/>
          <a:lstStyle/>
          <a:p>
            <a:pPr marL="297823" indent="-285757" algn="just">
              <a:lnSpc>
                <a:spcPct val="150000"/>
              </a:lnSpc>
              <a:buFont typeface="Arial" panose="020B0604020202020204" pitchFamily="34" charset="0"/>
              <a:buChar char="•"/>
              <a:tabLst>
                <a:tab pos="241941" algn="l"/>
              </a:tabLst>
            </a:pPr>
            <a:r>
              <a:rPr lang="en-US" altLang="en-US" sz="2665" spc="-5" dirty="0">
                <a:solidFill>
                  <a:schemeClr val="tx1">
                    <a:lumMod val="50000"/>
                  </a:schemeClr>
                </a:solidFill>
                <a:sym typeface="+mn-ea"/>
              </a:rPr>
              <a:t>The information so obtained is helpful in implementing control measures and </a:t>
            </a:r>
            <a:r>
              <a:rPr lang="en-US" altLang="en-US" sz="2665" b="1" spc="-5" dirty="0">
                <a:solidFill>
                  <a:schemeClr val="tx1">
                    <a:lumMod val="50000"/>
                  </a:schemeClr>
                </a:solidFill>
                <a:sym typeface="+mn-ea"/>
              </a:rPr>
              <a:t>assessing the effects of air pollution control strategies</a:t>
            </a:r>
          </a:p>
          <a:p>
            <a:pPr marL="297823" indent="-285757" algn="just">
              <a:lnSpc>
                <a:spcPct val="150000"/>
              </a:lnSpc>
              <a:buFont typeface="Arial" panose="020B0604020202020204" pitchFamily="34" charset="0"/>
              <a:buChar char="•"/>
              <a:tabLst>
                <a:tab pos="241941" algn="l"/>
              </a:tabLst>
            </a:pPr>
            <a:r>
              <a:rPr lang="en-US" altLang="en-US" sz="2665" spc="-5" dirty="0">
                <a:solidFill>
                  <a:schemeClr val="tx1">
                    <a:lumMod val="50000"/>
                  </a:schemeClr>
                </a:solidFill>
                <a:sym typeface="+mn-ea"/>
              </a:rPr>
              <a:t>The monitoring programmes of </a:t>
            </a:r>
            <a:r>
              <a:rPr lang="en-US" altLang="en-US" sz="2665" b="1" spc="-5" dirty="0">
                <a:solidFill>
                  <a:schemeClr val="tx1">
                    <a:lumMod val="50000"/>
                  </a:schemeClr>
                </a:solidFill>
                <a:sym typeface="+mn-ea"/>
              </a:rPr>
              <a:t>governmental agencies </a:t>
            </a:r>
            <a:r>
              <a:rPr lang="en-US" altLang="en-US" sz="2665" spc="-5" dirty="0">
                <a:solidFill>
                  <a:schemeClr val="tx1">
                    <a:lumMod val="50000"/>
                  </a:schemeClr>
                </a:solidFill>
                <a:sym typeface="+mn-ea"/>
              </a:rPr>
              <a:t>are usually designed for assessing </a:t>
            </a:r>
            <a:r>
              <a:rPr lang="en-US" altLang="en-US" sz="2665" b="1" spc="-5" dirty="0">
                <a:solidFill>
                  <a:schemeClr val="tx1">
                    <a:lumMod val="50000"/>
                  </a:schemeClr>
                </a:solidFill>
                <a:sym typeface="+mn-ea"/>
              </a:rPr>
              <a:t>long term pollution trends</a:t>
            </a:r>
            <a:r>
              <a:rPr lang="en-US" altLang="en-US" sz="2665" spc="-5" dirty="0">
                <a:solidFill>
                  <a:schemeClr val="tx1">
                    <a:lumMod val="50000"/>
                  </a:schemeClr>
                </a:solidFill>
                <a:sym typeface="+mn-ea"/>
              </a:rPr>
              <a:t>, but is often necessary to obtain </a:t>
            </a:r>
            <a:r>
              <a:rPr lang="en-US" altLang="en-US" sz="2665" b="1" spc="-5" dirty="0">
                <a:solidFill>
                  <a:schemeClr val="tx1">
                    <a:lumMod val="50000"/>
                  </a:schemeClr>
                </a:solidFill>
                <a:sym typeface="+mn-ea"/>
              </a:rPr>
              <a:t>short term sampling </a:t>
            </a:r>
            <a:r>
              <a:rPr lang="en-US" altLang="en-US" sz="2665" spc="-5" dirty="0">
                <a:solidFill>
                  <a:schemeClr val="tx1">
                    <a:lumMod val="50000"/>
                  </a:schemeClr>
                </a:solidFill>
                <a:sym typeface="+mn-ea"/>
              </a:rPr>
              <a:t>to establish the existence of particularly </a:t>
            </a:r>
            <a:r>
              <a:rPr lang="en-US" altLang="en-US" sz="2665" b="1" spc="-5" dirty="0">
                <a:solidFill>
                  <a:schemeClr val="tx1">
                    <a:lumMod val="50000"/>
                  </a:schemeClr>
                </a:solidFill>
                <a:sym typeface="+mn-ea"/>
              </a:rPr>
              <a:t>high levels of air pollutants</a:t>
            </a:r>
          </a:p>
          <a:p>
            <a:pPr marL="114303" indent="0" algn="just">
              <a:lnSpc>
                <a:spcPct val="150000"/>
              </a:lnSpc>
              <a:buNone/>
            </a:pPr>
            <a:endParaRPr lang="en-US" altLang="en-US" sz="2665" spc="-5" dirty="0">
              <a:solidFill>
                <a:schemeClr val="tx1">
                  <a:lumMod val="50000"/>
                </a:schemeClr>
              </a:solidFill>
              <a:sym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310" y="152332"/>
            <a:ext cx="11360800" cy="810400"/>
          </a:xfrm>
        </p:spPr>
        <p:txBody>
          <a:bodyPr/>
          <a:lstStyle/>
          <a:p>
            <a:r>
              <a:rPr lang="en-US" altLang="en-US"/>
              <a:t>Measurement of air quality generally fall into two classes:</a:t>
            </a:r>
          </a:p>
        </p:txBody>
      </p:sp>
      <p:sp>
        <p:nvSpPr>
          <p:cNvPr id="3" name="Text Placeholder 2"/>
          <p:cNvSpPr>
            <a:spLocks noGrp="1"/>
          </p:cNvSpPr>
          <p:nvPr>
            <p:ph type="body" idx="1"/>
          </p:nvPr>
        </p:nvSpPr>
        <p:spPr>
          <a:xfrm>
            <a:off x="305110" y="962922"/>
            <a:ext cx="11360800" cy="4452000"/>
          </a:xfrm>
        </p:spPr>
        <p:txBody>
          <a:bodyPr>
            <a:noAutofit/>
          </a:bodyPr>
          <a:lstStyle/>
          <a:p>
            <a:pPr marL="114303" indent="0">
              <a:lnSpc>
                <a:spcPct val="150000"/>
              </a:lnSpc>
              <a:buNone/>
            </a:pPr>
            <a:r>
              <a:rPr lang="en-US" altLang="en-US" sz="2135" dirty="0">
                <a:solidFill>
                  <a:srgbClr val="FF0000"/>
                </a:solidFill>
              </a:rPr>
              <a:t>1. Stack sampling</a:t>
            </a:r>
            <a:endParaRPr lang="en-US" altLang="en-US" sz="2135" dirty="0"/>
          </a:p>
          <a:p>
            <a:pPr>
              <a:lnSpc>
                <a:spcPct val="150000"/>
              </a:lnSpc>
              <a:buFont typeface="Arial" panose="020B0604020202020204" pitchFamily="34" charset="0"/>
              <a:buChar char="•"/>
            </a:pPr>
            <a:r>
              <a:rPr lang="en-US" altLang="en-US" sz="2135" dirty="0"/>
              <a:t> Deals with pollutants emitted from a source such as smoke stack</a:t>
            </a:r>
          </a:p>
          <a:p>
            <a:pPr>
              <a:lnSpc>
                <a:spcPct val="150000"/>
              </a:lnSpc>
              <a:buFont typeface="Arial" panose="020B0604020202020204" pitchFamily="34" charset="0"/>
              <a:buChar char="•"/>
            </a:pPr>
            <a:r>
              <a:rPr lang="en-US" altLang="en-US" sz="2135" dirty="0"/>
              <a:t>Provides information on the nature and quantities of various pollutants that are emitted into the atmosphere</a:t>
            </a:r>
          </a:p>
          <a:p>
            <a:pPr marL="114303" indent="0">
              <a:lnSpc>
                <a:spcPct val="150000"/>
              </a:lnSpc>
              <a:buNone/>
            </a:pPr>
            <a:r>
              <a:rPr lang="en-US" altLang="en-US" sz="2135" dirty="0">
                <a:solidFill>
                  <a:srgbClr val="FF0000"/>
                </a:solidFill>
              </a:rPr>
              <a:t>2. Ambient air quality measurement</a:t>
            </a:r>
          </a:p>
          <a:p>
            <a:pPr>
              <a:lnSpc>
                <a:spcPct val="150000"/>
              </a:lnSpc>
              <a:buFont typeface="Arial" panose="020B0604020202020204" pitchFamily="34" charset="0"/>
              <a:buChar char="•"/>
            </a:pPr>
            <a:r>
              <a:rPr lang="en-US" altLang="en-US" sz="2135" dirty="0"/>
              <a:t>Pollutant levels in ambient </a:t>
            </a:r>
            <a:r>
              <a:rPr lang="en-IN" sz="2000" dirty="0"/>
              <a:t>(surrounding) </a:t>
            </a:r>
            <a:r>
              <a:rPr lang="en-US" altLang="en-US" sz="2135" dirty="0"/>
              <a:t> atmosphere are measured</a:t>
            </a:r>
          </a:p>
          <a:p>
            <a:pPr>
              <a:lnSpc>
                <a:spcPct val="150000"/>
              </a:lnSpc>
              <a:buFont typeface="Arial" panose="020B0604020202020204" pitchFamily="34" charset="0"/>
              <a:buChar char="•"/>
            </a:pPr>
            <a:r>
              <a:rPr lang="en-US" altLang="en-US" sz="2135" dirty="0"/>
              <a:t>Used to: </a:t>
            </a:r>
          </a:p>
          <a:p>
            <a:pPr marL="114303" indent="457211">
              <a:lnSpc>
                <a:spcPct val="150000"/>
              </a:lnSpc>
              <a:buNone/>
            </a:pPr>
            <a:r>
              <a:rPr lang="en-US" altLang="en-US" sz="2135" dirty="0" err="1"/>
              <a:t>i</a:t>
            </a:r>
            <a:r>
              <a:rPr lang="en-US" altLang="en-US" sz="2135" dirty="0"/>
              <a:t>. Determine the areas and time periods when the levels of pollution exceeds the  	acceptable values</a:t>
            </a:r>
          </a:p>
          <a:p>
            <a:pPr marL="114303" indent="457211">
              <a:lnSpc>
                <a:spcPct val="150000"/>
              </a:lnSpc>
              <a:buNone/>
            </a:pPr>
            <a:r>
              <a:rPr lang="en-US" altLang="en-US" sz="2135" dirty="0"/>
              <a:t>ii. Evaluate parameters for air pollution modeling</a:t>
            </a:r>
          </a:p>
          <a:p>
            <a:pPr marL="114303" indent="457211">
              <a:lnSpc>
                <a:spcPct val="150000"/>
              </a:lnSpc>
              <a:buNone/>
            </a:pPr>
            <a:r>
              <a:rPr lang="en-US" altLang="en-US" sz="2135" dirty="0"/>
              <a:t>iii. Establish and evaluate control measures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dirty="0">
                <a:sym typeface="+mn-ea"/>
              </a:rPr>
              <a:t>Ambient</a:t>
            </a:r>
            <a:r>
              <a:rPr spc="-145" dirty="0">
                <a:sym typeface="+mn-ea"/>
              </a:rPr>
              <a:t> </a:t>
            </a:r>
            <a:r>
              <a:rPr dirty="0">
                <a:sym typeface="+mn-ea"/>
              </a:rPr>
              <a:t>Air</a:t>
            </a:r>
            <a:r>
              <a:rPr spc="-25" dirty="0">
                <a:sym typeface="+mn-ea"/>
              </a:rPr>
              <a:t> </a:t>
            </a:r>
            <a:r>
              <a:rPr spc="-10" dirty="0">
                <a:sym typeface="+mn-ea"/>
              </a:rPr>
              <a:t>Sampling</a:t>
            </a:r>
            <a:endParaRPr lang="en-US"/>
          </a:p>
        </p:txBody>
      </p:sp>
      <p:sp>
        <p:nvSpPr>
          <p:cNvPr id="7" name="Text Placeholder 6"/>
          <p:cNvSpPr>
            <a:spLocks noGrp="1"/>
          </p:cNvSpPr>
          <p:nvPr>
            <p:ph type="body" idx="1"/>
          </p:nvPr>
        </p:nvSpPr>
        <p:spPr>
          <a:xfrm>
            <a:off x="228910" y="1219463"/>
            <a:ext cx="11360800" cy="4452000"/>
          </a:xfrm>
        </p:spPr>
        <p:txBody>
          <a:bodyPr>
            <a:normAutofit fontScale="97500" lnSpcReduction="10000"/>
          </a:bodyPr>
          <a:lstStyle/>
          <a:p>
            <a:pPr marR="6985">
              <a:lnSpc>
                <a:spcPct val="150000"/>
              </a:lnSpc>
              <a:spcBef>
                <a:spcPts val="100"/>
              </a:spcBef>
              <a:tabLst>
                <a:tab pos="241306" algn="l"/>
              </a:tabLst>
            </a:pPr>
            <a:r>
              <a:rPr dirty="0">
                <a:sym typeface="+mn-ea"/>
              </a:rPr>
              <a:t>Probably</a:t>
            </a:r>
            <a:r>
              <a:rPr spc="-60" dirty="0">
                <a:sym typeface="+mn-ea"/>
              </a:rPr>
              <a:t> </a:t>
            </a:r>
            <a:r>
              <a:rPr dirty="0">
                <a:sym typeface="+mn-ea"/>
              </a:rPr>
              <a:t>the</a:t>
            </a:r>
            <a:r>
              <a:rPr spc="-60" dirty="0">
                <a:sym typeface="+mn-ea"/>
              </a:rPr>
              <a:t> </a:t>
            </a:r>
            <a:r>
              <a:rPr dirty="0">
                <a:sym typeface="+mn-ea"/>
              </a:rPr>
              <a:t>most</a:t>
            </a:r>
            <a:r>
              <a:rPr spc="-41" dirty="0">
                <a:sym typeface="+mn-ea"/>
              </a:rPr>
              <a:t> </a:t>
            </a:r>
            <a:r>
              <a:rPr dirty="0">
                <a:sym typeface="+mn-ea"/>
              </a:rPr>
              <a:t>important</a:t>
            </a:r>
            <a:r>
              <a:rPr spc="-34" dirty="0">
                <a:sym typeface="+mn-ea"/>
              </a:rPr>
              <a:t> </a:t>
            </a:r>
            <a:r>
              <a:rPr dirty="0">
                <a:sym typeface="+mn-ea"/>
              </a:rPr>
              <a:t>objective</a:t>
            </a:r>
            <a:r>
              <a:rPr spc="-65" dirty="0">
                <a:sym typeface="+mn-ea"/>
              </a:rPr>
              <a:t> </a:t>
            </a:r>
            <a:r>
              <a:rPr dirty="0">
                <a:sym typeface="+mn-ea"/>
              </a:rPr>
              <a:t>of</a:t>
            </a:r>
            <a:r>
              <a:rPr spc="-60" dirty="0">
                <a:sym typeface="+mn-ea"/>
              </a:rPr>
              <a:t> </a:t>
            </a:r>
            <a:r>
              <a:rPr dirty="0">
                <a:sym typeface="+mn-ea"/>
              </a:rPr>
              <a:t>any</a:t>
            </a:r>
            <a:r>
              <a:rPr spc="-60" dirty="0">
                <a:sym typeface="+mn-ea"/>
              </a:rPr>
              <a:t> </a:t>
            </a:r>
            <a:r>
              <a:rPr dirty="0">
                <a:sym typeface="+mn-ea"/>
              </a:rPr>
              <a:t>air</a:t>
            </a:r>
            <a:r>
              <a:rPr spc="-60" dirty="0">
                <a:sym typeface="+mn-ea"/>
              </a:rPr>
              <a:t> </a:t>
            </a:r>
            <a:r>
              <a:rPr dirty="0">
                <a:sym typeface="+mn-ea"/>
              </a:rPr>
              <a:t>sampling</a:t>
            </a:r>
            <a:r>
              <a:rPr spc="-46" dirty="0">
                <a:sym typeface="+mn-ea"/>
              </a:rPr>
              <a:t> </a:t>
            </a:r>
            <a:r>
              <a:rPr dirty="0">
                <a:sym typeface="+mn-ea"/>
              </a:rPr>
              <a:t>exercise</a:t>
            </a:r>
            <a:r>
              <a:rPr spc="-65" dirty="0">
                <a:sym typeface="+mn-ea"/>
              </a:rPr>
              <a:t> </a:t>
            </a:r>
            <a:r>
              <a:rPr dirty="0">
                <a:sym typeface="+mn-ea"/>
              </a:rPr>
              <a:t>is</a:t>
            </a:r>
            <a:r>
              <a:rPr spc="-60" dirty="0">
                <a:sym typeface="+mn-ea"/>
              </a:rPr>
              <a:t> </a:t>
            </a:r>
            <a:r>
              <a:rPr dirty="0">
                <a:sym typeface="+mn-ea"/>
              </a:rPr>
              <a:t>to</a:t>
            </a:r>
            <a:r>
              <a:rPr spc="-60" dirty="0">
                <a:sym typeface="+mn-ea"/>
              </a:rPr>
              <a:t> </a:t>
            </a:r>
            <a:r>
              <a:rPr dirty="0">
                <a:sym typeface="+mn-ea"/>
              </a:rPr>
              <a:t>obtain</a:t>
            </a:r>
            <a:r>
              <a:rPr spc="-65" dirty="0">
                <a:sym typeface="+mn-ea"/>
              </a:rPr>
              <a:t> </a:t>
            </a:r>
            <a:r>
              <a:rPr spc="-50" dirty="0">
                <a:sym typeface="+mn-ea"/>
              </a:rPr>
              <a:t>a </a:t>
            </a:r>
            <a:r>
              <a:rPr b="1" dirty="0">
                <a:sym typeface="+mn-ea"/>
              </a:rPr>
              <a:t>genuine</a:t>
            </a:r>
            <a:r>
              <a:rPr b="1" spc="-100" dirty="0">
                <a:sym typeface="+mn-ea"/>
              </a:rPr>
              <a:t> </a:t>
            </a:r>
            <a:r>
              <a:rPr b="1" dirty="0">
                <a:sym typeface="+mn-ea"/>
              </a:rPr>
              <a:t>and</a:t>
            </a:r>
            <a:r>
              <a:rPr b="1" spc="-90" dirty="0">
                <a:sym typeface="+mn-ea"/>
              </a:rPr>
              <a:t> </a:t>
            </a:r>
            <a:r>
              <a:rPr b="1" dirty="0">
                <a:sym typeface="+mn-ea"/>
              </a:rPr>
              <a:t>representative</a:t>
            </a:r>
            <a:r>
              <a:rPr b="1" spc="-80" dirty="0">
                <a:sym typeface="+mn-ea"/>
              </a:rPr>
              <a:t> </a:t>
            </a:r>
            <a:r>
              <a:rPr b="1" spc="-10" dirty="0">
                <a:sym typeface="+mn-ea"/>
              </a:rPr>
              <a:t>sample</a:t>
            </a:r>
            <a:r>
              <a:rPr spc="-10" dirty="0">
                <a:sym typeface="+mn-ea"/>
              </a:rPr>
              <a:t>.</a:t>
            </a:r>
            <a:endParaRPr dirty="0">
              <a:latin typeface="Arial MT"/>
              <a:cs typeface="Arial MT"/>
            </a:endParaRPr>
          </a:p>
          <a:p>
            <a:pPr marR="282582">
              <a:lnSpc>
                <a:spcPct val="150000"/>
              </a:lnSpc>
              <a:spcBef>
                <a:spcPts val="994"/>
              </a:spcBef>
              <a:tabLst>
                <a:tab pos="241306" algn="l"/>
                <a:tab pos="318778" algn="l"/>
              </a:tabLst>
            </a:pPr>
            <a:r>
              <a:rPr dirty="0">
                <a:sym typeface="+mn-ea"/>
              </a:rPr>
              <a:t>In</a:t>
            </a:r>
            <a:r>
              <a:rPr spc="-55" dirty="0">
                <a:sym typeface="+mn-ea"/>
              </a:rPr>
              <a:t> </a:t>
            </a:r>
            <a:r>
              <a:rPr dirty="0">
                <a:sym typeface="+mn-ea"/>
              </a:rPr>
              <a:t>addition,</a:t>
            </a:r>
            <a:r>
              <a:rPr spc="-60" dirty="0">
                <a:sym typeface="+mn-ea"/>
              </a:rPr>
              <a:t> </a:t>
            </a:r>
            <a:r>
              <a:rPr dirty="0">
                <a:sym typeface="+mn-ea"/>
              </a:rPr>
              <a:t>the</a:t>
            </a:r>
            <a:r>
              <a:rPr spc="-50" dirty="0">
                <a:sym typeface="+mn-ea"/>
              </a:rPr>
              <a:t> </a:t>
            </a:r>
            <a:r>
              <a:rPr dirty="0">
                <a:sym typeface="+mn-ea"/>
              </a:rPr>
              <a:t>sampling</a:t>
            </a:r>
            <a:r>
              <a:rPr spc="-34" dirty="0">
                <a:sym typeface="+mn-ea"/>
              </a:rPr>
              <a:t> </a:t>
            </a:r>
            <a:r>
              <a:rPr dirty="0">
                <a:sym typeface="+mn-ea"/>
              </a:rPr>
              <a:t>should</a:t>
            </a:r>
            <a:r>
              <a:rPr spc="-60" dirty="0">
                <a:sym typeface="+mn-ea"/>
              </a:rPr>
              <a:t> </a:t>
            </a:r>
            <a:r>
              <a:rPr dirty="0">
                <a:sym typeface="+mn-ea"/>
              </a:rPr>
              <a:t>be</a:t>
            </a:r>
            <a:r>
              <a:rPr spc="-34" dirty="0">
                <a:sym typeface="+mn-ea"/>
              </a:rPr>
              <a:t> </a:t>
            </a:r>
            <a:r>
              <a:rPr dirty="0">
                <a:sym typeface="+mn-ea"/>
              </a:rPr>
              <a:t>carried</a:t>
            </a:r>
            <a:r>
              <a:rPr spc="-55" dirty="0">
                <a:sym typeface="+mn-ea"/>
              </a:rPr>
              <a:t> </a:t>
            </a:r>
            <a:r>
              <a:rPr dirty="0">
                <a:sym typeface="+mn-ea"/>
              </a:rPr>
              <a:t>out</a:t>
            </a:r>
            <a:r>
              <a:rPr spc="-55" dirty="0">
                <a:sym typeface="+mn-ea"/>
              </a:rPr>
              <a:t> </a:t>
            </a:r>
            <a:r>
              <a:rPr b="1" dirty="0">
                <a:sym typeface="+mn-ea"/>
              </a:rPr>
              <a:t>long</a:t>
            </a:r>
            <a:r>
              <a:rPr b="1" spc="-46" dirty="0">
                <a:sym typeface="+mn-ea"/>
              </a:rPr>
              <a:t> </a:t>
            </a:r>
            <a:r>
              <a:rPr b="1" dirty="0">
                <a:sym typeface="+mn-ea"/>
              </a:rPr>
              <a:t>enough</a:t>
            </a:r>
            <a:r>
              <a:rPr b="1" spc="-46" dirty="0">
                <a:sym typeface="+mn-ea"/>
              </a:rPr>
              <a:t> </a:t>
            </a:r>
            <a:r>
              <a:rPr dirty="0">
                <a:sym typeface="+mn-ea"/>
              </a:rPr>
              <a:t>and</a:t>
            </a:r>
            <a:r>
              <a:rPr spc="-46" dirty="0">
                <a:sym typeface="+mn-ea"/>
              </a:rPr>
              <a:t> </a:t>
            </a:r>
            <a:r>
              <a:rPr dirty="0">
                <a:sym typeface="+mn-ea"/>
              </a:rPr>
              <a:t>at</a:t>
            </a:r>
            <a:r>
              <a:rPr spc="-50" dirty="0">
                <a:sym typeface="+mn-ea"/>
              </a:rPr>
              <a:t> </a:t>
            </a:r>
            <a:r>
              <a:rPr dirty="0">
                <a:sym typeface="+mn-ea"/>
              </a:rPr>
              <a:t>a</a:t>
            </a:r>
            <a:r>
              <a:rPr spc="-55" dirty="0">
                <a:sym typeface="+mn-ea"/>
              </a:rPr>
              <a:t> </a:t>
            </a:r>
            <a:r>
              <a:rPr dirty="0">
                <a:sym typeface="+mn-ea"/>
              </a:rPr>
              <a:t>rate</a:t>
            </a:r>
            <a:r>
              <a:rPr spc="-41" dirty="0">
                <a:sym typeface="+mn-ea"/>
              </a:rPr>
              <a:t> </a:t>
            </a:r>
            <a:r>
              <a:rPr spc="-20" dirty="0">
                <a:sym typeface="+mn-ea"/>
              </a:rPr>
              <a:t>that </a:t>
            </a:r>
            <a:r>
              <a:rPr dirty="0">
                <a:sym typeface="+mn-ea"/>
              </a:rPr>
              <a:t>allows</a:t>
            </a:r>
            <a:r>
              <a:rPr spc="-85" dirty="0">
                <a:sym typeface="+mn-ea"/>
              </a:rPr>
              <a:t> </a:t>
            </a:r>
            <a:r>
              <a:rPr dirty="0">
                <a:sym typeface="+mn-ea"/>
              </a:rPr>
              <a:t>collection</a:t>
            </a:r>
            <a:r>
              <a:rPr spc="-90" dirty="0">
                <a:sym typeface="+mn-ea"/>
              </a:rPr>
              <a:t> </a:t>
            </a:r>
            <a:r>
              <a:rPr dirty="0">
                <a:sym typeface="+mn-ea"/>
              </a:rPr>
              <a:t>of</a:t>
            </a:r>
            <a:r>
              <a:rPr spc="-80" dirty="0">
                <a:sym typeface="+mn-ea"/>
              </a:rPr>
              <a:t> </a:t>
            </a:r>
            <a:r>
              <a:rPr dirty="0">
                <a:sym typeface="+mn-ea"/>
              </a:rPr>
              <a:t>an</a:t>
            </a:r>
            <a:r>
              <a:rPr spc="-85" dirty="0">
                <a:sym typeface="+mn-ea"/>
              </a:rPr>
              <a:t> </a:t>
            </a:r>
            <a:r>
              <a:rPr b="1" dirty="0">
                <a:sym typeface="+mn-ea"/>
              </a:rPr>
              <a:t>analytically</a:t>
            </a:r>
            <a:r>
              <a:rPr b="1" spc="-85" dirty="0">
                <a:sym typeface="+mn-ea"/>
              </a:rPr>
              <a:t> </a:t>
            </a:r>
            <a:r>
              <a:rPr b="1" dirty="0">
                <a:sym typeface="+mn-ea"/>
              </a:rPr>
              <a:t>measurable</a:t>
            </a:r>
            <a:r>
              <a:rPr b="1" spc="-55" dirty="0">
                <a:sym typeface="+mn-ea"/>
              </a:rPr>
              <a:t> </a:t>
            </a:r>
            <a:r>
              <a:rPr b="1" spc="-10" dirty="0">
                <a:sym typeface="+mn-ea"/>
              </a:rPr>
              <a:t>sample.</a:t>
            </a:r>
            <a:endParaRPr b="1" dirty="0">
              <a:latin typeface="Arial MT"/>
              <a:cs typeface="Arial MT"/>
            </a:endParaRPr>
          </a:p>
          <a:p>
            <a:pPr>
              <a:spcBef>
                <a:spcPts val="2320"/>
              </a:spcBef>
              <a:tabLst>
                <a:tab pos="241306" algn="l"/>
              </a:tabLst>
            </a:pPr>
            <a:r>
              <a:rPr dirty="0">
                <a:sym typeface="+mn-ea"/>
              </a:rPr>
              <a:t>This</a:t>
            </a:r>
            <a:r>
              <a:rPr spc="-46" dirty="0">
                <a:sym typeface="+mn-ea"/>
              </a:rPr>
              <a:t> </a:t>
            </a:r>
            <a:r>
              <a:rPr dirty="0">
                <a:sym typeface="+mn-ea"/>
              </a:rPr>
              <a:t>is</a:t>
            </a:r>
            <a:r>
              <a:rPr spc="-55" dirty="0">
                <a:sym typeface="+mn-ea"/>
              </a:rPr>
              <a:t> </a:t>
            </a:r>
            <a:r>
              <a:rPr dirty="0">
                <a:sym typeface="+mn-ea"/>
              </a:rPr>
              <a:t>due</a:t>
            </a:r>
            <a:r>
              <a:rPr spc="-30" dirty="0">
                <a:sym typeface="+mn-ea"/>
              </a:rPr>
              <a:t> </a:t>
            </a:r>
            <a:r>
              <a:rPr dirty="0">
                <a:sym typeface="+mn-ea"/>
              </a:rPr>
              <a:t>to</a:t>
            </a:r>
            <a:r>
              <a:rPr spc="-55" dirty="0">
                <a:sym typeface="+mn-ea"/>
              </a:rPr>
              <a:t> </a:t>
            </a:r>
            <a:r>
              <a:rPr dirty="0">
                <a:sym typeface="+mn-ea"/>
              </a:rPr>
              <a:t>the</a:t>
            </a:r>
            <a:r>
              <a:rPr spc="-46" dirty="0">
                <a:sym typeface="+mn-ea"/>
              </a:rPr>
              <a:t> </a:t>
            </a:r>
            <a:r>
              <a:rPr dirty="0">
                <a:sym typeface="+mn-ea"/>
              </a:rPr>
              <a:t>fact</a:t>
            </a:r>
            <a:r>
              <a:rPr spc="-50" dirty="0">
                <a:sym typeface="+mn-ea"/>
              </a:rPr>
              <a:t> </a:t>
            </a:r>
            <a:r>
              <a:rPr dirty="0">
                <a:sym typeface="+mn-ea"/>
              </a:rPr>
              <a:t>that</a:t>
            </a:r>
            <a:r>
              <a:rPr spc="-50" dirty="0">
                <a:sym typeface="+mn-ea"/>
              </a:rPr>
              <a:t> </a:t>
            </a:r>
            <a:r>
              <a:rPr dirty="0">
                <a:sym typeface="+mn-ea"/>
              </a:rPr>
              <a:t>the</a:t>
            </a:r>
            <a:r>
              <a:rPr spc="-50" dirty="0">
                <a:sym typeface="+mn-ea"/>
              </a:rPr>
              <a:t> </a:t>
            </a:r>
            <a:r>
              <a:rPr dirty="0">
                <a:sym typeface="+mn-ea"/>
              </a:rPr>
              <a:t>concentrations</a:t>
            </a:r>
            <a:r>
              <a:rPr spc="-55" dirty="0">
                <a:sym typeface="+mn-ea"/>
              </a:rPr>
              <a:t> </a:t>
            </a:r>
            <a:r>
              <a:rPr dirty="0">
                <a:sym typeface="+mn-ea"/>
              </a:rPr>
              <a:t>of</a:t>
            </a:r>
            <a:r>
              <a:rPr spc="-46" dirty="0">
                <a:sym typeface="+mn-ea"/>
              </a:rPr>
              <a:t> </a:t>
            </a:r>
            <a:r>
              <a:rPr dirty="0">
                <a:sym typeface="+mn-ea"/>
              </a:rPr>
              <a:t>pollutants</a:t>
            </a:r>
            <a:r>
              <a:rPr spc="-50" dirty="0">
                <a:sym typeface="+mn-ea"/>
              </a:rPr>
              <a:t> </a:t>
            </a:r>
            <a:r>
              <a:rPr dirty="0">
                <a:sym typeface="+mn-ea"/>
              </a:rPr>
              <a:t>in</a:t>
            </a:r>
            <a:r>
              <a:rPr spc="-46" dirty="0">
                <a:sym typeface="+mn-ea"/>
              </a:rPr>
              <a:t> </a:t>
            </a:r>
            <a:r>
              <a:rPr dirty="0">
                <a:sym typeface="+mn-ea"/>
              </a:rPr>
              <a:t>the</a:t>
            </a:r>
            <a:r>
              <a:rPr spc="-55" dirty="0">
                <a:sym typeface="+mn-ea"/>
              </a:rPr>
              <a:t> </a:t>
            </a:r>
            <a:r>
              <a:rPr dirty="0">
                <a:sym typeface="+mn-ea"/>
              </a:rPr>
              <a:t>ambient</a:t>
            </a:r>
            <a:r>
              <a:rPr spc="-34" dirty="0">
                <a:sym typeface="+mn-ea"/>
              </a:rPr>
              <a:t> </a:t>
            </a:r>
            <a:r>
              <a:rPr dirty="0">
                <a:sym typeface="+mn-ea"/>
              </a:rPr>
              <a:t>air</a:t>
            </a:r>
            <a:r>
              <a:rPr spc="-55" dirty="0">
                <a:sym typeface="+mn-ea"/>
              </a:rPr>
              <a:t> </a:t>
            </a:r>
            <a:r>
              <a:rPr spc="-25" dirty="0">
                <a:sym typeface="+mn-ea"/>
              </a:rPr>
              <a:t>are</a:t>
            </a:r>
            <a:r>
              <a:rPr lang="en-US" spc="-25" dirty="0">
                <a:sym typeface="+mn-ea"/>
              </a:rPr>
              <a:t> </a:t>
            </a:r>
            <a:r>
              <a:rPr spc="-10" dirty="0">
                <a:sym typeface="+mn-ea"/>
              </a:rPr>
              <a:t>small.</a:t>
            </a:r>
            <a:endParaRPr dirty="0">
              <a:latin typeface="Arial MT"/>
              <a:cs typeface="Arial MT"/>
            </a:endParaRPr>
          </a:p>
          <a:p>
            <a:pPr marR="5081">
              <a:lnSpc>
                <a:spcPct val="150000"/>
              </a:lnSpc>
              <a:spcBef>
                <a:spcPts val="1006"/>
              </a:spcBef>
              <a:tabLst>
                <a:tab pos="241306" algn="l"/>
              </a:tabLst>
            </a:pPr>
            <a:r>
              <a:rPr dirty="0">
                <a:sym typeface="+mn-ea"/>
              </a:rPr>
              <a:t>There</a:t>
            </a:r>
            <a:r>
              <a:rPr spc="-50" dirty="0">
                <a:sym typeface="+mn-ea"/>
              </a:rPr>
              <a:t> </a:t>
            </a:r>
            <a:r>
              <a:rPr dirty="0">
                <a:sym typeface="+mn-ea"/>
              </a:rPr>
              <a:t>are</a:t>
            </a:r>
            <a:r>
              <a:rPr spc="-46" dirty="0">
                <a:sym typeface="+mn-ea"/>
              </a:rPr>
              <a:t> </a:t>
            </a:r>
            <a:r>
              <a:rPr dirty="0">
                <a:sym typeface="+mn-ea"/>
              </a:rPr>
              <a:t>both</a:t>
            </a:r>
            <a:r>
              <a:rPr spc="-60" dirty="0">
                <a:sym typeface="+mn-ea"/>
              </a:rPr>
              <a:t> </a:t>
            </a:r>
            <a:r>
              <a:rPr dirty="0">
                <a:sym typeface="+mn-ea"/>
              </a:rPr>
              <a:t>likely</a:t>
            </a:r>
            <a:r>
              <a:rPr spc="-60" dirty="0">
                <a:sym typeface="+mn-ea"/>
              </a:rPr>
              <a:t> </a:t>
            </a:r>
            <a:r>
              <a:rPr dirty="0">
                <a:sym typeface="+mn-ea"/>
              </a:rPr>
              <a:t>to</a:t>
            </a:r>
            <a:r>
              <a:rPr spc="-60" dirty="0">
                <a:sym typeface="+mn-ea"/>
              </a:rPr>
              <a:t> </a:t>
            </a:r>
            <a:r>
              <a:rPr dirty="0">
                <a:sym typeface="+mn-ea"/>
              </a:rPr>
              <a:t>be</a:t>
            </a:r>
            <a:r>
              <a:rPr spc="-55" dirty="0">
                <a:sym typeface="+mn-ea"/>
              </a:rPr>
              <a:t> </a:t>
            </a:r>
            <a:r>
              <a:rPr dirty="0">
                <a:sym typeface="+mn-ea"/>
              </a:rPr>
              <a:t>extremely</a:t>
            </a:r>
            <a:r>
              <a:rPr spc="-30" dirty="0">
                <a:sym typeface="+mn-ea"/>
              </a:rPr>
              <a:t> </a:t>
            </a:r>
            <a:r>
              <a:rPr dirty="0">
                <a:sym typeface="+mn-ea"/>
              </a:rPr>
              <a:t>gaseous</a:t>
            </a:r>
            <a:r>
              <a:rPr spc="-55" dirty="0">
                <a:sym typeface="+mn-ea"/>
              </a:rPr>
              <a:t> </a:t>
            </a:r>
            <a:r>
              <a:rPr dirty="0">
                <a:sym typeface="+mn-ea"/>
              </a:rPr>
              <a:t>and</a:t>
            </a:r>
            <a:r>
              <a:rPr spc="-50" dirty="0">
                <a:sym typeface="+mn-ea"/>
              </a:rPr>
              <a:t> </a:t>
            </a:r>
            <a:r>
              <a:rPr dirty="0">
                <a:sym typeface="+mn-ea"/>
              </a:rPr>
              <a:t>particulate</a:t>
            </a:r>
            <a:r>
              <a:rPr spc="-65" dirty="0">
                <a:sym typeface="+mn-ea"/>
              </a:rPr>
              <a:t> </a:t>
            </a:r>
            <a:r>
              <a:rPr dirty="0">
                <a:sym typeface="+mn-ea"/>
              </a:rPr>
              <a:t>air</a:t>
            </a:r>
            <a:r>
              <a:rPr spc="-55" dirty="0">
                <a:sym typeface="+mn-ea"/>
              </a:rPr>
              <a:t> </a:t>
            </a:r>
            <a:r>
              <a:rPr spc="-10" dirty="0">
                <a:sym typeface="+mn-ea"/>
              </a:rPr>
              <a:t>pollutants </a:t>
            </a:r>
            <a:r>
              <a:rPr dirty="0">
                <a:sym typeface="+mn-ea"/>
              </a:rPr>
              <a:t>whose</a:t>
            </a:r>
            <a:r>
              <a:rPr spc="-70" dirty="0">
                <a:sym typeface="+mn-ea"/>
              </a:rPr>
              <a:t> </a:t>
            </a:r>
            <a:r>
              <a:rPr dirty="0">
                <a:sym typeface="+mn-ea"/>
              </a:rPr>
              <a:t>concentrations</a:t>
            </a:r>
            <a:r>
              <a:rPr spc="-55" dirty="0">
                <a:sym typeface="+mn-ea"/>
              </a:rPr>
              <a:t> </a:t>
            </a:r>
            <a:r>
              <a:rPr dirty="0">
                <a:sym typeface="+mn-ea"/>
              </a:rPr>
              <a:t>occur</a:t>
            </a:r>
            <a:r>
              <a:rPr spc="-65" dirty="0">
                <a:sym typeface="+mn-ea"/>
              </a:rPr>
              <a:t> </a:t>
            </a:r>
            <a:r>
              <a:rPr dirty="0">
                <a:sym typeface="+mn-ea"/>
              </a:rPr>
              <a:t>at</a:t>
            </a:r>
            <a:r>
              <a:rPr spc="-60" dirty="0">
                <a:sym typeface="+mn-ea"/>
              </a:rPr>
              <a:t> </a:t>
            </a:r>
            <a:r>
              <a:rPr dirty="0">
                <a:sym typeface="+mn-ea"/>
              </a:rPr>
              <a:t>levels</a:t>
            </a:r>
            <a:r>
              <a:rPr spc="-60" dirty="0">
                <a:sym typeface="+mn-ea"/>
              </a:rPr>
              <a:t> </a:t>
            </a:r>
            <a:r>
              <a:rPr dirty="0">
                <a:sym typeface="+mn-ea"/>
              </a:rPr>
              <a:t>below</a:t>
            </a:r>
            <a:r>
              <a:rPr spc="-65" dirty="0">
                <a:sym typeface="+mn-ea"/>
              </a:rPr>
              <a:t> </a:t>
            </a:r>
            <a:r>
              <a:rPr b="1" dirty="0">
                <a:sym typeface="+mn-ea"/>
              </a:rPr>
              <a:t>one</a:t>
            </a:r>
            <a:r>
              <a:rPr b="1" spc="-46" dirty="0">
                <a:sym typeface="+mn-ea"/>
              </a:rPr>
              <a:t> </a:t>
            </a:r>
            <a:r>
              <a:rPr b="1" dirty="0">
                <a:sym typeface="+mn-ea"/>
              </a:rPr>
              <a:t>milligram</a:t>
            </a:r>
            <a:r>
              <a:rPr b="1" spc="-60" dirty="0">
                <a:sym typeface="+mn-ea"/>
              </a:rPr>
              <a:t> </a:t>
            </a:r>
            <a:r>
              <a:rPr b="1" dirty="0">
                <a:sym typeface="+mn-ea"/>
              </a:rPr>
              <a:t>per</a:t>
            </a:r>
            <a:r>
              <a:rPr b="1" spc="-50" dirty="0">
                <a:sym typeface="+mn-ea"/>
              </a:rPr>
              <a:t> </a:t>
            </a:r>
            <a:r>
              <a:rPr b="1" dirty="0">
                <a:sym typeface="+mn-ea"/>
              </a:rPr>
              <a:t>cubic</a:t>
            </a:r>
            <a:r>
              <a:rPr b="1" spc="-65" dirty="0">
                <a:sym typeface="+mn-ea"/>
              </a:rPr>
              <a:t> </a:t>
            </a:r>
            <a:r>
              <a:rPr b="1" dirty="0">
                <a:sym typeface="+mn-ea"/>
              </a:rPr>
              <a:t>metre</a:t>
            </a:r>
            <a:r>
              <a:rPr b="1" spc="-41" dirty="0">
                <a:sym typeface="+mn-ea"/>
              </a:rPr>
              <a:t> </a:t>
            </a:r>
            <a:r>
              <a:rPr b="1" dirty="0">
                <a:sym typeface="+mn-ea"/>
              </a:rPr>
              <a:t>of</a:t>
            </a:r>
            <a:r>
              <a:rPr b="1" spc="-65" dirty="0">
                <a:sym typeface="+mn-ea"/>
              </a:rPr>
              <a:t> </a:t>
            </a:r>
            <a:r>
              <a:rPr b="1" spc="-20" dirty="0">
                <a:sym typeface="+mn-ea"/>
              </a:rPr>
              <a:t>air.</a:t>
            </a:r>
            <a:endParaRPr b="1" dirty="0">
              <a:latin typeface="Arial MT"/>
              <a:cs typeface="Arial MT"/>
            </a:endParaRP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sym typeface="+mn-ea"/>
              </a:rPr>
              <a:t>Ambient</a:t>
            </a:r>
            <a:r>
              <a:rPr spc="-145" dirty="0">
                <a:sym typeface="+mn-ea"/>
              </a:rPr>
              <a:t> </a:t>
            </a:r>
            <a:r>
              <a:rPr dirty="0">
                <a:sym typeface="+mn-ea"/>
              </a:rPr>
              <a:t>Air</a:t>
            </a:r>
            <a:r>
              <a:rPr spc="-25" dirty="0">
                <a:sym typeface="+mn-ea"/>
              </a:rPr>
              <a:t> </a:t>
            </a:r>
            <a:r>
              <a:rPr spc="-10" dirty="0">
                <a:sym typeface="+mn-ea"/>
              </a:rPr>
              <a:t>Sampling</a:t>
            </a:r>
            <a:endParaRPr lang="en-US"/>
          </a:p>
        </p:txBody>
      </p:sp>
      <p:sp>
        <p:nvSpPr>
          <p:cNvPr id="3" name="Text Placeholder 2"/>
          <p:cNvSpPr>
            <a:spLocks noGrp="1"/>
          </p:cNvSpPr>
          <p:nvPr>
            <p:ph type="body" idx="1"/>
          </p:nvPr>
        </p:nvSpPr>
        <p:spPr>
          <a:xfrm>
            <a:off x="305110" y="1371863"/>
            <a:ext cx="11360800" cy="4452000"/>
          </a:xfrm>
        </p:spPr>
        <p:txBody>
          <a:bodyPr>
            <a:normAutofit fontScale="92500" lnSpcReduction="10000"/>
          </a:bodyPr>
          <a:lstStyle/>
          <a:p>
            <a:pPr marR="152404">
              <a:lnSpc>
                <a:spcPct val="150000"/>
              </a:lnSpc>
              <a:spcBef>
                <a:spcPts val="95"/>
              </a:spcBef>
              <a:tabLst>
                <a:tab pos="241306" algn="l"/>
              </a:tabLst>
            </a:pPr>
            <a:r>
              <a:rPr dirty="0">
                <a:sym typeface="+mn-ea"/>
              </a:rPr>
              <a:t>In</a:t>
            </a:r>
            <a:r>
              <a:rPr spc="-65" dirty="0">
                <a:sym typeface="+mn-ea"/>
              </a:rPr>
              <a:t> </a:t>
            </a:r>
            <a:r>
              <a:rPr dirty="0">
                <a:sym typeface="+mn-ea"/>
              </a:rPr>
              <a:t>some</a:t>
            </a:r>
            <a:r>
              <a:rPr spc="-65" dirty="0">
                <a:sym typeface="+mn-ea"/>
              </a:rPr>
              <a:t> </a:t>
            </a:r>
            <a:r>
              <a:rPr dirty="0">
                <a:sym typeface="+mn-ea"/>
              </a:rPr>
              <a:t>cases</a:t>
            </a:r>
            <a:r>
              <a:rPr spc="-65" dirty="0">
                <a:sym typeface="+mn-ea"/>
              </a:rPr>
              <a:t> </a:t>
            </a:r>
            <a:r>
              <a:rPr dirty="0">
                <a:sym typeface="+mn-ea"/>
              </a:rPr>
              <a:t>the</a:t>
            </a:r>
            <a:r>
              <a:rPr spc="-70" dirty="0">
                <a:sym typeface="+mn-ea"/>
              </a:rPr>
              <a:t> </a:t>
            </a:r>
            <a:r>
              <a:rPr dirty="0">
                <a:solidFill>
                  <a:srgbClr val="FF0000"/>
                </a:solidFill>
                <a:sym typeface="+mn-ea"/>
              </a:rPr>
              <a:t>pollutants</a:t>
            </a:r>
            <a:r>
              <a:rPr spc="-41" dirty="0">
                <a:solidFill>
                  <a:srgbClr val="FF0000"/>
                </a:solidFill>
                <a:sym typeface="+mn-ea"/>
              </a:rPr>
              <a:t> </a:t>
            </a:r>
            <a:r>
              <a:rPr dirty="0">
                <a:sym typeface="+mn-ea"/>
              </a:rPr>
              <a:t>collected</a:t>
            </a:r>
            <a:r>
              <a:rPr spc="-55" dirty="0">
                <a:sym typeface="+mn-ea"/>
              </a:rPr>
              <a:t> </a:t>
            </a:r>
            <a:r>
              <a:rPr dirty="0">
                <a:sym typeface="+mn-ea"/>
              </a:rPr>
              <a:t>by</a:t>
            </a:r>
            <a:r>
              <a:rPr spc="-65" dirty="0">
                <a:sym typeface="+mn-ea"/>
              </a:rPr>
              <a:t> </a:t>
            </a:r>
            <a:r>
              <a:rPr dirty="0">
                <a:sym typeface="+mn-ea"/>
              </a:rPr>
              <a:t>normal</a:t>
            </a:r>
            <a:r>
              <a:rPr spc="-60" dirty="0">
                <a:sym typeface="+mn-ea"/>
              </a:rPr>
              <a:t> </a:t>
            </a:r>
            <a:r>
              <a:rPr dirty="0">
                <a:sym typeface="+mn-ea"/>
              </a:rPr>
              <a:t>air</a:t>
            </a:r>
            <a:r>
              <a:rPr spc="-60" dirty="0">
                <a:sym typeface="+mn-ea"/>
              </a:rPr>
              <a:t> </a:t>
            </a:r>
            <a:r>
              <a:rPr dirty="0">
                <a:sym typeface="+mn-ea"/>
              </a:rPr>
              <a:t>pollutants</a:t>
            </a:r>
            <a:r>
              <a:rPr spc="-50" dirty="0">
                <a:sym typeface="+mn-ea"/>
              </a:rPr>
              <a:t> </a:t>
            </a:r>
            <a:r>
              <a:rPr spc="-10" dirty="0">
                <a:sym typeface="+mn-ea"/>
              </a:rPr>
              <a:t>sampling </a:t>
            </a:r>
            <a:r>
              <a:rPr dirty="0">
                <a:sym typeface="+mn-ea"/>
              </a:rPr>
              <a:t>methods</a:t>
            </a:r>
            <a:r>
              <a:rPr spc="-46" dirty="0">
                <a:sym typeface="+mn-ea"/>
              </a:rPr>
              <a:t> </a:t>
            </a:r>
            <a:r>
              <a:rPr dirty="0">
                <a:solidFill>
                  <a:srgbClr val="FF0000"/>
                </a:solidFill>
                <a:sym typeface="+mn-ea"/>
              </a:rPr>
              <a:t>may</a:t>
            </a:r>
            <a:r>
              <a:rPr spc="-50" dirty="0">
                <a:solidFill>
                  <a:srgbClr val="FF0000"/>
                </a:solidFill>
                <a:sym typeface="+mn-ea"/>
              </a:rPr>
              <a:t> </a:t>
            </a:r>
            <a:r>
              <a:rPr dirty="0">
                <a:solidFill>
                  <a:srgbClr val="FF0000"/>
                </a:solidFill>
                <a:sym typeface="+mn-ea"/>
              </a:rPr>
              <a:t>be</a:t>
            </a:r>
            <a:r>
              <a:rPr spc="-50" dirty="0">
                <a:solidFill>
                  <a:srgbClr val="FF0000"/>
                </a:solidFill>
                <a:sym typeface="+mn-ea"/>
              </a:rPr>
              <a:t> </a:t>
            </a:r>
            <a:r>
              <a:rPr dirty="0">
                <a:solidFill>
                  <a:srgbClr val="FF0000"/>
                </a:solidFill>
                <a:sym typeface="+mn-ea"/>
              </a:rPr>
              <a:t>reactive</a:t>
            </a:r>
            <a:r>
              <a:rPr spc="-34" dirty="0">
                <a:solidFill>
                  <a:srgbClr val="FF0000"/>
                </a:solidFill>
                <a:sym typeface="+mn-ea"/>
              </a:rPr>
              <a:t> </a:t>
            </a:r>
            <a:r>
              <a:rPr dirty="0">
                <a:solidFill>
                  <a:srgbClr val="FF0000"/>
                </a:solidFill>
                <a:sym typeface="+mn-ea"/>
              </a:rPr>
              <a:t>and</a:t>
            </a:r>
            <a:r>
              <a:rPr spc="-46" dirty="0">
                <a:solidFill>
                  <a:srgbClr val="FF0000"/>
                </a:solidFill>
                <a:sym typeface="+mn-ea"/>
              </a:rPr>
              <a:t> </a:t>
            </a:r>
            <a:r>
              <a:rPr dirty="0">
                <a:solidFill>
                  <a:srgbClr val="FF0000"/>
                </a:solidFill>
                <a:sym typeface="+mn-ea"/>
              </a:rPr>
              <a:t>this</a:t>
            </a:r>
            <a:r>
              <a:rPr spc="-41" dirty="0">
                <a:solidFill>
                  <a:srgbClr val="FF0000"/>
                </a:solidFill>
                <a:sym typeface="+mn-ea"/>
              </a:rPr>
              <a:t> </a:t>
            </a:r>
            <a:r>
              <a:rPr dirty="0">
                <a:solidFill>
                  <a:srgbClr val="FF0000"/>
                </a:solidFill>
                <a:sym typeface="+mn-ea"/>
              </a:rPr>
              <a:t>results</a:t>
            </a:r>
            <a:r>
              <a:rPr spc="-41" dirty="0">
                <a:solidFill>
                  <a:srgbClr val="FF0000"/>
                </a:solidFill>
                <a:sym typeface="+mn-ea"/>
              </a:rPr>
              <a:t> </a:t>
            </a:r>
            <a:r>
              <a:rPr dirty="0">
                <a:solidFill>
                  <a:srgbClr val="FF0000"/>
                </a:solidFill>
                <a:sym typeface="+mn-ea"/>
              </a:rPr>
              <a:t>in</a:t>
            </a:r>
            <a:r>
              <a:rPr spc="-41" dirty="0">
                <a:solidFill>
                  <a:srgbClr val="FF0000"/>
                </a:solidFill>
                <a:sym typeface="+mn-ea"/>
              </a:rPr>
              <a:t> </a:t>
            </a:r>
            <a:r>
              <a:rPr dirty="0">
                <a:solidFill>
                  <a:srgbClr val="FF0000"/>
                </a:solidFill>
                <a:sym typeface="+mn-ea"/>
              </a:rPr>
              <a:t>changes</a:t>
            </a:r>
            <a:r>
              <a:rPr spc="-20" dirty="0">
                <a:solidFill>
                  <a:srgbClr val="FF0000"/>
                </a:solidFill>
                <a:sym typeface="+mn-ea"/>
              </a:rPr>
              <a:t> </a:t>
            </a:r>
            <a:r>
              <a:rPr dirty="0">
                <a:solidFill>
                  <a:srgbClr val="FF0000"/>
                </a:solidFill>
                <a:sym typeface="+mn-ea"/>
              </a:rPr>
              <a:t>after</a:t>
            </a:r>
            <a:r>
              <a:rPr spc="-55" dirty="0">
                <a:solidFill>
                  <a:srgbClr val="FF0000"/>
                </a:solidFill>
                <a:sym typeface="+mn-ea"/>
              </a:rPr>
              <a:t> </a:t>
            </a:r>
            <a:r>
              <a:rPr spc="-10" dirty="0">
                <a:solidFill>
                  <a:srgbClr val="FF0000"/>
                </a:solidFill>
                <a:sym typeface="+mn-ea"/>
              </a:rPr>
              <a:t>collection.</a:t>
            </a:r>
            <a:endParaRPr dirty="0">
              <a:latin typeface="Arial MT"/>
              <a:cs typeface="Arial MT"/>
            </a:endParaRPr>
          </a:p>
          <a:p>
            <a:pPr>
              <a:lnSpc>
                <a:spcPct val="150000"/>
              </a:lnSpc>
              <a:spcBef>
                <a:spcPts val="2441"/>
              </a:spcBef>
              <a:tabLst>
                <a:tab pos="325128" algn="l"/>
              </a:tabLst>
            </a:pPr>
            <a:r>
              <a:rPr dirty="0">
                <a:sym typeface="+mn-ea"/>
              </a:rPr>
              <a:t>Hence,</a:t>
            </a:r>
            <a:r>
              <a:rPr spc="-70" dirty="0">
                <a:sym typeface="+mn-ea"/>
              </a:rPr>
              <a:t> </a:t>
            </a:r>
            <a:r>
              <a:rPr dirty="0">
                <a:solidFill>
                  <a:srgbClr val="FF0000"/>
                </a:solidFill>
                <a:sym typeface="+mn-ea"/>
              </a:rPr>
              <a:t>special</a:t>
            </a:r>
            <a:r>
              <a:rPr spc="-70" dirty="0">
                <a:solidFill>
                  <a:srgbClr val="FF0000"/>
                </a:solidFill>
                <a:sym typeface="+mn-ea"/>
              </a:rPr>
              <a:t> </a:t>
            </a:r>
            <a:r>
              <a:rPr dirty="0">
                <a:solidFill>
                  <a:srgbClr val="FF0000"/>
                </a:solidFill>
                <a:sym typeface="+mn-ea"/>
              </a:rPr>
              <a:t>measures</a:t>
            </a:r>
            <a:r>
              <a:rPr spc="-80" dirty="0">
                <a:solidFill>
                  <a:srgbClr val="FF0000"/>
                </a:solidFill>
                <a:sym typeface="+mn-ea"/>
              </a:rPr>
              <a:t> </a:t>
            </a:r>
            <a:r>
              <a:rPr dirty="0">
                <a:solidFill>
                  <a:srgbClr val="FF0000"/>
                </a:solidFill>
                <a:sym typeface="+mn-ea"/>
              </a:rPr>
              <a:t>are</a:t>
            </a:r>
            <a:r>
              <a:rPr spc="-85" dirty="0">
                <a:solidFill>
                  <a:srgbClr val="FF0000"/>
                </a:solidFill>
                <a:sym typeface="+mn-ea"/>
              </a:rPr>
              <a:t> </a:t>
            </a:r>
            <a:r>
              <a:rPr dirty="0">
                <a:solidFill>
                  <a:srgbClr val="FF0000"/>
                </a:solidFill>
                <a:sym typeface="+mn-ea"/>
              </a:rPr>
              <a:t>necessary</a:t>
            </a:r>
            <a:r>
              <a:rPr spc="-70" dirty="0">
                <a:solidFill>
                  <a:srgbClr val="FF0000"/>
                </a:solidFill>
                <a:sym typeface="+mn-ea"/>
              </a:rPr>
              <a:t> </a:t>
            </a:r>
            <a:r>
              <a:rPr dirty="0">
                <a:solidFill>
                  <a:srgbClr val="FF0000"/>
                </a:solidFill>
                <a:sym typeface="+mn-ea"/>
              </a:rPr>
              <a:t>to</a:t>
            </a:r>
            <a:r>
              <a:rPr spc="-85" dirty="0">
                <a:solidFill>
                  <a:srgbClr val="FF0000"/>
                </a:solidFill>
                <a:sym typeface="+mn-ea"/>
              </a:rPr>
              <a:t> </a:t>
            </a:r>
            <a:r>
              <a:rPr dirty="0">
                <a:solidFill>
                  <a:srgbClr val="FF0000"/>
                </a:solidFill>
                <a:sym typeface="+mn-ea"/>
              </a:rPr>
              <a:t>minimize</a:t>
            </a:r>
            <a:r>
              <a:rPr spc="-60" dirty="0">
                <a:solidFill>
                  <a:srgbClr val="FF0000"/>
                </a:solidFill>
                <a:sym typeface="+mn-ea"/>
              </a:rPr>
              <a:t> </a:t>
            </a:r>
            <a:r>
              <a:rPr dirty="0">
                <a:solidFill>
                  <a:srgbClr val="FF0000"/>
                </a:solidFill>
                <a:sym typeface="+mn-ea"/>
              </a:rPr>
              <a:t>such</a:t>
            </a:r>
            <a:r>
              <a:rPr spc="-85" dirty="0">
                <a:solidFill>
                  <a:srgbClr val="FF0000"/>
                </a:solidFill>
                <a:sym typeface="+mn-ea"/>
              </a:rPr>
              <a:t> </a:t>
            </a:r>
            <a:r>
              <a:rPr spc="-10" dirty="0">
                <a:solidFill>
                  <a:srgbClr val="FF0000"/>
                </a:solidFill>
                <a:sym typeface="+mn-ea"/>
              </a:rPr>
              <a:t>changes.</a:t>
            </a:r>
            <a:endParaRPr dirty="0">
              <a:latin typeface="Arial MT"/>
              <a:cs typeface="Arial MT"/>
            </a:endParaRPr>
          </a:p>
          <a:p>
            <a:pPr marR="5081">
              <a:lnSpc>
                <a:spcPct val="150000"/>
              </a:lnSpc>
              <a:spcBef>
                <a:spcPts val="1006"/>
              </a:spcBef>
              <a:tabLst>
                <a:tab pos="241306" algn="l"/>
                <a:tab pos="325128" algn="l"/>
              </a:tabLst>
            </a:pPr>
            <a:r>
              <a:rPr dirty="0">
                <a:sym typeface="+mn-ea"/>
              </a:rPr>
              <a:t>For</a:t>
            </a:r>
            <a:r>
              <a:rPr spc="-60" dirty="0">
                <a:sym typeface="+mn-ea"/>
              </a:rPr>
              <a:t> </a:t>
            </a:r>
            <a:r>
              <a:rPr dirty="0">
                <a:sym typeface="+mn-ea"/>
              </a:rPr>
              <a:t>example,</a:t>
            </a:r>
            <a:r>
              <a:rPr spc="-30" dirty="0">
                <a:sym typeface="+mn-ea"/>
              </a:rPr>
              <a:t> </a:t>
            </a:r>
            <a:r>
              <a:rPr dirty="0">
                <a:solidFill>
                  <a:srgbClr val="FF0000"/>
                </a:solidFill>
                <a:sym typeface="+mn-ea"/>
              </a:rPr>
              <a:t>SO</a:t>
            </a:r>
            <a:r>
              <a:rPr baseline="-25000" dirty="0">
                <a:solidFill>
                  <a:srgbClr val="FF0000"/>
                </a:solidFill>
                <a:sym typeface="+mn-ea"/>
              </a:rPr>
              <a:t>2</a:t>
            </a:r>
            <a:r>
              <a:rPr spc="-55" dirty="0">
                <a:solidFill>
                  <a:srgbClr val="FF0000"/>
                </a:solidFill>
                <a:sym typeface="+mn-ea"/>
              </a:rPr>
              <a:t> </a:t>
            </a:r>
            <a:r>
              <a:rPr dirty="0">
                <a:solidFill>
                  <a:srgbClr val="FF0000"/>
                </a:solidFill>
                <a:sym typeface="+mn-ea"/>
              </a:rPr>
              <a:t>may</a:t>
            </a:r>
            <a:r>
              <a:rPr spc="-46" dirty="0">
                <a:solidFill>
                  <a:srgbClr val="FF0000"/>
                </a:solidFill>
                <a:sym typeface="+mn-ea"/>
              </a:rPr>
              <a:t> </a:t>
            </a:r>
            <a:r>
              <a:rPr dirty="0">
                <a:solidFill>
                  <a:srgbClr val="FF0000"/>
                </a:solidFill>
                <a:sym typeface="+mn-ea"/>
              </a:rPr>
              <a:t>be</a:t>
            </a:r>
            <a:r>
              <a:rPr spc="-46" dirty="0">
                <a:solidFill>
                  <a:srgbClr val="FF0000"/>
                </a:solidFill>
                <a:sym typeface="+mn-ea"/>
              </a:rPr>
              <a:t> </a:t>
            </a:r>
            <a:r>
              <a:rPr dirty="0">
                <a:solidFill>
                  <a:srgbClr val="FF0000"/>
                </a:solidFill>
                <a:sym typeface="+mn-ea"/>
              </a:rPr>
              <a:t>oxidised</a:t>
            </a:r>
            <a:r>
              <a:rPr spc="-15" dirty="0">
                <a:solidFill>
                  <a:srgbClr val="FF0000"/>
                </a:solidFill>
                <a:sym typeface="+mn-ea"/>
              </a:rPr>
              <a:t> </a:t>
            </a:r>
            <a:r>
              <a:rPr dirty="0">
                <a:solidFill>
                  <a:srgbClr val="FF0000"/>
                </a:solidFill>
                <a:sym typeface="+mn-ea"/>
              </a:rPr>
              <a:t>to</a:t>
            </a:r>
            <a:r>
              <a:rPr spc="-50" dirty="0">
                <a:solidFill>
                  <a:srgbClr val="FF0000"/>
                </a:solidFill>
                <a:sym typeface="+mn-ea"/>
              </a:rPr>
              <a:t> </a:t>
            </a:r>
            <a:r>
              <a:rPr dirty="0">
                <a:solidFill>
                  <a:srgbClr val="FF0000"/>
                </a:solidFill>
                <a:sym typeface="+mn-ea"/>
              </a:rPr>
              <a:t>SO</a:t>
            </a:r>
            <a:r>
              <a:rPr baseline="-25000" dirty="0">
                <a:solidFill>
                  <a:srgbClr val="FF0000"/>
                </a:solidFill>
                <a:sym typeface="+mn-ea"/>
              </a:rPr>
              <a:t>3</a:t>
            </a:r>
            <a:r>
              <a:rPr spc="-46" dirty="0">
                <a:solidFill>
                  <a:srgbClr val="FF0000"/>
                </a:solidFill>
                <a:sym typeface="+mn-ea"/>
              </a:rPr>
              <a:t> </a:t>
            </a:r>
            <a:r>
              <a:rPr dirty="0">
                <a:solidFill>
                  <a:srgbClr val="FF0000"/>
                </a:solidFill>
                <a:sym typeface="+mn-ea"/>
              </a:rPr>
              <a:t>and</a:t>
            </a:r>
            <a:r>
              <a:rPr spc="-55" dirty="0">
                <a:solidFill>
                  <a:srgbClr val="FF0000"/>
                </a:solidFill>
                <a:sym typeface="+mn-ea"/>
              </a:rPr>
              <a:t> </a:t>
            </a:r>
            <a:r>
              <a:rPr dirty="0">
                <a:solidFill>
                  <a:srgbClr val="FF0000"/>
                </a:solidFill>
                <a:sym typeface="+mn-ea"/>
              </a:rPr>
              <a:t>carrying</a:t>
            </a:r>
            <a:r>
              <a:rPr spc="-46" dirty="0">
                <a:solidFill>
                  <a:srgbClr val="FF0000"/>
                </a:solidFill>
                <a:sym typeface="+mn-ea"/>
              </a:rPr>
              <a:t> </a:t>
            </a:r>
            <a:r>
              <a:rPr dirty="0">
                <a:solidFill>
                  <a:srgbClr val="FF0000"/>
                </a:solidFill>
                <a:sym typeface="+mn-ea"/>
              </a:rPr>
              <a:t>out</a:t>
            </a:r>
            <a:r>
              <a:rPr spc="-55" dirty="0">
                <a:solidFill>
                  <a:srgbClr val="FF0000"/>
                </a:solidFill>
                <a:sym typeface="+mn-ea"/>
              </a:rPr>
              <a:t> </a:t>
            </a:r>
            <a:r>
              <a:rPr dirty="0">
                <a:solidFill>
                  <a:srgbClr val="FF0000"/>
                </a:solidFill>
                <a:sym typeface="+mn-ea"/>
              </a:rPr>
              <a:t>the</a:t>
            </a:r>
            <a:r>
              <a:rPr spc="-50" dirty="0">
                <a:solidFill>
                  <a:srgbClr val="FF0000"/>
                </a:solidFill>
                <a:sym typeface="+mn-ea"/>
              </a:rPr>
              <a:t> </a:t>
            </a:r>
            <a:r>
              <a:rPr spc="-10" dirty="0">
                <a:solidFill>
                  <a:srgbClr val="FF0000"/>
                </a:solidFill>
                <a:sym typeface="+mn-ea"/>
              </a:rPr>
              <a:t>analysis </a:t>
            </a:r>
            <a:r>
              <a:rPr dirty="0">
                <a:solidFill>
                  <a:srgbClr val="FF0000"/>
                </a:solidFill>
                <a:sym typeface="+mn-ea"/>
              </a:rPr>
              <a:t>for</a:t>
            </a:r>
            <a:r>
              <a:rPr spc="-55" dirty="0">
                <a:solidFill>
                  <a:srgbClr val="FF0000"/>
                </a:solidFill>
                <a:sym typeface="+mn-ea"/>
              </a:rPr>
              <a:t> </a:t>
            </a:r>
            <a:r>
              <a:rPr dirty="0">
                <a:solidFill>
                  <a:srgbClr val="FF0000"/>
                </a:solidFill>
                <a:sym typeface="+mn-ea"/>
              </a:rPr>
              <a:t>SO</a:t>
            </a:r>
            <a:r>
              <a:rPr baseline="-25000" dirty="0">
                <a:solidFill>
                  <a:srgbClr val="FF0000"/>
                </a:solidFill>
                <a:sym typeface="+mn-ea"/>
              </a:rPr>
              <a:t>2</a:t>
            </a:r>
            <a:r>
              <a:rPr spc="-55" dirty="0">
                <a:solidFill>
                  <a:srgbClr val="FF0000"/>
                </a:solidFill>
                <a:sym typeface="+mn-ea"/>
              </a:rPr>
              <a:t> </a:t>
            </a:r>
            <a:r>
              <a:rPr dirty="0">
                <a:solidFill>
                  <a:srgbClr val="FF0000"/>
                </a:solidFill>
                <a:sym typeface="+mn-ea"/>
              </a:rPr>
              <a:t>can</a:t>
            </a:r>
            <a:r>
              <a:rPr spc="-65" dirty="0">
                <a:solidFill>
                  <a:srgbClr val="FF0000"/>
                </a:solidFill>
                <a:sym typeface="+mn-ea"/>
              </a:rPr>
              <a:t> </a:t>
            </a:r>
            <a:r>
              <a:rPr dirty="0">
                <a:solidFill>
                  <a:srgbClr val="FF0000"/>
                </a:solidFill>
                <a:sym typeface="+mn-ea"/>
              </a:rPr>
              <a:t>be</a:t>
            </a:r>
            <a:r>
              <a:rPr spc="-55" dirty="0">
                <a:solidFill>
                  <a:srgbClr val="FF0000"/>
                </a:solidFill>
                <a:sym typeface="+mn-ea"/>
              </a:rPr>
              <a:t> </a:t>
            </a:r>
            <a:r>
              <a:rPr dirty="0">
                <a:solidFill>
                  <a:srgbClr val="FF0000"/>
                </a:solidFill>
                <a:sym typeface="+mn-ea"/>
              </a:rPr>
              <a:t>misleading</a:t>
            </a:r>
            <a:r>
              <a:rPr spc="-10" dirty="0">
                <a:solidFill>
                  <a:srgbClr val="FF0000"/>
                </a:solidFill>
                <a:sym typeface="+mn-ea"/>
              </a:rPr>
              <a:t> </a:t>
            </a:r>
            <a:r>
              <a:rPr dirty="0">
                <a:solidFill>
                  <a:srgbClr val="FF0000"/>
                </a:solidFill>
                <a:sym typeface="+mn-ea"/>
              </a:rPr>
              <a:t>in</a:t>
            </a:r>
            <a:r>
              <a:rPr spc="-65" dirty="0">
                <a:solidFill>
                  <a:srgbClr val="FF0000"/>
                </a:solidFill>
                <a:sym typeface="+mn-ea"/>
              </a:rPr>
              <a:t> </a:t>
            </a:r>
            <a:r>
              <a:rPr dirty="0">
                <a:solidFill>
                  <a:srgbClr val="FF0000"/>
                </a:solidFill>
                <a:sym typeface="+mn-ea"/>
              </a:rPr>
              <a:t>the</a:t>
            </a:r>
            <a:r>
              <a:rPr spc="-70" dirty="0">
                <a:solidFill>
                  <a:srgbClr val="FF0000"/>
                </a:solidFill>
                <a:sym typeface="+mn-ea"/>
              </a:rPr>
              <a:t> </a:t>
            </a:r>
            <a:r>
              <a:rPr dirty="0">
                <a:solidFill>
                  <a:srgbClr val="FF0000"/>
                </a:solidFill>
                <a:sym typeface="+mn-ea"/>
              </a:rPr>
              <a:t>absence</a:t>
            </a:r>
            <a:r>
              <a:rPr spc="-34" dirty="0">
                <a:solidFill>
                  <a:srgbClr val="FF0000"/>
                </a:solidFill>
                <a:sym typeface="+mn-ea"/>
              </a:rPr>
              <a:t> </a:t>
            </a:r>
            <a:r>
              <a:rPr dirty="0">
                <a:solidFill>
                  <a:srgbClr val="FF0000"/>
                </a:solidFill>
                <a:sym typeface="+mn-ea"/>
              </a:rPr>
              <a:t>of</a:t>
            </a:r>
            <a:r>
              <a:rPr spc="-55" dirty="0">
                <a:solidFill>
                  <a:srgbClr val="FF0000"/>
                </a:solidFill>
                <a:sym typeface="+mn-ea"/>
              </a:rPr>
              <a:t> </a:t>
            </a:r>
            <a:r>
              <a:rPr dirty="0">
                <a:solidFill>
                  <a:srgbClr val="FF0000"/>
                </a:solidFill>
                <a:sym typeface="+mn-ea"/>
              </a:rPr>
              <a:t>precautions</a:t>
            </a:r>
            <a:r>
              <a:rPr spc="-55" dirty="0">
                <a:solidFill>
                  <a:srgbClr val="FF0000"/>
                </a:solidFill>
                <a:sym typeface="+mn-ea"/>
              </a:rPr>
              <a:t> </a:t>
            </a:r>
            <a:r>
              <a:rPr dirty="0">
                <a:solidFill>
                  <a:srgbClr val="FF0000"/>
                </a:solidFill>
                <a:sym typeface="+mn-ea"/>
              </a:rPr>
              <a:t>to</a:t>
            </a:r>
            <a:r>
              <a:rPr spc="-55" dirty="0">
                <a:solidFill>
                  <a:srgbClr val="FF0000"/>
                </a:solidFill>
                <a:sym typeface="+mn-ea"/>
              </a:rPr>
              <a:t> </a:t>
            </a:r>
            <a:r>
              <a:rPr dirty="0">
                <a:solidFill>
                  <a:srgbClr val="FF0000"/>
                </a:solidFill>
                <a:sym typeface="+mn-ea"/>
              </a:rPr>
              <a:t>prevent</a:t>
            </a:r>
            <a:r>
              <a:rPr spc="-50" dirty="0">
                <a:solidFill>
                  <a:srgbClr val="FF0000"/>
                </a:solidFill>
                <a:sym typeface="+mn-ea"/>
              </a:rPr>
              <a:t> </a:t>
            </a:r>
            <a:r>
              <a:rPr spc="-25" dirty="0">
                <a:solidFill>
                  <a:srgbClr val="FF0000"/>
                </a:solidFill>
                <a:sym typeface="+mn-ea"/>
              </a:rPr>
              <a:t>the </a:t>
            </a:r>
            <a:r>
              <a:rPr spc="-10" dirty="0">
                <a:solidFill>
                  <a:srgbClr val="FF0000"/>
                </a:solidFill>
                <a:sym typeface="+mn-ea"/>
              </a:rPr>
              <a:t>oxidation.</a:t>
            </a:r>
            <a:endParaRPr dirty="0">
              <a:latin typeface="Arial MT"/>
              <a:cs typeface="Arial MT"/>
            </a:endParaRPr>
          </a:p>
          <a:p>
            <a:pPr>
              <a:lnSpc>
                <a:spcPct val="150000"/>
              </a:lnSpc>
              <a:spcBef>
                <a:spcPts val="2435"/>
              </a:spcBef>
              <a:tabLst>
                <a:tab pos="239400" algn="l"/>
              </a:tabLst>
            </a:pPr>
            <a:r>
              <a:rPr spc="-20" dirty="0">
                <a:sym typeface="+mn-ea"/>
              </a:rPr>
              <a:t>Usually,</a:t>
            </a:r>
            <a:r>
              <a:rPr spc="-41" dirty="0">
                <a:sym typeface="+mn-ea"/>
              </a:rPr>
              <a:t> </a:t>
            </a:r>
            <a:r>
              <a:rPr dirty="0">
                <a:solidFill>
                  <a:srgbClr val="FF0000"/>
                </a:solidFill>
                <a:sym typeface="+mn-ea"/>
              </a:rPr>
              <a:t>a</a:t>
            </a:r>
            <a:r>
              <a:rPr spc="-70" dirty="0">
                <a:solidFill>
                  <a:srgbClr val="FF0000"/>
                </a:solidFill>
                <a:sym typeface="+mn-ea"/>
              </a:rPr>
              <a:t> </a:t>
            </a:r>
            <a:r>
              <a:rPr dirty="0">
                <a:solidFill>
                  <a:srgbClr val="FF0000"/>
                </a:solidFill>
                <a:sym typeface="+mn-ea"/>
              </a:rPr>
              <a:t>reducing</a:t>
            </a:r>
            <a:r>
              <a:rPr spc="-46" dirty="0">
                <a:solidFill>
                  <a:srgbClr val="FF0000"/>
                </a:solidFill>
                <a:sym typeface="+mn-ea"/>
              </a:rPr>
              <a:t> </a:t>
            </a:r>
            <a:r>
              <a:rPr dirty="0">
                <a:solidFill>
                  <a:srgbClr val="FF0000"/>
                </a:solidFill>
                <a:sym typeface="+mn-ea"/>
              </a:rPr>
              <a:t>agent</a:t>
            </a:r>
            <a:r>
              <a:rPr spc="-60" dirty="0">
                <a:solidFill>
                  <a:srgbClr val="FF0000"/>
                </a:solidFill>
                <a:sym typeface="+mn-ea"/>
              </a:rPr>
              <a:t> </a:t>
            </a:r>
            <a:r>
              <a:rPr dirty="0">
                <a:sym typeface="+mn-ea"/>
              </a:rPr>
              <a:t>such</a:t>
            </a:r>
            <a:r>
              <a:rPr spc="-75" dirty="0">
                <a:sym typeface="+mn-ea"/>
              </a:rPr>
              <a:t> </a:t>
            </a:r>
            <a:r>
              <a:rPr dirty="0">
                <a:sym typeface="+mn-ea"/>
              </a:rPr>
              <a:t>as</a:t>
            </a:r>
            <a:r>
              <a:rPr spc="-65" dirty="0">
                <a:sym typeface="+mn-ea"/>
              </a:rPr>
              <a:t> </a:t>
            </a:r>
            <a:r>
              <a:rPr dirty="0">
                <a:solidFill>
                  <a:srgbClr val="FF0000"/>
                </a:solidFill>
                <a:sym typeface="+mn-ea"/>
              </a:rPr>
              <a:t>isopropanol</a:t>
            </a:r>
            <a:r>
              <a:rPr spc="-50" dirty="0">
                <a:solidFill>
                  <a:srgbClr val="FF0000"/>
                </a:solidFill>
                <a:sym typeface="+mn-ea"/>
              </a:rPr>
              <a:t> </a:t>
            </a:r>
            <a:r>
              <a:rPr dirty="0">
                <a:sym typeface="+mn-ea"/>
              </a:rPr>
              <a:t>used</a:t>
            </a:r>
            <a:r>
              <a:rPr spc="-60" dirty="0">
                <a:sym typeface="+mn-ea"/>
              </a:rPr>
              <a:t> </a:t>
            </a:r>
            <a:r>
              <a:rPr dirty="0">
                <a:sym typeface="+mn-ea"/>
              </a:rPr>
              <a:t>as</a:t>
            </a:r>
            <a:r>
              <a:rPr spc="-80" dirty="0">
                <a:sym typeface="+mn-ea"/>
              </a:rPr>
              <a:t> </a:t>
            </a:r>
            <a:r>
              <a:rPr dirty="0">
                <a:sym typeface="+mn-ea"/>
              </a:rPr>
              <a:t>a</a:t>
            </a:r>
            <a:r>
              <a:rPr spc="-65" dirty="0">
                <a:sym typeface="+mn-ea"/>
              </a:rPr>
              <a:t> </a:t>
            </a:r>
            <a:r>
              <a:rPr dirty="0">
                <a:sym typeface="+mn-ea"/>
              </a:rPr>
              <a:t>medium</a:t>
            </a:r>
            <a:r>
              <a:rPr spc="-65" dirty="0">
                <a:sym typeface="+mn-ea"/>
              </a:rPr>
              <a:t> </a:t>
            </a:r>
            <a:r>
              <a:rPr spc="-25" dirty="0">
                <a:sym typeface="+mn-ea"/>
              </a:rPr>
              <a:t>for</a:t>
            </a:r>
            <a:r>
              <a:rPr lang="en-US" spc="-25" dirty="0">
                <a:sym typeface="+mn-ea"/>
              </a:rPr>
              <a:t> </a:t>
            </a:r>
            <a:r>
              <a:rPr dirty="0">
                <a:sym typeface="+mn-ea"/>
              </a:rPr>
              <a:t>collecting</a:t>
            </a:r>
            <a:r>
              <a:rPr spc="-34" dirty="0">
                <a:sym typeface="+mn-ea"/>
              </a:rPr>
              <a:t> </a:t>
            </a:r>
            <a:r>
              <a:rPr dirty="0">
                <a:sym typeface="+mn-ea"/>
              </a:rPr>
              <a:t>SO</a:t>
            </a:r>
            <a:r>
              <a:rPr baseline="-25000" dirty="0">
                <a:sym typeface="+mn-ea"/>
              </a:rPr>
              <a:t>2</a:t>
            </a:r>
            <a:r>
              <a:rPr dirty="0">
                <a:sym typeface="+mn-ea"/>
              </a:rPr>
              <a:t>,</a:t>
            </a:r>
            <a:r>
              <a:rPr spc="-80" dirty="0">
                <a:sym typeface="+mn-ea"/>
              </a:rPr>
              <a:t> </a:t>
            </a:r>
            <a:r>
              <a:rPr dirty="0">
                <a:sym typeface="+mn-ea"/>
              </a:rPr>
              <a:t>which</a:t>
            </a:r>
            <a:r>
              <a:rPr spc="-34" dirty="0">
                <a:sym typeface="+mn-ea"/>
              </a:rPr>
              <a:t> </a:t>
            </a:r>
            <a:r>
              <a:rPr dirty="0">
                <a:solidFill>
                  <a:srgbClr val="FF0000"/>
                </a:solidFill>
                <a:sym typeface="+mn-ea"/>
              </a:rPr>
              <a:t>inhibits</a:t>
            </a:r>
            <a:r>
              <a:rPr spc="-34" dirty="0">
                <a:solidFill>
                  <a:srgbClr val="FF0000"/>
                </a:solidFill>
                <a:sym typeface="+mn-ea"/>
              </a:rPr>
              <a:t> </a:t>
            </a:r>
            <a:r>
              <a:rPr dirty="0">
                <a:solidFill>
                  <a:srgbClr val="FF0000"/>
                </a:solidFill>
                <a:sym typeface="+mn-ea"/>
              </a:rPr>
              <a:t>the</a:t>
            </a:r>
            <a:r>
              <a:rPr spc="-60" dirty="0">
                <a:solidFill>
                  <a:srgbClr val="FF0000"/>
                </a:solidFill>
                <a:sym typeface="+mn-ea"/>
              </a:rPr>
              <a:t> </a:t>
            </a:r>
            <a:r>
              <a:rPr dirty="0">
                <a:solidFill>
                  <a:srgbClr val="FF0000"/>
                </a:solidFill>
                <a:sym typeface="+mn-ea"/>
              </a:rPr>
              <a:t>formation</a:t>
            </a:r>
            <a:r>
              <a:rPr spc="-60" dirty="0">
                <a:solidFill>
                  <a:srgbClr val="FF0000"/>
                </a:solidFill>
                <a:sym typeface="+mn-ea"/>
              </a:rPr>
              <a:t> </a:t>
            </a:r>
            <a:r>
              <a:rPr dirty="0">
                <a:solidFill>
                  <a:srgbClr val="FF0000"/>
                </a:solidFill>
                <a:sym typeface="+mn-ea"/>
              </a:rPr>
              <a:t>of</a:t>
            </a:r>
            <a:r>
              <a:rPr spc="-60" dirty="0">
                <a:solidFill>
                  <a:srgbClr val="FF0000"/>
                </a:solidFill>
                <a:sym typeface="+mn-ea"/>
              </a:rPr>
              <a:t> </a:t>
            </a:r>
            <a:r>
              <a:rPr spc="-20" dirty="0">
                <a:solidFill>
                  <a:srgbClr val="FF0000"/>
                </a:solidFill>
                <a:sym typeface="+mn-ea"/>
              </a:rPr>
              <a:t>SO</a:t>
            </a:r>
            <a:r>
              <a:rPr spc="-20" baseline="-25000" dirty="0">
                <a:solidFill>
                  <a:srgbClr val="FF0000"/>
                </a:solidFill>
                <a:sym typeface="+mn-ea"/>
              </a:rPr>
              <a:t>3</a:t>
            </a:r>
            <a:r>
              <a:rPr spc="-20" dirty="0">
                <a:solidFill>
                  <a:srgbClr val="FF0000"/>
                </a:solidFill>
                <a:sym typeface="+mn-ea"/>
              </a:rPr>
              <a:t>.</a:t>
            </a:r>
            <a:endParaRPr dirty="0">
              <a:latin typeface="Arial MT"/>
              <a:cs typeface="Arial MT"/>
            </a:endParaRPr>
          </a:p>
          <a:p>
            <a:pPr>
              <a:lnSpc>
                <a:spcPct val="150000"/>
              </a:lnSpc>
            </a:pP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sym typeface="+mn-ea"/>
              </a:rPr>
              <a:t>Ambient</a:t>
            </a:r>
            <a:r>
              <a:rPr spc="-145" dirty="0">
                <a:sym typeface="+mn-ea"/>
              </a:rPr>
              <a:t> </a:t>
            </a:r>
            <a:r>
              <a:rPr dirty="0">
                <a:sym typeface="+mn-ea"/>
              </a:rPr>
              <a:t>Air</a:t>
            </a:r>
            <a:r>
              <a:rPr spc="-25" dirty="0">
                <a:sym typeface="+mn-ea"/>
              </a:rPr>
              <a:t> </a:t>
            </a:r>
            <a:r>
              <a:rPr spc="-10" dirty="0">
                <a:sym typeface="+mn-ea"/>
              </a:rPr>
              <a:t>Sampling</a:t>
            </a:r>
            <a:endParaRPr lang="en-US"/>
          </a:p>
        </p:txBody>
      </p:sp>
      <p:sp>
        <p:nvSpPr>
          <p:cNvPr id="3" name="Text Placeholder 2"/>
          <p:cNvSpPr>
            <a:spLocks noGrp="1"/>
          </p:cNvSpPr>
          <p:nvPr>
            <p:ph type="body" idx="1"/>
          </p:nvPr>
        </p:nvSpPr>
        <p:spPr>
          <a:xfrm>
            <a:off x="416235" y="1448063"/>
            <a:ext cx="11360800" cy="4452000"/>
          </a:xfrm>
        </p:spPr>
        <p:txBody>
          <a:bodyPr/>
          <a:lstStyle/>
          <a:p>
            <a:pPr marR="5081">
              <a:lnSpc>
                <a:spcPct val="150000"/>
              </a:lnSpc>
              <a:spcBef>
                <a:spcPts val="95"/>
              </a:spcBef>
              <a:tabLst>
                <a:tab pos="241306" algn="l"/>
              </a:tabLst>
            </a:pPr>
            <a:r>
              <a:rPr dirty="0">
                <a:sym typeface="+mn-ea"/>
              </a:rPr>
              <a:t>It</a:t>
            </a:r>
            <a:r>
              <a:rPr spc="-70" dirty="0">
                <a:sym typeface="+mn-ea"/>
              </a:rPr>
              <a:t> </a:t>
            </a:r>
            <a:r>
              <a:rPr dirty="0">
                <a:sym typeface="+mn-ea"/>
              </a:rPr>
              <a:t>is,</a:t>
            </a:r>
            <a:r>
              <a:rPr spc="-60" dirty="0">
                <a:sym typeface="+mn-ea"/>
              </a:rPr>
              <a:t> </a:t>
            </a:r>
            <a:r>
              <a:rPr dirty="0">
                <a:sym typeface="+mn-ea"/>
              </a:rPr>
              <a:t>therefore</a:t>
            </a:r>
            <a:r>
              <a:rPr spc="-65" dirty="0">
                <a:sym typeface="+mn-ea"/>
              </a:rPr>
              <a:t> </a:t>
            </a:r>
            <a:r>
              <a:rPr dirty="0">
                <a:sym typeface="+mn-ea"/>
              </a:rPr>
              <a:t>ideal</a:t>
            </a:r>
            <a:r>
              <a:rPr spc="-34" dirty="0">
                <a:sym typeface="+mn-ea"/>
              </a:rPr>
              <a:t> </a:t>
            </a:r>
            <a:r>
              <a:rPr dirty="0">
                <a:sym typeface="+mn-ea"/>
              </a:rPr>
              <a:t>and</a:t>
            </a:r>
            <a:r>
              <a:rPr spc="-41" dirty="0">
                <a:sym typeface="+mn-ea"/>
              </a:rPr>
              <a:t> </a:t>
            </a:r>
            <a:r>
              <a:rPr dirty="0">
                <a:solidFill>
                  <a:srgbClr val="FF0000"/>
                </a:solidFill>
                <a:sym typeface="+mn-ea"/>
              </a:rPr>
              <a:t>desirable</a:t>
            </a:r>
            <a:r>
              <a:rPr spc="-25" dirty="0">
                <a:solidFill>
                  <a:srgbClr val="FF0000"/>
                </a:solidFill>
                <a:sym typeface="+mn-ea"/>
              </a:rPr>
              <a:t> </a:t>
            </a:r>
            <a:r>
              <a:rPr dirty="0">
                <a:solidFill>
                  <a:srgbClr val="FF0000"/>
                </a:solidFill>
                <a:sym typeface="+mn-ea"/>
              </a:rPr>
              <a:t>to</a:t>
            </a:r>
            <a:r>
              <a:rPr spc="-75" dirty="0">
                <a:solidFill>
                  <a:srgbClr val="FF0000"/>
                </a:solidFill>
                <a:sym typeface="+mn-ea"/>
              </a:rPr>
              <a:t> </a:t>
            </a:r>
            <a:r>
              <a:rPr dirty="0">
                <a:solidFill>
                  <a:srgbClr val="FF0000"/>
                </a:solidFill>
                <a:sym typeface="+mn-ea"/>
              </a:rPr>
              <a:t>perform</a:t>
            </a:r>
            <a:r>
              <a:rPr spc="-50" dirty="0">
                <a:solidFill>
                  <a:srgbClr val="FF0000"/>
                </a:solidFill>
                <a:sym typeface="+mn-ea"/>
              </a:rPr>
              <a:t> </a:t>
            </a:r>
            <a:r>
              <a:rPr dirty="0">
                <a:solidFill>
                  <a:srgbClr val="FF0000"/>
                </a:solidFill>
                <a:sym typeface="+mn-ea"/>
              </a:rPr>
              <a:t>the</a:t>
            </a:r>
            <a:r>
              <a:rPr spc="-55" dirty="0">
                <a:solidFill>
                  <a:srgbClr val="FF0000"/>
                </a:solidFill>
                <a:sym typeface="+mn-ea"/>
              </a:rPr>
              <a:t> </a:t>
            </a:r>
            <a:r>
              <a:rPr dirty="0">
                <a:solidFill>
                  <a:srgbClr val="FF0000"/>
                </a:solidFill>
                <a:sym typeface="+mn-ea"/>
              </a:rPr>
              <a:t>analysis</a:t>
            </a:r>
            <a:r>
              <a:rPr spc="-34" dirty="0">
                <a:solidFill>
                  <a:srgbClr val="FF0000"/>
                </a:solidFill>
                <a:sym typeface="+mn-ea"/>
              </a:rPr>
              <a:t> </a:t>
            </a:r>
            <a:r>
              <a:rPr dirty="0">
                <a:solidFill>
                  <a:srgbClr val="FF0000"/>
                </a:solidFill>
                <a:sym typeface="+mn-ea"/>
              </a:rPr>
              <a:t>on</a:t>
            </a:r>
            <a:r>
              <a:rPr spc="-50" dirty="0">
                <a:solidFill>
                  <a:srgbClr val="FF0000"/>
                </a:solidFill>
                <a:sym typeface="+mn-ea"/>
              </a:rPr>
              <a:t> </a:t>
            </a:r>
            <a:r>
              <a:rPr spc="-25" dirty="0">
                <a:solidFill>
                  <a:srgbClr val="FF0000"/>
                </a:solidFill>
                <a:sym typeface="+mn-ea"/>
              </a:rPr>
              <a:t>the </a:t>
            </a:r>
            <a:r>
              <a:rPr dirty="0">
                <a:solidFill>
                  <a:srgbClr val="FF0000"/>
                </a:solidFill>
                <a:sym typeface="+mn-ea"/>
              </a:rPr>
              <a:t>unchanged</a:t>
            </a:r>
            <a:r>
              <a:rPr spc="-70" dirty="0">
                <a:solidFill>
                  <a:srgbClr val="FF0000"/>
                </a:solidFill>
                <a:sym typeface="+mn-ea"/>
              </a:rPr>
              <a:t> </a:t>
            </a:r>
            <a:r>
              <a:rPr dirty="0">
                <a:solidFill>
                  <a:srgbClr val="FF0000"/>
                </a:solidFill>
                <a:sym typeface="+mn-ea"/>
              </a:rPr>
              <a:t>atmosphere</a:t>
            </a:r>
            <a:r>
              <a:rPr dirty="0">
                <a:sym typeface="+mn-ea"/>
              </a:rPr>
              <a:t>,</a:t>
            </a:r>
            <a:r>
              <a:rPr spc="-90" dirty="0">
                <a:sym typeface="+mn-ea"/>
              </a:rPr>
              <a:t> </a:t>
            </a:r>
            <a:r>
              <a:rPr dirty="0">
                <a:sym typeface="+mn-ea"/>
              </a:rPr>
              <a:t>if</a:t>
            </a:r>
            <a:r>
              <a:rPr spc="-105" dirty="0">
                <a:sym typeface="+mn-ea"/>
              </a:rPr>
              <a:t> </a:t>
            </a:r>
            <a:r>
              <a:rPr dirty="0">
                <a:sym typeface="+mn-ea"/>
              </a:rPr>
              <a:t>possible,</a:t>
            </a:r>
            <a:r>
              <a:rPr spc="-70" dirty="0">
                <a:sym typeface="+mn-ea"/>
              </a:rPr>
              <a:t> </a:t>
            </a:r>
            <a:r>
              <a:rPr dirty="0">
                <a:sym typeface="+mn-ea"/>
              </a:rPr>
              <a:t>using</a:t>
            </a:r>
            <a:r>
              <a:rPr spc="-90" dirty="0">
                <a:sym typeface="+mn-ea"/>
              </a:rPr>
              <a:t> </a:t>
            </a:r>
            <a:r>
              <a:rPr b="1" dirty="0">
                <a:sym typeface="+mn-ea"/>
              </a:rPr>
              <a:t>continuous</a:t>
            </a:r>
            <a:r>
              <a:rPr b="1" spc="-75" dirty="0">
                <a:sym typeface="+mn-ea"/>
              </a:rPr>
              <a:t> </a:t>
            </a:r>
            <a:r>
              <a:rPr b="1" dirty="0">
                <a:sym typeface="+mn-ea"/>
              </a:rPr>
              <a:t>automatic</a:t>
            </a:r>
            <a:r>
              <a:rPr b="1" spc="-95" dirty="0">
                <a:sym typeface="+mn-ea"/>
              </a:rPr>
              <a:t> </a:t>
            </a:r>
            <a:r>
              <a:rPr b="1" spc="-10" dirty="0">
                <a:sym typeface="+mn-ea"/>
              </a:rPr>
              <a:t>analyzers</a:t>
            </a:r>
            <a:r>
              <a:rPr spc="-10" dirty="0">
                <a:sym typeface="+mn-ea"/>
              </a:rPr>
              <a:t>.</a:t>
            </a:r>
            <a:endParaRPr dirty="0">
              <a:latin typeface="Arial MT"/>
              <a:cs typeface="Arial MT"/>
            </a:endParaRPr>
          </a:p>
          <a:p>
            <a:pPr marR="92077">
              <a:lnSpc>
                <a:spcPct val="150000"/>
              </a:lnSpc>
              <a:spcBef>
                <a:spcPts val="1001"/>
              </a:spcBef>
              <a:tabLst>
                <a:tab pos="241306" algn="l"/>
                <a:tab pos="325128" algn="l"/>
              </a:tabLst>
            </a:pPr>
            <a:r>
              <a:rPr dirty="0">
                <a:sym typeface="+mn-ea"/>
              </a:rPr>
              <a:t>Such</a:t>
            </a:r>
            <a:r>
              <a:rPr spc="-60" dirty="0">
                <a:sym typeface="+mn-ea"/>
              </a:rPr>
              <a:t> </a:t>
            </a:r>
            <a:r>
              <a:rPr dirty="0">
                <a:sym typeface="+mn-ea"/>
              </a:rPr>
              <a:t>instruments</a:t>
            </a:r>
            <a:r>
              <a:rPr spc="-65" dirty="0">
                <a:sym typeface="+mn-ea"/>
              </a:rPr>
              <a:t> </a:t>
            </a:r>
            <a:r>
              <a:rPr dirty="0">
                <a:sym typeface="+mn-ea"/>
              </a:rPr>
              <a:t>are</a:t>
            </a:r>
            <a:r>
              <a:rPr spc="-60" dirty="0">
                <a:sym typeface="+mn-ea"/>
              </a:rPr>
              <a:t> </a:t>
            </a:r>
            <a:r>
              <a:rPr dirty="0">
                <a:sym typeface="+mn-ea"/>
              </a:rPr>
              <a:t>available</a:t>
            </a:r>
            <a:r>
              <a:rPr spc="-25" dirty="0">
                <a:sym typeface="+mn-ea"/>
              </a:rPr>
              <a:t> </a:t>
            </a:r>
            <a:r>
              <a:rPr dirty="0">
                <a:sym typeface="+mn-ea"/>
              </a:rPr>
              <a:t>for</a:t>
            </a:r>
            <a:r>
              <a:rPr spc="-80" dirty="0">
                <a:sym typeface="+mn-ea"/>
              </a:rPr>
              <a:t> </a:t>
            </a:r>
            <a:r>
              <a:rPr dirty="0">
                <a:sym typeface="+mn-ea"/>
              </a:rPr>
              <a:t>some</a:t>
            </a:r>
            <a:r>
              <a:rPr spc="-65" dirty="0">
                <a:sym typeface="+mn-ea"/>
              </a:rPr>
              <a:t> </a:t>
            </a:r>
            <a:r>
              <a:rPr dirty="0">
                <a:sym typeface="+mn-ea"/>
              </a:rPr>
              <a:t>pollutants</a:t>
            </a:r>
            <a:r>
              <a:rPr spc="-41" dirty="0">
                <a:sym typeface="+mn-ea"/>
              </a:rPr>
              <a:t> </a:t>
            </a:r>
            <a:r>
              <a:rPr dirty="0">
                <a:sym typeface="+mn-ea"/>
              </a:rPr>
              <a:t>and</a:t>
            </a:r>
            <a:r>
              <a:rPr spc="-75" dirty="0">
                <a:sym typeface="+mn-ea"/>
              </a:rPr>
              <a:t> </a:t>
            </a:r>
            <a:r>
              <a:rPr dirty="0">
                <a:sym typeface="+mn-ea"/>
              </a:rPr>
              <a:t>many</a:t>
            </a:r>
            <a:r>
              <a:rPr spc="-65" dirty="0">
                <a:sym typeface="+mn-ea"/>
              </a:rPr>
              <a:t> </a:t>
            </a:r>
            <a:r>
              <a:rPr dirty="0">
                <a:sym typeface="+mn-ea"/>
              </a:rPr>
              <a:t>more</a:t>
            </a:r>
            <a:r>
              <a:rPr spc="-65" dirty="0">
                <a:sym typeface="+mn-ea"/>
              </a:rPr>
              <a:t> </a:t>
            </a:r>
            <a:r>
              <a:rPr dirty="0">
                <a:sym typeface="+mn-ea"/>
              </a:rPr>
              <a:t>are</a:t>
            </a:r>
            <a:r>
              <a:rPr spc="-65" dirty="0">
                <a:sym typeface="+mn-ea"/>
              </a:rPr>
              <a:t> </a:t>
            </a:r>
            <a:r>
              <a:rPr spc="-25" dirty="0">
                <a:sym typeface="+mn-ea"/>
              </a:rPr>
              <a:t>at </a:t>
            </a:r>
            <a:r>
              <a:rPr dirty="0">
                <a:sym typeface="+mn-ea"/>
              </a:rPr>
              <a:t>varying</a:t>
            </a:r>
            <a:r>
              <a:rPr spc="-80" dirty="0">
                <a:sym typeface="+mn-ea"/>
              </a:rPr>
              <a:t> </a:t>
            </a:r>
            <a:r>
              <a:rPr dirty="0">
                <a:sym typeface="+mn-ea"/>
              </a:rPr>
              <a:t>stages</a:t>
            </a:r>
            <a:r>
              <a:rPr spc="-80" dirty="0">
                <a:sym typeface="+mn-ea"/>
              </a:rPr>
              <a:t> </a:t>
            </a:r>
            <a:r>
              <a:rPr dirty="0">
                <a:sym typeface="+mn-ea"/>
              </a:rPr>
              <a:t>of</a:t>
            </a:r>
            <a:r>
              <a:rPr spc="-80" dirty="0">
                <a:sym typeface="+mn-ea"/>
              </a:rPr>
              <a:t> </a:t>
            </a:r>
            <a:r>
              <a:rPr dirty="0">
                <a:sym typeface="+mn-ea"/>
              </a:rPr>
              <a:t>development</a:t>
            </a:r>
            <a:r>
              <a:rPr spc="-60" dirty="0">
                <a:sym typeface="+mn-ea"/>
              </a:rPr>
              <a:t> </a:t>
            </a:r>
            <a:r>
              <a:rPr dirty="0">
                <a:sym typeface="+mn-ea"/>
              </a:rPr>
              <a:t>and</a:t>
            </a:r>
            <a:r>
              <a:rPr spc="-90" dirty="0">
                <a:sym typeface="+mn-ea"/>
              </a:rPr>
              <a:t> </a:t>
            </a:r>
            <a:r>
              <a:rPr spc="-10" dirty="0">
                <a:sym typeface="+mn-ea"/>
              </a:rPr>
              <a:t>evaluation.</a:t>
            </a:r>
            <a:endParaRPr dirty="0">
              <a:latin typeface="Arial MT"/>
              <a:cs typeface="Arial MT"/>
            </a:endParaRPr>
          </a:p>
          <a:p>
            <a:pPr marR="682007">
              <a:lnSpc>
                <a:spcPct val="150000"/>
              </a:lnSpc>
              <a:spcBef>
                <a:spcPts val="1010"/>
              </a:spcBef>
              <a:tabLst>
                <a:tab pos="241306" algn="l"/>
                <a:tab pos="325128" algn="l"/>
              </a:tabLst>
            </a:pPr>
            <a:r>
              <a:rPr spc="-20" dirty="0">
                <a:sym typeface="+mn-ea"/>
              </a:rPr>
              <a:t>However,</a:t>
            </a:r>
            <a:r>
              <a:rPr spc="-55" dirty="0">
                <a:sym typeface="+mn-ea"/>
              </a:rPr>
              <a:t> </a:t>
            </a:r>
            <a:r>
              <a:rPr dirty="0">
                <a:sym typeface="+mn-ea"/>
              </a:rPr>
              <a:t>the</a:t>
            </a:r>
            <a:r>
              <a:rPr spc="-70" dirty="0">
                <a:sym typeface="+mn-ea"/>
              </a:rPr>
              <a:t> </a:t>
            </a:r>
            <a:r>
              <a:rPr spc="-10" dirty="0">
                <a:sym typeface="+mn-ea"/>
              </a:rPr>
              <a:t>conventional</a:t>
            </a:r>
            <a:r>
              <a:rPr spc="-46" dirty="0">
                <a:sym typeface="+mn-ea"/>
              </a:rPr>
              <a:t> </a:t>
            </a:r>
            <a:r>
              <a:rPr dirty="0">
                <a:sym typeface="+mn-ea"/>
              </a:rPr>
              <a:t>air</a:t>
            </a:r>
            <a:r>
              <a:rPr spc="-65" dirty="0">
                <a:sym typeface="+mn-ea"/>
              </a:rPr>
              <a:t> </a:t>
            </a:r>
            <a:r>
              <a:rPr dirty="0">
                <a:sym typeface="+mn-ea"/>
              </a:rPr>
              <a:t>sampling</a:t>
            </a:r>
            <a:r>
              <a:rPr spc="-50" dirty="0">
                <a:sym typeface="+mn-ea"/>
              </a:rPr>
              <a:t> </a:t>
            </a:r>
            <a:r>
              <a:rPr dirty="0">
                <a:sym typeface="+mn-ea"/>
              </a:rPr>
              <a:t>methods</a:t>
            </a:r>
            <a:r>
              <a:rPr spc="-70" dirty="0">
                <a:sym typeface="+mn-ea"/>
              </a:rPr>
              <a:t> </a:t>
            </a:r>
            <a:r>
              <a:rPr dirty="0">
                <a:sym typeface="+mn-ea"/>
              </a:rPr>
              <a:t>are</a:t>
            </a:r>
            <a:r>
              <a:rPr spc="-65" dirty="0">
                <a:sym typeface="+mn-ea"/>
              </a:rPr>
              <a:t> </a:t>
            </a:r>
            <a:r>
              <a:rPr dirty="0">
                <a:sym typeface="+mn-ea"/>
              </a:rPr>
              <a:t>still</a:t>
            </a:r>
            <a:r>
              <a:rPr spc="-65" dirty="0">
                <a:sym typeface="+mn-ea"/>
              </a:rPr>
              <a:t> </a:t>
            </a:r>
            <a:r>
              <a:rPr dirty="0">
                <a:sym typeface="+mn-ea"/>
              </a:rPr>
              <a:t>popular</a:t>
            </a:r>
            <a:r>
              <a:rPr spc="-46" dirty="0">
                <a:sym typeface="+mn-ea"/>
              </a:rPr>
              <a:t> </a:t>
            </a:r>
            <a:r>
              <a:rPr spc="-25" dirty="0">
                <a:sym typeface="+mn-ea"/>
              </a:rPr>
              <a:t>and </a:t>
            </a:r>
            <a:r>
              <a:rPr dirty="0">
                <a:sym typeface="+mn-ea"/>
              </a:rPr>
              <a:t>widely</a:t>
            </a:r>
            <a:r>
              <a:rPr spc="-65" dirty="0">
                <a:sym typeface="+mn-ea"/>
              </a:rPr>
              <a:t> </a:t>
            </a:r>
            <a:r>
              <a:rPr spc="-10" dirty="0">
                <a:sym typeface="+mn-ea"/>
              </a:rPr>
              <a:t>used.</a:t>
            </a:r>
            <a:endParaRPr dirty="0">
              <a:latin typeface="Arial MT"/>
              <a:cs typeface="Arial MT"/>
            </a:endParaRP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70371" y="133352"/>
            <a:ext cx="7600956" cy="927562"/>
          </a:xfrm>
          <a:prstGeom prst="rect">
            <a:avLst/>
          </a:prstGeom>
        </p:spPr>
        <p:txBody>
          <a:bodyPr vert="horz" wrap="square" lIns="0" tIns="430911" rIns="0" bIns="0" rtlCol="0">
            <a:spAutoFit/>
          </a:bodyPr>
          <a:lstStyle/>
          <a:p>
            <a:pPr marL="350529">
              <a:spcBef>
                <a:spcPts val="105"/>
              </a:spcBef>
            </a:pPr>
            <a:r>
              <a:rPr dirty="0"/>
              <a:t>Ambient</a:t>
            </a:r>
            <a:r>
              <a:rPr spc="-145" dirty="0"/>
              <a:t> </a:t>
            </a:r>
            <a:r>
              <a:rPr dirty="0"/>
              <a:t>Air</a:t>
            </a:r>
            <a:r>
              <a:rPr spc="-25" dirty="0"/>
              <a:t> </a:t>
            </a:r>
            <a:r>
              <a:rPr spc="-10" dirty="0"/>
              <a:t>Sampling</a:t>
            </a:r>
          </a:p>
        </p:txBody>
      </p:sp>
      <p:sp>
        <p:nvSpPr>
          <p:cNvPr id="11" name="Text Placeholder 10"/>
          <p:cNvSpPr>
            <a:spLocks noGrp="1"/>
          </p:cNvSpPr>
          <p:nvPr>
            <p:ph type="body" idx="1"/>
          </p:nvPr>
        </p:nvSpPr>
        <p:spPr>
          <a:xfrm>
            <a:off x="555446" y="1243919"/>
            <a:ext cx="11038841" cy="4989186"/>
          </a:xfrm>
        </p:spPr>
        <p:txBody>
          <a:bodyPr/>
          <a:lstStyle/>
          <a:p>
            <a:r>
              <a:rPr lang="en-US" altLang="en-US" dirty="0"/>
              <a:t>A typical air sampling system consists of:</a:t>
            </a:r>
          </a:p>
          <a:p>
            <a:endParaRPr lang="en-US" altLang="en-US" dirty="0"/>
          </a:p>
          <a:p>
            <a:pPr marL="457211" indent="-457211">
              <a:lnSpc>
                <a:spcPct val="150000"/>
              </a:lnSpc>
              <a:buAutoNum type="arabicPeriod"/>
            </a:pPr>
            <a:r>
              <a:rPr lang="en-US" altLang="en-US" dirty="0">
                <a:solidFill>
                  <a:srgbClr val="FF0000"/>
                </a:solidFill>
              </a:rPr>
              <a:t>A pump</a:t>
            </a:r>
          </a:p>
          <a:p>
            <a:pPr marL="800120" lvl="1" indent="-342908">
              <a:lnSpc>
                <a:spcPct val="150000"/>
              </a:lnSpc>
              <a:buFont typeface="Arial" panose="020B0604020202020204" pitchFamily="34" charset="0"/>
              <a:buChar char="•"/>
            </a:pPr>
            <a:r>
              <a:rPr lang="en-US" altLang="en-US" sz="2400" dirty="0"/>
              <a:t> To draw air sample through the system</a:t>
            </a:r>
            <a:endParaRPr lang="en-US" altLang="en-US" dirty="0">
              <a:solidFill>
                <a:srgbClr val="FF0000"/>
              </a:solidFill>
            </a:endParaRPr>
          </a:p>
          <a:p>
            <a:pPr marL="457211" indent="-457211">
              <a:lnSpc>
                <a:spcPct val="150000"/>
              </a:lnSpc>
              <a:buAutoNum type="arabicPeriod"/>
            </a:pPr>
            <a:r>
              <a:rPr lang="en-US" altLang="en-US" dirty="0">
                <a:solidFill>
                  <a:srgbClr val="FF0000"/>
                </a:solidFill>
              </a:rPr>
              <a:t>A flowmeter</a:t>
            </a:r>
          </a:p>
          <a:p>
            <a:pPr marL="800120" lvl="1" indent="-342908">
              <a:lnSpc>
                <a:spcPct val="150000"/>
              </a:lnSpc>
              <a:buFont typeface="Arial" panose="020B0604020202020204" pitchFamily="34" charset="0"/>
              <a:buChar char="•"/>
            </a:pPr>
            <a:r>
              <a:rPr lang="en-US" altLang="en-US" sz="2400" dirty="0">
                <a:sym typeface="+mn-ea"/>
              </a:rPr>
              <a:t>Measure </a:t>
            </a:r>
            <a:r>
              <a:rPr lang="en-US" altLang="en-US" sz="2400" b="1" dirty="0">
                <a:sym typeface="+mn-ea"/>
              </a:rPr>
              <a:t>air flow </a:t>
            </a:r>
            <a:r>
              <a:rPr lang="en-US" altLang="en-US" sz="2400" dirty="0">
                <a:sym typeface="+mn-ea"/>
              </a:rPr>
              <a:t>through sample collector</a:t>
            </a:r>
            <a:endParaRPr lang="en-US" altLang="en-US" sz="2400" dirty="0"/>
          </a:p>
          <a:p>
            <a:pPr marL="800120" lvl="1" indent="-342908">
              <a:lnSpc>
                <a:spcPct val="150000"/>
              </a:lnSpc>
              <a:buFont typeface="Arial" panose="020B0604020202020204" pitchFamily="34" charset="0"/>
              <a:buChar char="•"/>
            </a:pPr>
            <a:r>
              <a:rPr lang="en-US" altLang="en-US" sz="2400" dirty="0">
                <a:sym typeface="+mn-ea"/>
              </a:rPr>
              <a:t>Can be positioned either upstream or downstream from collector if pressure drop across the collector is low, but when this is not the case , flowmeter must be placed upstream(fig b) (otherwise serious errors can result)</a:t>
            </a:r>
            <a:endParaRPr lang="en-US" altLang="en-US" sz="2400" dirty="0"/>
          </a:p>
          <a:p>
            <a:pPr lvl="1">
              <a:lnSpc>
                <a:spcPct val="150000"/>
              </a:lnSpc>
            </a:pPr>
            <a:endParaRPr lang="en-US" altLang="en-US" dirty="0">
              <a:solidFill>
                <a:srgbClr val="FF0000"/>
              </a:solidFill>
            </a:endParaRPr>
          </a:p>
        </p:txBody>
      </p:sp>
      <p:sp>
        <p:nvSpPr>
          <p:cNvPr id="5" name="object 5"/>
          <p:cNvSpPr txBox="1">
            <a:spLocks noGrp="1"/>
          </p:cNvSpPr>
          <p:nvPr>
            <p:ph type="sldNum" sz="quarter" idx="7"/>
          </p:nvPr>
        </p:nvSpPr>
        <p:spPr>
          <a:xfrm>
            <a:off x="8993409" y="6464911"/>
            <a:ext cx="198636" cy="156068"/>
          </a:xfrm>
          <a:prstGeom prst="rect">
            <a:avLst/>
          </a:prstGeom>
        </p:spPr>
        <p:txBody>
          <a:bodyPr vert="horz" wrap="square" lIns="0" tIns="0" rIns="0" bIns="0" rtlCol="0">
            <a:spAutoFit/>
          </a:bodyPr>
          <a:lstStyle/>
          <a:p>
            <a:pPr marL="38101">
              <a:lnSpc>
                <a:spcPts val="1239"/>
              </a:lnSpc>
            </a:pPr>
            <a:fld id="{81D60167-4931-47E6-BA6A-407CBD079E47}" type="slidenum">
              <a:rPr spc="-25" dirty="0"/>
              <a:pPr marL="38101">
                <a:lnSpc>
                  <a:spcPts val="1239"/>
                </a:lnSpc>
              </a:pPr>
              <a:t>8</a:t>
            </a:fld>
            <a:endParaRPr spc="-2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8917" y="133351"/>
            <a:ext cx="9355023" cy="492443"/>
          </a:xfrm>
        </p:spPr>
        <p:txBody>
          <a:bodyPr/>
          <a:lstStyle/>
          <a:p>
            <a:r>
              <a:rPr dirty="0">
                <a:sym typeface="+mn-ea"/>
              </a:rPr>
              <a:t>Ambient</a:t>
            </a:r>
            <a:r>
              <a:rPr spc="-145" dirty="0">
                <a:sym typeface="+mn-ea"/>
              </a:rPr>
              <a:t> </a:t>
            </a:r>
            <a:r>
              <a:rPr dirty="0">
                <a:sym typeface="+mn-ea"/>
              </a:rPr>
              <a:t>Air</a:t>
            </a:r>
            <a:r>
              <a:rPr spc="-25" dirty="0">
                <a:sym typeface="+mn-ea"/>
              </a:rPr>
              <a:t> </a:t>
            </a:r>
            <a:r>
              <a:rPr spc="-10" dirty="0">
                <a:sym typeface="+mn-ea"/>
              </a:rPr>
              <a:t>Sampling</a:t>
            </a:r>
            <a:endParaRPr lang="en-US"/>
          </a:p>
        </p:txBody>
      </p:sp>
      <p:sp>
        <p:nvSpPr>
          <p:cNvPr id="3" name="Text Placeholder 2"/>
          <p:cNvSpPr>
            <a:spLocks noGrp="1"/>
          </p:cNvSpPr>
          <p:nvPr>
            <p:ph type="body" idx="1"/>
          </p:nvPr>
        </p:nvSpPr>
        <p:spPr>
          <a:xfrm>
            <a:off x="555446" y="1243920"/>
            <a:ext cx="11038841" cy="4190058"/>
          </a:xfrm>
        </p:spPr>
        <p:txBody>
          <a:bodyPr/>
          <a:lstStyle/>
          <a:p>
            <a:r>
              <a:rPr lang="en-US" altLang="en-US" dirty="0">
                <a:solidFill>
                  <a:srgbClr val="FF0000"/>
                </a:solidFill>
              </a:rPr>
              <a:t>3. Sample collector</a:t>
            </a:r>
          </a:p>
          <a:p>
            <a:pPr marL="800120" lvl="1" indent="-342908">
              <a:lnSpc>
                <a:spcPct val="150000"/>
              </a:lnSpc>
              <a:buFont typeface="Arial" panose="020B0604020202020204" pitchFamily="34" charset="0"/>
              <a:buChar char="•"/>
            </a:pPr>
            <a:r>
              <a:rPr lang="en-US" altLang="en-US" sz="2400" dirty="0"/>
              <a:t>Function is </a:t>
            </a:r>
            <a:r>
              <a:rPr lang="en-US" altLang="en-US" sz="2400" b="1" dirty="0"/>
              <a:t>to retain the desired pollutant </a:t>
            </a:r>
            <a:r>
              <a:rPr lang="en-US" altLang="en-US" sz="2400" dirty="0"/>
              <a:t>either alone or as a mixture.</a:t>
            </a:r>
          </a:p>
          <a:p>
            <a:pPr marL="800120" lvl="1" indent="-342908">
              <a:lnSpc>
                <a:spcPct val="150000"/>
              </a:lnSpc>
              <a:buFont typeface="Arial" panose="020B0604020202020204" pitchFamily="34" charset="0"/>
              <a:buChar char="•"/>
            </a:pPr>
            <a:r>
              <a:rPr lang="en-US" altLang="en-US" sz="2400" dirty="0"/>
              <a:t>The pollutant thus collected is analyzed at a later stage.</a:t>
            </a:r>
          </a:p>
          <a:p>
            <a:pPr marL="800120" lvl="1" indent="-342908">
              <a:lnSpc>
                <a:spcPct val="150000"/>
              </a:lnSpc>
              <a:buFont typeface="Arial" panose="020B0604020202020204" pitchFamily="34" charset="0"/>
              <a:buChar char="•"/>
            </a:pPr>
            <a:r>
              <a:rPr lang="en-US" altLang="en-US" sz="2400" dirty="0"/>
              <a:t>Choice of type of collector to be used is governed by </a:t>
            </a:r>
            <a:r>
              <a:rPr lang="en-US" altLang="en-US" sz="2400" b="1" dirty="0"/>
              <a:t>nature of pollutant and method of analysis</a:t>
            </a:r>
          </a:p>
          <a:p>
            <a:pPr marL="800120" lvl="1" indent="-342908">
              <a:lnSpc>
                <a:spcPct val="150000"/>
              </a:lnSpc>
              <a:buFont typeface="Arial" panose="020B0604020202020204" pitchFamily="34" charset="0"/>
              <a:buChar char="•"/>
            </a:pPr>
            <a:r>
              <a:rPr lang="en-US" altLang="en-US" sz="2400" dirty="0"/>
              <a:t>Individual sample collectors are generally grouped into two categories:</a:t>
            </a:r>
          </a:p>
          <a:p>
            <a:pPr lvl="1" indent="457211">
              <a:lnSpc>
                <a:spcPct val="150000"/>
              </a:lnSpc>
            </a:pPr>
            <a:r>
              <a:rPr lang="en-US" altLang="en-US" sz="2400" dirty="0" err="1"/>
              <a:t>i</a:t>
            </a:r>
            <a:r>
              <a:rPr lang="en-US" altLang="en-US" sz="2400" dirty="0"/>
              <a:t>. Those used to collect </a:t>
            </a:r>
            <a:r>
              <a:rPr lang="en-US" altLang="en-US" sz="2400" b="1" dirty="0"/>
              <a:t>gaseous pollutants</a:t>
            </a:r>
          </a:p>
          <a:p>
            <a:pPr lvl="1" indent="457211">
              <a:lnSpc>
                <a:spcPct val="150000"/>
              </a:lnSpc>
            </a:pPr>
            <a:r>
              <a:rPr lang="en-US" altLang="en-US" sz="2400" dirty="0"/>
              <a:t>ii. Those used to collect </a:t>
            </a:r>
            <a:r>
              <a:rPr lang="en-US" altLang="en-US" sz="2400" b="1" dirty="0"/>
              <a:t>particulate pollutants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8917" y="133351"/>
            <a:ext cx="10317683" cy="984885"/>
          </a:xfrm>
        </p:spPr>
        <p:txBody>
          <a:bodyPr/>
          <a:lstStyle/>
          <a:p>
            <a:r>
              <a:rPr lang="en-US" altLang="en-US" dirty="0"/>
              <a:t>General requirements for sampling site selection:</a:t>
            </a:r>
          </a:p>
        </p:txBody>
      </p:sp>
      <p:sp>
        <p:nvSpPr>
          <p:cNvPr id="3" name="Text Placeholder 2"/>
          <p:cNvSpPr>
            <a:spLocks noGrp="1"/>
          </p:cNvSpPr>
          <p:nvPr>
            <p:ph type="body" idx="1"/>
          </p:nvPr>
        </p:nvSpPr>
        <p:spPr>
          <a:xfrm>
            <a:off x="578942" y="1371557"/>
            <a:ext cx="11038841" cy="3255507"/>
          </a:xfrm>
        </p:spPr>
        <p:txBody>
          <a:bodyPr/>
          <a:lstStyle/>
          <a:p>
            <a:pPr>
              <a:lnSpc>
                <a:spcPct val="150000"/>
              </a:lnSpc>
            </a:pPr>
            <a:r>
              <a:rPr lang="en-US" dirty="0"/>
              <a:t>The location of an air monitoring station is critical and depends on several factors:</a:t>
            </a:r>
          </a:p>
          <a:p>
            <a:pPr>
              <a:lnSpc>
                <a:spcPct val="150000"/>
              </a:lnSpc>
            </a:pPr>
            <a:endParaRPr lang="en-US" altLang="en-US" dirty="0"/>
          </a:p>
          <a:p>
            <a:pPr marL="457200" indent="-457200">
              <a:lnSpc>
                <a:spcPct val="150000"/>
              </a:lnSpc>
              <a:buFont typeface="+mj-lt"/>
              <a:buAutoNum type="arabicPeriod"/>
            </a:pPr>
            <a:r>
              <a:rPr lang="en-US" altLang="en-US" b="1" dirty="0"/>
              <a:t>Purpose of monitoring</a:t>
            </a:r>
          </a:p>
          <a:p>
            <a:pPr marL="457200" indent="-457200">
              <a:lnSpc>
                <a:spcPct val="150000"/>
              </a:lnSpc>
              <a:buFont typeface="+mj-lt"/>
              <a:buAutoNum type="arabicPeriod"/>
            </a:pPr>
            <a:r>
              <a:rPr lang="en-US" altLang="en-US" b="1" dirty="0"/>
              <a:t>Number and type of instruments required</a:t>
            </a:r>
          </a:p>
          <a:p>
            <a:pPr marL="457200" indent="-457200">
              <a:lnSpc>
                <a:spcPct val="150000"/>
              </a:lnSpc>
              <a:buFont typeface="+mj-lt"/>
              <a:buAutoNum type="arabicPeriod"/>
            </a:pPr>
            <a:r>
              <a:rPr lang="en-US" altLang="en-US" b="1" dirty="0"/>
              <a:t>Duration of measurements</a:t>
            </a:r>
          </a:p>
          <a:p>
            <a:pPr marL="457200" indent="-457200">
              <a:lnSpc>
                <a:spcPct val="150000"/>
              </a:lnSpc>
              <a:buFont typeface="+mj-lt"/>
              <a:buAutoNum type="arabicPeriod"/>
            </a:pPr>
            <a:r>
              <a:rPr lang="en-US" altLang="en-US" b="1" dirty="0"/>
              <a:t>Should be easily accessible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xfrm>
            <a:off x="8993409" y="6464911"/>
            <a:ext cx="198636" cy="156068"/>
          </a:xfrm>
          <a:prstGeom prst="rect">
            <a:avLst/>
          </a:prstGeom>
        </p:spPr>
        <p:txBody>
          <a:bodyPr vert="horz" wrap="square" lIns="0" tIns="0" rIns="0" bIns="0" rtlCol="0">
            <a:spAutoFit/>
          </a:bodyPr>
          <a:lstStyle/>
          <a:p>
            <a:pPr marL="38101">
              <a:lnSpc>
                <a:spcPts val="1239"/>
              </a:lnSpc>
            </a:pPr>
            <a:fld id="{81D60167-4931-47E6-BA6A-407CBD079E47}" type="slidenum">
              <a:rPr spc="-25" dirty="0"/>
              <a:pPr marL="38101">
                <a:lnSpc>
                  <a:spcPts val="1239"/>
                </a:lnSpc>
              </a:pPr>
              <a:t>11</a:t>
            </a:fld>
            <a:endParaRPr spc="-25" dirty="0"/>
          </a:p>
        </p:txBody>
      </p:sp>
      <p:sp>
        <p:nvSpPr>
          <p:cNvPr id="2" name="object 2"/>
          <p:cNvSpPr txBox="1">
            <a:spLocks noGrp="1"/>
          </p:cNvSpPr>
          <p:nvPr>
            <p:ph type="title"/>
          </p:nvPr>
        </p:nvSpPr>
        <p:spPr>
          <a:xfrm>
            <a:off x="470371" y="133351"/>
            <a:ext cx="7600956" cy="927562"/>
          </a:xfrm>
          <a:prstGeom prst="rect">
            <a:avLst/>
          </a:prstGeom>
        </p:spPr>
        <p:txBody>
          <a:bodyPr vert="horz" wrap="square" lIns="0" tIns="430911" rIns="0" bIns="0" rtlCol="0">
            <a:spAutoFit/>
          </a:bodyPr>
          <a:lstStyle/>
          <a:p>
            <a:pPr marL="350529">
              <a:spcBef>
                <a:spcPts val="105"/>
              </a:spcBef>
            </a:pPr>
            <a:r>
              <a:rPr dirty="0"/>
              <a:t>Collection</a:t>
            </a:r>
            <a:r>
              <a:rPr spc="-75" dirty="0"/>
              <a:t> </a:t>
            </a:r>
            <a:r>
              <a:rPr dirty="0"/>
              <a:t>of</a:t>
            </a:r>
            <a:r>
              <a:rPr spc="-34" dirty="0"/>
              <a:t> </a:t>
            </a:r>
            <a:r>
              <a:rPr dirty="0"/>
              <a:t>Gaseous</a:t>
            </a:r>
            <a:r>
              <a:rPr spc="-180" dirty="0"/>
              <a:t> </a:t>
            </a:r>
            <a:r>
              <a:rPr dirty="0"/>
              <a:t>Air</a:t>
            </a:r>
            <a:r>
              <a:rPr spc="-20" dirty="0"/>
              <a:t> </a:t>
            </a:r>
            <a:r>
              <a:rPr spc="-10" dirty="0"/>
              <a:t>Pollutants</a:t>
            </a:r>
          </a:p>
        </p:txBody>
      </p:sp>
      <p:sp>
        <p:nvSpPr>
          <p:cNvPr id="3" name="object 3"/>
          <p:cNvSpPr txBox="1"/>
          <p:nvPr/>
        </p:nvSpPr>
        <p:spPr>
          <a:xfrm>
            <a:off x="788315" y="1279886"/>
            <a:ext cx="10239375" cy="4518545"/>
          </a:xfrm>
          <a:prstGeom prst="rect">
            <a:avLst/>
          </a:prstGeom>
        </p:spPr>
        <p:txBody>
          <a:bodyPr vert="horz" wrap="square" lIns="0" tIns="12065" rIns="0" bIns="0" rtlCol="0">
            <a:spAutoFit/>
          </a:bodyPr>
          <a:lstStyle/>
          <a:p>
            <a:pPr marL="240036" marR="5081" indent="-227336">
              <a:lnSpc>
                <a:spcPct val="150000"/>
              </a:lnSpc>
              <a:spcBef>
                <a:spcPts val="95"/>
              </a:spcBef>
              <a:buChar char="•"/>
              <a:tabLst>
                <a:tab pos="241306" algn="l"/>
              </a:tabLst>
            </a:pPr>
            <a:r>
              <a:rPr sz="2400" dirty="0">
                <a:latin typeface="Arial MT"/>
                <a:cs typeface="Arial MT"/>
              </a:rPr>
              <a:t>Several</a:t>
            </a:r>
            <a:r>
              <a:rPr sz="2400" spc="-70" dirty="0">
                <a:latin typeface="Arial MT"/>
                <a:cs typeface="Arial MT"/>
              </a:rPr>
              <a:t> </a:t>
            </a:r>
            <a:r>
              <a:rPr sz="2400" dirty="0">
                <a:latin typeface="Arial MT"/>
                <a:cs typeface="Arial MT"/>
              </a:rPr>
              <a:t>methods</a:t>
            </a:r>
            <a:r>
              <a:rPr sz="2400" spc="-75" dirty="0">
                <a:latin typeface="Arial MT"/>
                <a:cs typeface="Arial MT"/>
              </a:rPr>
              <a:t> </a:t>
            </a:r>
            <a:r>
              <a:rPr sz="2400" dirty="0">
                <a:latin typeface="Arial MT"/>
                <a:cs typeface="Arial MT"/>
              </a:rPr>
              <a:t>are</a:t>
            </a:r>
            <a:r>
              <a:rPr sz="2400" spc="-75" dirty="0">
                <a:latin typeface="Arial MT"/>
                <a:cs typeface="Arial MT"/>
              </a:rPr>
              <a:t> </a:t>
            </a:r>
            <a:r>
              <a:rPr sz="2400" dirty="0">
                <a:latin typeface="Arial MT"/>
                <a:cs typeface="Arial MT"/>
              </a:rPr>
              <a:t>available</a:t>
            </a:r>
            <a:r>
              <a:rPr sz="2400" spc="-34" dirty="0">
                <a:latin typeface="Arial MT"/>
                <a:cs typeface="Arial MT"/>
              </a:rPr>
              <a:t> </a:t>
            </a:r>
            <a:r>
              <a:rPr sz="2400" dirty="0">
                <a:latin typeface="Arial MT"/>
                <a:cs typeface="Arial MT"/>
              </a:rPr>
              <a:t>for</a:t>
            </a:r>
            <a:r>
              <a:rPr sz="2400" spc="-65" dirty="0">
                <a:latin typeface="Arial MT"/>
                <a:cs typeface="Arial MT"/>
              </a:rPr>
              <a:t> </a:t>
            </a:r>
            <a:r>
              <a:rPr sz="2400" dirty="0">
                <a:latin typeface="Arial MT"/>
                <a:cs typeface="Arial MT"/>
              </a:rPr>
              <a:t>collection</a:t>
            </a:r>
            <a:r>
              <a:rPr sz="2400" spc="-60" dirty="0">
                <a:latin typeface="Arial MT"/>
                <a:cs typeface="Arial MT"/>
              </a:rPr>
              <a:t> </a:t>
            </a:r>
            <a:r>
              <a:rPr sz="2400" dirty="0">
                <a:latin typeface="Arial MT"/>
                <a:cs typeface="Arial MT"/>
              </a:rPr>
              <a:t>of</a:t>
            </a:r>
            <a:r>
              <a:rPr sz="2400" spc="-70" dirty="0">
                <a:latin typeface="Arial MT"/>
                <a:cs typeface="Arial MT"/>
              </a:rPr>
              <a:t> </a:t>
            </a:r>
            <a:r>
              <a:rPr sz="2400" dirty="0">
                <a:latin typeface="Arial MT"/>
                <a:cs typeface="Arial MT"/>
              </a:rPr>
              <a:t>gaseous</a:t>
            </a:r>
            <a:r>
              <a:rPr sz="2400" spc="-55" dirty="0">
                <a:latin typeface="Arial MT"/>
                <a:cs typeface="Arial MT"/>
              </a:rPr>
              <a:t> </a:t>
            </a:r>
            <a:r>
              <a:rPr sz="2400" dirty="0">
                <a:latin typeface="Arial MT"/>
                <a:cs typeface="Arial MT"/>
              </a:rPr>
              <a:t>air</a:t>
            </a:r>
            <a:r>
              <a:rPr sz="2400" spc="-70" dirty="0">
                <a:latin typeface="Arial MT"/>
                <a:cs typeface="Arial MT"/>
              </a:rPr>
              <a:t> </a:t>
            </a:r>
            <a:r>
              <a:rPr sz="2400" dirty="0">
                <a:latin typeface="Arial MT"/>
                <a:cs typeface="Arial MT"/>
              </a:rPr>
              <a:t>pollutants</a:t>
            </a:r>
            <a:r>
              <a:rPr sz="2400" spc="-60" dirty="0">
                <a:latin typeface="Arial MT"/>
                <a:cs typeface="Arial MT"/>
              </a:rPr>
              <a:t> </a:t>
            </a:r>
            <a:r>
              <a:rPr sz="2400" spc="-20" dirty="0">
                <a:latin typeface="Arial MT"/>
                <a:cs typeface="Arial MT"/>
              </a:rPr>
              <a:t>from 	</a:t>
            </a:r>
            <a:r>
              <a:rPr sz="2400" dirty="0">
                <a:latin typeface="Arial MT"/>
                <a:cs typeface="Arial MT"/>
              </a:rPr>
              <a:t>ambient</a:t>
            </a:r>
            <a:r>
              <a:rPr sz="2400" spc="-105" dirty="0">
                <a:latin typeface="Arial MT"/>
                <a:cs typeface="Arial MT"/>
              </a:rPr>
              <a:t> </a:t>
            </a:r>
            <a:r>
              <a:rPr sz="2400" spc="-10" dirty="0">
                <a:latin typeface="Arial MT"/>
                <a:cs typeface="Arial MT"/>
              </a:rPr>
              <a:t>atmosphere.</a:t>
            </a:r>
            <a:endParaRPr sz="2400" dirty="0">
              <a:latin typeface="Arial MT"/>
              <a:cs typeface="Arial MT"/>
            </a:endParaRPr>
          </a:p>
          <a:p>
            <a:pPr marL="240036" indent="-227336">
              <a:spcBef>
                <a:spcPts val="2441"/>
              </a:spcBef>
              <a:buChar char="•"/>
              <a:tabLst>
                <a:tab pos="239400" algn="l"/>
              </a:tabLst>
            </a:pPr>
            <a:r>
              <a:rPr sz="2400" dirty="0">
                <a:latin typeface="Arial MT"/>
                <a:cs typeface="Arial MT"/>
              </a:rPr>
              <a:t>The</a:t>
            </a:r>
            <a:r>
              <a:rPr sz="2400" spc="-80" dirty="0">
                <a:latin typeface="Arial MT"/>
                <a:cs typeface="Arial MT"/>
              </a:rPr>
              <a:t> </a:t>
            </a:r>
            <a:r>
              <a:rPr sz="2400" dirty="0">
                <a:latin typeface="Arial MT"/>
                <a:cs typeface="Arial MT"/>
              </a:rPr>
              <a:t>common</a:t>
            </a:r>
            <a:r>
              <a:rPr sz="2400" spc="-70" dirty="0">
                <a:latin typeface="Arial MT"/>
                <a:cs typeface="Arial MT"/>
              </a:rPr>
              <a:t> </a:t>
            </a:r>
            <a:r>
              <a:rPr sz="2400" dirty="0">
                <a:latin typeface="Arial MT"/>
                <a:cs typeface="Arial MT"/>
              </a:rPr>
              <a:t>ones</a:t>
            </a:r>
            <a:r>
              <a:rPr sz="2400" spc="-60" dirty="0">
                <a:latin typeface="Arial MT"/>
                <a:cs typeface="Arial MT"/>
              </a:rPr>
              <a:t> </a:t>
            </a:r>
            <a:r>
              <a:rPr sz="2400" spc="-20" dirty="0">
                <a:latin typeface="Arial MT"/>
                <a:cs typeface="Arial MT"/>
              </a:rPr>
              <a:t>are:</a:t>
            </a:r>
            <a:endParaRPr sz="2400" dirty="0">
              <a:latin typeface="Arial MT"/>
              <a:cs typeface="Arial MT"/>
            </a:endParaRPr>
          </a:p>
          <a:p>
            <a:pPr marL="367039" indent="-354339">
              <a:spcBef>
                <a:spcPts val="2446"/>
              </a:spcBef>
              <a:buSzPct val="98000"/>
              <a:buFont typeface="Wingdings" panose="05000000000000000000"/>
              <a:buChar char=""/>
              <a:tabLst>
                <a:tab pos="367039" algn="l"/>
              </a:tabLst>
            </a:pPr>
            <a:r>
              <a:rPr lang="en-US" altLang="en-US" sz="2400" b="1" dirty="0">
                <a:latin typeface="Arial MT"/>
                <a:cs typeface="Arial MT"/>
              </a:rPr>
              <a:t>G</a:t>
            </a:r>
            <a:r>
              <a:rPr sz="2400" b="1" dirty="0">
                <a:latin typeface="Arial MT"/>
                <a:cs typeface="Arial MT"/>
              </a:rPr>
              <a:t>rab</a:t>
            </a:r>
            <a:r>
              <a:rPr sz="2400" b="1" spc="-65" dirty="0">
                <a:latin typeface="Arial MT"/>
                <a:cs typeface="Arial MT"/>
              </a:rPr>
              <a:t> </a:t>
            </a:r>
            <a:r>
              <a:rPr sz="2400" b="1" spc="-10" dirty="0">
                <a:latin typeface="Arial MT"/>
                <a:cs typeface="Arial MT"/>
              </a:rPr>
              <a:t>sampling</a:t>
            </a:r>
            <a:endParaRPr sz="2400" b="1" dirty="0">
              <a:latin typeface="Arial MT"/>
              <a:cs typeface="Arial MT"/>
            </a:endParaRPr>
          </a:p>
          <a:p>
            <a:pPr marL="283217" indent="-279408">
              <a:spcBef>
                <a:spcPts val="2441"/>
              </a:spcBef>
              <a:buSzPct val="98000"/>
              <a:buFont typeface="Wingdings" panose="05000000000000000000"/>
              <a:buChar char=""/>
              <a:tabLst>
                <a:tab pos="283217" algn="l"/>
              </a:tabLst>
            </a:pPr>
            <a:r>
              <a:rPr lang="en-US" altLang="en-US" sz="2400" b="1" dirty="0">
                <a:latin typeface="Arial MT"/>
                <a:cs typeface="Arial MT"/>
              </a:rPr>
              <a:t>A</a:t>
            </a:r>
            <a:r>
              <a:rPr sz="2400" b="1" dirty="0">
                <a:latin typeface="Arial MT"/>
                <a:cs typeface="Arial MT"/>
              </a:rPr>
              <a:t>bsorption</a:t>
            </a:r>
            <a:r>
              <a:rPr sz="2400" b="1" spc="-80" dirty="0">
                <a:latin typeface="Arial MT"/>
                <a:cs typeface="Arial MT"/>
              </a:rPr>
              <a:t> </a:t>
            </a:r>
            <a:r>
              <a:rPr sz="2400" b="1" dirty="0">
                <a:latin typeface="Arial MT"/>
                <a:cs typeface="Arial MT"/>
              </a:rPr>
              <a:t>in</a:t>
            </a:r>
            <a:r>
              <a:rPr sz="2400" b="1" spc="-100" dirty="0">
                <a:latin typeface="Arial MT"/>
                <a:cs typeface="Arial MT"/>
              </a:rPr>
              <a:t> </a:t>
            </a:r>
            <a:r>
              <a:rPr sz="2400" b="1" spc="-10" dirty="0">
                <a:latin typeface="Arial MT"/>
                <a:cs typeface="Arial MT"/>
              </a:rPr>
              <a:t>liquids</a:t>
            </a:r>
            <a:endParaRPr sz="2400" b="1" dirty="0">
              <a:latin typeface="Arial MT"/>
              <a:cs typeface="Arial MT"/>
            </a:endParaRPr>
          </a:p>
          <a:p>
            <a:pPr marL="283217" indent="-279408">
              <a:spcBef>
                <a:spcPts val="2435"/>
              </a:spcBef>
              <a:buSzPct val="98000"/>
              <a:buFont typeface="Wingdings" panose="05000000000000000000"/>
              <a:buChar char=""/>
              <a:tabLst>
                <a:tab pos="283217" algn="l"/>
              </a:tabLst>
            </a:pPr>
            <a:r>
              <a:rPr lang="en-US" altLang="en-US" sz="2400" b="1" dirty="0">
                <a:latin typeface="Arial MT"/>
                <a:cs typeface="Arial MT"/>
              </a:rPr>
              <a:t>A</a:t>
            </a:r>
            <a:r>
              <a:rPr sz="2400" b="1" dirty="0">
                <a:latin typeface="Arial MT"/>
                <a:cs typeface="Arial MT"/>
              </a:rPr>
              <a:t>dsorption</a:t>
            </a:r>
            <a:r>
              <a:rPr sz="2400" b="1" spc="-55" dirty="0">
                <a:latin typeface="Arial MT"/>
                <a:cs typeface="Arial MT"/>
              </a:rPr>
              <a:t> </a:t>
            </a:r>
            <a:r>
              <a:rPr sz="2400" b="1" dirty="0">
                <a:latin typeface="Arial MT"/>
                <a:cs typeface="Arial MT"/>
              </a:rPr>
              <a:t>on</a:t>
            </a:r>
            <a:r>
              <a:rPr sz="2400" b="1" spc="-70" dirty="0">
                <a:latin typeface="Arial MT"/>
                <a:cs typeface="Arial MT"/>
              </a:rPr>
              <a:t> </a:t>
            </a:r>
            <a:r>
              <a:rPr sz="2400" b="1" dirty="0">
                <a:latin typeface="Arial MT"/>
                <a:cs typeface="Arial MT"/>
              </a:rPr>
              <a:t>a</a:t>
            </a:r>
            <a:r>
              <a:rPr sz="2400" b="1" spc="-80" dirty="0">
                <a:latin typeface="Arial MT"/>
                <a:cs typeface="Arial MT"/>
              </a:rPr>
              <a:t> </a:t>
            </a:r>
            <a:r>
              <a:rPr sz="2400" b="1" dirty="0">
                <a:latin typeface="Arial MT"/>
                <a:cs typeface="Arial MT"/>
              </a:rPr>
              <a:t>solid</a:t>
            </a:r>
            <a:r>
              <a:rPr sz="2400" b="1" spc="-55" dirty="0">
                <a:latin typeface="Arial MT"/>
                <a:cs typeface="Arial MT"/>
              </a:rPr>
              <a:t> </a:t>
            </a:r>
            <a:r>
              <a:rPr sz="2400" b="1" dirty="0">
                <a:latin typeface="Arial MT"/>
                <a:cs typeface="Arial MT"/>
              </a:rPr>
              <a:t>material</a:t>
            </a:r>
          </a:p>
          <a:p>
            <a:pPr marL="283217" indent="-279408">
              <a:spcBef>
                <a:spcPts val="2451"/>
              </a:spcBef>
              <a:buSzPct val="98000"/>
              <a:buFont typeface="Wingdings" panose="05000000000000000000"/>
              <a:buChar char=""/>
              <a:tabLst>
                <a:tab pos="283217" algn="l"/>
              </a:tabLst>
            </a:pPr>
            <a:r>
              <a:rPr lang="en-US" altLang="en-US" sz="2400" b="1" spc="-20" dirty="0">
                <a:latin typeface="Arial MT"/>
                <a:cs typeface="Arial MT"/>
              </a:rPr>
              <a:t>Condensation or f</a:t>
            </a:r>
            <a:r>
              <a:rPr sz="2400" b="1" spc="-20" dirty="0">
                <a:latin typeface="Arial MT"/>
                <a:cs typeface="Arial MT"/>
              </a:rPr>
              <a:t>reeze-</a:t>
            </a:r>
            <a:r>
              <a:rPr sz="2400" b="1" dirty="0">
                <a:latin typeface="Arial MT"/>
                <a:cs typeface="Arial MT"/>
              </a:rPr>
              <a:t>out</a:t>
            </a:r>
            <a:r>
              <a:rPr sz="2400" b="1" spc="20" dirty="0">
                <a:latin typeface="Arial MT"/>
                <a:cs typeface="Arial MT"/>
              </a:rPr>
              <a:t> </a:t>
            </a:r>
            <a:r>
              <a:rPr sz="2400" b="1" spc="-10" dirty="0">
                <a:latin typeface="Arial MT"/>
                <a:cs typeface="Arial MT"/>
              </a:rPr>
              <a:t>sampling.</a:t>
            </a:r>
            <a:endParaRPr sz="2400" b="1" dirty="0">
              <a:latin typeface="Arial MT"/>
              <a:cs typeface="Arial M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xfrm>
            <a:off x="8993409" y="6464911"/>
            <a:ext cx="198636" cy="156068"/>
          </a:xfrm>
          <a:prstGeom prst="rect">
            <a:avLst/>
          </a:prstGeom>
        </p:spPr>
        <p:txBody>
          <a:bodyPr vert="horz" wrap="square" lIns="0" tIns="0" rIns="0" bIns="0" rtlCol="0">
            <a:spAutoFit/>
          </a:bodyPr>
          <a:lstStyle/>
          <a:p>
            <a:pPr marL="38101">
              <a:lnSpc>
                <a:spcPts val="1239"/>
              </a:lnSpc>
            </a:pPr>
            <a:fld id="{81D60167-4931-47E6-BA6A-407CBD079E47}" type="slidenum">
              <a:rPr spc="-25" dirty="0"/>
              <a:pPr marL="38101">
                <a:lnSpc>
                  <a:spcPts val="1239"/>
                </a:lnSpc>
              </a:pPr>
              <a:t>12</a:t>
            </a:fld>
            <a:endParaRPr spc="-25" dirty="0"/>
          </a:p>
        </p:txBody>
      </p:sp>
      <p:sp>
        <p:nvSpPr>
          <p:cNvPr id="2" name="object 2"/>
          <p:cNvSpPr txBox="1">
            <a:spLocks noGrp="1"/>
          </p:cNvSpPr>
          <p:nvPr>
            <p:ph type="title"/>
          </p:nvPr>
        </p:nvSpPr>
        <p:spPr>
          <a:xfrm>
            <a:off x="470371" y="133352"/>
            <a:ext cx="7600956" cy="927562"/>
          </a:xfrm>
          <a:prstGeom prst="rect">
            <a:avLst/>
          </a:prstGeom>
        </p:spPr>
        <p:txBody>
          <a:bodyPr vert="horz" wrap="square" lIns="0" tIns="430911" rIns="0" bIns="0" rtlCol="0">
            <a:spAutoFit/>
          </a:bodyPr>
          <a:lstStyle/>
          <a:p>
            <a:pPr marL="350529">
              <a:spcBef>
                <a:spcPts val="105"/>
              </a:spcBef>
            </a:pPr>
            <a:r>
              <a:rPr dirty="0"/>
              <a:t>Grab</a:t>
            </a:r>
            <a:r>
              <a:rPr spc="-15" dirty="0"/>
              <a:t> </a:t>
            </a:r>
            <a:r>
              <a:rPr spc="-10" dirty="0"/>
              <a:t>Sampling</a:t>
            </a:r>
          </a:p>
        </p:txBody>
      </p:sp>
      <p:sp>
        <p:nvSpPr>
          <p:cNvPr id="3" name="object 3"/>
          <p:cNvSpPr txBox="1"/>
          <p:nvPr/>
        </p:nvSpPr>
        <p:spPr>
          <a:xfrm>
            <a:off x="788316" y="1303174"/>
            <a:ext cx="10993755" cy="5059077"/>
          </a:xfrm>
          <a:prstGeom prst="rect">
            <a:avLst/>
          </a:prstGeom>
        </p:spPr>
        <p:txBody>
          <a:bodyPr vert="horz" wrap="square" lIns="0" tIns="12700" rIns="0" bIns="0" rtlCol="0">
            <a:spAutoFit/>
          </a:bodyPr>
          <a:lstStyle/>
          <a:p>
            <a:pPr marL="241306" marR="168279" indent="-228606">
              <a:lnSpc>
                <a:spcPct val="130000"/>
              </a:lnSpc>
              <a:spcBef>
                <a:spcPts val="100"/>
              </a:spcBef>
              <a:buChar char="•"/>
              <a:tabLst>
                <a:tab pos="241306" algn="l"/>
              </a:tabLst>
            </a:pPr>
            <a:r>
              <a:rPr sz="2201" dirty="0">
                <a:latin typeface="Arial MT"/>
                <a:cs typeface="Arial MT"/>
              </a:rPr>
              <a:t>In</a:t>
            </a:r>
            <a:r>
              <a:rPr sz="2201" spc="-60" dirty="0">
                <a:latin typeface="Arial MT"/>
                <a:cs typeface="Arial MT"/>
              </a:rPr>
              <a:t> </a:t>
            </a:r>
            <a:r>
              <a:rPr sz="2201" dirty="0">
                <a:latin typeface="Arial MT"/>
                <a:cs typeface="Arial MT"/>
              </a:rPr>
              <a:t>"</a:t>
            </a:r>
            <a:r>
              <a:rPr sz="2201" dirty="0">
                <a:solidFill>
                  <a:srgbClr val="FF0000"/>
                </a:solidFill>
                <a:latin typeface="Arial MT"/>
                <a:cs typeface="Arial MT"/>
              </a:rPr>
              <a:t>grab"</a:t>
            </a:r>
            <a:r>
              <a:rPr sz="2201" spc="-55" dirty="0">
                <a:solidFill>
                  <a:srgbClr val="FF0000"/>
                </a:solidFill>
                <a:latin typeface="Arial MT"/>
                <a:cs typeface="Arial MT"/>
              </a:rPr>
              <a:t> </a:t>
            </a:r>
            <a:r>
              <a:rPr sz="2201" dirty="0">
                <a:solidFill>
                  <a:srgbClr val="FF0000"/>
                </a:solidFill>
                <a:latin typeface="Arial MT"/>
                <a:cs typeface="Arial MT"/>
              </a:rPr>
              <a:t>sampling</a:t>
            </a:r>
            <a:r>
              <a:rPr sz="2201" spc="-25" dirty="0">
                <a:solidFill>
                  <a:srgbClr val="FF0000"/>
                </a:solidFill>
                <a:latin typeface="Arial MT"/>
                <a:cs typeface="Arial MT"/>
              </a:rPr>
              <a:t> </a:t>
            </a:r>
            <a:r>
              <a:rPr sz="2201" dirty="0">
                <a:latin typeface="Arial MT"/>
                <a:cs typeface="Arial MT"/>
              </a:rPr>
              <a:t>the</a:t>
            </a:r>
            <a:r>
              <a:rPr sz="2201" spc="-50" dirty="0">
                <a:latin typeface="Arial MT"/>
                <a:cs typeface="Arial MT"/>
              </a:rPr>
              <a:t> </a:t>
            </a:r>
            <a:r>
              <a:rPr sz="2201" dirty="0">
                <a:solidFill>
                  <a:srgbClr val="FF0000"/>
                </a:solidFill>
                <a:latin typeface="Arial MT"/>
                <a:cs typeface="Arial MT"/>
              </a:rPr>
              <a:t>sample</a:t>
            </a:r>
            <a:r>
              <a:rPr sz="2201" spc="-50" dirty="0">
                <a:solidFill>
                  <a:srgbClr val="FF0000"/>
                </a:solidFill>
                <a:latin typeface="Arial MT"/>
                <a:cs typeface="Arial MT"/>
              </a:rPr>
              <a:t> </a:t>
            </a:r>
            <a:r>
              <a:rPr sz="2201" dirty="0">
                <a:solidFill>
                  <a:srgbClr val="FF0000"/>
                </a:solidFill>
                <a:latin typeface="Arial MT"/>
                <a:cs typeface="Arial MT"/>
              </a:rPr>
              <a:t>is</a:t>
            </a:r>
            <a:r>
              <a:rPr sz="2201" spc="-46" dirty="0">
                <a:solidFill>
                  <a:srgbClr val="FF0000"/>
                </a:solidFill>
                <a:latin typeface="Arial MT"/>
                <a:cs typeface="Arial MT"/>
              </a:rPr>
              <a:t> </a:t>
            </a:r>
            <a:r>
              <a:rPr sz="2201" dirty="0">
                <a:solidFill>
                  <a:srgbClr val="FF0000"/>
                </a:solidFill>
                <a:latin typeface="Arial MT"/>
                <a:cs typeface="Arial MT"/>
              </a:rPr>
              <a:t>collected</a:t>
            </a:r>
            <a:r>
              <a:rPr sz="2201" spc="-60" dirty="0">
                <a:solidFill>
                  <a:srgbClr val="FF0000"/>
                </a:solidFill>
                <a:latin typeface="Arial MT"/>
                <a:cs typeface="Arial MT"/>
              </a:rPr>
              <a:t> </a:t>
            </a:r>
            <a:r>
              <a:rPr sz="2201" dirty="0">
                <a:solidFill>
                  <a:srgbClr val="FF0000"/>
                </a:solidFill>
                <a:latin typeface="Arial MT"/>
                <a:cs typeface="Arial MT"/>
              </a:rPr>
              <a:t>by</a:t>
            </a:r>
            <a:r>
              <a:rPr sz="2201" spc="-50" dirty="0">
                <a:solidFill>
                  <a:srgbClr val="FF0000"/>
                </a:solidFill>
                <a:latin typeface="Arial MT"/>
                <a:cs typeface="Arial MT"/>
              </a:rPr>
              <a:t> </a:t>
            </a:r>
            <a:r>
              <a:rPr sz="2201" dirty="0">
                <a:solidFill>
                  <a:srgbClr val="FF0000"/>
                </a:solidFill>
                <a:latin typeface="Arial MT"/>
                <a:cs typeface="Arial MT"/>
              </a:rPr>
              <a:t>filling</a:t>
            </a:r>
            <a:r>
              <a:rPr sz="2201" spc="-70" dirty="0">
                <a:solidFill>
                  <a:srgbClr val="FF0000"/>
                </a:solidFill>
                <a:latin typeface="Arial MT"/>
                <a:cs typeface="Arial MT"/>
              </a:rPr>
              <a:t> </a:t>
            </a:r>
            <a:r>
              <a:rPr sz="2201" dirty="0">
                <a:solidFill>
                  <a:srgbClr val="FF0000"/>
                </a:solidFill>
                <a:latin typeface="Arial MT"/>
                <a:cs typeface="Arial MT"/>
              </a:rPr>
              <a:t>an</a:t>
            </a:r>
            <a:r>
              <a:rPr sz="2201" spc="-34" dirty="0">
                <a:solidFill>
                  <a:srgbClr val="FF0000"/>
                </a:solidFill>
                <a:latin typeface="Arial MT"/>
                <a:cs typeface="Arial MT"/>
              </a:rPr>
              <a:t> </a:t>
            </a:r>
            <a:r>
              <a:rPr sz="2201" dirty="0">
                <a:solidFill>
                  <a:srgbClr val="FF0000"/>
                </a:solidFill>
                <a:latin typeface="Arial MT"/>
                <a:cs typeface="Arial MT"/>
              </a:rPr>
              <a:t>evacuated</a:t>
            </a:r>
            <a:r>
              <a:rPr sz="2201" spc="-55" dirty="0">
                <a:solidFill>
                  <a:srgbClr val="FF0000"/>
                </a:solidFill>
                <a:latin typeface="Arial MT"/>
                <a:cs typeface="Arial MT"/>
              </a:rPr>
              <a:t> </a:t>
            </a:r>
            <a:r>
              <a:rPr sz="2201" dirty="0">
                <a:solidFill>
                  <a:srgbClr val="FF0000"/>
                </a:solidFill>
                <a:latin typeface="Arial MT"/>
                <a:cs typeface="Arial MT"/>
              </a:rPr>
              <a:t>flask</a:t>
            </a:r>
            <a:r>
              <a:rPr sz="2201" spc="-55" dirty="0">
                <a:solidFill>
                  <a:srgbClr val="FF0000"/>
                </a:solidFill>
                <a:latin typeface="Arial MT"/>
                <a:cs typeface="Arial MT"/>
              </a:rPr>
              <a:t> </a:t>
            </a:r>
            <a:r>
              <a:rPr sz="2201" dirty="0">
                <a:solidFill>
                  <a:srgbClr val="FF0000"/>
                </a:solidFill>
                <a:latin typeface="Arial MT"/>
                <a:cs typeface="Arial MT"/>
              </a:rPr>
              <a:t>or</a:t>
            </a:r>
            <a:r>
              <a:rPr sz="2201" spc="-55" dirty="0">
                <a:solidFill>
                  <a:srgbClr val="FF0000"/>
                </a:solidFill>
                <a:latin typeface="Arial MT"/>
                <a:cs typeface="Arial MT"/>
              </a:rPr>
              <a:t> </a:t>
            </a:r>
            <a:r>
              <a:rPr sz="2201" dirty="0">
                <a:solidFill>
                  <a:srgbClr val="FF0000"/>
                </a:solidFill>
                <a:latin typeface="Arial MT"/>
                <a:cs typeface="Arial MT"/>
              </a:rPr>
              <a:t>an</a:t>
            </a:r>
            <a:r>
              <a:rPr sz="2201" spc="-55" dirty="0">
                <a:solidFill>
                  <a:srgbClr val="FF0000"/>
                </a:solidFill>
                <a:latin typeface="Arial MT"/>
                <a:cs typeface="Arial MT"/>
              </a:rPr>
              <a:t> </a:t>
            </a:r>
            <a:r>
              <a:rPr sz="2201" spc="-10" dirty="0">
                <a:solidFill>
                  <a:srgbClr val="FF0000"/>
                </a:solidFill>
                <a:latin typeface="Arial MT"/>
                <a:cs typeface="Arial MT"/>
              </a:rPr>
              <a:t>inflatable </a:t>
            </a:r>
            <a:r>
              <a:rPr sz="2201" spc="-20" dirty="0">
                <a:solidFill>
                  <a:srgbClr val="FF0000"/>
                </a:solidFill>
                <a:latin typeface="Arial MT"/>
                <a:cs typeface="Arial MT"/>
              </a:rPr>
              <a:t>bag.</a:t>
            </a:r>
            <a:endParaRPr sz="2201" dirty="0">
              <a:latin typeface="Arial MT"/>
              <a:cs typeface="Arial MT"/>
            </a:endParaRPr>
          </a:p>
          <a:p>
            <a:pPr marL="318778" indent="-306078">
              <a:spcBef>
                <a:spcPts val="1790"/>
              </a:spcBef>
              <a:buClr>
                <a:srgbClr val="000000"/>
              </a:buClr>
              <a:buChar char="•"/>
              <a:tabLst>
                <a:tab pos="318778" algn="l"/>
              </a:tabLst>
            </a:pPr>
            <a:r>
              <a:rPr sz="2201" dirty="0">
                <a:solidFill>
                  <a:srgbClr val="FF0000"/>
                </a:solidFill>
                <a:latin typeface="Arial MT"/>
                <a:cs typeface="Arial MT"/>
              </a:rPr>
              <a:t>Plastic</a:t>
            </a:r>
            <a:r>
              <a:rPr sz="2201" spc="-65" dirty="0">
                <a:solidFill>
                  <a:srgbClr val="FF0000"/>
                </a:solidFill>
                <a:latin typeface="Arial MT"/>
                <a:cs typeface="Arial MT"/>
              </a:rPr>
              <a:t> </a:t>
            </a:r>
            <a:r>
              <a:rPr sz="2201" dirty="0">
                <a:solidFill>
                  <a:srgbClr val="FF0000"/>
                </a:solidFill>
                <a:latin typeface="Arial MT"/>
                <a:cs typeface="Arial MT"/>
              </a:rPr>
              <a:t>bags</a:t>
            </a:r>
            <a:r>
              <a:rPr sz="2201" spc="-50" dirty="0">
                <a:solidFill>
                  <a:srgbClr val="FF0000"/>
                </a:solidFill>
                <a:latin typeface="Arial MT"/>
                <a:cs typeface="Arial MT"/>
              </a:rPr>
              <a:t> </a:t>
            </a:r>
            <a:r>
              <a:rPr sz="2201" dirty="0">
                <a:latin typeface="Arial MT"/>
                <a:cs typeface="Arial MT"/>
              </a:rPr>
              <a:t>have</a:t>
            </a:r>
            <a:r>
              <a:rPr sz="2201" spc="-50" dirty="0">
                <a:latin typeface="Arial MT"/>
                <a:cs typeface="Arial MT"/>
              </a:rPr>
              <a:t> </a:t>
            </a:r>
            <a:r>
              <a:rPr sz="2201" dirty="0">
                <a:latin typeface="Arial MT"/>
                <a:cs typeface="Arial MT"/>
              </a:rPr>
              <a:t>been</a:t>
            </a:r>
            <a:r>
              <a:rPr sz="2201" spc="-55" dirty="0">
                <a:latin typeface="Arial MT"/>
                <a:cs typeface="Arial MT"/>
              </a:rPr>
              <a:t> </a:t>
            </a:r>
            <a:r>
              <a:rPr sz="2201" dirty="0">
                <a:solidFill>
                  <a:srgbClr val="FF0000"/>
                </a:solidFill>
                <a:latin typeface="Arial MT"/>
                <a:cs typeface="Arial MT"/>
              </a:rPr>
              <a:t>widely</a:t>
            </a:r>
            <a:r>
              <a:rPr sz="2201" spc="-65" dirty="0">
                <a:solidFill>
                  <a:srgbClr val="FF0000"/>
                </a:solidFill>
                <a:latin typeface="Arial MT"/>
                <a:cs typeface="Arial MT"/>
              </a:rPr>
              <a:t> </a:t>
            </a:r>
            <a:r>
              <a:rPr sz="2201" dirty="0">
                <a:solidFill>
                  <a:srgbClr val="FF0000"/>
                </a:solidFill>
                <a:latin typeface="Arial MT"/>
                <a:cs typeface="Arial MT"/>
              </a:rPr>
              <a:t>used</a:t>
            </a:r>
            <a:r>
              <a:rPr sz="2201" spc="-50" dirty="0">
                <a:solidFill>
                  <a:srgbClr val="FF0000"/>
                </a:solidFill>
                <a:latin typeface="Arial MT"/>
                <a:cs typeface="Arial MT"/>
              </a:rPr>
              <a:t> </a:t>
            </a:r>
            <a:r>
              <a:rPr sz="2201" dirty="0">
                <a:latin typeface="Arial MT"/>
                <a:cs typeface="Arial MT"/>
              </a:rPr>
              <a:t>for</a:t>
            </a:r>
            <a:r>
              <a:rPr sz="2201" spc="-46" dirty="0">
                <a:latin typeface="Arial MT"/>
                <a:cs typeface="Arial MT"/>
              </a:rPr>
              <a:t> </a:t>
            </a:r>
            <a:r>
              <a:rPr sz="2201" dirty="0">
                <a:latin typeface="Arial MT"/>
                <a:cs typeface="Arial MT"/>
              </a:rPr>
              <a:t>grab</a:t>
            </a:r>
            <a:r>
              <a:rPr sz="2201" spc="-50" dirty="0">
                <a:latin typeface="Arial MT"/>
                <a:cs typeface="Arial MT"/>
              </a:rPr>
              <a:t> </a:t>
            </a:r>
            <a:r>
              <a:rPr sz="2201" dirty="0">
                <a:latin typeface="Arial MT"/>
                <a:cs typeface="Arial MT"/>
              </a:rPr>
              <a:t>sampling</a:t>
            </a:r>
            <a:r>
              <a:rPr sz="2201" spc="-60" dirty="0">
                <a:latin typeface="Arial MT"/>
                <a:cs typeface="Arial MT"/>
              </a:rPr>
              <a:t> </a:t>
            </a:r>
            <a:r>
              <a:rPr sz="2201" dirty="0">
                <a:latin typeface="Arial MT"/>
                <a:cs typeface="Arial MT"/>
              </a:rPr>
              <a:t>and</a:t>
            </a:r>
            <a:r>
              <a:rPr sz="2201" spc="-55" dirty="0">
                <a:latin typeface="Arial MT"/>
                <a:cs typeface="Arial MT"/>
              </a:rPr>
              <a:t> </a:t>
            </a:r>
            <a:r>
              <a:rPr sz="2201" dirty="0">
                <a:latin typeface="Arial MT"/>
                <a:cs typeface="Arial MT"/>
              </a:rPr>
              <a:t>tor</a:t>
            </a:r>
            <a:r>
              <a:rPr sz="2201" spc="-50" dirty="0">
                <a:latin typeface="Arial MT"/>
                <a:cs typeface="Arial MT"/>
              </a:rPr>
              <a:t> </a:t>
            </a:r>
            <a:r>
              <a:rPr sz="2201" dirty="0">
                <a:latin typeface="Arial MT"/>
                <a:cs typeface="Arial MT"/>
              </a:rPr>
              <a:t>storage</a:t>
            </a:r>
            <a:r>
              <a:rPr sz="2201" spc="-46" dirty="0">
                <a:latin typeface="Arial MT"/>
                <a:cs typeface="Arial MT"/>
              </a:rPr>
              <a:t> </a:t>
            </a:r>
            <a:r>
              <a:rPr sz="2201" dirty="0">
                <a:latin typeface="Arial MT"/>
                <a:cs typeface="Arial MT"/>
              </a:rPr>
              <a:t>before</a:t>
            </a:r>
            <a:r>
              <a:rPr sz="2201" spc="-60" dirty="0">
                <a:latin typeface="Arial MT"/>
                <a:cs typeface="Arial MT"/>
              </a:rPr>
              <a:t> </a:t>
            </a:r>
            <a:r>
              <a:rPr sz="2201" spc="-10" dirty="0">
                <a:latin typeface="Arial MT"/>
                <a:cs typeface="Arial MT"/>
              </a:rPr>
              <a:t>analysis.</a:t>
            </a:r>
            <a:endParaRPr sz="2201" dirty="0">
              <a:latin typeface="Arial MT"/>
              <a:cs typeface="Arial MT"/>
            </a:endParaRPr>
          </a:p>
          <a:p>
            <a:pPr marL="241306" marR="941728" indent="-228606">
              <a:lnSpc>
                <a:spcPct val="130000"/>
              </a:lnSpc>
              <a:spcBef>
                <a:spcPts val="994"/>
              </a:spcBef>
              <a:buChar char="•"/>
              <a:tabLst>
                <a:tab pos="241306" algn="l"/>
              </a:tabLst>
            </a:pPr>
            <a:r>
              <a:rPr sz="2201" dirty="0">
                <a:solidFill>
                  <a:srgbClr val="FF0000"/>
                </a:solidFill>
                <a:latin typeface="Arial MT"/>
                <a:cs typeface="Arial MT"/>
              </a:rPr>
              <a:t>Bag</a:t>
            </a:r>
            <a:r>
              <a:rPr sz="2201" spc="-65" dirty="0">
                <a:solidFill>
                  <a:srgbClr val="FF0000"/>
                </a:solidFill>
                <a:latin typeface="Arial MT"/>
                <a:cs typeface="Arial MT"/>
              </a:rPr>
              <a:t> </a:t>
            </a:r>
            <a:r>
              <a:rPr sz="2201" dirty="0">
                <a:solidFill>
                  <a:srgbClr val="FF0000"/>
                </a:solidFill>
                <a:latin typeface="Arial MT"/>
                <a:cs typeface="Arial MT"/>
              </a:rPr>
              <a:t>sampling</a:t>
            </a:r>
            <a:r>
              <a:rPr sz="2201" spc="-34" dirty="0">
                <a:solidFill>
                  <a:srgbClr val="FF0000"/>
                </a:solidFill>
                <a:latin typeface="Arial MT"/>
                <a:cs typeface="Arial MT"/>
              </a:rPr>
              <a:t> </a:t>
            </a:r>
            <a:r>
              <a:rPr sz="2201" dirty="0">
                <a:latin typeface="Arial MT"/>
                <a:cs typeface="Arial MT"/>
              </a:rPr>
              <a:t>is</a:t>
            </a:r>
            <a:r>
              <a:rPr sz="2201" spc="-70" dirty="0">
                <a:latin typeface="Arial MT"/>
                <a:cs typeface="Arial MT"/>
              </a:rPr>
              <a:t> </a:t>
            </a:r>
            <a:r>
              <a:rPr sz="2201" dirty="0">
                <a:latin typeface="Arial MT"/>
                <a:cs typeface="Arial MT"/>
              </a:rPr>
              <a:t>subject</a:t>
            </a:r>
            <a:r>
              <a:rPr sz="2201" spc="-70" dirty="0">
                <a:latin typeface="Arial MT"/>
                <a:cs typeface="Arial MT"/>
              </a:rPr>
              <a:t> </a:t>
            </a:r>
            <a:r>
              <a:rPr sz="2201" dirty="0">
                <a:latin typeface="Arial MT"/>
                <a:cs typeface="Arial MT"/>
              </a:rPr>
              <a:t>to</a:t>
            </a:r>
            <a:r>
              <a:rPr sz="2201" spc="-46" dirty="0">
                <a:latin typeface="Arial MT"/>
                <a:cs typeface="Arial MT"/>
              </a:rPr>
              <a:t> </a:t>
            </a:r>
            <a:r>
              <a:rPr sz="2201" dirty="0">
                <a:solidFill>
                  <a:srgbClr val="FF0000"/>
                </a:solidFill>
                <a:latin typeface="Arial MT"/>
                <a:cs typeface="Arial MT"/>
              </a:rPr>
              <a:t>losses</a:t>
            </a:r>
            <a:r>
              <a:rPr sz="2201" spc="-55" dirty="0">
                <a:solidFill>
                  <a:srgbClr val="FF0000"/>
                </a:solidFill>
                <a:latin typeface="Arial MT"/>
                <a:cs typeface="Arial MT"/>
              </a:rPr>
              <a:t> </a:t>
            </a:r>
            <a:r>
              <a:rPr sz="2201" dirty="0">
                <a:latin typeface="Arial MT"/>
                <a:cs typeface="Arial MT"/>
              </a:rPr>
              <a:t>caused</a:t>
            </a:r>
            <a:r>
              <a:rPr sz="2201" spc="-65" dirty="0">
                <a:latin typeface="Arial MT"/>
                <a:cs typeface="Arial MT"/>
              </a:rPr>
              <a:t> </a:t>
            </a:r>
            <a:r>
              <a:rPr sz="2201" dirty="0">
                <a:latin typeface="Arial MT"/>
                <a:cs typeface="Arial MT"/>
              </a:rPr>
              <a:t>by</a:t>
            </a:r>
            <a:r>
              <a:rPr sz="2201" spc="-46" dirty="0">
                <a:latin typeface="Arial MT"/>
                <a:cs typeface="Arial MT"/>
              </a:rPr>
              <a:t> </a:t>
            </a:r>
            <a:r>
              <a:rPr sz="2201" dirty="0">
                <a:solidFill>
                  <a:srgbClr val="FF0000"/>
                </a:solidFill>
                <a:latin typeface="Arial MT"/>
                <a:cs typeface="Arial MT"/>
              </a:rPr>
              <a:t>moisture</a:t>
            </a:r>
            <a:r>
              <a:rPr sz="2201" spc="-50" dirty="0">
                <a:solidFill>
                  <a:srgbClr val="FF0000"/>
                </a:solidFill>
                <a:latin typeface="Arial MT"/>
                <a:cs typeface="Arial MT"/>
              </a:rPr>
              <a:t> </a:t>
            </a:r>
            <a:r>
              <a:rPr sz="2201" dirty="0">
                <a:solidFill>
                  <a:srgbClr val="FF0000"/>
                </a:solidFill>
                <a:latin typeface="Arial MT"/>
                <a:cs typeface="Arial MT"/>
              </a:rPr>
              <a:t>condensation</a:t>
            </a:r>
            <a:r>
              <a:rPr sz="2201" spc="-60" dirty="0">
                <a:solidFill>
                  <a:srgbClr val="FF0000"/>
                </a:solidFill>
                <a:latin typeface="Arial MT"/>
                <a:cs typeface="Arial MT"/>
              </a:rPr>
              <a:t> </a:t>
            </a:r>
            <a:r>
              <a:rPr sz="2201" dirty="0">
                <a:solidFill>
                  <a:srgbClr val="FF0000"/>
                </a:solidFill>
                <a:latin typeface="Arial MT"/>
                <a:cs typeface="Arial MT"/>
              </a:rPr>
              <a:t>or</a:t>
            </a:r>
            <a:r>
              <a:rPr sz="2201" spc="-65" dirty="0">
                <a:solidFill>
                  <a:srgbClr val="FF0000"/>
                </a:solidFill>
                <a:latin typeface="Arial MT"/>
                <a:cs typeface="Arial MT"/>
              </a:rPr>
              <a:t> </a:t>
            </a:r>
            <a:r>
              <a:rPr sz="2201" spc="-10" dirty="0">
                <a:solidFill>
                  <a:srgbClr val="FF0000"/>
                </a:solidFill>
                <a:latin typeface="Arial MT"/>
                <a:cs typeface="Arial MT"/>
              </a:rPr>
              <a:t>diffusion </a:t>
            </a:r>
            <a:r>
              <a:rPr sz="2201" dirty="0">
                <a:solidFill>
                  <a:srgbClr val="FF0000"/>
                </a:solidFill>
                <a:latin typeface="Arial MT"/>
                <a:cs typeface="Arial MT"/>
              </a:rPr>
              <a:t>through</a:t>
            </a:r>
            <a:r>
              <a:rPr sz="2201" spc="-41" dirty="0">
                <a:solidFill>
                  <a:srgbClr val="FF0000"/>
                </a:solidFill>
                <a:latin typeface="Arial MT"/>
                <a:cs typeface="Arial MT"/>
              </a:rPr>
              <a:t> </a:t>
            </a:r>
            <a:r>
              <a:rPr sz="2201" dirty="0">
                <a:solidFill>
                  <a:srgbClr val="FF0000"/>
                </a:solidFill>
                <a:latin typeface="Arial MT"/>
                <a:cs typeface="Arial MT"/>
              </a:rPr>
              <a:t>the</a:t>
            </a:r>
            <a:r>
              <a:rPr sz="2201" spc="-50" dirty="0">
                <a:solidFill>
                  <a:srgbClr val="FF0000"/>
                </a:solidFill>
                <a:latin typeface="Arial MT"/>
                <a:cs typeface="Arial MT"/>
              </a:rPr>
              <a:t> </a:t>
            </a:r>
            <a:r>
              <a:rPr sz="2201" dirty="0">
                <a:solidFill>
                  <a:srgbClr val="FF0000"/>
                </a:solidFill>
                <a:latin typeface="Arial MT"/>
                <a:cs typeface="Arial MT"/>
              </a:rPr>
              <a:t>walls</a:t>
            </a:r>
            <a:r>
              <a:rPr sz="2201" spc="-46" dirty="0">
                <a:solidFill>
                  <a:srgbClr val="FF0000"/>
                </a:solidFill>
                <a:latin typeface="Arial MT"/>
                <a:cs typeface="Arial MT"/>
              </a:rPr>
              <a:t> </a:t>
            </a:r>
            <a:r>
              <a:rPr sz="2201" dirty="0">
                <a:solidFill>
                  <a:srgbClr val="FF0000"/>
                </a:solidFill>
                <a:latin typeface="Arial MT"/>
                <a:cs typeface="Arial MT"/>
              </a:rPr>
              <a:t>of</a:t>
            </a:r>
            <a:r>
              <a:rPr sz="2201" spc="-50" dirty="0">
                <a:solidFill>
                  <a:srgbClr val="FF0000"/>
                </a:solidFill>
                <a:latin typeface="Arial MT"/>
                <a:cs typeface="Arial MT"/>
              </a:rPr>
              <a:t> </a:t>
            </a:r>
            <a:r>
              <a:rPr sz="2201" dirty="0">
                <a:solidFill>
                  <a:srgbClr val="FF0000"/>
                </a:solidFill>
                <a:latin typeface="Arial MT"/>
                <a:cs typeface="Arial MT"/>
              </a:rPr>
              <a:t>the</a:t>
            </a:r>
            <a:r>
              <a:rPr sz="2201" spc="-50" dirty="0">
                <a:solidFill>
                  <a:srgbClr val="FF0000"/>
                </a:solidFill>
                <a:latin typeface="Arial MT"/>
                <a:cs typeface="Arial MT"/>
              </a:rPr>
              <a:t> </a:t>
            </a:r>
            <a:r>
              <a:rPr sz="2201" spc="-20" dirty="0">
                <a:solidFill>
                  <a:srgbClr val="FF0000"/>
                </a:solidFill>
                <a:latin typeface="Arial MT"/>
                <a:cs typeface="Arial MT"/>
              </a:rPr>
              <a:t>bag.</a:t>
            </a:r>
            <a:endParaRPr sz="2201" dirty="0">
              <a:latin typeface="Arial MT"/>
              <a:cs typeface="Arial MT"/>
            </a:endParaRPr>
          </a:p>
          <a:p>
            <a:pPr marL="241306" marR="985545" indent="-228606">
              <a:lnSpc>
                <a:spcPct val="130000"/>
              </a:lnSpc>
              <a:spcBef>
                <a:spcPts val="1010"/>
              </a:spcBef>
              <a:buChar char="•"/>
              <a:tabLst>
                <a:tab pos="241306" algn="l"/>
                <a:tab pos="314333" algn="l"/>
              </a:tabLst>
            </a:pPr>
            <a:r>
              <a:rPr sz="2201" dirty="0">
                <a:latin typeface="Arial MT"/>
                <a:cs typeface="Arial MT"/>
              </a:rPr>
              <a:t>	The</a:t>
            </a:r>
            <a:r>
              <a:rPr sz="2201" spc="-70" dirty="0">
                <a:latin typeface="Arial MT"/>
                <a:cs typeface="Arial MT"/>
              </a:rPr>
              <a:t> </a:t>
            </a:r>
            <a:r>
              <a:rPr sz="2201" dirty="0">
                <a:solidFill>
                  <a:srgbClr val="FF0000"/>
                </a:solidFill>
                <a:latin typeface="Arial MT"/>
                <a:cs typeface="Arial MT"/>
              </a:rPr>
              <a:t>losses</a:t>
            </a:r>
            <a:r>
              <a:rPr sz="2201" spc="-65" dirty="0">
                <a:solidFill>
                  <a:srgbClr val="FF0000"/>
                </a:solidFill>
                <a:latin typeface="Arial MT"/>
                <a:cs typeface="Arial MT"/>
              </a:rPr>
              <a:t> </a:t>
            </a:r>
            <a:r>
              <a:rPr sz="2201" dirty="0">
                <a:latin typeface="Arial MT"/>
                <a:cs typeface="Arial MT"/>
              </a:rPr>
              <a:t>can</a:t>
            </a:r>
            <a:r>
              <a:rPr sz="2201" spc="-75" dirty="0">
                <a:latin typeface="Arial MT"/>
                <a:cs typeface="Arial MT"/>
              </a:rPr>
              <a:t> </a:t>
            </a:r>
            <a:r>
              <a:rPr sz="2201" dirty="0">
                <a:latin typeface="Arial MT"/>
                <a:cs typeface="Arial MT"/>
              </a:rPr>
              <a:t>be</a:t>
            </a:r>
            <a:r>
              <a:rPr sz="2201" spc="-60" dirty="0">
                <a:latin typeface="Arial MT"/>
                <a:cs typeface="Arial MT"/>
              </a:rPr>
              <a:t> </a:t>
            </a:r>
            <a:r>
              <a:rPr sz="2201" dirty="0">
                <a:solidFill>
                  <a:srgbClr val="FF0000"/>
                </a:solidFill>
                <a:latin typeface="Arial MT"/>
                <a:cs typeface="Arial MT"/>
              </a:rPr>
              <a:t>minimized</a:t>
            </a:r>
            <a:r>
              <a:rPr sz="2201" spc="-55" dirty="0">
                <a:solidFill>
                  <a:srgbClr val="FF0000"/>
                </a:solidFill>
                <a:latin typeface="Arial MT"/>
                <a:cs typeface="Arial MT"/>
              </a:rPr>
              <a:t> </a:t>
            </a:r>
            <a:r>
              <a:rPr sz="2201" dirty="0">
                <a:latin typeface="Arial MT"/>
                <a:cs typeface="Arial MT"/>
              </a:rPr>
              <a:t>by</a:t>
            </a:r>
            <a:r>
              <a:rPr sz="2201" spc="-60" dirty="0">
                <a:latin typeface="Arial MT"/>
                <a:cs typeface="Arial MT"/>
              </a:rPr>
              <a:t> </a:t>
            </a:r>
            <a:r>
              <a:rPr sz="2201" dirty="0">
                <a:latin typeface="Arial MT"/>
                <a:cs typeface="Arial MT"/>
              </a:rPr>
              <a:t>performing</a:t>
            </a:r>
            <a:r>
              <a:rPr sz="2201" spc="-50" dirty="0">
                <a:latin typeface="Arial MT"/>
                <a:cs typeface="Arial MT"/>
              </a:rPr>
              <a:t> </a:t>
            </a:r>
            <a:r>
              <a:rPr sz="2201" dirty="0">
                <a:latin typeface="Arial MT"/>
                <a:cs typeface="Arial MT"/>
              </a:rPr>
              <a:t>the</a:t>
            </a:r>
            <a:r>
              <a:rPr sz="2201" spc="-41" dirty="0">
                <a:latin typeface="Arial MT"/>
                <a:cs typeface="Arial MT"/>
              </a:rPr>
              <a:t> </a:t>
            </a:r>
            <a:r>
              <a:rPr sz="2201" dirty="0">
                <a:solidFill>
                  <a:srgbClr val="FF0000"/>
                </a:solidFill>
                <a:latin typeface="Arial MT"/>
                <a:cs typeface="Arial MT"/>
              </a:rPr>
              <a:t>analysis</a:t>
            </a:r>
            <a:r>
              <a:rPr sz="2201" spc="-75" dirty="0">
                <a:solidFill>
                  <a:srgbClr val="FF0000"/>
                </a:solidFill>
                <a:latin typeface="Arial MT"/>
                <a:cs typeface="Arial MT"/>
              </a:rPr>
              <a:t> </a:t>
            </a:r>
            <a:r>
              <a:rPr sz="2201" dirty="0">
                <a:solidFill>
                  <a:srgbClr val="FF0000"/>
                </a:solidFill>
                <a:latin typeface="Arial MT"/>
                <a:cs typeface="Arial MT"/>
              </a:rPr>
              <a:t>immediately</a:t>
            </a:r>
            <a:r>
              <a:rPr sz="2201" spc="-50" dirty="0">
                <a:solidFill>
                  <a:srgbClr val="FF0000"/>
                </a:solidFill>
                <a:latin typeface="Arial MT"/>
                <a:cs typeface="Arial MT"/>
              </a:rPr>
              <a:t> </a:t>
            </a:r>
            <a:r>
              <a:rPr sz="2201" spc="-10" dirty="0">
                <a:solidFill>
                  <a:srgbClr val="FF0000"/>
                </a:solidFill>
                <a:latin typeface="Arial MT"/>
                <a:cs typeface="Arial MT"/>
              </a:rPr>
              <a:t>following collection.</a:t>
            </a:r>
            <a:endParaRPr sz="2201" dirty="0">
              <a:latin typeface="Arial MT"/>
              <a:cs typeface="Arial MT"/>
            </a:endParaRPr>
          </a:p>
          <a:p>
            <a:pPr marL="241306" marR="330209" indent="-228606">
              <a:lnSpc>
                <a:spcPct val="130000"/>
              </a:lnSpc>
              <a:spcBef>
                <a:spcPts val="994"/>
              </a:spcBef>
              <a:buChar char="•"/>
              <a:tabLst>
                <a:tab pos="241306" algn="l"/>
              </a:tabLst>
            </a:pPr>
            <a:r>
              <a:rPr sz="2201" dirty="0">
                <a:solidFill>
                  <a:srgbClr val="FF0000"/>
                </a:solidFill>
                <a:latin typeface="Arial MT"/>
                <a:cs typeface="Arial MT"/>
              </a:rPr>
              <a:t>Grab</a:t>
            </a:r>
            <a:r>
              <a:rPr sz="2201" spc="-46" dirty="0">
                <a:solidFill>
                  <a:srgbClr val="FF0000"/>
                </a:solidFill>
                <a:latin typeface="Arial MT"/>
                <a:cs typeface="Arial MT"/>
              </a:rPr>
              <a:t> </a:t>
            </a:r>
            <a:r>
              <a:rPr sz="2201" dirty="0">
                <a:solidFill>
                  <a:srgbClr val="FF0000"/>
                </a:solidFill>
                <a:latin typeface="Arial MT"/>
                <a:cs typeface="Arial MT"/>
              </a:rPr>
              <a:t>samples</a:t>
            </a:r>
            <a:r>
              <a:rPr sz="2201" spc="-30" dirty="0">
                <a:solidFill>
                  <a:srgbClr val="FF0000"/>
                </a:solidFill>
                <a:latin typeface="Arial MT"/>
                <a:cs typeface="Arial MT"/>
              </a:rPr>
              <a:t> </a:t>
            </a:r>
            <a:r>
              <a:rPr sz="2201" dirty="0">
                <a:latin typeface="Arial MT"/>
                <a:cs typeface="Arial MT"/>
              </a:rPr>
              <a:t>may</a:t>
            </a:r>
            <a:r>
              <a:rPr sz="2201" spc="-46" dirty="0">
                <a:latin typeface="Arial MT"/>
                <a:cs typeface="Arial MT"/>
              </a:rPr>
              <a:t> </a:t>
            </a:r>
            <a:r>
              <a:rPr sz="2201" dirty="0">
                <a:latin typeface="Arial MT"/>
                <a:cs typeface="Arial MT"/>
              </a:rPr>
              <a:t>be</a:t>
            </a:r>
            <a:r>
              <a:rPr sz="2201" spc="-50" dirty="0">
                <a:latin typeface="Arial MT"/>
                <a:cs typeface="Arial MT"/>
              </a:rPr>
              <a:t> </a:t>
            </a:r>
            <a:r>
              <a:rPr sz="2201" dirty="0">
                <a:latin typeface="Arial MT"/>
                <a:cs typeface="Arial MT"/>
              </a:rPr>
              <a:t>taken</a:t>
            </a:r>
            <a:r>
              <a:rPr sz="2201" spc="-55" dirty="0">
                <a:latin typeface="Arial MT"/>
                <a:cs typeface="Arial MT"/>
              </a:rPr>
              <a:t> </a:t>
            </a:r>
            <a:r>
              <a:rPr sz="2201" dirty="0">
                <a:latin typeface="Arial MT"/>
                <a:cs typeface="Arial MT"/>
              </a:rPr>
              <a:t>using</a:t>
            </a:r>
            <a:r>
              <a:rPr sz="2201" spc="-50" dirty="0">
                <a:latin typeface="Arial MT"/>
                <a:cs typeface="Arial MT"/>
              </a:rPr>
              <a:t> </a:t>
            </a:r>
            <a:r>
              <a:rPr sz="2201" dirty="0">
                <a:solidFill>
                  <a:srgbClr val="FF0000"/>
                </a:solidFill>
                <a:latin typeface="Arial MT"/>
                <a:cs typeface="Arial MT"/>
              </a:rPr>
              <a:t>rigid</a:t>
            </a:r>
            <a:r>
              <a:rPr sz="2201" spc="-55" dirty="0">
                <a:solidFill>
                  <a:srgbClr val="FF0000"/>
                </a:solidFill>
                <a:latin typeface="Arial MT"/>
                <a:cs typeface="Arial MT"/>
              </a:rPr>
              <a:t> </a:t>
            </a:r>
            <a:r>
              <a:rPr sz="2201" dirty="0">
                <a:solidFill>
                  <a:srgbClr val="FF0000"/>
                </a:solidFill>
                <a:latin typeface="Arial MT"/>
                <a:cs typeface="Arial MT"/>
              </a:rPr>
              <a:t>wall</a:t>
            </a:r>
            <a:r>
              <a:rPr sz="2201" spc="-55" dirty="0">
                <a:solidFill>
                  <a:srgbClr val="FF0000"/>
                </a:solidFill>
                <a:latin typeface="Arial MT"/>
                <a:cs typeface="Arial MT"/>
              </a:rPr>
              <a:t> </a:t>
            </a:r>
            <a:r>
              <a:rPr sz="2201" dirty="0">
                <a:solidFill>
                  <a:srgbClr val="FF0000"/>
                </a:solidFill>
                <a:latin typeface="Arial MT"/>
                <a:cs typeface="Arial MT"/>
              </a:rPr>
              <a:t>containers</a:t>
            </a:r>
            <a:r>
              <a:rPr sz="2201" spc="-55" dirty="0">
                <a:solidFill>
                  <a:srgbClr val="FF0000"/>
                </a:solidFill>
                <a:latin typeface="Arial MT"/>
                <a:cs typeface="Arial MT"/>
              </a:rPr>
              <a:t> </a:t>
            </a:r>
            <a:r>
              <a:rPr sz="2201" dirty="0">
                <a:solidFill>
                  <a:srgbClr val="FF0000"/>
                </a:solidFill>
                <a:latin typeface="Arial MT"/>
                <a:cs typeface="Arial MT"/>
              </a:rPr>
              <a:t>made</a:t>
            </a:r>
            <a:r>
              <a:rPr sz="2201" spc="-46" dirty="0">
                <a:solidFill>
                  <a:srgbClr val="FF0000"/>
                </a:solidFill>
                <a:latin typeface="Arial MT"/>
                <a:cs typeface="Arial MT"/>
              </a:rPr>
              <a:t> </a:t>
            </a:r>
            <a:r>
              <a:rPr sz="2201" dirty="0">
                <a:solidFill>
                  <a:srgbClr val="FF0000"/>
                </a:solidFill>
                <a:latin typeface="Arial MT"/>
                <a:cs typeface="Arial MT"/>
              </a:rPr>
              <a:t>from</a:t>
            </a:r>
            <a:r>
              <a:rPr sz="2201" spc="-34" dirty="0">
                <a:solidFill>
                  <a:srgbClr val="FF0000"/>
                </a:solidFill>
                <a:latin typeface="Arial MT"/>
                <a:cs typeface="Arial MT"/>
              </a:rPr>
              <a:t> </a:t>
            </a:r>
            <a:r>
              <a:rPr sz="2201" dirty="0">
                <a:solidFill>
                  <a:srgbClr val="FF0000"/>
                </a:solidFill>
                <a:latin typeface="Arial MT"/>
                <a:cs typeface="Arial MT"/>
              </a:rPr>
              <a:t>glass</a:t>
            </a:r>
            <a:r>
              <a:rPr sz="2201" spc="-60" dirty="0">
                <a:solidFill>
                  <a:srgbClr val="FF0000"/>
                </a:solidFill>
                <a:latin typeface="Arial MT"/>
                <a:cs typeface="Arial MT"/>
              </a:rPr>
              <a:t> </a:t>
            </a:r>
            <a:r>
              <a:rPr sz="2201" dirty="0">
                <a:solidFill>
                  <a:srgbClr val="FF0000"/>
                </a:solidFill>
                <a:latin typeface="Arial MT"/>
                <a:cs typeface="Arial MT"/>
              </a:rPr>
              <a:t>or</a:t>
            </a:r>
            <a:r>
              <a:rPr sz="2201" spc="-46" dirty="0">
                <a:solidFill>
                  <a:srgbClr val="FF0000"/>
                </a:solidFill>
                <a:latin typeface="Arial MT"/>
                <a:cs typeface="Arial MT"/>
              </a:rPr>
              <a:t> </a:t>
            </a:r>
            <a:r>
              <a:rPr sz="2201" spc="-10" dirty="0">
                <a:solidFill>
                  <a:srgbClr val="FF0000"/>
                </a:solidFill>
                <a:latin typeface="Arial MT"/>
                <a:cs typeface="Arial MT"/>
              </a:rPr>
              <a:t>stainless steel.</a:t>
            </a:r>
            <a:endParaRPr sz="2201" dirty="0">
              <a:latin typeface="Arial MT"/>
              <a:cs typeface="Arial MT"/>
            </a:endParaRPr>
          </a:p>
          <a:p>
            <a:pPr marL="240671" indent="-227971">
              <a:spcBef>
                <a:spcPts val="1785"/>
              </a:spcBef>
              <a:buChar char="•"/>
              <a:tabLst>
                <a:tab pos="240671" algn="l"/>
              </a:tabLst>
            </a:pPr>
            <a:r>
              <a:rPr sz="2201" dirty="0">
                <a:solidFill>
                  <a:srgbClr val="FF0000"/>
                </a:solidFill>
                <a:latin typeface="Arial MT"/>
                <a:cs typeface="Arial MT"/>
              </a:rPr>
              <a:t>These</a:t>
            </a:r>
            <a:r>
              <a:rPr sz="2201" spc="-55" dirty="0">
                <a:solidFill>
                  <a:srgbClr val="FF0000"/>
                </a:solidFill>
                <a:latin typeface="Arial MT"/>
                <a:cs typeface="Arial MT"/>
              </a:rPr>
              <a:t> </a:t>
            </a:r>
            <a:r>
              <a:rPr sz="2201" dirty="0">
                <a:solidFill>
                  <a:srgbClr val="FF0000"/>
                </a:solidFill>
                <a:latin typeface="Arial MT"/>
                <a:cs typeface="Arial MT"/>
              </a:rPr>
              <a:t>containers</a:t>
            </a:r>
            <a:r>
              <a:rPr sz="2201" spc="-55" dirty="0">
                <a:solidFill>
                  <a:srgbClr val="FF0000"/>
                </a:solidFill>
                <a:latin typeface="Arial MT"/>
                <a:cs typeface="Arial MT"/>
              </a:rPr>
              <a:t> </a:t>
            </a:r>
            <a:r>
              <a:rPr sz="2201" dirty="0">
                <a:solidFill>
                  <a:srgbClr val="FF0000"/>
                </a:solidFill>
                <a:latin typeface="Arial MT"/>
                <a:cs typeface="Arial MT"/>
              </a:rPr>
              <a:t>are</a:t>
            </a:r>
            <a:r>
              <a:rPr sz="2201" spc="-46" dirty="0">
                <a:solidFill>
                  <a:srgbClr val="FF0000"/>
                </a:solidFill>
                <a:latin typeface="Arial MT"/>
                <a:cs typeface="Arial MT"/>
              </a:rPr>
              <a:t> </a:t>
            </a:r>
            <a:r>
              <a:rPr sz="2201" dirty="0">
                <a:solidFill>
                  <a:srgbClr val="FF0000"/>
                </a:solidFill>
                <a:latin typeface="Arial MT"/>
                <a:cs typeface="Arial MT"/>
              </a:rPr>
              <a:t>first</a:t>
            </a:r>
            <a:r>
              <a:rPr sz="2201" spc="-55" dirty="0">
                <a:solidFill>
                  <a:srgbClr val="FF0000"/>
                </a:solidFill>
                <a:latin typeface="Arial MT"/>
                <a:cs typeface="Arial MT"/>
              </a:rPr>
              <a:t> </a:t>
            </a:r>
            <a:r>
              <a:rPr sz="2201" dirty="0">
                <a:solidFill>
                  <a:srgbClr val="FF0000"/>
                </a:solidFill>
                <a:latin typeface="Arial MT"/>
                <a:cs typeface="Arial MT"/>
              </a:rPr>
              <a:t>evacuated</a:t>
            </a:r>
            <a:r>
              <a:rPr sz="2201" spc="-41" dirty="0">
                <a:solidFill>
                  <a:srgbClr val="FF0000"/>
                </a:solidFill>
                <a:latin typeface="Arial MT"/>
                <a:cs typeface="Arial MT"/>
              </a:rPr>
              <a:t> </a:t>
            </a:r>
            <a:r>
              <a:rPr sz="2201" dirty="0">
                <a:solidFill>
                  <a:srgbClr val="FF0000"/>
                </a:solidFill>
                <a:latin typeface="Arial MT"/>
                <a:cs typeface="Arial MT"/>
              </a:rPr>
              <a:t>and</a:t>
            </a:r>
            <a:r>
              <a:rPr sz="2201" spc="-50" dirty="0">
                <a:solidFill>
                  <a:srgbClr val="FF0000"/>
                </a:solidFill>
                <a:latin typeface="Arial MT"/>
                <a:cs typeface="Arial MT"/>
              </a:rPr>
              <a:t> </a:t>
            </a:r>
            <a:r>
              <a:rPr sz="2201" dirty="0">
                <a:solidFill>
                  <a:srgbClr val="FF0000"/>
                </a:solidFill>
                <a:latin typeface="Arial MT"/>
                <a:cs typeface="Arial MT"/>
              </a:rPr>
              <a:t>then</a:t>
            </a:r>
            <a:r>
              <a:rPr sz="2201" spc="-60" dirty="0">
                <a:solidFill>
                  <a:srgbClr val="FF0000"/>
                </a:solidFill>
                <a:latin typeface="Arial MT"/>
                <a:cs typeface="Arial MT"/>
              </a:rPr>
              <a:t> </a:t>
            </a:r>
            <a:r>
              <a:rPr sz="2201" dirty="0">
                <a:solidFill>
                  <a:srgbClr val="FF0000"/>
                </a:solidFill>
                <a:latin typeface="Arial MT"/>
                <a:cs typeface="Arial MT"/>
              </a:rPr>
              <a:t>filled</a:t>
            </a:r>
            <a:r>
              <a:rPr sz="2201" spc="-55" dirty="0">
                <a:solidFill>
                  <a:srgbClr val="FF0000"/>
                </a:solidFill>
                <a:latin typeface="Arial MT"/>
                <a:cs typeface="Arial MT"/>
              </a:rPr>
              <a:t> </a:t>
            </a:r>
            <a:r>
              <a:rPr sz="2201" dirty="0">
                <a:solidFill>
                  <a:srgbClr val="FF0000"/>
                </a:solidFill>
                <a:latin typeface="Arial MT"/>
                <a:cs typeface="Arial MT"/>
              </a:rPr>
              <a:t>by</a:t>
            </a:r>
            <a:r>
              <a:rPr sz="2201" spc="-60" dirty="0">
                <a:solidFill>
                  <a:srgbClr val="FF0000"/>
                </a:solidFill>
                <a:latin typeface="Arial MT"/>
                <a:cs typeface="Arial MT"/>
              </a:rPr>
              <a:t> </a:t>
            </a:r>
            <a:r>
              <a:rPr sz="2201" dirty="0">
                <a:solidFill>
                  <a:srgbClr val="FF0000"/>
                </a:solidFill>
                <a:latin typeface="Arial MT"/>
                <a:cs typeface="Arial MT"/>
              </a:rPr>
              <a:t>allowing</a:t>
            </a:r>
            <a:r>
              <a:rPr sz="2201" spc="-60" dirty="0">
                <a:solidFill>
                  <a:srgbClr val="FF0000"/>
                </a:solidFill>
                <a:latin typeface="Arial MT"/>
                <a:cs typeface="Arial MT"/>
              </a:rPr>
              <a:t> </a:t>
            </a:r>
            <a:r>
              <a:rPr sz="2201" dirty="0">
                <a:solidFill>
                  <a:srgbClr val="FF0000"/>
                </a:solidFill>
                <a:latin typeface="Arial MT"/>
                <a:cs typeface="Arial MT"/>
              </a:rPr>
              <a:t>air</a:t>
            </a:r>
            <a:r>
              <a:rPr sz="2201" spc="-55" dirty="0">
                <a:solidFill>
                  <a:srgbClr val="FF0000"/>
                </a:solidFill>
                <a:latin typeface="Arial MT"/>
                <a:cs typeface="Arial MT"/>
              </a:rPr>
              <a:t> </a:t>
            </a:r>
            <a:r>
              <a:rPr sz="2201" dirty="0">
                <a:solidFill>
                  <a:srgbClr val="FF0000"/>
                </a:solidFill>
                <a:latin typeface="Arial MT"/>
                <a:cs typeface="Arial MT"/>
              </a:rPr>
              <a:t>to</a:t>
            </a:r>
            <a:r>
              <a:rPr sz="2201" spc="-60" dirty="0">
                <a:solidFill>
                  <a:srgbClr val="FF0000"/>
                </a:solidFill>
                <a:latin typeface="Arial MT"/>
                <a:cs typeface="Arial MT"/>
              </a:rPr>
              <a:t> </a:t>
            </a:r>
            <a:r>
              <a:rPr sz="2201" spc="-10" dirty="0">
                <a:solidFill>
                  <a:srgbClr val="FF0000"/>
                </a:solidFill>
                <a:latin typeface="Arial MT"/>
                <a:cs typeface="Arial MT"/>
              </a:rPr>
              <a:t>enter</a:t>
            </a:r>
            <a:r>
              <a:rPr sz="2201" spc="-10" dirty="0">
                <a:latin typeface="Arial MT"/>
                <a:cs typeface="Arial MT"/>
              </a:rPr>
              <a:t>.</a:t>
            </a:r>
            <a:endParaRPr sz="2201" dirty="0">
              <a:latin typeface="Arial MT"/>
              <a:cs typeface="Arial M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70371" y="133352"/>
            <a:ext cx="7600956" cy="927562"/>
          </a:xfrm>
          <a:prstGeom prst="rect">
            <a:avLst/>
          </a:prstGeom>
        </p:spPr>
        <p:txBody>
          <a:bodyPr vert="horz" wrap="square" lIns="0" tIns="430911" rIns="0" bIns="0" rtlCol="0">
            <a:spAutoFit/>
          </a:bodyPr>
          <a:lstStyle/>
          <a:p>
            <a:pPr marL="350529">
              <a:spcBef>
                <a:spcPts val="105"/>
              </a:spcBef>
            </a:pPr>
            <a:r>
              <a:rPr dirty="0"/>
              <a:t>Grab</a:t>
            </a:r>
            <a:r>
              <a:rPr spc="-15" dirty="0"/>
              <a:t> </a:t>
            </a:r>
            <a:r>
              <a:rPr spc="-10" dirty="0"/>
              <a:t>Sampling</a:t>
            </a:r>
          </a:p>
        </p:txBody>
      </p:sp>
      <p:pic>
        <p:nvPicPr>
          <p:cNvPr id="3" name="object 3"/>
          <p:cNvPicPr/>
          <p:nvPr/>
        </p:nvPicPr>
        <p:blipFill>
          <a:blip r:embed="rId3" cstate="print"/>
          <a:stretch>
            <a:fillRect/>
          </a:stretch>
        </p:blipFill>
        <p:spPr>
          <a:xfrm>
            <a:off x="7924800" y="1971255"/>
            <a:ext cx="3907536" cy="4649724"/>
          </a:xfrm>
          <a:prstGeom prst="rect">
            <a:avLst/>
          </a:prstGeom>
        </p:spPr>
      </p:pic>
      <p:pic>
        <p:nvPicPr>
          <p:cNvPr id="4" name="object 4"/>
          <p:cNvPicPr/>
          <p:nvPr/>
        </p:nvPicPr>
        <p:blipFill>
          <a:blip r:embed="rId4" cstate="print"/>
          <a:stretch>
            <a:fillRect/>
          </a:stretch>
        </p:blipFill>
        <p:spPr>
          <a:xfrm>
            <a:off x="1066800" y="2362200"/>
            <a:ext cx="4736592" cy="3314700"/>
          </a:xfrm>
          <a:prstGeom prst="rect">
            <a:avLst/>
          </a:prstGeom>
        </p:spPr>
      </p:pic>
      <p:sp>
        <p:nvSpPr>
          <p:cNvPr id="5" name="object 5"/>
          <p:cNvSpPr txBox="1">
            <a:spLocks noGrp="1"/>
          </p:cNvSpPr>
          <p:nvPr>
            <p:ph type="sldNum" sz="quarter" idx="7"/>
          </p:nvPr>
        </p:nvSpPr>
        <p:spPr>
          <a:xfrm>
            <a:off x="8993409" y="6464911"/>
            <a:ext cx="198636" cy="156068"/>
          </a:xfrm>
          <a:prstGeom prst="rect">
            <a:avLst/>
          </a:prstGeom>
        </p:spPr>
        <p:txBody>
          <a:bodyPr vert="horz" wrap="square" lIns="0" tIns="0" rIns="0" bIns="0" rtlCol="0">
            <a:spAutoFit/>
          </a:bodyPr>
          <a:lstStyle/>
          <a:p>
            <a:pPr marL="38101">
              <a:lnSpc>
                <a:spcPts val="1239"/>
              </a:lnSpc>
            </a:pPr>
            <a:fld id="{81D60167-4931-47E6-BA6A-407CBD079E47}" type="slidenum">
              <a:rPr spc="-25" dirty="0"/>
              <a:pPr marL="38101">
                <a:lnSpc>
                  <a:spcPts val="1239"/>
                </a:lnSpc>
              </a:pPr>
              <a:t>13</a:t>
            </a:fld>
            <a:endParaRPr spc="-25"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xfrm>
            <a:off x="8993409" y="6464911"/>
            <a:ext cx="198636" cy="156068"/>
          </a:xfrm>
          <a:prstGeom prst="rect">
            <a:avLst/>
          </a:prstGeom>
        </p:spPr>
        <p:txBody>
          <a:bodyPr vert="horz" wrap="square" lIns="0" tIns="0" rIns="0" bIns="0" rtlCol="0">
            <a:spAutoFit/>
          </a:bodyPr>
          <a:lstStyle/>
          <a:p>
            <a:pPr marL="38101">
              <a:lnSpc>
                <a:spcPts val="1239"/>
              </a:lnSpc>
            </a:pPr>
            <a:fld id="{81D60167-4931-47E6-BA6A-407CBD079E47}" type="slidenum">
              <a:rPr spc="-25" dirty="0"/>
              <a:pPr marL="38101">
                <a:lnSpc>
                  <a:spcPts val="1239"/>
                </a:lnSpc>
              </a:pPr>
              <a:t>14</a:t>
            </a:fld>
            <a:endParaRPr spc="-25" dirty="0"/>
          </a:p>
        </p:txBody>
      </p:sp>
      <p:sp>
        <p:nvSpPr>
          <p:cNvPr id="2" name="object 2"/>
          <p:cNvSpPr txBox="1">
            <a:spLocks noGrp="1"/>
          </p:cNvSpPr>
          <p:nvPr>
            <p:ph type="title"/>
          </p:nvPr>
        </p:nvSpPr>
        <p:spPr>
          <a:xfrm>
            <a:off x="470371" y="133352"/>
            <a:ext cx="7600956" cy="927562"/>
          </a:xfrm>
          <a:prstGeom prst="rect">
            <a:avLst/>
          </a:prstGeom>
        </p:spPr>
        <p:txBody>
          <a:bodyPr vert="horz" wrap="square" lIns="0" tIns="430911" rIns="0" bIns="0" rtlCol="0">
            <a:spAutoFit/>
          </a:bodyPr>
          <a:lstStyle/>
          <a:p>
            <a:pPr marL="350529">
              <a:spcBef>
                <a:spcPts val="105"/>
              </a:spcBef>
            </a:pPr>
            <a:r>
              <a:rPr dirty="0"/>
              <a:t>Grab</a:t>
            </a:r>
            <a:r>
              <a:rPr spc="-15" dirty="0"/>
              <a:t> </a:t>
            </a:r>
            <a:r>
              <a:rPr spc="-10" dirty="0"/>
              <a:t>Sampling</a:t>
            </a:r>
          </a:p>
        </p:txBody>
      </p:sp>
      <p:sp>
        <p:nvSpPr>
          <p:cNvPr id="3" name="object 3"/>
          <p:cNvSpPr txBox="1"/>
          <p:nvPr/>
        </p:nvSpPr>
        <p:spPr>
          <a:xfrm>
            <a:off x="788316" y="1279885"/>
            <a:ext cx="10746105" cy="3395930"/>
          </a:xfrm>
          <a:prstGeom prst="rect">
            <a:avLst/>
          </a:prstGeom>
        </p:spPr>
        <p:txBody>
          <a:bodyPr vert="horz" wrap="square" lIns="0" tIns="12065" rIns="0" bIns="0" rtlCol="0">
            <a:spAutoFit/>
          </a:bodyPr>
          <a:lstStyle/>
          <a:p>
            <a:pPr marL="240036" marR="32386" indent="-227336">
              <a:lnSpc>
                <a:spcPct val="150000"/>
              </a:lnSpc>
              <a:spcBef>
                <a:spcPts val="95"/>
              </a:spcBef>
              <a:buChar char="•"/>
              <a:tabLst>
                <a:tab pos="241306" algn="l"/>
              </a:tabLst>
            </a:pPr>
            <a:r>
              <a:rPr sz="2400" spc="-20" dirty="0">
                <a:latin typeface="Arial MT"/>
                <a:cs typeface="Arial MT"/>
              </a:rPr>
              <a:t>Alternatively,</a:t>
            </a:r>
            <a:r>
              <a:rPr sz="2400" spc="-41" dirty="0">
                <a:latin typeface="Arial MT"/>
                <a:cs typeface="Arial MT"/>
              </a:rPr>
              <a:t> </a:t>
            </a:r>
            <a:r>
              <a:rPr sz="2400" dirty="0">
                <a:latin typeface="Arial MT"/>
                <a:cs typeface="Arial MT"/>
              </a:rPr>
              <a:t>a</a:t>
            </a:r>
            <a:r>
              <a:rPr sz="2400" spc="-50" dirty="0">
                <a:latin typeface="Arial MT"/>
                <a:cs typeface="Arial MT"/>
              </a:rPr>
              <a:t> </a:t>
            </a:r>
            <a:r>
              <a:rPr sz="2400" dirty="0">
                <a:latin typeface="Arial MT"/>
                <a:cs typeface="Arial MT"/>
              </a:rPr>
              <a:t>container</a:t>
            </a:r>
            <a:r>
              <a:rPr sz="2400" spc="-41" dirty="0">
                <a:latin typeface="Arial MT"/>
                <a:cs typeface="Arial MT"/>
              </a:rPr>
              <a:t> </a:t>
            </a:r>
            <a:r>
              <a:rPr sz="2400" dirty="0">
                <a:latin typeface="Arial MT"/>
                <a:cs typeface="Arial MT"/>
              </a:rPr>
              <a:t>may</a:t>
            </a:r>
            <a:r>
              <a:rPr sz="2400" spc="-50" dirty="0">
                <a:latin typeface="Arial MT"/>
                <a:cs typeface="Arial MT"/>
              </a:rPr>
              <a:t> </a:t>
            </a:r>
            <a:r>
              <a:rPr sz="2400" dirty="0">
                <a:latin typeface="Arial MT"/>
                <a:cs typeface="Arial MT"/>
              </a:rPr>
              <a:t>be</a:t>
            </a:r>
            <a:r>
              <a:rPr sz="2400" spc="-55" dirty="0">
                <a:latin typeface="Arial MT"/>
                <a:cs typeface="Arial MT"/>
              </a:rPr>
              <a:t> </a:t>
            </a:r>
            <a:r>
              <a:rPr sz="2400" dirty="0">
                <a:latin typeface="Arial MT"/>
                <a:cs typeface="Arial MT"/>
              </a:rPr>
              <a:t>filled</a:t>
            </a:r>
            <a:r>
              <a:rPr sz="2400" spc="-46" dirty="0">
                <a:latin typeface="Arial MT"/>
                <a:cs typeface="Arial MT"/>
              </a:rPr>
              <a:t> </a:t>
            </a:r>
            <a:r>
              <a:rPr sz="2400" dirty="0">
                <a:latin typeface="Arial MT"/>
                <a:cs typeface="Arial MT"/>
              </a:rPr>
              <a:t>with</a:t>
            </a:r>
            <a:r>
              <a:rPr sz="2400" spc="-41" dirty="0">
                <a:latin typeface="Arial MT"/>
                <a:cs typeface="Arial MT"/>
              </a:rPr>
              <a:t> </a:t>
            </a:r>
            <a:r>
              <a:rPr sz="2400" dirty="0">
                <a:latin typeface="Arial MT"/>
                <a:cs typeface="Arial MT"/>
              </a:rPr>
              <a:t>water</a:t>
            </a:r>
            <a:r>
              <a:rPr sz="2400" spc="-46" dirty="0">
                <a:latin typeface="Arial MT"/>
                <a:cs typeface="Arial MT"/>
              </a:rPr>
              <a:t> </a:t>
            </a:r>
            <a:r>
              <a:rPr sz="2400" dirty="0">
                <a:latin typeface="Arial MT"/>
                <a:cs typeface="Arial MT"/>
              </a:rPr>
              <a:t>and</a:t>
            </a:r>
            <a:r>
              <a:rPr sz="2400" spc="-46" dirty="0">
                <a:latin typeface="Arial MT"/>
                <a:cs typeface="Arial MT"/>
              </a:rPr>
              <a:t> </a:t>
            </a:r>
            <a:r>
              <a:rPr sz="2400" dirty="0">
                <a:latin typeface="Arial MT"/>
                <a:cs typeface="Arial MT"/>
              </a:rPr>
              <a:t>then</a:t>
            </a:r>
            <a:r>
              <a:rPr sz="2400" spc="-55" dirty="0">
                <a:latin typeface="Arial MT"/>
                <a:cs typeface="Arial MT"/>
              </a:rPr>
              <a:t> </a:t>
            </a:r>
            <a:r>
              <a:rPr sz="2400" dirty="0">
                <a:latin typeface="Arial MT"/>
                <a:cs typeface="Arial MT"/>
              </a:rPr>
              <a:t>used</a:t>
            </a:r>
            <a:r>
              <a:rPr sz="2400" spc="-50" dirty="0">
                <a:latin typeface="Arial MT"/>
                <a:cs typeface="Arial MT"/>
              </a:rPr>
              <a:t> </a:t>
            </a:r>
            <a:r>
              <a:rPr sz="2400" dirty="0">
                <a:latin typeface="Arial MT"/>
                <a:cs typeface="Arial MT"/>
              </a:rPr>
              <a:t>as</a:t>
            </a:r>
            <a:r>
              <a:rPr sz="2400" spc="-50" dirty="0">
                <a:latin typeface="Arial MT"/>
                <a:cs typeface="Arial MT"/>
              </a:rPr>
              <a:t> </a:t>
            </a:r>
            <a:r>
              <a:rPr sz="2400" dirty="0">
                <a:latin typeface="Arial MT"/>
                <a:cs typeface="Arial MT"/>
              </a:rPr>
              <a:t>a</a:t>
            </a:r>
            <a:r>
              <a:rPr sz="2400" spc="-55" dirty="0">
                <a:latin typeface="Arial MT"/>
                <a:cs typeface="Arial MT"/>
              </a:rPr>
              <a:t> </a:t>
            </a:r>
            <a:r>
              <a:rPr sz="2400" spc="-10" dirty="0">
                <a:latin typeface="Arial MT"/>
                <a:cs typeface="Arial MT"/>
              </a:rPr>
              <a:t>collector 	</a:t>
            </a:r>
            <a:r>
              <a:rPr sz="2400" dirty="0">
                <a:latin typeface="Arial MT"/>
                <a:cs typeface="Arial MT"/>
              </a:rPr>
              <a:t>simply</a:t>
            </a:r>
            <a:r>
              <a:rPr sz="2400" spc="-50" dirty="0">
                <a:latin typeface="Arial MT"/>
                <a:cs typeface="Arial MT"/>
              </a:rPr>
              <a:t> </a:t>
            </a:r>
            <a:r>
              <a:rPr sz="2400" dirty="0">
                <a:latin typeface="Arial MT"/>
                <a:cs typeface="Arial MT"/>
              </a:rPr>
              <a:t>by</a:t>
            </a:r>
            <a:r>
              <a:rPr sz="2400" spc="-55" dirty="0">
                <a:latin typeface="Arial MT"/>
                <a:cs typeface="Arial MT"/>
              </a:rPr>
              <a:t> </a:t>
            </a:r>
            <a:r>
              <a:rPr sz="2400" dirty="0">
                <a:latin typeface="Arial MT"/>
                <a:cs typeface="Arial MT"/>
              </a:rPr>
              <a:t>draining</a:t>
            </a:r>
            <a:r>
              <a:rPr sz="2400" spc="-41" dirty="0">
                <a:latin typeface="Arial MT"/>
                <a:cs typeface="Arial MT"/>
              </a:rPr>
              <a:t> </a:t>
            </a:r>
            <a:r>
              <a:rPr sz="2400" dirty="0">
                <a:latin typeface="Arial MT"/>
                <a:cs typeface="Arial MT"/>
              </a:rPr>
              <a:t>away</a:t>
            </a:r>
            <a:r>
              <a:rPr sz="2400" spc="-50" dirty="0">
                <a:latin typeface="Arial MT"/>
                <a:cs typeface="Arial MT"/>
              </a:rPr>
              <a:t> </a:t>
            </a:r>
            <a:r>
              <a:rPr sz="2400" dirty="0">
                <a:latin typeface="Arial MT"/>
                <a:cs typeface="Arial MT"/>
              </a:rPr>
              <a:t>the</a:t>
            </a:r>
            <a:r>
              <a:rPr sz="2400" spc="-55" dirty="0">
                <a:latin typeface="Arial MT"/>
                <a:cs typeface="Arial MT"/>
              </a:rPr>
              <a:t> </a:t>
            </a:r>
            <a:r>
              <a:rPr sz="2400" dirty="0">
                <a:latin typeface="Arial MT"/>
                <a:cs typeface="Arial MT"/>
              </a:rPr>
              <a:t>water</a:t>
            </a:r>
            <a:r>
              <a:rPr sz="2400" spc="-50" dirty="0">
                <a:latin typeface="Arial MT"/>
                <a:cs typeface="Arial MT"/>
              </a:rPr>
              <a:t> </a:t>
            </a:r>
            <a:r>
              <a:rPr sz="2400" dirty="0">
                <a:latin typeface="Arial MT"/>
                <a:cs typeface="Arial MT"/>
              </a:rPr>
              <a:t>which</a:t>
            </a:r>
            <a:r>
              <a:rPr sz="2400" spc="-46" dirty="0">
                <a:latin typeface="Arial MT"/>
                <a:cs typeface="Arial MT"/>
              </a:rPr>
              <a:t> </a:t>
            </a:r>
            <a:r>
              <a:rPr sz="2400" dirty="0">
                <a:latin typeface="Arial MT"/>
                <a:cs typeface="Arial MT"/>
              </a:rPr>
              <a:t>is</a:t>
            </a:r>
            <a:r>
              <a:rPr sz="2400" spc="-55" dirty="0">
                <a:latin typeface="Arial MT"/>
                <a:cs typeface="Arial MT"/>
              </a:rPr>
              <a:t> </a:t>
            </a:r>
            <a:r>
              <a:rPr sz="2400" dirty="0">
                <a:latin typeface="Arial MT"/>
                <a:cs typeface="Arial MT"/>
              </a:rPr>
              <a:t>replaced</a:t>
            </a:r>
            <a:r>
              <a:rPr sz="2400" spc="-34" dirty="0">
                <a:latin typeface="Arial MT"/>
                <a:cs typeface="Arial MT"/>
              </a:rPr>
              <a:t> </a:t>
            </a:r>
            <a:r>
              <a:rPr sz="2400" dirty="0">
                <a:latin typeface="Arial MT"/>
                <a:cs typeface="Arial MT"/>
              </a:rPr>
              <a:t>by</a:t>
            </a:r>
            <a:r>
              <a:rPr sz="2400" spc="-50" dirty="0">
                <a:latin typeface="Arial MT"/>
                <a:cs typeface="Arial MT"/>
              </a:rPr>
              <a:t> </a:t>
            </a:r>
            <a:r>
              <a:rPr sz="2400" dirty="0">
                <a:latin typeface="Arial MT"/>
                <a:cs typeface="Arial MT"/>
              </a:rPr>
              <a:t>the</a:t>
            </a:r>
            <a:r>
              <a:rPr sz="2400" spc="-70" dirty="0">
                <a:latin typeface="Arial MT"/>
                <a:cs typeface="Arial MT"/>
              </a:rPr>
              <a:t> </a:t>
            </a:r>
            <a:r>
              <a:rPr sz="2400" dirty="0">
                <a:latin typeface="Arial MT"/>
                <a:cs typeface="Arial MT"/>
              </a:rPr>
              <a:t>air</a:t>
            </a:r>
            <a:r>
              <a:rPr sz="2400" spc="-46" dirty="0">
                <a:latin typeface="Arial MT"/>
                <a:cs typeface="Arial MT"/>
              </a:rPr>
              <a:t> </a:t>
            </a:r>
            <a:r>
              <a:rPr sz="2400" spc="-10" dirty="0">
                <a:latin typeface="Arial MT"/>
                <a:cs typeface="Arial MT"/>
              </a:rPr>
              <a:t>sample.</a:t>
            </a:r>
            <a:endParaRPr sz="2400" dirty="0">
              <a:latin typeface="Arial MT"/>
              <a:cs typeface="Arial MT"/>
            </a:endParaRPr>
          </a:p>
          <a:p>
            <a:pPr marL="240036" marR="5081" indent="-227336">
              <a:lnSpc>
                <a:spcPct val="150000"/>
              </a:lnSpc>
              <a:spcBef>
                <a:spcPts val="1001"/>
              </a:spcBef>
              <a:buChar char="•"/>
              <a:tabLst>
                <a:tab pos="241306" algn="l"/>
              </a:tabLst>
            </a:pPr>
            <a:r>
              <a:rPr sz="2400" dirty="0">
                <a:latin typeface="Arial MT"/>
                <a:cs typeface="Arial MT"/>
              </a:rPr>
              <a:t>Many</a:t>
            </a:r>
            <a:r>
              <a:rPr sz="2400" spc="-75" dirty="0">
                <a:latin typeface="Arial MT"/>
                <a:cs typeface="Arial MT"/>
              </a:rPr>
              <a:t> </a:t>
            </a:r>
            <a:r>
              <a:rPr sz="2400" dirty="0">
                <a:latin typeface="Arial MT"/>
                <a:cs typeface="Arial MT"/>
              </a:rPr>
              <a:t>problems</a:t>
            </a:r>
            <a:r>
              <a:rPr sz="2400" spc="-60" dirty="0">
                <a:latin typeface="Arial MT"/>
                <a:cs typeface="Arial MT"/>
              </a:rPr>
              <a:t> </a:t>
            </a:r>
            <a:r>
              <a:rPr sz="2400" dirty="0">
                <a:latin typeface="Arial MT"/>
                <a:cs typeface="Arial MT"/>
              </a:rPr>
              <a:t>associated</a:t>
            </a:r>
            <a:r>
              <a:rPr sz="2400" spc="-65" dirty="0">
                <a:latin typeface="Arial MT"/>
                <a:cs typeface="Arial MT"/>
              </a:rPr>
              <a:t> </a:t>
            </a:r>
            <a:r>
              <a:rPr sz="2400" dirty="0">
                <a:latin typeface="Arial MT"/>
                <a:cs typeface="Arial MT"/>
              </a:rPr>
              <a:t>with</a:t>
            </a:r>
            <a:r>
              <a:rPr sz="2400" spc="-65" dirty="0">
                <a:latin typeface="Arial MT"/>
                <a:cs typeface="Arial MT"/>
              </a:rPr>
              <a:t> </a:t>
            </a:r>
            <a:r>
              <a:rPr sz="2400" dirty="0">
                <a:latin typeface="Arial MT"/>
                <a:cs typeface="Arial MT"/>
              </a:rPr>
              <a:t>bag</a:t>
            </a:r>
            <a:r>
              <a:rPr sz="2400" spc="-70" dirty="0">
                <a:latin typeface="Arial MT"/>
                <a:cs typeface="Arial MT"/>
              </a:rPr>
              <a:t> </a:t>
            </a:r>
            <a:r>
              <a:rPr sz="2400" dirty="0">
                <a:latin typeface="Arial MT"/>
                <a:cs typeface="Arial MT"/>
              </a:rPr>
              <a:t>samples</a:t>
            </a:r>
            <a:r>
              <a:rPr sz="2400" spc="-65" dirty="0">
                <a:latin typeface="Arial MT"/>
                <a:cs typeface="Arial MT"/>
              </a:rPr>
              <a:t> </a:t>
            </a:r>
            <a:r>
              <a:rPr sz="2400" dirty="0">
                <a:latin typeface="Arial MT"/>
                <a:cs typeface="Arial MT"/>
              </a:rPr>
              <a:t>are</a:t>
            </a:r>
            <a:r>
              <a:rPr sz="2400" spc="-85" dirty="0">
                <a:latin typeface="Arial MT"/>
                <a:cs typeface="Arial MT"/>
              </a:rPr>
              <a:t> </a:t>
            </a:r>
            <a:r>
              <a:rPr sz="2400" dirty="0">
                <a:latin typeface="Arial MT"/>
                <a:cs typeface="Arial MT"/>
              </a:rPr>
              <a:t>common</a:t>
            </a:r>
            <a:r>
              <a:rPr sz="2400" spc="-75" dirty="0">
                <a:latin typeface="Arial MT"/>
                <a:cs typeface="Arial MT"/>
              </a:rPr>
              <a:t> </a:t>
            </a:r>
            <a:r>
              <a:rPr sz="2400" dirty="0">
                <a:latin typeface="Arial MT"/>
                <a:cs typeface="Arial MT"/>
              </a:rPr>
              <a:t>to</a:t>
            </a:r>
            <a:r>
              <a:rPr sz="2400" spc="-75" dirty="0">
                <a:latin typeface="Arial MT"/>
                <a:cs typeface="Arial MT"/>
              </a:rPr>
              <a:t> </a:t>
            </a:r>
            <a:r>
              <a:rPr sz="2400" dirty="0">
                <a:latin typeface="Arial MT"/>
                <a:cs typeface="Arial MT"/>
              </a:rPr>
              <a:t>rigid</a:t>
            </a:r>
            <a:r>
              <a:rPr sz="2400" spc="-55" dirty="0">
                <a:latin typeface="Arial MT"/>
                <a:cs typeface="Arial MT"/>
              </a:rPr>
              <a:t> </a:t>
            </a:r>
            <a:r>
              <a:rPr sz="2400" spc="-10" dirty="0">
                <a:latin typeface="Arial MT"/>
                <a:cs typeface="Arial MT"/>
              </a:rPr>
              <a:t>containers 	</a:t>
            </a:r>
            <a:r>
              <a:rPr sz="2400" dirty="0">
                <a:latin typeface="Arial MT"/>
                <a:cs typeface="Arial MT"/>
              </a:rPr>
              <a:t>also</a:t>
            </a:r>
            <a:r>
              <a:rPr sz="2400" spc="-65" dirty="0">
                <a:latin typeface="Arial MT"/>
                <a:cs typeface="Arial MT"/>
              </a:rPr>
              <a:t> </a:t>
            </a:r>
            <a:r>
              <a:rPr lang="en-IN" sz="2400" spc="-65" dirty="0">
                <a:latin typeface="Arial MT"/>
                <a:cs typeface="Arial MT"/>
              </a:rPr>
              <a:t>(like condensation). To prevent this </a:t>
            </a:r>
            <a:r>
              <a:rPr lang="en-IN" sz="2400" spc="-65" dirty="0" err="1">
                <a:latin typeface="Arial MT"/>
                <a:cs typeface="Arial MT"/>
              </a:rPr>
              <a:t>th</a:t>
            </a:r>
            <a:r>
              <a:rPr sz="2400" dirty="0">
                <a:latin typeface="Arial MT"/>
                <a:cs typeface="Arial MT"/>
              </a:rPr>
              <a:t>e</a:t>
            </a:r>
            <a:r>
              <a:rPr sz="2400" spc="-70" dirty="0">
                <a:latin typeface="Arial MT"/>
                <a:cs typeface="Arial MT"/>
              </a:rPr>
              <a:t> </a:t>
            </a:r>
            <a:r>
              <a:rPr sz="2400" dirty="0">
                <a:latin typeface="Arial MT"/>
                <a:cs typeface="Arial MT"/>
              </a:rPr>
              <a:t>containers</a:t>
            </a:r>
            <a:r>
              <a:rPr sz="2400" spc="-60" dirty="0">
                <a:latin typeface="Arial MT"/>
                <a:cs typeface="Arial MT"/>
              </a:rPr>
              <a:t> </a:t>
            </a:r>
            <a:r>
              <a:rPr sz="2400" dirty="0">
                <a:latin typeface="Arial MT"/>
                <a:cs typeface="Arial MT"/>
              </a:rPr>
              <a:t>are</a:t>
            </a:r>
            <a:r>
              <a:rPr sz="2400" spc="-75" dirty="0">
                <a:latin typeface="Arial MT"/>
                <a:cs typeface="Arial MT"/>
              </a:rPr>
              <a:t> </a:t>
            </a:r>
            <a:r>
              <a:rPr sz="2400" dirty="0">
                <a:latin typeface="Arial MT"/>
                <a:cs typeface="Arial MT"/>
              </a:rPr>
              <a:t>often</a:t>
            </a:r>
            <a:r>
              <a:rPr sz="2400" spc="-70" dirty="0">
                <a:latin typeface="Arial MT"/>
                <a:cs typeface="Arial MT"/>
              </a:rPr>
              <a:t> </a:t>
            </a:r>
            <a:r>
              <a:rPr sz="2400" dirty="0">
                <a:latin typeface="Arial MT"/>
                <a:cs typeface="Arial MT"/>
              </a:rPr>
              <a:t>heated</a:t>
            </a:r>
            <a:r>
              <a:rPr sz="2400" spc="-65" dirty="0">
                <a:latin typeface="Arial MT"/>
                <a:cs typeface="Arial MT"/>
              </a:rPr>
              <a:t> </a:t>
            </a:r>
            <a:r>
              <a:rPr sz="2400" dirty="0">
                <a:latin typeface="Arial MT"/>
                <a:cs typeface="Arial MT"/>
              </a:rPr>
              <a:t>by</a:t>
            </a:r>
            <a:r>
              <a:rPr sz="2400" spc="-80" dirty="0">
                <a:latin typeface="Arial MT"/>
                <a:cs typeface="Arial MT"/>
              </a:rPr>
              <a:t> </a:t>
            </a:r>
            <a:r>
              <a:rPr sz="2400" dirty="0">
                <a:latin typeface="Arial MT"/>
                <a:cs typeface="Arial MT"/>
              </a:rPr>
              <a:t>wrapping</a:t>
            </a:r>
            <a:r>
              <a:rPr sz="2400" spc="-41" dirty="0">
                <a:latin typeface="Arial MT"/>
                <a:cs typeface="Arial MT"/>
              </a:rPr>
              <a:t> </a:t>
            </a:r>
            <a:r>
              <a:rPr sz="2400" dirty="0">
                <a:latin typeface="Arial MT"/>
                <a:cs typeface="Arial MT"/>
              </a:rPr>
              <a:t>them</a:t>
            </a:r>
            <a:r>
              <a:rPr sz="2400" spc="-70" dirty="0">
                <a:latin typeface="Arial MT"/>
                <a:cs typeface="Arial MT"/>
              </a:rPr>
              <a:t> </a:t>
            </a:r>
            <a:r>
              <a:rPr sz="2400" dirty="0">
                <a:latin typeface="Arial MT"/>
                <a:cs typeface="Arial MT"/>
              </a:rPr>
              <a:t>with</a:t>
            </a:r>
            <a:r>
              <a:rPr sz="2400" spc="-70" dirty="0">
                <a:latin typeface="Arial MT"/>
                <a:cs typeface="Arial MT"/>
              </a:rPr>
              <a:t> </a:t>
            </a:r>
            <a:r>
              <a:rPr sz="2400" dirty="0">
                <a:latin typeface="Arial MT"/>
                <a:cs typeface="Arial MT"/>
              </a:rPr>
              <a:t>heating</a:t>
            </a:r>
            <a:r>
              <a:rPr sz="2400" spc="-55" dirty="0">
                <a:latin typeface="Arial MT"/>
                <a:cs typeface="Arial MT"/>
              </a:rPr>
              <a:t> </a:t>
            </a:r>
            <a:r>
              <a:rPr sz="2400" spc="-10" dirty="0">
                <a:latin typeface="Arial MT"/>
                <a:cs typeface="Arial MT"/>
              </a:rPr>
              <a:t>tapes</a:t>
            </a:r>
            <a:r>
              <a:rPr lang="en-IN" sz="2400" spc="-10" dirty="0">
                <a:latin typeface="Arial MT"/>
                <a:cs typeface="Arial MT"/>
              </a:rPr>
              <a:t> </a:t>
            </a:r>
            <a:r>
              <a:rPr sz="2400" dirty="0">
                <a:latin typeface="Arial MT"/>
                <a:cs typeface="Arial MT"/>
              </a:rPr>
              <a:t>or</a:t>
            </a:r>
            <a:r>
              <a:rPr sz="2400" spc="-70" dirty="0">
                <a:latin typeface="Arial MT"/>
                <a:cs typeface="Arial MT"/>
              </a:rPr>
              <a:t> </a:t>
            </a:r>
            <a:r>
              <a:rPr sz="2400" dirty="0">
                <a:latin typeface="Arial MT"/>
                <a:cs typeface="Arial MT"/>
              </a:rPr>
              <a:t>nichrome</a:t>
            </a:r>
            <a:r>
              <a:rPr sz="2400" spc="-55" dirty="0">
                <a:latin typeface="Arial MT"/>
                <a:cs typeface="Arial MT"/>
              </a:rPr>
              <a:t> </a:t>
            </a:r>
            <a:r>
              <a:rPr sz="2400" dirty="0">
                <a:latin typeface="Arial MT"/>
                <a:cs typeface="Arial MT"/>
              </a:rPr>
              <a:t>wires</a:t>
            </a:r>
            <a:r>
              <a:rPr lang="en-US" sz="2400" dirty="0"/>
              <a:t>(which act like tiny electric heaters)</a:t>
            </a:r>
            <a:r>
              <a:rPr sz="2400" spc="-65" dirty="0">
                <a:latin typeface="Arial MT"/>
                <a:cs typeface="Arial MT"/>
              </a:rPr>
              <a:t> </a:t>
            </a:r>
            <a:r>
              <a:rPr sz="2400" dirty="0">
                <a:latin typeface="Arial MT"/>
                <a:cs typeface="Arial MT"/>
              </a:rPr>
              <a:t>during</a:t>
            </a:r>
            <a:r>
              <a:rPr sz="2400" spc="-55" dirty="0">
                <a:latin typeface="Arial MT"/>
                <a:cs typeface="Arial MT"/>
              </a:rPr>
              <a:t> </a:t>
            </a:r>
            <a:r>
              <a:rPr sz="2400" spc="-10" dirty="0">
                <a:latin typeface="Arial MT"/>
                <a:cs typeface="Arial MT"/>
              </a:rPr>
              <a:t>sampling.</a:t>
            </a:r>
            <a:endParaRPr sz="2400" dirty="0">
              <a:latin typeface="Arial MT"/>
              <a:cs typeface="Arial M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70371" y="133352"/>
            <a:ext cx="7600956" cy="927562"/>
          </a:xfrm>
          <a:prstGeom prst="rect">
            <a:avLst/>
          </a:prstGeom>
        </p:spPr>
        <p:txBody>
          <a:bodyPr vert="horz" wrap="square" lIns="0" tIns="430911" rIns="0" bIns="0" rtlCol="0">
            <a:spAutoFit/>
          </a:bodyPr>
          <a:lstStyle/>
          <a:p>
            <a:pPr marL="350529">
              <a:spcBef>
                <a:spcPts val="105"/>
              </a:spcBef>
            </a:pPr>
            <a:r>
              <a:rPr dirty="0"/>
              <a:t>Absorption</a:t>
            </a:r>
            <a:r>
              <a:rPr spc="-50" dirty="0"/>
              <a:t> </a:t>
            </a:r>
            <a:r>
              <a:rPr dirty="0"/>
              <a:t>in</a:t>
            </a:r>
            <a:r>
              <a:rPr spc="-20" dirty="0"/>
              <a:t> </a:t>
            </a:r>
            <a:r>
              <a:rPr spc="-10" dirty="0"/>
              <a:t>Liquids</a:t>
            </a:r>
          </a:p>
        </p:txBody>
      </p:sp>
      <p:sp>
        <p:nvSpPr>
          <p:cNvPr id="3" name="object 3"/>
          <p:cNvSpPr txBox="1"/>
          <p:nvPr/>
        </p:nvSpPr>
        <p:spPr>
          <a:xfrm>
            <a:off x="788314" y="1279886"/>
            <a:ext cx="6896100" cy="3395930"/>
          </a:xfrm>
          <a:prstGeom prst="rect">
            <a:avLst/>
          </a:prstGeom>
        </p:spPr>
        <p:txBody>
          <a:bodyPr vert="horz" wrap="square" lIns="0" tIns="12065" rIns="0" bIns="0" rtlCol="0">
            <a:spAutoFit/>
          </a:bodyPr>
          <a:lstStyle/>
          <a:p>
            <a:pPr marL="240036" marR="514997" indent="-227336">
              <a:lnSpc>
                <a:spcPct val="150000"/>
              </a:lnSpc>
              <a:spcBef>
                <a:spcPts val="95"/>
              </a:spcBef>
              <a:buChar char="•"/>
              <a:tabLst>
                <a:tab pos="241306" algn="l"/>
              </a:tabLst>
            </a:pPr>
            <a:r>
              <a:rPr sz="2400" dirty="0">
                <a:solidFill>
                  <a:srgbClr val="FF0000"/>
                </a:solidFill>
                <a:latin typeface="Arial MT"/>
                <a:cs typeface="Arial MT"/>
              </a:rPr>
              <a:t>Absorption</a:t>
            </a:r>
            <a:r>
              <a:rPr sz="2400" spc="-55" dirty="0">
                <a:solidFill>
                  <a:srgbClr val="FF0000"/>
                </a:solidFill>
                <a:latin typeface="Arial MT"/>
                <a:cs typeface="Arial MT"/>
              </a:rPr>
              <a:t> </a:t>
            </a:r>
            <a:r>
              <a:rPr sz="2400" dirty="0">
                <a:solidFill>
                  <a:srgbClr val="FF0000"/>
                </a:solidFill>
                <a:latin typeface="Arial MT"/>
                <a:cs typeface="Arial MT"/>
              </a:rPr>
              <a:t>of</a:t>
            </a:r>
            <a:r>
              <a:rPr sz="2400" spc="-60" dirty="0">
                <a:solidFill>
                  <a:srgbClr val="FF0000"/>
                </a:solidFill>
                <a:latin typeface="Arial MT"/>
                <a:cs typeface="Arial MT"/>
              </a:rPr>
              <a:t> </a:t>
            </a:r>
            <a:r>
              <a:rPr sz="2400" dirty="0">
                <a:solidFill>
                  <a:srgbClr val="FF0000"/>
                </a:solidFill>
                <a:latin typeface="Arial MT"/>
                <a:cs typeface="Arial MT"/>
              </a:rPr>
              <a:t>gaseous</a:t>
            </a:r>
            <a:r>
              <a:rPr sz="2400" spc="-34" dirty="0">
                <a:solidFill>
                  <a:srgbClr val="FF0000"/>
                </a:solidFill>
                <a:latin typeface="Arial MT"/>
                <a:cs typeface="Arial MT"/>
              </a:rPr>
              <a:t> </a:t>
            </a:r>
            <a:r>
              <a:rPr sz="2400" dirty="0">
                <a:solidFill>
                  <a:srgbClr val="FF0000"/>
                </a:solidFill>
                <a:latin typeface="Arial MT"/>
                <a:cs typeface="Arial MT"/>
              </a:rPr>
              <a:t>pollutants</a:t>
            </a:r>
            <a:r>
              <a:rPr sz="2400" spc="-46" dirty="0">
                <a:solidFill>
                  <a:srgbClr val="FF0000"/>
                </a:solidFill>
                <a:latin typeface="Arial MT"/>
                <a:cs typeface="Arial MT"/>
              </a:rPr>
              <a:t> </a:t>
            </a:r>
            <a:r>
              <a:rPr sz="2400" dirty="0">
                <a:solidFill>
                  <a:srgbClr val="FF0000"/>
                </a:solidFill>
                <a:latin typeface="Arial MT"/>
                <a:cs typeface="Arial MT"/>
              </a:rPr>
              <a:t>in</a:t>
            </a:r>
            <a:r>
              <a:rPr sz="2400" spc="-55" dirty="0">
                <a:solidFill>
                  <a:srgbClr val="FF0000"/>
                </a:solidFill>
                <a:latin typeface="Arial MT"/>
                <a:cs typeface="Arial MT"/>
              </a:rPr>
              <a:t> </a:t>
            </a:r>
            <a:r>
              <a:rPr sz="2400" dirty="0">
                <a:solidFill>
                  <a:srgbClr val="FF0000"/>
                </a:solidFill>
                <a:latin typeface="Arial MT"/>
                <a:cs typeface="Arial MT"/>
              </a:rPr>
              <a:t>to</a:t>
            </a:r>
            <a:r>
              <a:rPr sz="2400" spc="-55" dirty="0">
                <a:solidFill>
                  <a:srgbClr val="FF0000"/>
                </a:solidFill>
                <a:latin typeface="Arial MT"/>
                <a:cs typeface="Arial MT"/>
              </a:rPr>
              <a:t> </a:t>
            </a:r>
            <a:r>
              <a:rPr sz="2400" dirty="0">
                <a:solidFill>
                  <a:srgbClr val="FF0000"/>
                </a:solidFill>
                <a:latin typeface="Arial MT"/>
                <a:cs typeface="Arial MT"/>
              </a:rPr>
              <a:t>a</a:t>
            </a:r>
            <a:r>
              <a:rPr sz="2400" spc="-70" dirty="0">
                <a:solidFill>
                  <a:srgbClr val="FF0000"/>
                </a:solidFill>
                <a:latin typeface="Arial MT"/>
                <a:cs typeface="Arial MT"/>
              </a:rPr>
              <a:t> </a:t>
            </a:r>
            <a:r>
              <a:rPr sz="2400" spc="-10" dirty="0">
                <a:solidFill>
                  <a:srgbClr val="FF0000"/>
                </a:solidFill>
                <a:latin typeface="Arial MT"/>
                <a:cs typeface="Arial MT"/>
              </a:rPr>
              <a:t>liquid 	</a:t>
            </a:r>
            <a:r>
              <a:rPr sz="2400" dirty="0">
                <a:solidFill>
                  <a:srgbClr val="FF0000"/>
                </a:solidFill>
                <a:latin typeface="Arial MT"/>
                <a:cs typeface="Arial MT"/>
              </a:rPr>
              <a:t>medium</a:t>
            </a:r>
            <a:r>
              <a:rPr sz="2400" spc="-46" dirty="0">
                <a:solidFill>
                  <a:srgbClr val="FF0000"/>
                </a:solidFill>
                <a:latin typeface="Arial MT"/>
                <a:cs typeface="Arial MT"/>
              </a:rPr>
              <a:t> </a:t>
            </a:r>
            <a:r>
              <a:rPr sz="2400" dirty="0">
                <a:latin typeface="Arial MT"/>
                <a:cs typeface="Arial MT"/>
              </a:rPr>
              <a:t>is</a:t>
            </a:r>
            <a:r>
              <a:rPr sz="2400" spc="-46" dirty="0">
                <a:latin typeface="Arial MT"/>
                <a:cs typeface="Arial MT"/>
              </a:rPr>
              <a:t> </a:t>
            </a:r>
            <a:r>
              <a:rPr sz="2400" dirty="0">
                <a:latin typeface="Arial MT"/>
                <a:cs typeface="Arial MT"/>
              </a:rPr>
              <a:t>a</a:t>
            </a:r>
            <a:r>
              <a:rPr sz="2400" spc="-60" dirty="0">
                <a:latin typeface="Arial MT"/>
                <a:cs typeface="Arial MT"/>
              </a:rPr>
              <a:t> </a:t>
            </a:r>
            <a:r>
              <a:rPr sz="2400" dirty="0">
                <a:latin typeface="Arial MT"/>
                <a:cs typeface="Arial MT"/>
              </a:rPr>
              <a:t>probably</a:t>
            </a:r>
            <a:r>
              <a:rPr sz="2400" spc="-25" dirty="0">
                <a:latin typeface="Arial MT"/>
                <a:cs typeface="Arial MT"/>
              </a:rPr>
              <a:t> </a:t>
            </a:r>
            <a:r>
              <a:rPr sz="2400" dirty="0">
                <a:latin typeface="Arial MT"/>
                <a:cs typeface="Arial MT"/>
              </a:rPr>
              <a:t>the</a:t>
            </a:r>
            <a:r>
              <a:rPr sz="2400" spc="-46" dirty="0">
                <a:latin typeface="Arial MT"/>
                <a:cs typeface="Arial MT"/>
              </a:rPr>
              <a:t> </a:t>
            </a:r>
            <a:r>
              <a:rPr sz="2400" dirty="0">
                <a:latin typeface="Arial MT"/>
                <a:cs typeface="Arial MT"/>
              </a:rPr>
              <a:t>most</a:t>
            </a:r>
            <a:r>
              <a:rPr sz="2400" spc="-65" dirty="0">
                <a:latin typeface="Arial MT"/>
                <a:cs typeface="Arial MT"/>
              </a:rPr>
              <a:t> </a:t>
            </a:r>
            <a:r>
              <a:rPr sz="2400" spc="-10" dirty="0">
                <a:latin typeface="Arial MT"/>
                <a:cs typeface="Arial MT"/>
              </a:rPr>
              <a:t>commonly 	</a:t>
            </a:r>
            <a:r>
              <a:rPr sz="2400" dirty="0">
                <a:latin typeface="Arial MT"/>
                <a:cs typeface="Arial MT"/>
              </a:rPr>
              <a:t>employed</a:t>
            </a:r>
            <a:r>
              <a:rPr sz="2400" spc="-60" dirty="0">
                <a:latin typeface="Arial MT"/>
                <a:cs typeface="Arial MT"/>
              </a:rPr>
              <a:t> </a:t>
            </a:r>
            <a:r>
              <a:rPr sz="2400" dirty="0">
                <a:latin typeface="Arial MT"/>
                <a:cs typeface="Arial MT"/>
              </a:rPr>
              <a:t>method</a:t>
            </a:r>
            <a:r>
              <a:rPr sz="2400" spc="-85" dirty="0">
                <a:latin typeface="Arial MT"/>
                <a:cs typeface="Arial MT"/>
              </a:rPr>
              <a:t> </a:t>
            </a:r>
            <a:r>
              <a:rPr sz="2400" dirty="0">
                <a:latin typeface="Arial MT"/>
                <a:cs typeface="Arial MT"/>
              </a:rPr>
              <a:t>of</a:t>
            </a:r>
            <a:r>
              <a:rPr sz="2400" spc="-70" dirty="0">
                <a:latin typeface="Arial MT"/>
                <a:cs typeface="Arial MT"/>
              </a:rPr>
              <a:t> </a:t>
            </a:r>
            <a:r>
              <a:rPr sz="2400" dirty="0">
                <a:latin typeface="Arial MT"/>
                <a:cs typeface="Arial MT"/>
              </a:rPr>
              <a:t>collecting</a:t>
            </a:r>
            <a:r>
              <a:rPr sz="2400" spc="-60" dirty="0">
                <a:latin typeface="Arial MT"/>
                <a:cs typeface="Arial MT"/>
              </a:rPr>
              <a:t> </a:t>
            </a:r>
            <a:r>
              <a:rPr sz="2400" dirty="0">
                <a:latin typeface="Arial MT"/>
                <a:cs typeface="Arial MT"/>
              </a:rPr>
              <a:t>the</a:t>
            </a:r>
            <a:r>
              <a:rPr sz="2400" spc="-75" dirty="0">
                <a:latin typeface="Arial MT"/>
                <a:cs typeface="Arial MT"/>
              </a:rPr>
              <a:t> </a:t>
            </a:r>
            <a:r>
              <a:rPr sz="2400" spc="-10" dirty="0">
                <a:latin typeface="Arial MT"/>
                <a:cs typeface="Arial MT"/>
              </a:rPr>
              <a:t>samples.</a:t>
            </a:r>
            <a:endParaRPr sz="2400" dirty="0">
              <a:latin typeface="Arial MT"/>
              <a:cs typeface="Arial MT"/>
            </a:endParaRPr>
          </a:p>
          <a:p>
            <a:pPr marL="240036" marR="5081" indent="-227336">
              <a:lnSpc>
                <a:spcPct val="150000"/>
              </a:lnSpc>
              <a:spcBef>
                <a:spcPts val="994"/>
              </a:spcBef>
              <a:buChar char="•"/>
              <a:tabLst>
                <a:tab pos="241306" algn="l"/>
              </a:tabLst>
            </a:pPr>
            <a:r>
              <a:rPr sz="2400" dirty="0">
                <a:solidFill>
                  <a:srgbClr val="FF0000"/>
                </a:solidFill>
                <a:latin typeface="Arial MT"/>
                <a:cs typeface="Arial MT"/>
              </a:rPr>
              <a:t>Absorption</a:t>
            </a:r>
            <a:r>
              <a:rPr sz="2400" spc="-100" dirty="0">
                <a:solidFill>
                  <a:srgbClr val="FF0000"/>
                </a:solidFill>
                <a:latin typeface="Arial MT"/>
                <a:cs typeface="Arial MT"/>
              </a:rPr>
              <a:t> </a:t>
            </a:r>
            <a:r>
              <a:rPr sz="2400" dirty="0">
                <a:solidFill>
                  <a:srgbClr val="FF0000"/>
                </a:solidFill>
                <a:latin typeface="Arial MT"/>
                <a:cs typeface="Arial MT"/>
              </a:rPr>
              <a:t>separates</a:t>
            </a:r>
            <a:r>
              <a:rPr sz="2400" spc="-90" dirty="0">
                <a:solidFill>
                  <a:srgbClr val="FF0000"/>
                </a:solidFill>
                <a:latin typeface="Arial MT"/>
                <a:cs typeface="Arial MT"/>
              </a:rPr>
              <a:t> </a:t>
            </a:r>
            <a:r>
              <a:rPr sz="2400" dirty="0">
                <a:solidFill>
                  <a:srgbClr val="FF0000"/>
                </a:solidFill>
                <a:latin typeface="Arial MT"/>
                <a:cs typeface="Arial MT"/>
              </a:rPr>
              <a:t>the</a:t>
            </a:r>
            <a:r>
              <a:rPr sz="2400" spc="-105" dirty="0">
                <a:solidFill>
                  <a:srgbClr val="FF0000"/>
                </a:solidFill>
                <a:latin typeface="Arial MT"/>
                <a:cs typeface="Arial MT"/>
              </a:rPr>
              <a:t> </a:t>
            </a:r>
            <a:r>
              <a:rPr sz="2400" dirty="0">
                <a:solidFill>
                  <a:srgbClr val="FF0000"/>
                </a:solidFill>
                <a:latin typeface="Arial MT"/>
                <a:cs typeface="Arial MT"/>
              </a:rPr>
              <a:t>desired</a:t>
            </a:r>
            <a:r>
              <a:rPr sz="2400" spc="-85" dirty="0">
                <a:solidFill>
                  <a:srgbClr val="FF0000"/>
                </a:solidFill>
                <a:latin typeface="Arial MT"/>
                <a:cs typeface="Arial MT"/>
              </a:rPr>
              <a:t> </a:t>
            </a:r>
            <a:r>
              <a:rPr sz="2400" dirty="0">
                <a:solidFill>
                  <a:srgbClr val="FF0000"/>
                </a:solidFill>
                <a:latin typeface="Arial MT"/>
                <a:cs typeface="Arial MT"/>
              </a:rPr>
              <a:t>pollutant</a:t>
            </a:r>
            <a:r>
              <a:rPr sz="2400" spc="-85" dirty="0">
                <a:solidFill>
                  <a:srgbClr val="FF0000"/>
                </a:solidFill>
                <a:latin typeface="Arial MT"/>
                <a:cs typeface="Arial MT"/>
              </a:rPr>
              <a:t> </a:t>
            </a:r>
            <a:r>
              <a:rPr sz="2400" spc="-20" dirty="0">
                <a:solidFill>
                  <a:srgbClr val="FF0000"/>
                </a:solidFill>
                <a:latin typeface="Arial MT"/>
                <a:cs typeface="Arial MT"/>
              </a:rPr>
              <a:t>from 	</a:t>
            </a:r>
            <a:r>
              <a:rPr sz="2400" dirty="0">
                <a:solidFill>
                  <a:srgbClr val="FF0000"/>
                </a:solidFill>
                <a:latin typeface="Arial MT"/>
                <a:cs typeface="Arial MT"/>
              </a:rPr>
              <a:t>air</a:t>
            </a:r>
            <a:r>
              <a:rPr sz="2400" spc="-55" dirty="0">
                <a:solidFill>
                  <a:srgbClr val="FF0000"/>
                </a:solidFill>
                <a:latin typeface="Arial MT"/>
                <a:cs typeface="Arial MT"/>
              </a:rPr>
              <a:t> </a:t>
            </a:r>
            <a:r>
              <a:rPr sz="2400" dirty="0">
                <a:solidFill>
                  <a:srgbClr val="FF0000"/>
                </a:solidFill>
                <a:latin typeface="Arial MT"/>
                <a:cs typeface="Arial MT"/>
              </a:rPr>
              <a:t>either</a:t>
            </a:r>
            <a:r>
              <a:rPr sz="2400" spc="-55" dirty="0">
                <a:solidFill>
                  <a:srgbClr val="FF0000"/>
                </a:solidFill>
                <a:latin typeface="Arial MT"/>
                <a:cs typeface="Arial MT"/>
              </a:rPr>
              <a:t> </a:t>
            </a:r>
            <a:r>
              <a:rPr sz="2400" dirty="0">
                <a:solidFill>
                  <a:srgbClr val="FF0000"/>
                </a:solidFill>
                <a:latin typeface="Arial MT"/>
                <a:cs typeface="Arial MT"/>
              </a:rPr>
              <a:t>through</a:t>
            </a:r>
            <a:r>
              <a:rPr sz="2400" spc="-46" dirty="0">
                <a:solidFill>
                  <a:srgbClr val="FF0000"/>
                </a:solidFill>
                <a:latin typeface="Arial MT"/>
                <a:cs typeface="Arial MT"/>
              </a:rPr>
              <a:t> </a:t>
            </a:r>
            <a:r>
              <a:rPr sz="2400" dirty="0">
                <a:solidFill>
                  <a:srgbClr val="FF0000"/>
                </a:solidFill>
                <a:latin typeface="Arial MT"/>
                <a:cs typeface="Arial MT"/>
              </a:rPr>
              <a:t>direct</a:t>
            </a:r>
            <a:r>
              <a:rPr sz="2400" spc="-55" dirty="0">
                <a:solidFill>
                  <a:srgbClr val="FF0000"/>
                </a:solidFill>
                <a:latin typeface="Arial MT"/>
                <a:cs typeface="Arial MT"/>
              </a:rPr>
              <a:t> </a:t>
            </a:r>
            <a:r>
              <a:rPr sz="2400" dirty="0">
                <a:solidFill>
                  <a:srgbClr val="FF0000"/>
                </a:solidFill>
                <a:latin typeface="Arial MT"/>
                <a:cs typeface="Arial MT"/>
              </a:rPr>
              <a:t>solubility</a:t>
            </a:r>
            <a:r>
              <a:rPr sz="2400" spc="-20" dirty="0">
                <a:solidFill>
                  <a:srgbClr val="FF0000"/>
                </a:solidFill>
                <a:latin typeface="Arial MT"/>
                <a:cs typeface="Arial MT"/>
              </a:rPr>
              <a:t> </a:t>
            </a:r>
            <a:r>
              <a:rPr sz="2400" dirty="0">
                <a:solidFill>
                  <a:srgbClr val="FF0000"/>
                </a:solidFill>
                <a:latin typeface="Arial MT"/>
                <a:cs typeface="Arial MT"/>
              </a:rPr>
              <a:t>in</a:t>
            </a:r>
            <a:r>
              <a:rPr sz="2400" spc="-65" dirty="0">
                <a:solidFill>
                  <a:srgbClr val="FF0000"/>
                </a:solidFill>
                <a:latin typeface="Arial MT"/>
                <a:cs typeface="Arial MT"/>
              </a:rPr>
              <a:t> </a:t>
            </a:r>
            <a:r>
              <a:rPr sz="2400" dirty="0">
                <a:solidFill>
                  <a:srgbClr val="FF0000"/>
                </a:solidFill>
                <a:latin typeface="Arial MT"/>
                <a:cs typeface="Arial MT"/>
              </a:rPr>
              <a:t>the</a:t>
            </a:r>
            <a:r>
              <a:rPr sz="2400" spc="-70" dirty="0">
                <a:solidFill>
                  <a:srgbClr val="FF0000"/>
                </a:solidFill>
                <a:latin typeface="Arial MT"/>
                <a:cs typeface="Arial MT"/>
              </a:rPr>
              <a:t> </a:t>
            </a:r>
            <a:r>
              <a:rPr sz="2400" spc="-10" dirty="0">
                <a:solidFill>
                  <a:srgbClr val="FF0000"/>
                </a:solidFill>
                <a:latin typeface="Arial MT"/>
                <a:cs typeface="Arial MT"/>
              </a:rPr>
              <a:t>absorbing 	</a:t>
            </a:r>
            <a:r>
              <a:rPr sz="2400" dirty="0">
                <a:solidFill>
                  <a:srgbClr val="FF0000"/>
                </a:solidFill>
                <a:latin typeface="Arial MT"/>
                <a:cs typeface="Arial MT"/>
              </a:rPr>
              <a:t>medium</a:t>
            </a:r>
            <a:r>
              <a:rPr sz="2400" spc="-60" dirty="0">
                <a:solidFill>
                  <a:srgbClr val="FF0000"/>
                </a:solidFill>
                <a:latin typeface="Arial MT"/>
                <a:cs typeface="Arial MT"/>
              </a:rPr>
              <a:t> </a:t>
            </a:r>
            <a:r>
              <a:rPr sz="2400" dirty="0">
                <a:solidFill>
                  <a:srgbClr val="FF0000"/>
                </a:solidFill>
                <a:latin typeface="Arial MT"/>
                <a:cs typeface="Arial MT"/>
              </a:rPr>
              <a:t>or</a:t>
            </a:r>
            <a:r>
              <a:rPr sz="2400" spc="-60" dirty="0">
                <a:solidFill>
                  <a:srgbClr val="FF0000"/>
                </a:solidFill>
                <a:latin typeface="Arial MT"/>
                <a:cs typeface="Arial MT"/>
              </a:rPr>
              <a:t> </a:t>
            </a:r>
            <a:r>
              <a:rPr sz="2400" dirty="0">
                <a:solidFill>
                  <a:srgbClr val="FF0000"/>
                </a:solidFill>
                <a:latin typeface="Arial MT"/>
                <a:cs typeface="Arial MT"/>
              </a:rPr>
              <a:t>by</a:t>
            </a:r>
            <a:r>
              <a:rPr sz="2400" spc="-65" dirty="0">
                <a:solidFill>
                  <a:srgbClr val="FF0000"/>
                </a:solidFill>
                <a:latin typeface="Arial MT"/>
                <a:cs typeface="Arial MT"/>
              </a:rPr>
              <a:t> </a:t>
            </a:r>
            <a:r>
              <a:rPr sz="2400" dirty="0">
                <a:solidFill>
                  <a:srgbClr val="FF0000"/>
                </a:solidFill>
                <a:latin typeface="Arial MT"/>
                <a:cs typeface="Arial MT"/>
              </a:rPr>
              <a:t>chemical</a:t>
            </a:r>
            <a:r>
              <a:rPr sz="2400" spc="-55" dirty="0">
                <a:solidFill>
                  <a:srgbClr val="FF0000"/>
                </a:solidFill>
                <a:latin typeface="Arial MT"/>
                <a:cs typeface="Arial MT"/>
              </a:rPr>
              <a:t> </a:t>
            </a:r>
            <a:r>
              <a:rPr sz="2400" spc="-10" dirty="0">
                <a:solidFill>
                  <a:srgbClr val="FF0000"/>
                </a:solidFill>
                <a:latin typeface="Arial MT"/>
                <a:cs typeface="Arial MT"/>
              </a:rPr>
              <a:t>reaction</a:t>
            </a:r>
            <a:r>
              <a:rPr sz="2400" spc="-10" dirty="0">
                <a:latin typeface="Arial MT"/>
                <a:cs typeface="Arial MT"/>
              </a:rPr>
              <a:t>.</a:t>
            </a:r>
            <a:endParaRPr sz="2400" dirty="0">
              <a:latin typeface="Arial MT"/>
              <a:cs typeface="Arial MT"/>
            </a:endParaRPr>
          </a:p>
        </p:txBody>
      </p:sp>
      <p:pic>
        <p:nvPicPr>
          <p:cNvPr id="4" name="object 4"/>
          <p:cNvPicPr/>
          <p:nvPr/>
        </p:nvPicPr>
        <p:blipFill>
          <a:blip r:embed="rId3" cstate="print"/>
          <a:stretch>
            <a:fillRect/>
          </a:stretch>
        </p:blipFill>
        <p:spPr>
          <a:xfrm>
            <a:off x="8610603" y="1322834"/>
            <a:ext cx="3038855" cy="3429001"/>
          </a:xfrm>
          <a:prstGeom prst="rect">
            <a:avLst/>
          </a:prstGeom>
        </p:spPr>
      </p:pic>
      <p:sp>
        <p:nvSpPr>
          <p:cNvPr id="5" name="object 5"/>
          <p:cNvSpPr txBox="1">
            <a:spLocks noGrp="1"/>
          </p:cNvSpPr>
          <p:nvPr>
            <p:ph type="sldNum" sz="quarter" idx="7"/>
          </p:nvPr>
        </p:nvSpPr>
        <p:spPr>
          <a:xfrm>
            <a:off x="8993409" y="6464911"/>
            <a:ext cx="198636" cy="156068"/>
          </a:xfrm>
          <a:prstGeom prst="rect">
            <a:avLst/>
          </a:prstGeom>
        </p:spPr>
        <p:txBody>
          <a:bodyPr vert="horz" wrap="square" lIns="0" tIns="0" rIns="0" bIns="0" rtlCol="0">
            <a:spAutoFit/>
          </a:bodyPr>
          <a:lstStyle/>
          <a:p>
            <a:pPr marL="38101">
              <a:lnSpc>
                <a:spcPts val="1239"/>
              </a:lnSpc>
            </a:pPr>
            <a:fld id="{81D60167-4931-47E6-BA6A-407CBD079E47}" type="slidenum">
              <a:rPr spc="-25" dirty="0"/>
              <a:pPr marL="38101">
                <a:lnSpc>
                  <a:spcPts val="1239"/>
                </a:lnSpc>
              </a:pPr>
              <a:t>15</a:t>
            </a:fld>
            <a:endParaRPr spc="-25"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70371" y="133352"/>
            <a:ext cx="7600956" cy="927562"/>
          </a:xfrm>
          <a:prstGeom prst="rect">
            <a:avLst/>
          </a:prstGeom>
        </p:spPr>
        <p:txBody>
          <a:bodyPr vert="horz" wrap="square" lIns="0" tIns="430911" rIns="0" bIns="0" rtlCol="0">
            <a:spAutoFit/>
          </a:bodyPr>
          <a:lstStyle/>
          <a:p>
            <a:pPr marL="350529">
              <a:spcBef>
                <a:spcPts val="105"/>
              </a:spcBef>
            </a:pPr>
            <a:r>
              <a:rPr dirty="0"/>
              <a:t>Absorption</a:t>
            </a:r>
            <a:r>
              <a:rPr spc="-50" dirty="0"/>
              <a:t> </a:t>
            </a:r>
            <a:r>
              <a:rPr dirty="0"/>
              <a:t>in</a:t>
            </a:r>
            <a:r>
              <a:rPr spc="-20" dirty="0"/>
              <a:t> </a:t>
            </a:r>
            <a:r>
              <a:rPr spc="-10" dirty="0"/>
              <a:t>Liquids</a:t>
            </a:r>
          </a:p>
        </p:txBody>
      </p:sp>
      <p:pic>
        <p:nvPicPr>
          <p:cNvPr id="3" name="object 3"/>
          <p:cNvPicPr/>
          <p:nvPr/>
        </p:nvPicPr>
        <p:blipFill>
          <a:blip r:embed="rId3" cstate="print"/>
          <a:stretch>
            <a:fillRect/>
          </a:stretch>
        </p:blipFill>
        <p:spPr>
          <a:xfrm>
            <a:off x="5880571" y="3469697"/>
            <a:ext cx="5607699" cy="2986144"/>
          </a:xfrm>
          <a:prstGeom prst="rect">
            <a:avLst/>
          </a:prstGeom>
        </p:spPr>
      </p:pic>
      <p:pic>
        <p:nvPicPr>
          <p:cNvPr id="4" name="object 4"/>
          <p:cNvPicPr/>
          <p:nvPr/>
        </p:nvPicPr>
        <p:blipFill>
          <a:blip r:embed="rId4" cstate="print"/>
          <a:stretch>
            <a:fillRect/>
          </a:stretch>
        </p:blipFill>
        <p:spPr>
          <a:xfrm>
            <a:off x="5791200" y="5473"/>
            <a:ext cx="5912500" cy="3423527"/>
          </a:xfrm>
          <a:prstGeom prst="rect">
            <a:avLst/>
          </a:prstGeom>
        </p:spPr>
      </p:pic>
      <p:sp>
        <p:nvSpPr>
          <p:cNvPr id="5" name="object 5"/>
          <p:cNvSpPr txBox="1"/>
          <p:nvPr/>
        </p:nvSpPr>
        <p:spPr>
          <a:xfrm>
            <a:off x="7029450" y="6415649"/>
            <a:ext cx="3181350" cy="289951"/>
          </a:xfrm>
          <a:prstGeom prst="rect">
            <a:avLst/>
          </a:prstGeom>
        </p:spPr>
        <p:txBody>
          <a:bodyPr vert="horz" wrap="square" lIns="0" tIns="12700" rIns="0" bIns="0" rtlCol="0">
            <a:spAutoFit/>
          </a:bodyPr>
          <a:lstStyle/>
          <a:p>
            <a:pPr marL="12701">
              <a:spcBef>
                <a:spcPts val="100"/>
              </a:spcBef>
            </a:pPr>
            <a:r>
              <a:rPr sz="1801" b="1" dirty="0">
                <a:latin typeface="Arial" panose="020B0604020202020204"/>
                <a:cs typeface="Arial" panose="020B0604020202020204"/>
              </a:rPr>
              <a:t>Fig.</a:t>
            </a:r>
            <a:r>
              <a:rPr sz="1801" b="1" spc="-34" dirty="0">
                <a:latin typeface="Arial" panose="020B0604020202020204"/>
                <a:cs typeface="Arial" panose="020B0604020202020204"/>
              </a:rPr>
              <a:t> </a:t>
            </a:r>
            <a:r>
              <a:rPr sz="1801" b="1" dirty="0">
                <a:latin typeface="Arial" panose="020B0604020202020204"/>
                <a:cs typeface="Arial" panose="020B0604020202020204"/>
              </a:rPr>
              <a:t>2</a:t>
            </a:r>
            <a:r>
              <a:rPr sz="1801" b="1" spc="-15" dirty="0">
                <a:latin typeface="Arial" panose="020B0604020202020204"/>
                <a:cs typeface="Arial" panose="020B0604020202020204"/>
              </a:rPr>
              <a:t> </a:t>
            </a:r>
            <a:r>
              <a:rPr sz="1801" b="1" dirty="0">
                <a:latin typeface="Arial" panose="020B0604020202020204"/>
                <a:cs typeface="Arial" panose="020B0604020202020204"/>
              </a:rPr>
              <a:t>Gas</a:t>
            </a:r>
            <a:r>
              <a:rPr sz="1801" b="1" spc="-25" dirty="0">
                <a:latin typeface="Arial" panose="020B0604020202020204"/>
                <a:cs typeface="Arial" panose="020B0604020202020204"/>
              </a:rPr>
              <a:t> </a:t>
            </a:r>
            <a:r>
              <a:rPr sz="1801" b="1" dirty="0">
                <a:latin typeface="Arial" panose="020B0604020202020204"/>
                <a:cs typeface="Arial" panose="020B0604020202020204"/>
              </a:rPr>
              <a:t>absorbing</a:t>
            </a:r>
            <a:r>
              <a:rPr sz="1801" b="1" spc="-20" dirty="0">
                <a:latin typeface="Arial" panose="020B0604020202020204"/>
                <a:cs typeface="Arial" panose="020B0604020202020204"/>
              </a:rPr>
              <a:t> </a:t>
            </a:r>
            <a:r>
              <a:rPr sz="1801" b="1" spc="-10" dirty="0">
                <a:latin typeface="Arial" panose="020B0604020202020204"/>
                <a:cs typeface="Arial" panose="020B0604020202020204"/>
              </a:rPr>
              <a:t>devices</a:t>
            </a:r>
            <a:endParaRPr sz="1801" dirty="0">
              <a:latin typeface="Arial" panose="020B0604020202020204"/>
              <a:cs typeface="Arial" panose="020B0604020202020204"/>
            </a:endParaRPr>
          </a:p>
        </p:txBody>
      </p:sp>
      <p:sp>
        <p:nvSpPr>
          <p:cNvPr id="6" name="object 6"/>
          <p:cNvSpPr txBox="1">
            <a:spLocks noGrp="1"/>
          </p:cNvSpPr>
          <p:nvPr>
            <p:ph type="sldNum" sz="quarter" idx="7"/>
          </p:nvPr>
        </p:nvSpPr>
        <p:spPr>
          <a:xfrm>
            <a:off x="8993409" y="6464911"/>
            <a:ext cx="198636" cy="156068"/>
          </a:xfrm>
          <a:prstGeom prst="rect">
            <a:avLst/>
          </a:prstGeom>
        </p:spPr>
        <p:txBody>
          <a:bodyPr vert="horz" wrap="square" lIns="0" tIns="0" rIns="0" bIns="0" rtlCol="0">
            <a:spAutoFit/>
          </a:bodyPr>
          <a:lstStyle/>
          <a:p>
            <a:pPr marL="38101">
              <a:lnSpc>
                <a:spcPts val="1239"/>
              </a:lnSpc>
            </a:pPr>
            <a:fld id="{81D60167-4931-47E6-BA6A-407CBD079E47}" type="slidenum">
              <a:rPr spc="-25" dirty="0"/>
              <a:pPr marL="38101">
                <a:lnSpc>
                  <a:spcPts val="1239"/>
                </a:lnSpc>
              </a:pPr>
              <a:t>16</a:t>
            </a:fld>
            <a:endParaRPr spc="-25" dirty="0"/>
          </a:p>
        </p:txBody>
      </p:sp>
      <p:graphicFrame>
        <p:nvGraphicFramePr>
          <p:cNvPr id="7" name="Table 6">
            <a:extLst>
              <a:ext uri="{FF2B5EF4-FFF2-40B4-BE49-F238E27FC236}">
                <a16:creationId xmlns:a16="http://schemas.microsoft.com/office/drawing/2014/main" id="{DE20117A-236C-D199-E437-874E61FD80BB}"/>
              </a:ext>
            </a:extLst>
          </p:cNvPr>
          <p:cNvGraphicFramePr>
            <a:graphicFrameLocks noGrp="1"/>
          </p:cNvGraphicFramePr>
          <p:nvPr>
            <p:extLst>
              <p:ext uri="{D42A27DB-BD31-4B8C-83A1-F6EECF244321}">
                <p14:modId xmlns:p14="http://schemas.microsoft.com/office/powerpoint/2010/main" val="1196275736"/>
              </p:ext>
            </p:extLst>
          </p:nvPr>
        </p:nvGraphicFramePr>
        <p:xfrm>
          <a:off x="152400" y="1383086"/>
          <a:ext cx="5410200" cy="4865314"/>
        </p:xfrm>
        <a:graphic>
          <a:graphicData uri="http://schemas.openxmlformats.org/drawingml/2006/table">
            <a:tbl>
              <a:tblPr/>
              <a:tblGrid>
                <a:gridCol w="1803400">
                  <a:extLst>
                    <a:ext uri="{9D8B030D-6E8A-4147-A177-3AD203B41FA5}">
                      <a16:colId xmlns:a16="http://schemas.microsoft.com/office/drawing/2014/main" val="2106436350"/>
                    </a:ext>
                  </a:extLst>
                </a:gridCol>
                <a:gridCol w="1803400">
                  <a:extLst>
                    <a:ext uri="{9D8B030D-6E8A-4147-A177-3AD203B41FA5}">
                      <a16:colId xmlns:a16="http://schemas.microsoft.com/office/drawing/2014/main" val="2123348728"/>
                    </a:ext>
                  </a:extLst>
                </a:gridCol>
                <a:gridCol w="1803400">
                  <a:extLst>
                    <a:ext uri="{9D8B030D-6E8A-4147-A177-3AD203B41FA5}">
                      <a16:colId xmlns:a16="http://schemas.microsoft.com/office/drawing/2014/main" val="3158946140"/>
                    </a:ext>
                  </a:extLst>
                </a:gridCol>
              </a:tblGrid>
              <a:tr h="762000">
                <a:tc>
                  <a:txBody>
                    <a:bodyPr/>
                    <a:lstStyle/>
                    <a:p>
                      <a:pPr algn="ctr" rtl="0">
                        <a:buNone/>
                      </a:pPr>
                      <a:r>
                        <a:rPr lang="en-IN" sz="2000" b="1" dirty="0">
                          <a:solidFill>
                            <a:srgbClr val="1F1F1F"/>
                          </a:solidFill>
                          <a:effectLst/>
                          <a:latin typeface="Google Sans Text"/>
                        </a:rPr>
                        <a:t>Device</a:t>
                      </a:r>
                      <a:endParaRPr lang="en-IN" sz="2000" dirty="0">
                        <a:solidFill>
                          <a:srgbClr val="1F1F1F"/>
                        </a:solidFill>
                        <a:effectLst/>
                        <a:latin typeface="Google Sans Text"/>
                      </a:endParaRPr>
                    </a:p>
                  </a:txBody>
                  <a:tcPr marL="16998" marR="16998" marT="11332" marB="113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a:buNone/>
                      </a:pPr>
                      <a:r>
                        <a:rPr lang="en-IN" sz="2000" b="1" dirty="0">
                          <a:solidFill>
                            <a:srgbClr val="1F1F1F"/>
                          </a:solidFill>
                          <a:effectLst/>
                          <a:latin typeface="Google Sans Text"/>
                        </a:rPr>
                        <a:t>Bubble Size</a:t>
                      </a:r>
                      <a:endParaRPr lang="en-IN" sz="2000" dirty="0">
                        <a:solidFill>
                          <a:srgbClr val="1F1F1F"/>
                        </a:solidFill>
                        <a:effectLst/>
                        <a:latin typeface="Google Sans Text"/>
                      </a:endParaRPr>
                    </a:p>
                  </a:txBody>
                  <a:tcPr marL="16998" marR="16998" marT="11332" marB="113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a:buNone/>
                      </a:pPr>
                      <a:r>
                        <a:rPr lang="en-IN" sz="2000" b="1">
                          <a:solidFill>
                            <a:srgbClr val="1F1F1F"/>
                          </a:solidFill>
                          <a:effectLst/>
                          <a:latin typeface="Google Sans Text"/>
                        </a:rPr>
                        <a:t>Best Use</a:t>
                      </a:r>
                      <a:endParaRPr lang="en-IN" sz="2000">
                        <a:solidFill>
                          <a:srgbClr val="1F1F1F"/>
                        </a:solidFill>
                        <a:effectLst/>
                        <a:latin typeface="Google Sans Text"/>
                      </a:endParaRPr>
                    </a:p>
                  </a:txBody>
                  <a:tcPr marL="16998" marR="16998" marT="11332" marB="113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04486342"/>
                  </a:ext>
                </a:extLst>
              </a:tr>
              <a:tr h="940735">
                <a:tc>
                  <a:txBody>
                    <a:bodyPr/>
                    <a:lstStyle/>
                    <a:p>
                      <a:pPr algn="ctr" rtl="0">
                        <a:buNone/>
                      </a:pPr>
                      <a:r>
                        <a:rPr lang="en-IN" sz="2000" b="1" dirty="0">
                          <a:solidFill>
                            <a:srgbClr val="1F1F1F"/>
                          </a:solidFill>
                          <a:effectLst/>
                          <a:latin typeface="Google Sans Text"/>
                        </a:rPr>
                        <a:t>Simple Bubbler</a:t>
                      </a:r>
                      <a:endParaRPr lang="en-IN" sz="2000" dirty="0">
                        <a:solidFill>
                          <a:srgbClr val="1F1F1F"/>
                        </a:solidFill>
                        <a:effectLst/>
                        <a:latin typeface="Google Sans Text"/>
                      </a:endParaRPr>
                    </a:p>
                  </a:txBody>
                  <a:tcPr marL="16998" marR="16998" marT="11332" marB="113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a:buNone/>
                      </a:pPr>
                      <a:r>
                        <a:rPr lang="en-IN" sz="2000" dirty="0">
                          <a:solidFill>
                            <a:srgbClr val="1F1F1F"/>
                          </a:solidFill>
                          <a:effectLst/>
                          <a:latin typeface="Google Sans Text"/>
                        </a:rPr>
                        <a:t>Huge</a:t>
                      </a:r>
                    </a:p>
                  </a:txBody>
                  <a:tcPr marL="16998" marR="16998" marT="11332" marB="113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a:buNone/>
                      </a:pPr>
                      <a:r>
                        <a:rPr lang="en-IN" sz="2000" dirty="0">
                          <a:solidFill>
                            <a:srgbClr val="1F1F1F"/>
                          </a:solidFill>
                          <a:effectLst/>
                          <a:latin typeface="Google Sans Text"/>
                        </a:rPr>
                        <a:t>Easy-to-catch gases</a:t>
                      </a:r>
                    </a:p>
                  </a:txBody>
                  <a:tcPr marL="16998" marR="16998" marT="11332" marB="113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05938957"/>
                  </a:ext>
                </a:extLst>
              </a:tr>
              <a:tr h="1110922">
                <a:tc>
                  <a:txBody>
                    <a:bodyPr/>
                    <a:lstStyle/>
                    <a:p>
                      <a:pPr algn="ctr" rtl="0">
                        <a:buNone/>
                      </a:pPr>
                      <a:r>
                        <a:rPr lang="en-IN" sz="2000" b="1" dirty="0">
                          <a:solidFill>
                            <a:srgbClr val="1F1F1F"/>
                          </a:solidFill>
                          <a:effectLst/>
                          <a:latin typeface="Google Sans Text"/>
                        </a:rPr>
                        <a:t>Disc/Tip (Fritted)</a:t>
                      </a:r>
                      <a:endParaRPr lang="en-IN" sz="2000" dirty="0">
                        <a:solidFill>
                          <a:srgbClr val="1F1F1F"/>
                        </a:solidFill>
                        <a:effectLst/>
                        <a:latin typeface="Google Sans Text"/>
                      </a:endParaRPr>
                    </a:p>
                  </a:txBody>
                  <a:tcPr marL="16998" marR="16998" marT="11332" marB="113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a:buNone/>
                      </a:pPr>
                      <a:r>
                        <a:rPr lang="en-IN" sz="2000" dirty="0">
                          <a:solidFill>
                            <a:srgbClr val="1F1F1F"/>
                          </a:solidFill>
                          <a:effectLst/>
                          <a:latin typeface="Google Sans Text"/>
                        </a:rPr>
                        <a:t>Tiny</a:t>
                      </a:r>
                    </a:p>
                  </a:txBody>
                  <a:tcPr marL="16998" marR="16998" marT="11332" marB="113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a:buNone/>
                      </a:pPr>
                      <a:r>
                        <a:rPr lang="en-US" sz="2000">
                          <a:solidFill>
                            <a:srgbClr val="1F1F1F"/>
                          </a:solidFill>
                          <a:effectLst/>
                          <a:latin typeface="Google Sans Text"/>
                        </a:rPr>
                        <a:t>Very difficult gases (High efficiency)</a:t>
                      </a:r>
                    </a:p>
                  </a:txBody>
                  <a:tcPr marL="16998" marR="16998" marT="11332" marB="113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27677691"/>
                  </a:ext>
                </a:extLst>
              </a:tr>
              <a:tr h="1110922">
                <a:tc>
                  <a:txBody>
                    <a:bodyPr/>
                    <a:lstStyle/>
                    <a:p>
                      <a:pPr algn="ctr" rtl="0">
                        <a:buNone/>
                      </a:pPr>
                      <a:r>
                        <a:rPr lang="en-IN" sz="2000" b="1" dirty="0">
                          <a:solidFill>
                            <a:srgbClr val="1F1F1F"/>
                          </a:solidFill>
                          <a:effectLst/>
                          <a:latin typeface="Google Sans Text"/>
                        </a:rPr>
                        <a:t>Greenburg-Smith</a:t>
                      </a:r>
                      <a:endParaRPr lang="en-IN" sz="2000" dirty="0">
                        <a:solidFill>
                          <a:srgbClr val="1F1F1F"/>
                        </a:solidFill>
                        <a:effectLst/>
                        <a:latin typeface="Google Sans Text"/>
                      </a:endParaRPr>
                    </a:p>
                  </a:txBody>
                  <a:tcPr marL="16998" marR="16998" marT="11332" marB="113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a:buNone/>
                      </a:pPr>
                      <a:r>
                        <a:rPr lang="en-IN" sz="2000" dirty="0">
                          <a:solidFill>
                            <a:srgbClr val="1F1F1F"/>
                          </a:solidFill>
                          <a:effectLst/>
                          <a:latin typeface="Google Sans Text"/>
                        </a:rPr>
                        <a:t>Medium (Fast)</a:t>
                      </a:r>
                    </a:p>
                  </a:txBody>
                  <a:tcPr marL="16998" marR="16998" marT="11332" marB="113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a:buNone/>
                      </a:pPr>
                      <a:r>
                        <a:rPr lang="en-IN" sz="2000" dirty="0">
                          <a:solidFill>
                            <a:srgbClr val="1F1F1F"/>
                          </a:solidFill>
                          <a:effectLst/>
                          <a:latin typeface="Google Sans Text"/>
                        </a:rPr>
                        <a:t>High-speed, large-scale testing</a:t>
                      </a:r>
                    </a:p>
                  </a:txBody>
                  <a:tcPr marL="16998" marR="16998" marT="11332" marB="113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018430"/>
                  </a:ext>
                </a:extLst>
              </a:tr>
              <a:tr h="940735">
                <a:tc>
                  <a:txBody>
                    <a:bodyPr/>
                    <a:lstStyle/>
                    <a:p>
                      <a:pPr algn="ctr" rtl="0">
                        <a:buNone/>
                      </a:pPr>
                      <a:r>
                        <a:rPr lang="en-IN" sz="2000" b="1" dirty="0">
                          <a:solidFill>
                            <a:srgbClr val="1F1F1F"/>
                          </a:solidFill>
                          <a:effectLst/>
                          <a:latin typeface="Google Sans Text"/>
                        </a:rPr>
                        <a:t>Midget</a:t>
                      </a:r>
                      <a:endParaRPr lang="en-IN" sz="2000" dirty="0">
                        <a:solidFill>
                          <a:srgbClr val="1F1F1F"/>
                        </a:solidFill>
                        <a:effectLst/>
                        <a:latin typeface="Google Sans Text"/>
                      </a:endParaRPr>
                    </a:p>
                  </a:txBody>
                  <a:tcPr marL="16998" marR="16998" marT="11332" marB="113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a:buNone/>
                      </a:pPr>
                      <a:r>
                        <a:rPr lang="en-IN" sz="2000" dirty="0">
                          <a:solidFill>
                            <a:srgbClr val="1F1F1F"/>
                          </a:solidFill>
                          <a:effectLst/>
                          <a:latin typeface="Google Sans Text"/>
                        </a:rPr>
                        <a:t>Medium (Small)</a:t>
                      </a:r>
                    </a:p>
                  </a:txBody>
                  <a:tcPr marL="16998" marR="16998" marT="11332" marB="113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a:buNone/>
                      </a:pPr>
                      <a:r>
                        <a:rPr lang="en-IN" sz="2000" dirty="0">
                          <a:solidFill>
                            <a:srgbClr val="1F1F1F"/>
                          </a:solidFill>
                          <a:effectLst/>
                          <a:latin typeface="Google Sans Text"/>
                        </a:rPr>
                        <a:t>Portable/Personal testing</a:t>
                      </a:r>
                    </a:p>
                  </a:txBody>
                  <a:tcPr marL="16998" marR="16998" marT="11332" marB="113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95590390"/>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xfrm>
            <a:off x="8993409" y="6464911"/>
            <a:ext cx="198636" cy="156068"/>
          </a:xfrm>
          <a:prstGeom prst="rect">
            <a:avLst/>
          </a:prstGeom>
        </p:spPr>
        <p:txBody>
          <a:bodyPr vert="horz" wrap="square" lIns="0" tIns="0" rIns="0" bIns="0" rtlCol="0">
            <a:spAutoFit/>
          </a:bodyPr>
          <a:lstStyle/>
          <a:p>
            <a:pPr marL="38101">
              <a:lnSpc>
                <a:spcPts val="1239"/>
              </a:lnSpc>
            </a:pPr>
            <a:fld id="{81D60167-4931-47E6-BA6A-407CBD079E47}" type="slidenum">
              <a:rPr spc="-25" dirty="0"/>
              <a:pPr marL="38101">
                <a:lnSpc>
                  <a:spcPts val="1239"/>
                </a:lnSpc>
              </a:pPr>
              <a:t>17</a:t>
            </a:fld>
            <a:endParaRPr spc="-25" dirty="0"/>
          </a:p>
        </p:txBody>
      </p:sp>
      <p:sp>
        <p:nvSpPr>
          <p:cNvPr id="2" name="object 2"/>
          <p:cNvSpPr txBox="1">
            <a:spLocks noGrp="1"/>
          </p:cNvSpPr>
          <p:nvPr>
            <p:ph type="title"/>
          </p:nvPr>
        </p:nvSpPr>
        <p:spPr>
          <a:xfrm>
            <a:off x="470371" y="133352"/>
            <a:ext cx="7600956" cy="927562"/>
          </a:xfrm>
          <a:prstGeom prst="rect">
            <a:avLst/>
          </a:prstGeom>
        </p:spPr>
        <p:txBody>
          <a:bodyPr vert="horz" wrap="square" lIns="0" tIns="430911" rIns="0" bIns="0" rtlCol="0">
            <a:spAutoFit/>
          </a:bodyPr>
          <a:lstStyle/>
          <a:p>
            <a:pPr marL="350529">
              <a:spcBef>
                <a:spcPts val="105"/>
              </a:spcBef>
            </a:pPr>
            <a:r>
              <a:rPr dirty="0"/>
              <a:t>Absorption</a:t>
            </a:r>
            <a:r>
              <a:rPr spc="-50" dirty="0"/>
              <a:t> </a:t>
            </a:r>
            <a:r>
              <a:rPr dirty="0"/>
              <a:t>in</a:t>
            </a:r>
            <a:r>
              <a:rPr spc="-20" dirty="0"/>
              <a:t> </a:t>
            </a:r>
            <a:r>
              <a:rPr spc="-10" dirty="0"/>
              <a:t>Liquids</a:t>
            </a:r>
          </a:p>
        </p:txBody>
      </p:sp>
      <p:sp>
        <p:nvSpPr>
          <p:cNvPr id="3" name="object 3"/>
          <p:cNvSpPr txBox="1"/>
          <p:nvPr/>
        </p:nvSpPr>
        <p:spPr>
          <a:xfrm>
            <a:off x="788317" y="1286410"/>
            <a:ext cx="11042015" cy="5042855"/>
          </a:xfrm>
          <a:prstGeom prst="rect">
            <a:avLst/>
          </a:prstGeom>
        </p:spPr>
        <p:txBody>
          <a:bodyPr vert="horz" wrap="square" lIns="0" tIns="12700" rIns="0" bIns="0" rtlCol="0">
            <a:spAutoFit/>
          </a:bodyPr>
          <a:lstStyle/>
          <a:p>
            <a:pPr marL="241306" marR="310522" indent="-228606" algn="just">
              <a:lnSpc>
                <a:spcPct val="150000"/>
              </a:lnSpc>
              <a:spcBef>
                <a:spcPts val="100"/>
              </a:spcBef>
              <a:buChar char="•"/>
              <a:tabLst>
                <a:tab pos="241306" algn="l"/>
              </a:tabLst>
            </a:pPr>
            <a:r>
              <a:rPr sz="2201" dirty="0">
                <a:latin typeface="Arial MT"/>
                <a:cs typeface="Arial MT"/>
              </a:rPr>
              <a:t>Many</a:t>
            </a:r>
            <a:r>
              <a:rPr sz="2201" spc="-50" dirty="0">
                <a:latin typeface="Arial MT"/>
                <a:cs typeface="Arial MT"/>
              </a:rPr>
              <a:t> </a:t>
            </a:r>
            <a:r>
              <a:rPr sz="2201" dirty="0">
                <a:latin typeface="Arial MT"/>
                <a:cs typeface="Arial MT"/>
              </a:rPr>
              <a:t>different</a:t>
            </a:r>
            <a:r>
              <a:rPr sz="2201" spc="-65" dirty="0">
                <a:latin typeface="Arial MT"/>
                <a:cs typeface="Arial MT"/>
              </a:rPr>
              <a:t> </a:t>
            </a:r>
            <a:r>
              <a:rPr sz="2201" dirty="0">
                <a:latin typeface="Arial MT"/>
                <a:cs typeface="Arial MT"/>
              </a:rPr>
              <a:t>types</a:t>
            </a:r>
            <a:r>
              <a:rPr sz="2201" spc="-46" dirty="0">
                <a:latin typeface="Arial MT"/>
                <a:cs typeface="Arial MT"/>
              </a:rPr>
              <a:t> </a:t>
            </a:r>
            <a:r>
              <a:rPr sz="2201" dirty="0">
                <a:latin typeface="Arial MT"/>
                <a:cs typeface="Arial MT"/>
              </a:rPr>
              <a:t>of</a:t>
            </a:r>
            <a:r>
              <a:rPr sz="2201" spc="-65" dirty="0">
                <a:latin typeface="Arial MT"/>
                <a:cs typeface="Arial MT"/>
              </a:rPr>
              <a:t> </a:t>
            </a:r>
            <a:r>
              <a:rPr sz="2201" dirty="0">
                <a:latin typeface="Arial MT"/>
                <a:cs typeface="Arial MT"/>
              </a:rPr>
              <a:t>collectors</a:t>
            </a:r>
            <a:r>
              <a:rPr sz="2201" spc="-65" dirty="0">
                <a:latin typeface="Arial MT"/>
                <a:cs typeface="Arial MT"/>
              </a:rPr>
              <a:t> </a:t>
            </a:r>
            <a:r>
              <a:rPr sz="2201" dirty="0">
                <a:latin typeface="Arial MT"/>
                <a:cs typeface="Arial MT"/>
              </a:rPr>
              <a:t>are</a:t>
            </a:r>
            <a:r>
              <a:rPr sz="2201" spc="-50" dirty="0">
                <a:latin typeface="Arial MT"/>
                <a:cs typeface="Arial MT"/>
              </a:rPr>
              <a:t> </a:t>
            </a:r>
            <a:r>
              <a:rPr sz="2201" dirty="0">
                <a:latin typeface="Arial MT"/>
                <a:cs typeface="Arial MT"/>
              </a:rPr>
              <a:t>in</a:t>
            </a:r>
            <a:r>
              <a:rPr sz="2201" spc="-60" dirty="0">
                <a:latin typeface="Arial MT"/>
                <a:cs typeface="Arial MT"/>
              </a:rPr>
              <a:t> </a:t>
            </a:r>
            <a:r>
              <a:rPr sz="2201" dirty="0">
                <a:latin typeface="Arial MT"/>
                <a:cs typeface="Arial MT"/>
              </a:rPr>
              <a:t>use,</a:t>
            </a:r>
            <a:r>
              <a:rPr sz="2201" spc="-65" dirty="0">
                <a:latin typeface="Arial MT"/>
                <a:cs typeface="Arial MT"/>
              </a:rPr>
              <a:t> </a:t>
            </a:r>
            <a:r>
              <a:rPr sz="2201" dirty="0">
                <a:latin typeface="Arial MT"/>
                <a:cs typeface="Arial MT"/>
              </a:rPr>
              <a:t>ranging</a:t>
            </a:r>
            <a:r>
              <a:rPr sz="2201" spc="-46" dirty="0">
                <a:latin typeface="Arial MT"/>
                <a:cs typeface="Arial MT"/>
              </a:rPr>
              <a:t> </a:t>
            </a:r>
            <a:r>
              <a:rPr sz="2201" dirty="0">
                <a:latin typeface="Arial MT"/>
                <a:cs typeface="Arial MT"/>
              </a:rPr>
              <a:t>from</a:t>
            </a:r>
            <a:r>
              <a:rPr sz="2201" spc="-46" dirty="0">
                <a:latin typeface="Arial MT"/>
                <a:cs typeface="Arial MT"/>
              </a:rPr>
              <a:t> </a:t>
            </a:r>
            <a:r>
              <a:rPr sz="2201" dirty="0">
                <a:latin typeface="Arial MT"/>
                <a:cs typeface="Arial MT"/>
              </a:rPr>
              <a:t>simple</a:t>
            </a:r>
            <a:r>
              <a:rPr sz="2201" spc="-60" dirty="0">
                <a:latin typeface="Arial MT"/>
                <a:cs typeface="Arial MT"/>
              </a:rPr>
              <a:t> </a:t>
            </a:r>
            <a:r>
              <a:rPr sz="2201" dirty="0">
                <a:latin typeface="Arial MT"/>
                <a:cs typeface="Arial MT"/>
              </a:rPr>
              <a:t>bubbles</a:t>
            </a:r>
            <a:r>
              <a:rPr sz="2201" spc="-55" dirty="0">
                <a:latin typeface="Arial MT"/>
                <a:cs typeface="Arial MT"/>
              </a:rPr>
              <a:t> </a:t>
            </a:r>
            <a:r>
              <a:rPr sz="2201" dirty="0">
                <a:latin typeface="Arial MT"/>
                <a:cs typeface="Arial MT"/>
              </a:rPr>
              <a:t>to</a:t>
            </a:r>
            <a:r>
              <a:rPr sz="2201" spc="-55" dirty="0">
                <a:latin typeface="Arial MT"/>
                <a:cs typeface="Arial MT"/>
              </a:rPr>
              <a:t> </a:t>
            </a:r>
            <a:r>
              <a:rPr sz="2201" spc="-10" dirty="0">
                <a:latin typeface="Arial MT"/>
                <a:cs typeface="Arial MT"/>
              </a:rPr>
              <a:t>complex </a:t>
            </a:r>
            <a:r>
              <a:rPr sz="2201" dirty="0">
                <a:latin typeface="Arial MT"/>
                <a:cs typeface="Arial MT"/>
              </a:rPr>
              <a:t>devices</a:t>
            </a:r>
            <a:r>
              <a:rPr sz="2201" spc="519" dirty="0">
                <a:latin typeface="Arial MT"/>
                <a:cs typeface="Arial MT"/>
              </a:rPr>
              <a:t> </a:t>
            </a:r>
            <a:r>
              <a:rPr sz="2201" dirty="0">
                <a:latin typeface="Arial MT"/>
                <a:cs typeface="Arial MT"/>
              </a:rPr>
              <a:t>which</a:t>
            </a:r>
            <a:r>
              <a:rPr sz="2201" spc="-46" dirty="0">
                <a:latin typeface="Arial MT"/>
                <a:cs typeface="Arial MT"/>
              </a:rPr>
              <a:t> </a:t>
            </a:r>
            <a:r>
              <a:rPr sz="2201" dirty="0">
                <a:latin typeface="Arial MT"/>
                <a:cs typeface="Arial MT"/>
              </a:rPr>
              <a:t>provide</a:t>
            </a:r>
            <a:r>
              <a:rPr sz="2201" spc="-34" dirty="0">
                <a:latin typeface="Arial MT"/>
                <a:cs typeface="Arial MT"/>
              </a:rPr>
              <a:t> </a:t>
            </a:r>
            <a:r>
              <a:rPr sz="2201" dirty="0">
                <a:latin typeface="Arial MT"/>
                <a:cs typeface="Arial MT"/>
              </a:rPr>
              <a:t>a</a:t>
            </a:r>
            <a:r>
              <a:rPr sz="2201" spc="-55" dirty="0">
                <a:latin typeface="Arial MT"/>
                <a:cs typeface="Arial MT"/>
              </a:rPr>
              <a:t> </a:t>
            </a:r>
            <a:r>
              <a:rPr sz="2201" dirty="0">
                <a:latin typeface="Arial MT"/>
                <a:cs typeface="Arial MT"/>
              </a:rPr>
              <a:t>high</a:t>
            </a:r>
            <a:r>
              <a:rPr sz="2201" spc="-50" dirty="0">
                <a:latin typeface="Arial MT"/>
                <a:cs typeface="Arial MT"/>
              </a:rPr>
              <a:t> </a:t>
            </a:r>
            <a:r>
              <a:rPr sz="2201" dirty="0">
                <a:latin typeface="Arial MT"/>
                <a:cs typeface="Arial MT"/>
              </a:rPr>
              <a:t>degree</a:t>
            </a:r>
            <a:r>
              <a:rPr sz="2201" spc="-34" dirty="0">
                <a:latin typeface="Arial MT"/>
                <a:cs typeface="Arial MT"/>
              </a:rPr>
              <a:t> </a:t>
            </a:r>
            <a:r>
              <a:rPr sz="2201" dirty="0">
                <a:latin typeface="Arial MT"/>
                <a:cs typeface="Arial MT"/>
              </a:rPr>
              <a:t>of</a:t>
            </a:r>
            <a:r>
              <a:rPr sz="2201" spc="-50" dirty="0">
                <a:latin typeface="Arial MT"/>
                <a:cs typeface="Arial MT"/>
              </a:rPr>
              <a:t> </a:t>
            </a:r>
            <a:r>
              <a:rPr sz="2201" dirty="0">
                <a:latin typeface="Arial MT"/>
                <a:cs typeface="Arial MT"/>
              </a:rPr>
              <a:t>gas-liquid</a:t>
            </a:r>
            <a:r>
              <a:rPr sz="2201" spc="-55" dirty="0">
                <a:latin typeface="Arial MT"/>
                <a:cs typeface="Arial MT"/>
              </a:rPr>
              <a:t> </a:t>
            </a:r>
            <a:r>
              <a:rPr sz="2201" spc="-10" dirty="0">
                <a:latin typeface="Arial MT"/>
                <a:cs typeface="Arial MT"/>
              </a:rPr>
              <a:t>contact.</a:t>
            </a:r>
            <a:endParaRPr sz="2201" dirty="0">
              <a:latin typeface="Arial MT"/>
              <a:cs typeface="Arial MT"/>
            </a:endParaRPr>
          </a:p>
          <a:p>
            <a:pPr marL="318778" indent="-306078" algn="just">
              <a:spcBef>
                <a:spcPts val="2315"/>
              </a:spcBef>
              <a:buChar char="•"/>
              <a:tabLst>
                <a:tab pos="318778" algn="l"/>
              </a:tabLst>
            </a:pPr>
            <a:r>
              <a:rPr sz="2201" dirty="0">
                <a:latin typeface="Arial MT"/>
                <a:cs typeface="Arial MT"/>
              </a:rPr>
              <a:t>Some</a:t>
            </a:r>
            <a:r>
              <a:rPr sz="2201" spc="-41" dirty="0">
                <a:latin typeface="Arial MT"/>
                <a:cs typeface="Arial MT"/>
              </a:rPr>
              <a:t> </a:t>
            </a:r>
            <a:r>
              <a:rPr sz="2201" dirty="0">
                <a:latin typeface="Arial MT"/>
                <a:cs typeface="Arial MT"/>
              </a:rPr>
              <a:t>of</a:t>
            </a:r>
            <a:r>
              <a:rPr sz="2201" spc="-50" dirty="0">
                <a:latin typeface="Arial MT"/>
                <a:cs typeface="Arial MT"/>
              </a:rPr>
              <a:t> </a:t>
            </a:r>
            <a:r>
              <a:rPr sz="2201" dirty="0">
                <a:latin typeface="Arial MT"/>
                <a:cs typeface="Arial MT"/>
              </a:rPr>
              <a:t>these</a:t>
            </a:r>
            <a:r>
              <a:rPr sz="2201" spc="-46" dirty="0">
                <a:latin typeface="Arial MT"/>
                <a:cs typeface="Arial MT"/>
              </a:rPr>
              <a:t> </a:t>
            </a:r>
            <a:r>
              <a:rPr sz="2201" dirty="0">
                <a:latin typeface="Arial MT"/>
                <a:cs typeface="Arial MT"/>
              </a:rPr>
              <a:t>devices</a:t>
            </a:r>
            <a:r>
              <a:rPr sz="2201" spc="-41" dirty="0">
                <a:latin typeface="Arial MT"/>
                <a:cs typeface="Arial MT"/>
              </a:rPr>
              <a:t> </a:t>
            </a:r>
            <a:r>
              <a:rPr sz="2201" dirty="0">
                <a:latin typeface="Arial MT"/>
                <a:cs typeface="Arial MT"/>
              </a:rPr>
              <a:t>are</a:t>
            </a:r>
            <a:r>
              <a:rPr sz="2201" spc="-30" dirty="0">
                <a:latin typeface="Arial MT"/>
                <a:cs typeface="Arial MT"/>
              </a:rPr>
              <a:t> </a:t>
            </a:r>
            <a:r>
              <a:rPr sz="2201" dirty="0">
                <a:latin typeface="Arial MT"/>
                <a:cs typeface="Arial MT"/>
              </a:rPr>
              <a:t>shown</a:t>
            </a:r>
            <a:r>
              <a:rPr sz="2201" spc="-46" dirty="0">
                <a:latin typeface="Arial MT"/>
                <a:cs typeface="Arial MT"/>
              </a:rPr>
              <a:t> </a:t>
            </a:r>
            <a:r>
              <a:rPr sz="2201" dirty="0">
                <a:latin typeface="Arial MT"/>
                <a:cs typeface="Arial MT"/>
              </a:rPr>
              <a:t>in</a:t>
            </a:r>
            <a:r>
              <a:rPr sz="2201" spc="-50" dirty="0">
                <a:latin typeface="Arial MT"/>
                <a:cs typeface="Arial MT"/>
              </a:rPr>
              <a:t> </a:t>
            </a:r>
            <a:r>
              <a:rPr sz="2201" dirty="0">
                <a:latin typeface="Arial MT"/>
                <a:cs typeface="Arial MT"/>
              </a:rPr>
              <a:t>in</a:t>
            </a:r>
            <a:r>
              <a:rPr sz="2201" spc="-46" dirty="0">
                <a:latin typeface="Arial MT"/>
                <a:cs typeface="Arial MT"/>
              </a:rPr>
              <a:t> </a:t>
            </a:r>
            <a:r>
              <a:rPr sz="2201" dirty="0">
                <a:latin typeface="Arial MT"/>
                <a:cs typeface="Arial MT"/>
              </a:rPr>
              <a:t>Fig.</a:t>
            </a:r>
            <a:r>
              <a:rPr sz="2201" spc="-50" dirty="0">
                <a:latin typeface="Arial MT"/>
                <a:cs typeface="Arial MT"/>
              </a:rPr>
              <a:t> </a:t>
            </a:r>
            <a:r>
              <a:rPr sz="2201" spc="-25" dirty="0">
                <a:latin typeface="Arial MT"/>
                <a:cs typeface="Arial MT"/>
              </a:rPr>
              <a:t>2.</a:t>
            </a:r>
            <a:endParaRPr sz="2201" dirty="0">
              <a:latin typeface="Arial MT"/>
              <a:cs typeface="Arial MT"/>
            </a:endParaRPr>
          </a:p>
          <a:p>
            <a:pPr marL="241306" marR="224161" indent="-228606" algn="just">
              <a:lnSpc>
                <a:spcPct val="150000"/>
              </a:lnSpc>
              <a:spcBef>
                <a:spcPts val="1001"/>
              </a:spcBef>
              <a:buChar char="•"/>
              <a:tabLst>
                <a:tab pos="241306" algn="l"/>
                <a:tab pos="318778" algn="l"/>
              </a:tabLst>
            </a:pPr>
            <a:r>
              <a:rPr sz="2201" dirty="0">
                <a:latin typeface="Arial MT"/>
                <a:cs typeface="Arial MT"/>
              </a:rPr>
              <a:t>	One</a:t>
            </a:r>
            <a:r>
              <a:rPr sz="2201" spc="-46" dirty="0">
                <a:latin typeface="Arial MT"/>
                <a:cs typeface="Arial MT"/>
              </a:rPr>
              <a:t> </a:t>
            </a:r>
            <a:r>
              <a:rPr sz="2201" dirty="0">
                <a:latin typeface="Arial MT"/>
                <a:cs typeface="Arial MT"/>
              </a:rPr>
              <a:t>such</a:t>
            </a:r>
            <a:r>
              <a:rPr sz="2201" spc="-60" dirty="0">
                <a:latin typeface="Arial MT"/>
                <a:cs typeface="Arial MT"/>
              </a:rPr>
              <a:t> </a:t>
            </a:r>
            <a:r>
              <a:rPr sz="2201" dirty="0">
                <a:latin typeface="Arial MT"/>
                <a:cs typeface="Arial MT"/>
              </a:rPr>
              <a:t>device</a:t>
            </a:r>
            <a:r>
              <a:rPr sz="2201" spc="-41" dirty="0">
                <a:latin typeface="Arial MT"/>
                <a:cs typeface="Arial MT"/>
              </a:rPr>
              <a:t> </a:t>
            </a:r>
            <a:r>
              <a:rPr sz="2201" dirty="0">
                <a:latin typeface="Arial MT"/>
                <a:cs typeface="Arial MT"/>
              </a:rPr>
              <a:t>is</a:t>
            </a:r>
            <a:r>
              <a:rPr sz="2201" spc="-55" dirty="0">
                <a:latin typeface="Arial MT"/>
                <a:cs typeface="Arial MT"/>
              </a:rPr>
              <a:t> </a:t>
            </a:r>
            <a:r>
              <a:rPr sz="2201" dirty="0">
                <a:latin typeface="Arial MT"/>
                <a:cs typeface="Arial MT"/>
              </a:rPr>
              <a:t>the</a:t>
            </a:r>
            <a:r>
              <a:rPr sz="2201" spc="-30" dirty="0">
                <a:latin typeface="Arial MT"/>
                <a:cs typeface="Arial MT"/>
              </a:rPr>
              <a:t> </a:t>
            </a:r>
            <a:r>
              <a:rPr sz="2201" spc="-10" dirty="0">
                <a:solidFill>
                  <a:srgbClr val="FF0000"/>
                </a:solidFill>
                <a:latin typeface="Arial MT"/>
                <a:cs typeface="Arial MT"/>
              </a:rPr>
              <a:t>fritted-</a:t>
            </a:r>
            <a:r>
              <a:rPr sz="2201" dirty="0">
                <a:solidFill>
                  <a:srgbClr val="FF0000"/>
                </a:solidFill>
                <a:latin typeface="Arial MT"/>
                <a:cs typeface="Arial MT"/>
              </a:rPr>
              <a:t>glass</a:t>
            </a:r>
            <a:r>
              <a:rPr sz="2201" spc="-50" dirty="0">
                <a:solidFill>
                  <a:srgbClr val="FF0000"/>
                </a:solidFill>
                <a:latin typeface="Arial MT"/>
                <a:cs typeface="Arial MT"/>
              </a:rPr>
              <a:t> </a:t>
            </a:r>
            <a:r>
              <a:rPr sz="2201" dirty="0">
                <a:solidFill>
                  <a:srgbClr val="FF0000"/>
                </a:solidFill>
                <a:latin typeface="Arial MT"/>
                <a:cs typeface="Arial MT"/>
              </a:rPr>
              <a:t>absorber</a:t>
            </a:r>
            <a:r>
              <a:rPr sz="2201" spc="-30" dirty="0">
                <a:solidFill>
                  <a:srgbClr val="FF0000"/>
                </a:solidFill>
                <a:latin typeface="Arial MT"/>
                <a:cs typeface="Arial MT"/>
              </a:rPr>
              <a:t> </a:t>
            </a:r>
            <a:r>
              <a:rPr sz="2201" dirty="0">
                <a:latin typeface="Arial MT"/>
                <a:cs typeface="Arial MT"/>
              </a:rPr>
              <a:t>where</a:t>
            </a:r>
            <a:r>
              <a:rPr sz="2201" spc="-34" dirty="0">
                <a:latin typeface="Arial MT"/>
                <a:cs typeface="Arial MT"/>
              </a:rPr>
              <a:t> </a:t>
            </a:r>
            <a:r>
              <a:rPr sz="2201" dirty="0">
                <a:latin typeface="Arial MT"/>
                <a:cs typeface="Arial MT"/>
              </a:rPr>
              <a:t>the</a:t>
            </a:r>
            <a:r>
              <a:rPr sz="2201" spc="-30" dirty="0">
                <a:latin typeface="Arial MT"/>
                <a:cs typeface="Arial MT"/>
              </a:rPr>
              <a:t> </a:t>
            </a:r>
            <a:r>
              <a:rPr sz="2201" dirty="0">
                <a:solidFill>
                  <a:srgbClr val="FF0000"/>
                </a:solidFill>
                <a:latin typeface="Arial MT"/>
                <a:cs typeface="Arial MT"/>
              </a:rPr>
              <a:t>gas</a:t>
            </a:r>
            <a:r>
              <a:rPr sz="2201" spc="-46" dirty="0">
                <a:solidFill>
                  <a:srgbClr val="FF0000"/>
                </a:solidFill>
                <a:latin typeface="Arial MT"/>
                <a:cs typeface="Arial MT"/>
              </a:rPr>
              <a:t> </a:t>
            </a:r>
            <a:r>
              <a:rPr sz="2201" dirty="0">
                <a:solidFill>
                  <a:srgbClr val="FF0000"/>
                </a:solidFill>
                <a:latin typeface="Arial MT"/>
                <a:cs typeface="Arial MT"/>
              </a:rPr>
              <a:t>stream</a:t>
            </a:r>
            <a:r>
              <a:rPr sz="2201" spc="-46" dirty="0">
                <a:solidFill>
                  <a:srgbClr val="FF0000"/>
                </a:solidFill>
                <a:latin typeface="Arial MT"/>
                <a:cs typeface="Arial MT"/>
              </a:rPr>
              <a:t> </a:t>
            </a:r>
            <a:r>
              <a:rPr sz="2201" dirty="0">
                <a:solidFill>
                  <a:srgbClr val="FF0000"/>
                </a:solidFill>
                <a:latin typeface="Arial MT"/>
                <a:cs typeface="Arial MT"/>
              </a:rPr>
              <a:t>is</a:t>
            </a:r>
            <a:r>
              <a:rPr sz="2201" spc="-55" dirty="0">
                <a:solidFill>
                  <a:srgbClr val="FF0000"/>
                </a:solidFill>
                <a:latin typeface="Arial MT"/>
                <a:cs typeface="Arial MT"/>
              </a:rPr>
              <a:t> </a:t>
            </a:r>
            <a:r>
              <a:rPr sz="2201" dirty="0">
                <a:solidFill>
                  <a:srgbClr val="FF0000"/>
                </a:solidFill>
                <a:latin typeface="Arial MT"/>
                <a:cs typeface="Arial MT"/>
              </a:rPr>
              <a:t>broken</a:t>
            </a:r>
            <a:r>
              <a:rPr sz="2201" spc="-41" dirty="0">
                <a:solidFill>
                  <a:srgbClr val="FF0000"/>
                </a:solidFill>
                <a:latin typeface="Arial MT"/>
                <a:cs typeface="Arial MT"/>
              </a:rPr>
              <a:t> </a:t>
            </a:r>
            <a:r>
              <a:rPr sz="2201" dirty="0">
                <a:solidFill>
                  <a:srgbClr val="FF0000"/>
                </a:solidFill>
                <a:latin typeface="Arial MT"/>
                <a:cs typeface="Arial MT"/>
              </a:rPr>
              <a:t>up</a:t>
            </a:r>
            <a:r>
              <a:rPr sz="2201" spc="-55" dirty="0">
                <a:solidFill>
                  <a:srgbClr val="FF0000"/>
                </a:solidFill>
                <a:latin typeface="Arial MT"/>
                <a:cs typeface="Arial MT"/>
              </a:rPr>
              <a:t> </a:t>
            </a:r>
            <a:r>
              <a:rPr sz="2201" spc="-20" dirty="0">
                <a:solidFill>
                  <a:srgbClr val="FF0000"/>
                </a:solidFill>
                <a:latin typeface="Arial MT"/>
                <a:cs typeface="Arial MT"/>
              </a:rPr>
              <a:t>into </a:t>
            </a:r>
            <a:r>
              <a:rPr sz="2201" dirty="0">
                <a:solidFill>
                  <a:srgbClr val="FF0000"/>
                </a:solidFill>
                <a:latin typeface="Arial MT"/>
                <a:cs typeface="Arial MT"/>
              </a:rPr>
              <a:t>extremely</a:t>
            </a:r>
            <a:r>
              <a:rPr sz="2201" spc="-50" dirty="0">
                <a:solidFill>
                  <a:srgbClr val="FF0000"/>
                </a:solidFill>
                <a:latin typeface="Arial MT"/>
                <a:cs typeface="Arial MT"/>
              </a:rPr>
              <a:t> </a:t>
            </a:r>
            <a:r>
              <a:rPr sz="2201" dirty="0">
                <a:solidFill>
                  <a:srgbClr val="FF0000"/>
                </a:solidFill>
                <a:latin typeface="Arial MT"/>
                <a:cs typeface="Arial MT"/>
              </a:rPr>
              <a:t>small</a:t>
            </a:r>
            <a:r>
              <a:rPr sz="2201" spc="-75" dirty="0">
                <a:solidFill>
                  <a:srgbClr val="FF0000"/>
                </a:solidFill>
                <a:latin typeface="Arial MT"/>
                <a:cs typeface="Arial MT"/>
              </a:rPr>
              <a:t> </a:t>
            </a:r>
            <a:r>
              <a:rPr sz="2201" dirty="0">
                <a:solidFill>
                  <a:srgbClr val="FF0000"/>
                </a:solidFill>
                <a:latin typeface="Arial MT"/>
                <a:cs typeface="Arial MT"/>
              </a:rPr>
              <a:t>bubbles,</a:t>
            </a:r>
            <a:r>
              <a:rPr sz="2201" spc="-75" dirty="0">
                <a:solidFill>
                  <a:srgbClr val="FF0000"/>
                </a:solidFill>
                <a:latin typeface="Arial MT"/>
                <a:cs typeface="Arial MT"/>
              </a:rPr>
              <a:t> </a:t>
            </a:r>
            <a:r>
              <a:rPr sz="2201" dirty="0">
                <a:solidFill>
                  <a:srgbClr val="FF0000"/>
                </a:solidFill>
                <a:latin typeface="Arial MT"/>
                <a:cs typeface="Arial MT"/>
              </a:rPr>
              <a:t>thus</a:t>
            </a:r>
            <a:r>
              <a:rPr sz="2201" spc="-70" dirty="0">
                <a:solidFill>
                  <a:srgbClr val="FF0000"/>
                </a:solidFill>
                <a:latin typeface="Arial MT"/>
                <a:cs typeface="Arial MT"/>
              </a:rPr>
              <a:t> </a:t>
            </a:r>
            <a:r>
              <a:rPr sz="2201" dirty="0">
                <a:solidFill>
                  <a:srgbClr val="FF0000"/>
                </a:solidFill>
                <a:latin typeface="Arial MT"/>
                <a:cs typeface="Arial MT"/>
              </a:rPr>
              <a:t>promoting</a:t>
            </a:r>
            <a:r>
              <a:rPr sz="2201" spc="-60" dirty="0">
                <a:solidFill>
                  <a:srgbClr val="FF0000"/>
                </a:solidFill>
                <a:latin typeface="Arial MT"/>
                <a:cs typeface="Arial MT"/>
              </a:rPr>
              <a:t> </a:t>
            </a:r>
            <a:r>
              <a:rPr sz="2201" dirty="0">
                <a:solidFill>
                  <a:srgbClr val="FF0000"/>
                </a:solidFill>
                <a:latin typeface="Arial MT"/>
                <a:cs typeface="Arial MT"/>
              </a:rPr>
              <a:t>an</a:t>
            </a:r>
            <a:r>
              <a:rPr sz="2201" spc="-65" dirty="0">
                <a:solidFill>
                  <a:srgbClr val="FF0000"/>
                </a:solidFill>
                <a:latin typeface="Arial MT"/>
                <a:cs typeface="Arial MT"/>
              </a:rPr>
              <a:t> </a:t>
            </a:r>
            <a:r>
              <a:rPr sz="2201" dirty="0">
                <a:solidFill>
                  <a:srgbClr val="FF0000"/>
                </a:solidFill>
                <a:latin typeface="Arial MT"/>
                <a:cs typeface="Arial MT"/>
              </a:rPr>
              <a:t>intimate</a:t>
            </a:r>
            <a:r>
              <a:rPr sz="2201" spc="-80" dirty="0">
                <a:solidFill>
                  <a:srgbClr val="FF0000"/>
                </a:solidFill>
                <a:latin typeface="Arial MT"/>
                <a:cs typeface="Arial MT"/>
              </a:rPr>
              <a:t> </a:t>
            </a:r>
            <a:r>
              <a:rPr sz="2201" dirty="0">
                <a:solidFill>
                  <a:srgbClr val="FF0000"/>
                </a:solidFill>
                <a:latin typeface="Arial MT"/>
                <a:cs typeface="Arial MT"/>
              </a:rPr>
              <a:t>contact</a:t>
            </a:r>
            <a:r>
              <a:rPr sz="2201" spc="-70" dirty="0">
                <a:solidFill>
                  <a:srgbClr val="FF0000"/>
                </a:solidFill>
                <a:latin typeface="Arial MT"/>
                <a:cs typeface="Arial MT"/>
              </a:rPr>
              <a:t> </a:t>
            </a:r>
            <a:r>
              <a:rPr sz="2201" dirty="0">
                <a:solidFill>
                  <a:srgbClr val="FF0000"/>
                </a:solidFill>
                <a:latin typeface="Arial MT"/>
                <a:cs typeface="Arial MT"/>
              </a:rPr>
              <a:t>between</a:t>
            </a:r>
            <a:r>
              <a:rPr sz="2201" spc="-60" dirty="0">
                <a:solidFill>
                  <a:srgbClr val="FF0000"/>
                </a:solidFill>
                <a:latin typeface="Arial MT"/>
                <a:cs typeface="Arial MT"/>
              </a:rPr>
              <a:t> </a:t>
            </a:r>
            <a:r>
              <a:rPr sz="2201" dirty="0">
                <a:solidFill>
                  <a:srgbClr val="FF0000"/>
                </a:solidFill>
                <a:latin typeface="Arial MT"/>
                <a:cs typeface="Arial MT"/>
              </a:rPr>
              <a:t>the</a:t>
            </a:r>
            <a:r>
              <a:rPr sz="2201" spc="-80" dirty="0">
                <a:solidFill>
                  <a:srgbClr val="FF0000"/>
                </a:solidFill>
                <a:latin typeface="Arial MT"/>
                <a:cs typeface="Arial MT"/>
              </a:rPr>
              <a:t> </a:t>
            </a:r>
            <a:r>
              <a:rPr sz="2201" dirty="0">
                <a:solidFill>
                  <a:srgbClr val="FF0000"/>
                </a:solidFill>
                <a:latin typeface="Arial MT"/>
                <a:cs typeface="Arial MT"/>
              </a:rPr>
              <a:t>gas</a:t>
            </a:r>
            <a:r>
              <a:rPr sz="2201" spc="-75" dirty="0">
                <a:solidFill>
                  <a:srgbClr val="FF0000"/>
                </a:solidFill>
                <a:latin typeface="Arial MT"/>
                <a:cs typeface="Arial MT"/>
              </a:rPr>
              <a:t> </a:t>
            </a:r>
            <a:r>
              <a:rPr sz="2201" dirty="0">
                <a:solidFill>
                  <a:srgbClr val="FF0000"/>
                </a:solidFill>
                <a:latin typeface="Arial MT"/>
                <a:cs typeface="Arial MT"/>
              </a:rPr>
              <a:t>and</a:t>
            </a:r>
            <a:r>
              <a:rPr sz="2201" spc="-75" dirty="0">
                <a:solidFill>
                  <a:srgbClr val="FF0000"/>
                </a:solidFill>
                <a:latin typeface="Arial MT"/>
                <a:cs typeface="Arial MT"/>
              </a:rPr>
              <a:t> </a:t>
            </a:r>
            <a:r>
              <a:rPr sz="2201" spc="-25" dirty="0">
                <a:solidFill>
                  <a:srgbClr val="FF0000"/>
                </a:solidFill>
                <a:latin typeface="Arial MT"/>
                <a:cs typeface="Arial MT"/>
              </a:rPr>
              <a:t>the </a:t>
            </a:r>
            <a:r>
              <a:rPr sz="2201" spc="-10" dirty="0">
                <a:solidFill>
                  <a:srgbClr val="FF0000"/>
                </a:solidFill>
                <a:latin typeface="Arial MT"/>
                <a:cs typeface="Arial MT"/>
              </a:rPr>
              <a:t>liquid.</a:t>
            </a:r>
            <a:endParaRPr sz="2201" dirty="0">
              <a:latin typeface="Arial MT"/>
              <a:cs typeface="Arial MT"/>
            </a:endParaRPr>
          </a:p>
          <a:p>
            <a:pPr marL="240671" indent="-227971" algn="just">
              <a:spcBef>
                <a:spcPts val="2265"/>
              </a:spcBef>
              <a:buChar char="•"/>
              <a:tabLst>
                <a:tab pos="240671" algn="l"/>
              </a:tabLst>
            </a:pPr>
            <a:r>
              <a:rPr sz="2201" dirty="0">
                <a:solidFill>
                  <a:srgbClr val="FF0000"/>
                </a:solidFill>
                <a:latin typeface="Arial MT"/>
                <a:cs typeface="Arial MT"/>
              </a:rPr>
              <a:t>Frits</a:t>
            </a:r>
            <a:r>
              <a:rPr sz="2201" spc="-46" dirty="0">
                <a:solidFill>
                  <a:srgbClr val="FF0000"/>
                </a:solidFill>
                <a:latin typeface="Arial MT"/>
                <a:cs typeface="Arial MT"/>
              </a:rPr>
              <a:t> </a:t>
            </a:r>
            <a:r>
              <a:rPr sz="2201" dirty="0">
                <a:solidFill>
                  <a:srgbClr val="FF0000"/>
                </a:solidFill>
                <a:latin typeface="Arial MT"/>
                <a:cs typeface="Arial MT"/>
              </a:rPr>
              <a:t>designated</a:t>
            </a:r>
            <a:r>
              <a:rPr sz="2201" spc="-41" dirty="0">
                <a:solidFill>
                  <a:srgbClr val="FF0000"/>
                </a:solidFill>
                <a:latin typeface="Arial MT"/>
                <a:cs typeface="Arial MT"/>
              </a:rPr>
              <a:t> </a:t>
            </a:r>
            <a:r>
              <a:rPr sz="2201" dirty="0">
                <a:solidFill>
                  <a:srgbClr val="FF0000"/>
                </a:solidFill>
                <a:latin typeface="Arial MT"/>
                <a:cs typeface="Arial MT"/>
              </a:rPr>
              <a:t>"coarse"</a:t>
            </a:r>
            <a:r>
              <a:rPr sz="2201" spc="-46" dirty="0">
                <a:solidFill>
                  <a:srgbClr val="FF0000"/>
                </a:solidFill>
                <a:latin typeface="Arial MT"/>
                <a:cs typeface="Arial MT"/>
              </a:rPr>
              <a:t> </a:t>
            </a:r>
            <a:r>
              <a:rPr sz="2201" spc="-10" dirty="0">
                <a:solidFill>
                  <a:srgbClr val="FF0000"/>
                </a:solidFill>
                <a:latin typeface="Arial MT"/>
                <a:cs typeface="Arial MT"/>
              </a:rPr>
              <a:t>(50-</a:t>
            </a:r>
            <a:r>
              <a:rPr sz="2201" b="1" i="1" dirty="0">
                <a:solidFill>
                  <a:srgbClr val="FF0000"/>
                </a:solidFill>
                <a:latin typeface="Verdana" panose="020B0604030504040204"/>
                <a:cs typeface="Verdana" panose="020B0604030504040204"/>
              </a:rPr>
              <a:t>µ</a:t>
            </a:r>
            <a:r>
              <a:rPr sz="2201" dirty="0">
                <a:solidFill>
                  <a:srgbClr val="FF0000"/>
                </a:solidFill>
                <a:latin typeface="Arial MT"/>
                <a:cs typeface="Arial MT"/>
              </a:rPr>
              <a:t>m</a:t>
            </a:r>
            <a:r>
              <a:rPr sz="2201" spc="-41" dirty="0">
                <a:solidFill>
                  <a:srgbClr val="FF0000"/>
                </a:solidFill>
                <a:latin typeface="Arial MT"/>
                <a:cs typeface="Arial MT"/>
              </a:rPr>
              <a:t> </a:t>
            </a:r>
            <a:r>
              <a:rPr sz="2201" dirty="0">
                <a:solidFill>
                  <a:srgbClr val="FF0000"/>
                </a:solidFill>
                <a:latin typeface="Arial MT"/>
                <a:cs typeface="Arial MT"/>
              </a:rPr>
              <a:t>pore</a:t>
            </a:r>
            <a:r>
              <a:rPr sz="2201" spc="-30" dirty="0">
                <a:solidFill>
                  <a:srgbClr val="FF0000"/>
                </a:solidFill>
                <a:latin typeface="Arial MT"/>
                <a:cs typeface="Arial MT"/>
              </a:rPr>
              <a:t> </a:t>
            </a:r>
            <a:r>
              <a:rPr sz="2201" dirty="0">
                <a:solidFill>
                  <a:srgbClr val="FF0000"/>
                </a:solidFill>
                <a:latin typeface="Arial MT"/>
                <a:cs typeface="Arial MT"/>
              </a:rPr>
              <a:t>size)</a:t>
            </a:r>
            <a:r>
              <a:rPr sz="2201" spc="-34" dirty="0">
                <a:solidFill>
                  <a:srgbClr val="FF0000"/>
                </a:solidFill>
                <a:latin typeface="Arial MT"/>
                <a:cs typeface="Arial MT"/>
              </a:rPr>
              <a:t> </a:t>
            </a:r>
            <a:r>
              <a:rPr sz="2201" dirty="0">
                <a:latin typeface="Arial MT"/>
                <a:cs typeface="Arial MT"/>
              </a:rPr>
              <a:t>are</a:t>
            </a:r>
            <a:r>
              <a:rPr sz="2201" spc="-41" dirty="0">
                <a:latin typeface="Arial MT"/>
                <a:cs typeface="Arial MT"/>
              </a:rPr>
              <a:t> </a:t>
            </a:r>
            <a:r>
              <a:rPr sz="2201" dirty="0">
                <a:latin typeface="Arial MT"/>
                <a:cs typeface="Arial MT"/>
              </a:rPr>
              <a:t>most</a:t>
            </a:r>
            <a:r>
              <a:rPr sz="2201" spc="-30" dirty="0">
                <a:latin typeface="Arial MT"/>
                <a:cs typeface="Arial MT"/>
              </a:rPr>
              <a:t> </a:t>
            </a:r>
            <a:r>
              <a:rPr sz="2201" dirty="0">
                <a:latin typeface="Arial MT"/>
                <a:cs typeface="Arial MT"/>
              </a:rPr>
              <a:t>often</a:t>
            </a:r>
            <a:r>
              <a:rPr sz="2201" spc="-30" dirty="0">
                <a:latin typeface="Arial MT"/>
                <a:cs typeface="Arial MT"/>
              </a:rPr>
              <a:t> </a:t>
            </a:r>
            <a:r>
              <a:rPr sz="2201" dirty="0">
                <a:latin typeface="Arial MT"/>
                <a:cs typeface="Arial MT"/>
              </a:rPr>
              <a:t>used</a:t>
            </a:r>
            <a:r>
              <a:rPr sz="2201" spc="-41" dirty="0">
                <a:latin typeface="Arial MT"/>
                <a:cs typeface="Arial MT"/>
              </a:rPr>
              <a:t> </a:t>
            </a:r>
            <a:r>
              <a:rPr sz="2201" dirty="0">
                <a:latin typeface="Arial MT"/>
                <a:cs typeface="Arial MT"/>
              </a:rPr>
              <a:t>for</a:t>
            </a:r>
            <a:r>
              <a:rPr sz="2201" spc="-46" dirty="0">
                <a:latin typeface="Arial MT"/>
                <a:cs typeface="Arial MT"/>
              </a:rPr>
              <a:t> </a:t>
            </a:r>
            <a:r>
              <a:rPr sz="2201" dirty="0">
                <a:latin typeface="Arial MT"/>
                <a:cs typeface="Arial MT"/>
              </a:rPr>
              <a:t>air</a:t>
            </a:r>
            <a:r>
              <a:rPr sz="2201" spc="-46" dirty="0">
                <a:latin typeface="Arial MT"/>
                <a:cs typeface="Arial MT"/>
              </a:rPr>
              <a:t> </a:t>
            </a:r>
            <a:r>
              <a:rPr sz="2201" spc="-10" dirty="0">
                <a:latin typeface="Arial MT"/>
                <a:cs typeface="Arial MT"/>
              </a:rPr>
              <a:t>sampling.</a:t>
            </a:r>
            <a:endParaRPr sz="2201" dirty="0">
              <a:latin typeface="Arial MT"/>
              <a:cs typeface="Arial MT"/>
            </a:endParaRPr>
          </a:p>
          <a:p>
            <a:pPr marL="241306" marR="5081" indent="-228606">
              <a:lnSpc>
                <a:spcPct val="150000"/>
              </a:lnSpc>
              <a:spcBef>
                <a:spcPts val="1060"/>
              </a:spcBef>
              <a:buChar char="•"/>
              <a:tabLst>
                <a:tab pos="241306" algn="l"/>
              </a:tabLst>
            </a:pPr>
            <a:r>
              <a:rPr sz="2201" dirty="0">
                <a:latin typeface="Arial MT"/>
                <a:cs typeface="Arial MT"/>
              </a:rPr>
              <a:t>The</a:t>
            </a:r>
            <a:r>
              <a:rPr sz="2201" spc="-34" dirty="0">
                <a:latin typeface="Arial MT"/>
                <a:cs typeface="Arial MT"/>
              </a:rPr>
              <a:t> </a:t>
            </a:r>
            <a:r>
              <a:rPr sz="2201" dirty="0">
                <a:latin typeface="Arial MT"/>
                <a:cs typeface="Arial MT"/>
              </a:rPr>
              <a:t>glass</a:t>
            </a:r>
            <a:r>
              <a:rPr sz="2201" spc="-50" dirty="0">
                <a:latin typeface="Arial MT"/>
                <a:cs typeface="Arial MT"/>
              </a:rPr>
              <a:t> </a:t>
            </a:r>
            <a:r>
              <a:rPr sz="2201" dirty="0">
                <a:latin typeface="Arial MT"/>
                <a:cs typeface="Arial MT"/>
              </a:rPr>
              <a:t>frit</a:t>
            </a:r>
            <a:r>
              <a:rPr sz="2201" spc="-55" dirty="0">
                <a:latin typeface="Arial MT"/>
                <a:cs typeface="Arial MT"/>
              </a:rPr>
              <a:t> </a:t>
            </a:r>
            <a:r>
              <a:rPr sz="2201" dirty="0">
                <a:latin typeface="Arial MT"/>
                <a:cs typeface="Arial MT"/>
              </a:rPr>
              <a:t>can</a:t>
            </a:r>
            <a:r>
              <a:rPr sz="2201" spc="-46" dirty="0">
                <a:latin typeface="Arial MT"/>
                <a:cs typeface="Arial MT"/>
              </a:rPr>
              <a:t> </a:t>
            </a:r>
            <a:r>
              <a:rPr sz="2201" dirty="0">
                <a:latin typeface="Arial MT"/>
                <a:cs typeface="Arial MT"/>
              </a:rPr>
              <a:t>become</a:t>
            </a:r>
            <a:r>
              <a:rPr sz="2201" spc="-41" dirty="0">
                <a:latin typeface="Arial MT"/>
                <a:cs typeface="Arial MT"/>
              </a:rPr>
              <a:t> </a:t>
            </a:r>
            <a:r>
              <a:rPr sz="2201" dirty="0">
                <a:latin typeface="Arial MT"/>
                <a:cs typeface="Arial MT"/>
              </a:rPr>
              <a:t>blocked</a:t>
            </a:r>
            <a:r>
              <a:rPr sz="2201" spc="-55" dirty="0">
                <a:latin typeface="Arial MT"/>
                <a:cs typeface="Arial MT"/>
              </a:rPr>
              <a:t> </a:t>
            </a:r>
            <a:r>
              <a:rPr sz="2201" dirty="0">
                <a:latin typeface="Arial MT"/>
                <a:cs typeface="Arial MT"/>
              </a:rPr>
              <a:t>and</a:t>
            </a:r>
            <a:r>
              <a:rPr sz="2201" spc="-30" dirty="0">
                <a:latin typeface="Arial MT"/>
                <a:cs typeface="Arial MT"/>
              </a:rPr>
              <a:t> </a:t>
            </a:r>
            <a:r>
              <a:rPr sz="2201" dirty="0">
                <a:latin typeface="Arial MT"/>
                <a:cs typeface="Arial MT"/>
              </a:rPr>
              <a:t>is</a:t>
            </a:r>
            <a:r>
              <a:rPr sz="2201" spc="-55" dirty="0">
                <a:latin typeface="Arial MT"/>
                <a:cs typeface="Arial MT"/>
              </a:rPr>
              <a:t> </a:t>
            </a:r>
            <a:r>
              <a:rPr sz="2201" dirty="0">
                <a:latin typeface="Arial MT"/>
                <a:cs typeface="Arial MT"/>
              </a:rPr>
              <a:t>often</a:t>
            </a:r>
            <a:r>
              <a:rPr sz="2201" spc="-50" dirty="0">
                <a:latin typeface="Arial MT"/>
                <a:cs typeface="Arial MT"/>
              </a:rPr>
              <a:t> </a:t>
            </a:r>
            <a:r>
              <a:rPr sz="2201" dirty="0">
                <a:latin typeface="Arial MT"/>
                <a:cs typeface="Arial MT"/>
              </a:rPr>
              <a:t>difficult</a:t>
            </a:r>
            <a:r>
              <a:rPr sz="2201" spc="-55" dirty="0">
                <a:latin typeface="Arial MT"/>
                <a:cs typeface="Arial MT"/>
              </a:rPr>
              <a:t> </a:t>
            </a:r>
            <a:r>
              <a:rPr sz="2201" dirty="0">
                <a:latin typeface="Arial MT"/>
                <a:cs typeface="Arial MT"/>
              </a:rPr>
              <a:t>to</a:t>
            </a:r>
            <a:r>
              <a:rPr sz="2201" spc="-50" dirty="0">
                <a:latin typeface="Arial MT"/>
                <a:cs typeface="Arial MT"/>
              </a:rPr>
              <a:t> </a:t>
            </a:r>
            <a:r>
              <a:rPr sz="2201" dirty="0">
                <a:latin typeface="Arial MT"/>
                <a:cs typeface="Arial MT"/>
              </a:rPr>
              <a:t>clean</a:t>
            </a:r>
            <a:r>
              <a:rPr sz="2201" spc="-50" dirty="0">
                <a:latin typeface="Arial MT"/>
                <a:cs typeface="Arial MT"/>
              </a:rPr>
              <a:t> </a:t>
            </a:r>
            <a:r>
              <a:rPr sz="2201" dirty="0">
                <a:latin typeface="Arial MT"/>
                <a:cs typeface="Arial MT"/>
              </a:rPr>
              <a:t>after</a:t>
            </a:r>
            <a:r>
              <a:rPr sz="2201" spc="-34" dirty="0">
                <a:latin typeface="Arial MT"/>
                <a:cs typeface="Arial MT"/>
              </a:rPr>
              <a:t> </a:t>
            </a:r>
            <a:r>
              <a:rPr sz="2201" dirty="0">
                <a:latin typeface="Arial MT"/>
                <a:cs typeface="Arial MT"/>
              </a:rPr>
              <a:t>use;</a:t>
            </a:r>
            <a:r>
              <a:rPr sz="2201" spc="-55" dirty="0">
                <a:latin typeface="Arial MT"/>
                <a:cs typeface="Arial MT"/>
              </a:rPr>
              <a:t> </a:t>
            </a:r>
            <a:r>
              <a:rPr sz="2201" dirty="0">
                <a:latin typeface="Arial MT"/>
                <a:cs typeface="Arial MT"/>
              </a:rPr>
              <a:t>therefore</a:t>
            </a:r>
            <a:r>
              <a:rPr sz="2201" dirty="0">
                <a:solidFill>
                  <a:srgbClr val="FF0000"/>
                </a:solidFill>
                <a:latin typeface="Arial MT"/>
                <a:cs typeface="Arial MT"/>
              </a:rPr>
              <a:t>,</a:t>
            </a:r>
            <a:r>
              <a:rPr sz="2201" spc="-25" dirty="0">
                <a:solidFill>
                  <a:srgbClr val="FF0000"/>
                </a:solidFill>
                <a:latin typeface="Arial MT"/>
                <a:cs typeface="Arial MT"/>
              </a:rPr>
              <a:t> </a:t>
            </a:r>
            <a:r>
              <a:rPr sz="2201" dirty="0">
                <a:solidFill>
                  <a:srgbClr val="FF0000"/>
                </a:solidFill>
                <a:latin typeface="Arial MT"/>
                <a:cs typeface="Arial MT"/>
              </a:rPr>
              <a:t>it</a:t>
            </a:r>
            <a:r>
              <a:rPr sz="2201" spc="-50" dirty="0">
                <a:solidFill>
                  <a:srgbClr val="FF0000"/>
                </a:solidFill>
                <a:latin typeface="Arial MT"/>
                <a:cs typeface="Arial MT"/>
              </a:rPr>
              <a:t> </a:t>
            </a:r>
            <a:r>
              <a:rPr sz="2201" spc="-25" dirty="0">
                <a:solidFill>
                  <a:srgbClr val="FF0000"/>
                </a:solidFill>
                <a:latin typeface="Arial MT"/>
                <a:cs typeface="Arial MT"/>
              </a:rPr>
              <a:t>is </a:t>
            </a:r>
            <a:r>
              <a:rPr sz="2201" dirty="0">
                <a:solidFill>
                  <a:srgbClr val="FF0000"/>
                </a:solidFill>
                <a:latin typeface="Arial MT"/>
                <a:cs typeface="Arial MT"/>
              </a:rPr>
              <a:t>often</a:t>
            </a:r>
            <a:r>
              <a:rPr sz="2201" spc="-50" dirty="0">
                <a:solidFill>
                  <a:srgbClr val="FF0000"/>
                </a:solidFill>
                <a:latin typeface="Arial MT"/>
                <a:cs typeface="Arial MT"/>
              </a:rPr>
              <a:t> </a:t>
            </a:r>
            <a:r>
              <a:rPr sz="2201" dirty="0">
                <a:solidFill>
                  <a:srgbClr val="FF0000"/>
                </a:solidFill>
                <a:latin typeface="Arial MT"/>
                <a:cs typeface="Arial MT"/>
              </a:rPr>
              <a:t>advisable</a:t>
            </a:r>
            <a:r>
              <a:rPr sz="2201" spc="-50" dirty="0">
                <a:solidFill>
                  <a:srgbClr val="FF0000"/>
                </a:solidFill>
                <a:latin typeface="Arial MT"/>
                <a:cs typeface="Arial MT"/>
              </a:rPr>
              <a:t> </a:t>
            </a:r>
            <a:r>
              <a:rPr sz="2201" dirty="0">
                <a:solidFill>
                  <a:srgbClr val="FF0000"/>
                </a:solidFill>
                <a:latin typeface="Arial MT"/>
                <a:cs typeface="Arial MT"/>
              </a:rPr>
              <a:t>to</a:t>
            </a:r>
            <a:r>
              <a:rPr sz="2201" spc="-30" dirty="0">
                <a:solidFill>
                  <a:srgbClr val="FF0000"/>
                </a:solidFill>
                <a:latin typeface="Arial MT"/>
                <a:cs typeface="Arial MT"/>
              </a:rPr>
              <a:t> </a:t>
            </a:r>
            <a:r>
              <a:rPr sz="2201" spc="-10" dirty="0">
                <a:solidFill>
                  <a:srgbClr val="FF0000"/>
                </a:solidFill>
                <a:latin typeface="Arial MT"/>
                <a:cs typeface="Arial MT"/>
              </a:rPr>
              <a:t>pre-</a:t>
            </a:r>
            <a:r>
              <a:rPr sz="2201" dirty="0">
                <a:solidFill>
                  <a:srgbClr val="FF0000"/>
                </a:solidFill>
                <a:latin typeface="Arial MT"/>
                <a:cs typeface="Arial MT"/>
              </a:rPr>
              <a:t>filter</a:t>
            </a:r>
            <a:r>
              <a:rPr sz="2201" spc="-30" dirty="0">
                <a:solidFill>
                  <a:srgbClr val="FF0000"/>
                </a:solidFill>
                <a:latin typeface="Arial MT"/>
                <a:cs typeface="Arial MT"/>
              </a:rPr>
              <a:t> </a:t>
            </a:r>
            <a:r>
              <a:rPr sz="2201" dirty="0">
                <a:solidFill>
                  <a:srgbClr val="FF0000"/>
                </a:solidFill>
                <a:latin typeface="Arial MT"/>
                <a:cs typeface="Arial MT"/>
              </a:rPr>
              <a:t>the</a:t>
            </a:r>
            <a:r>
              <a:rPr sz="2201" spc="-41" dirty="0">
                <a:solidFill>
                  <a:srgbClr val="FF0000"/>
                </a:solidFill>
                <a:latin typeface="Arial MT"/>
                <a:cs typeface="Arial MT"/>
              </a:rPr>
              <a:t> </a:t>
            </a:r>
            <a:r>
              <a:rPr sz="2201" dirty="0">
                <a:solidFill>
                  <a:srgbClr val="FF0000"/>
                </a:solidFill>
                <a:latin typeface="Arial MT"/>
                <a:cs typeface="Arial MT"/>
              </a:rPr>
              <a:t>air</a:t>
            </a:r>
            <a:r>
              <a:rPr sz="2201" spc="-50" dirty="0">
                <a:solidFill>
                  <a:srgbClr val="FF0000"/>
                </a:solidFill>
                <a:latin typeface="Arial MT"/>
                <a:cs typeface="Arial MT"/>
              </a:rPr>
              <a:t> </a:t>
            </a:r>
            <a:r>
              <a:rPr sz="2201" dirty="0">
                <a:solidFill>
                  <a:srgbClr val="FF0000"/>
                </a:solidFill>
                <a:latin typeface="Arial MT"/>
                <a:cs typeface="Arial MT"/>
              </a:rPr>
              <a:t>prior</a:t>
            </a:r>
            <a:r>
              <a:rPr sz="2201" spc="-34" dirty="0">
                <a:solidFill>
                  <a:srgbClr val="FF0000"/>
                </a:solidFill>
                <a:latin typeface="Arial MT"/>
                <a:cs typeface="Arial MT"/>
              </a:rPr>
              <a:t> </a:t>
            </a:r>
            <a:r>
              <a:rPr sz="2201" dirty="0">
                <a:solidFill>
                  <a:srgbClr val="FF0000"/>
                </a:solidFill>
                <a:latin typeface="Arial MT"/>
                <a:cs typeface="Arial MT"/>
              </a:rPr>
              <a:t>to</a:t>
            </a:r>
            <a:r>
              <a:rPr sz="2201" spc="-46" dirty="0">
                <a:solidFill>
                  <a:srgbClr val="FF0000"/>
                </a:solidFill>
                <a:latin typeface="Arial MT"/>
                <a:cs typeface="Arial MT"/>
              </a:rPr>
              <a:t> </a:t>
            </a:r>
            <a:r>
              <a:rPr sz="2201" spc="-10" dirty="0">
                <a:solidFill>
                  <a:srgbClr val="FF0000"/>
                </a:solidFill>
                <a:latin typeface="Arial MT"/>
                <a:cs typeface="Arial MT"/>
              </a:rPr>
              <a:t>sampling.</a:t>
            </a:r>
            <a:endParaRPr sz="2201" dirty="0">
              <a:latin typeface="Arial MT"/>
              <a:cs typeface="Arial MT"/>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xfrm>
            <a:off x="8993409" y="6464911"/>
            <a:ext cx="198636" cy="156068"/>
          </a:xfrm>
          <a:prstGeom prst="rect">
            <a:avLst/>
          </a:prstGeom>
        </p:spPr>
        <p:txBody>
          <a:bodyPr vert="horz" wrap="square" lIns="0" tIns="0" rIns="0" bIns="0" rtlCol="0">
            <a:spAutoFit/>
          </a:bodyPr>
          <a:lstStyle/>
          <a:p>
            <a:pPr marL="38101">
              <a:lnSpc>
                <a:spcPts val="1239"/>
              </a:lnSpc>
            </a:pPr>
            <a:fld id="{81D60167-4931-47E6-BA6A-407CBD079E47}" type="slidenum">
              <a:rPr spc="-25" dirty="0"/>
              <a:pPr marL="38101">
                <a:lnSpc>
                  <a:spcPts val="1239"/>
                </a:lnSpc>
              </a:pPr>
              <a:t>18</a:t>
            </a:fld>
            <a:endParaRPr spc="-25" dirty="0"/>
          </a:p>
        </p:txBody>
      </p:sp>
      <p:sp>
        <p:nvSpPr>
          <p:cNvPr id="2" name="object 2"/>
          <p:cNvSpPr txBox="1">
            <a:spLocks noGrp="1"/>
          </p:cNvSpPr>
          <p:nvPr>
            <p:ph type="title"/>
          </p:nvPr>
        </p:nvSpPr>
        <p:spPr>
          <a:xfrm>
            <a:off x="470371" y="133352"/>
            <a:ext cx="7600956" cy="601574"/>
          </a:xfrm>
          <a:prstGeom prst="rect">
            <a:avLst/>
          </a:prstGeom>
        </p:spPr>
        <p:txBody>
          <a:bodyPr vert="horz" wrap="square" lIns="0" tIns="108076" rIns="0" bIns="0" rtlCol="0">
            <a:spAutoFit/>
          </a:bodyPr>
          <a:lstStyle/>
          <a:p>
            <a:pPr marL="221620">
              <a:spcBef>
                <a:spcPts val="100"/>
              </a:spcBef>
            </a:pPr>
            <a:r>
              <a:rPr dirty="0"/>
              <a:t>Absorption</a:t>
            </a:r>
            <a:r>
              <a:rPr spc="-50" dirty="0"/>
              <a:t> </a:t>
            </a:r>
            <a:r>
              <a:rPr dirty="0"/>
              <a:t>in</a:t>
            </a:r>
            <a:r>
              <a:rPr spc="-20" dirty="0"/>
              <a:t> </a:t>
            </a:r>
            <a:r>
              <a:rPr spc="-10" dirty="0"/>
              <a:t>Liquids</a:t>
            </a:r>
          </a:p>
        </p:txBody>
      </p:sp>
      <p:sp>
        <p:nvSpPr>
          <p:cNvPr id="3" name="object 3"/>
          <p:cNvSpPr txBox="1"/>
          <p:nvPr/>
        </p:nvSpPr>
        <p:spPr>
          <a:xfrm>
            <a:off x="698094" y="1199515"/>
            <a:ext cx="10650855" cy="4753481"/>
          </a:xfrm>
          <a:prstGeom prst="rect">
            <a:avLst/>
          </a:prstGeom>
        </p:spPr>
        <p:txBody>
          <a:bodyPr vert="horz" wrap="square" lIns="0" tIns="12065" rIns="0" bIns="0" rtlCol="0">
            <a:spAutoFit/>
          </a:bodyPr>
          <a:lstStyle/>
          <a:p>
            <a:pPr marL="240671" indent="-227971">
              <a:spcBef>
                <a:spcPts val="95"/>
              </a:spcBef>
              <a:buChar char="•"/>
              <a:tabLst>
                <a:tab pos="240671" algn="l"/>
              </a:tabLst>
            </a:pPr>
            <a:r>
              <a:rPr sz="2201" dirty="0">
                <a:latin typeface="Arial MT"/>
                <a:cs typeface="Arial MT"/>
              </a:rPr>
              <a:t>Probably</a:t>
            </a:r>
            <a:r>
              <a:rPr sz="2201" spc="-55" dirty="0">
                <a:latin typeface="Arial MT"/>
                <a:cs typeface="Arial MT"/>
              </a:rPr>
              <a:t> </a:t>
            </a:r>
            <a:r>
              <a:rPr sz="2201" dirty="0">
                <a:latin typeface="Arial MT"/>
                <a:cs typeface="Arial MT"/>
              </a:rPr>
              <a:t>the</a:t>
            </a:r>
            <a:r>
              <a:rPr sz="2201" spc="-55" dirty="0">
                <a:latin typeface="Arial MT"/>
                <a:cs typeface="Arial MT"/>
              </a:rPr>
              <a:t> </a:t>
            </a:r>
            <a:r>
              <a:rPr sz="2201" dirty="0">
                <a:latin typeface="Arial MT"/>
                <a:cs typeface="Arial MT"/>
              </a:rPr>
              <a:t>most</a:t>
            </a:r>
            <a:r>
              <a:rPr sz="2201" spc="-41" dirty="0">
                <a:latin typeface="Arial MT"/>
                <a:cs typeface="Arial MT"/>
              </a:rPr>
              <a:t> </a:t>
            </a:r>
            <a:r>
              <a:rPr sz="2201" dirty="0">
                <a:latin typeface="Arial MT"/>
                <a:cs typeface="Arial MT"/>
              </a:rPr>
              <a:t>widely</a:t>
            </a:r>
            <a:r>
              <a:rPr sz="2201" spc="-50" dirty="0">
                <a:latin typeface="Arial MT"/>
                <a:cs typeface="Arial MT"/>
              </a:rPr>
              <a:t> </a:t>
            </a:r>
            <a:r>
              <a:rPr sz="2201" dirty="0">
                <a:latin typeface="Arial MT"/>
                <a:cs typeface="Arial MT"/>
              </a:rPr>
              <a:t>used</a:t>
            </a:r>
            <a:r>
              <a:rPr sz="2201" spc="-55" dirty="0">
                <a:latin typeface="Arial MT"/>
                <a:cs typeface="Arial MT"/>
              </a:rPr>
              <a:t> </a:t>
            </a:r>
            <a:r>
              <a:rPr sz="2201" dirty="0">
                <a:latin typeface="Arial MT"/>
                <a:cs typeface="Arial MT"/>
              </a:rPr>
              <a:t>collector</a:t>
            </a:r>
            <a:r>
              <a:rPr sz="2201" spc="-60" dirty="0">
                <a:latin typeface="Arial MT"/>
                <a:cs typeface="Arial MT"/>
              </a:rPr>
              <a:t> </a:t>
            </a:r>
            <a:r>
              <a:rPr sz="2201" dirty="0">
                <a:latin typeface="Arial MT"/>
                <a:cs typeface="Arial MT"/>
              </a:rPr>
              <a:t>is</a:t>
            </a:r>
            <a:r>
              <a:rPr sz="2201" spc="-55" dirty="0">
                <a:latin typeface="Arial MT"/>
                <a:cs typeface="Arial MT"/>
              </a:rPr>
              <a:t> </a:t>
            </a:r>
            <a:r>
              <a:rPr sz="2201" dirty="0">
                <a:latin typeface="Arial MT"/>
                <a:cs typeface="Arial MT"/>
              </a:rPr>
              <a:t>the</a:t>
            </a:r>
            <a:r>
              <a:rPr sz="2201" spc="-5" dirty="0">
                <a:latin typeface="Arial MT"/>
                <a:cs typeface="Arial MT"/>
              </a:rPr>
              <a:t> </a:t>
            </a:r>
            <a:r>
              <a:rPr sz="2201" spc="-10" dirty="0">
                <a:solidFill>
                  <a:srgbClr val="FF0000"/>
                </a:solidFill>
                <a:latin typeface="Arial MT"/>
                <a:cs typeface="Arial MT"/>
              </a:rPr>
              <a:t>impinger.</a:t>
            </a:r>
            <a:endParaRPr sz="2201" dirty="0">
              <a:latin typeface="Arial MT"/>
              <a:cs typeface="Arial MT"/>
            </a:endParaRPr>
          </a:p>
          <a:p>
            <a:pPr marL="240671" indent="-227971">
              <a:spcBef>
                <a:spcPts val="2051"/>
              </a:spcBef>
              <a:buChar char="•"/>
              <a:tabLst>
                <a:tab pos="240671" algn="l"/>
              </a:tabLst>
            </a:pPr>
            <a:r>
              <a:rPr sz="2201" dirty="0">
                <a:latin typeface="Arial MT"/>
                <a:cs typeface="Arial MT"/>
              </a:rPr>
              <a:t>In</a:t>
            </a:r>
            <a:r>
              <a:rPr sz="2201" spc="-60" dirty="0">
                <a:latin typeface="Arial MT"/>
                <a:cs typeface="Arial MT"/>
              </a:rPr>
              <a:t> </a:t>
            </a:r>
            <a:r>
              <a:rPr sz="2201" dirty="0">
                <a:latin typeface="Arial MT"/>
                <a:cs typeface="Arial MT"/>
              </a:rPr>
              <a:t>the</a:t>
            </a:r>
            <a:r>
              <a:rPr sz="2201" spc="-55" dirty="0">
                <a:latin typeface="Arial MT"/>
                <a:cs typeface="Arial MT"/>
              </a:rPr>
              <a:t> </a:t>
            </a:r>
            <a:r>
              <a:rPr sz="2201" spc="-10" dirty="0">
                <a:latin typeface="Arial MT"/>
                <a:cs typeface="Arial MT"/>
              </a:rPr>
              <a:t>impinger,</a:t>
            </a:r>
            <a:r>
              <a:rPr sz="2201" spc="-20" dirty="0">
                <a:latin typeface="Arial MT"/>
                <a:cs typeface="Arial MT"/>
              </a:rPr>
              <a:t> </a:t>
            </a:r>
            <a:r>
              <a:rPr sz="2201" dirty="0">
                <a:solidFill>
                  <a:srgbClr val="FF0000"/>
                </a:solidFill>
                <a:latin typeface="Arial MT"/>
                <a:cs typeface="Arial MT"/>
              </a:rPr>
              <a:t>the</a:t>
            </a:r>
            <a:r>
              <a:rPr sz="2201" spc="-55" dirty="0">
                <a:solidFill>
                  <a:srgbClr val="FF0000"/>
                </a:solidFill>
                <a:latin typeface="Arial MT"/>
                <a:cs typeface="Arial MT"/>
              </a:rPr>
              <a:t> </a:t>
            </a:r>
            <a:r>
              <a:rPr sz="2201" dirty="0">
                <a:solidFill>
                  <a:srgbClr val="FF0000"/>
                </a:solidFill>
                <a:latin typeface="Arial MT"/>
                <a:cs typeface="Arial MT"/>
              </a:rPr>
              <a:t>gas</a:t>
            </a:r>
            <a:r>
              <a:rPr sz="2201" spc="-55" dirty="0">
                <a:solidFill>
                  <a:srgbClr val="FF0000"/>
                </a:solidFill>
                <a:latin typeface="Arial MT"/>
                <a:cs typeface="Arial MT"/>
              </a:rPr>
              <a:t> </a:t>
            </a:r>
            <a:r>
              <a:rPr sz="2201" dirty="0">
                <a:solidFill>
                  <a:srgbClr val="FF0000"/>
                </a:solidFill>
                <a:latin typeface="Arial MT"/>
                <a:cs typeface="Arial MT"/>
              </a:rPr>
              <a:t>stream</a:t>
            </a:r>
            <a:r>
              <a:rPr sz="2201" spc="-46" dirty="0">
                <a:solidFill>
                  <a:srgbClr val="FF0000"/>
                </a:solidFill>
                <a:latin typeface="Arial MT"/>
                <a:cs typeface="Arial MT"/>
              </a:rPr>
              <a:t> </a:t>
            </a:r>
            <a:r>
              <a:rPr sz="2201" dirty="0">
                <a:solidFill>
                  <a:srgbClr val="FF0000"/>
                </a:solidFill>
                <a:latin typeface="Arial MT"/>
                <a:cs typeface="Arial MT"/>
              </a:rPr>
              <a:t>is</a:t>
            </a:r>
            <a:r>
              <a:rPr sz="2201" spc="-50" dirty="0">
                <a:solidFill>
                  <a:srgbClr val="FF0000"/>
                </a:solidFill>
                <a:latin typeface="Arial MT"/>
                <a:cs typeface="Arial MT"/>
              </a:rPr>
              <a:t> </a:t>
            </a:r>
            <a:r>
              <a:rPr sz="2201" dirty="0">
                <a:solidFill>
                  <a:srgbClr val="FF0000"/>
                </a:solidFill>
                <a:latin typeface="Arial MT"/>
                <a:cs typeface="Arial MT"/>
              </a:rPr>
              <a:t>impinged</a:t>
            </a:r>
            <a:r>
              <a:rPr sz="2201" spc="-60" dirty="0">
                <a:solidFill>
                  <a:srgbClr val="FF0000"/>
                </a:solidFill>
                <a:latin typeface="Arial MT"/>
                <a:cs typeface="Arial MT"/>
              </a:rPr>
              <a:t> </a:t>
            </a:r>
            <a:r>
              <a:rPr sz="2201" dirty="0">
                <a:solidFill>
                  <a:srgbClr val="FF0000"/>
                </a:solidFill>
                <a:latin typeface="Arial MT"/>
                <a:cs typeface="Arial MT"/>
              </a:rPr>
              <a:t>at</a:t>
            </a:r>
            <a:r>
              <a:rPr sz="2201" spc="-46" dirty="0">
                <a:solidFill>
                  <a:srgbClr val="FF0000"/>
                </a:solidFill>
                <a:latin typeface="Arial MT"/>
                <a:cs typeface="Arial MT"/>
              </a:rPr>
              <a:t> </a:t>
            </a:r>
            <a:r>
              <a:rPr sz="2201" dirty="0">
                <a:solidFill>
                  <a:srgbClr val="FF0000"/>
                </a:solidFill>
                <a:latin typeface="Arial MT"/>
                <a:cs typeface="Arial MT"/>
              </a:rPr>
              <a:t>high</a:t>
            </a:r>
            <a:r>
              <a:rPr sz="2201" spc="-55" dirty="0">
                <a:solidFill>
                  <a:srgbClr val="FF0000"/>
                </a:solidFill>
                <a:latin typeface="Arial MT"/>
                <a:cs typeface="Arial MT"/>
              </a:rPr>
              <a:t> </a:t>
            </a:r>
            <a:r>
              <a:rPr sz="2201" dirty="0">
                <a:solidFill>
                  <a:srgbClr val="FF0000"/>
                </a:solidFill>
                <a:latin typeface="Arial MT"/>
                <a:cs typeface="Arial MT"/>
              </a:rPr>
              <a:t>velocity</a:t>
            </a:r>
            <a:r>
              <a:rPr sz="2201" spc="-46" dirty="0">
                <a:solidFill>
                  <a:srgbClr val="FF0000"/>
                </a:solidFill>
                <a:latin typeface="Arial MT"/>
                <a:cs typeface="Arial MT"/>
              </a:rPr>
              <a:t> </a:t>
            </a:r>
            <a:r>
              <a:rPr sz="2201" dirty="0">
                <a:solidFill>
                  <a:srgbClr val="FF0000"/>
                </a:solidFill>
                <a:latin typeface="Arial MT"/>
                <a:cs typeface="Arial MT"/>
              </a:rPr>
              <a:t>onto</a:t>
            </a:r>
            <a:r>
              <a:rPr sz="2201" spc="-60" dirty="0">
                <a:solidFill>
                  <a:srgbClr val="FF0000"/>
                </a:solidFill>
                <a:latin typeface="Arial MT"/>
                <a:cs typeface="Arial MT"/>
              </a:rPr>
              <a:t> </a:t>
            </a:r>
            <a:r>
              <a:rPr sz="2201" dirty="0">
                <a:solidFill>
                  <a:srgbClr val="FF0000"/>
                </a:solidFill>
                <a:latin typeface="Arial MT"/>
                <a:cs typeface="Arial MT"/>
              </a:rPr>
              <a:t>a</a:t>
            </a:r>
            <a:r>
              <a:rPr sz="2201" spc="-55" dirty="0">
                <a:solidFill>
                  <a:srgbClr val="FF0000"/>
                </a:solidFill>
                <a:latin typeface="Arial MT"/>
                <a:cs typeface="Arial MT"/>
              </a:rPr>
              <a:t> </a:t>
            </a:r>
            <a:r>
              <a:rPr sz="2201" dirty="0">
                <a:solidFill>
                  <a:srgbClr val="FF0000"/>
                </a:solidFill>
                <a:latin typeface="Arial MT"/>
                <a:cs typeface="Arial MT"/>
              </a:rPr>
              <a:t>flat</a:t>
            </a:r>
            <a:r>
              <a:rPr sz="2201" spc="-55" dirty="0">
                <a:solidFill>
                  <a:srgbClr val="FF0000"/>
                </a:solidFill>
                <a:latin typeface="Arial MT"/>
                <a:cs typeface="Arial MT"/>
              </a:rPr>
              <a:t> </a:t>
            </a:r>
            <a:r>
              <a:rPr sz="2201" dirty="0">
                <a:solidFill>
                  <a:srgbClr val="FF0000"/>
                </a:solidFill>
                <a:latin typeface="Arial MT"/>
                <a:cs typeface="Arial MT"/>
              </a:rPr>
              <a:t>surface</a:t>
            </a:r>
            <a:r>
              <a:rPr sz="2201" spc="-50" dirty="0">
                <a:solidFill>
                  <a:srgbClr val="FF0000"/>
                </a:solidFill>
                <a:latin typeface="Arial MT"/>
                <a:cs typeface="Arial MT"/>
              </a:rPr>
              <a:t> </a:t>
            </a:r>
            <a:r>
              <a:rPr sz="2201" spc="-20" dirty="0">
                <a:solidFill>
                  <a:srgbClr val="FF0000"/>
                </a:solidFill>
                <a:latin typeface="Arial MT"/>
                <a:cs typeface="Arial MT"/>
              </a:rPr>
              <a:t>thus</a:t>
            </a:r>
            <a:endParaRPr sz="2201" dirty="0">
              <a:latin typeface="Arial MT"/>
              <a:cs typeface="Arial MT"/>
            </a:endParaRPr>
          </a:p>
          <a:p>
            <a:pPr marL="241306">
              <a:spcBef>
                <a:spcPts val="1060"/>
              </a:spcBef>
            </a:pPr>
            <a:r>
              <a:rPr sz="2201" dirty="0">
                <a:solidFill>
                  <a:srgbClr val="FF0000"/>
                </a:solidFill>
                <a:latin typeface="Arial MT"/>
                <a:cs typeface="Arial MT"/>
              </a:rPr>
              <a:t>providing</a:t>
            </a:r>
            <a:r>
              <a:rPr sz="2201" spc="-60" dirty="0">
                <a:solidFill>
                  <a:srgbClr val="FF0000"/>
                </a:solidFill>
                <a:latin typeface="Arial MT"/>
                <a:cs typeface="Arial MT"/>
              </a:rPr>
              <a:t> </a:t>
            </a:r>
            <a:r>
              <a:rPr sz="2201" dirty="0">
                <a:solidFill>
                  <a:srgbClr val="FF0000"/>
                </a:solidFill>
                <a:latin typeface="Arial MT"/>
                <a:cs typeface="Arial MT"/>
              </a:rPr>
              <a:t>good</a:t>
            </a:r>
            <a:r>
              <a:rPr sz="2201" spc="-65" dirty="0">
                <a:solidFill>
                  <a:srgbClr val="FF0000"/>
                </a:solidFill>
                <a:latin typeface="Arial MT"/>
                <a:cs typeface="Arial MT"/>
              </a:rPr>
              <a:t> </a:t>
            </a:r>
            <a:r>
              <a:rPr sz="2201" dirty="0">
                <a:solidFill>
                  <a:srgbClr val="FF0000"/>
                </a:solidFill>
                <a:latin typeface="Arial MT"/>
                <a:cs typeface="Arial MT"/>
              </a:rPr>
              <a:t>contact</a:t>
            </a:r>
            <a:r>
              <a:rPr sz="2201" spc="-65" dirty="0">
                <a:solidFill>
                  <a:srgbClr val="FF0000"/>
                </a:solidFill>
                <a:latin typeface="Arial MT"/>
                <a:cs typeface="Arial MT"/>
              </a:rPr>
              <a:t> </a:t>
            </a:r>
            <a:r>
              <a:rPr sz="2201" dirty="0">
                <a:solidFill>
                  <a:srgbClr val="FF0000"/>
                </a:solidFill>
                <a:latin typeface="Arial MT"/>
                <a:cs typeface="Arial MT"/>
              </a:rPr>
              <a:t>between</a:t>
            </a:r>
            <a:r>
              <a:rPr sz="2201" spc="-55" dirty="0">
                <a:solidFill>
                  <a:srgbClr val="FF0000"/>
                </a:solidFill>
                <a:latin typeface="Arial MT"/>
                <a:cs typeface="Arial MT"/>
              </a:rPr>
              <a:t> </a:t>
            </a:r>
            <a:r>
              <a:rPr sz="2201" dirty="0">
                <a:solidFill>
                  <a:srgbClr val="FF0000"/>
                </a:solidFill>
                <a:latin typeface="Arial MT"/>
                <a:cs typeface="Arial MT"/>
              </a:rPr>
              <a:t>the</a:t>
            </a:r>
            <a:r>
              <a:rPr sz="2201" spc="-70" dirty="0">
                <a:solidFill>
                  <a:srgbClr val="FF0000"/>
                </a:solidFill>
                <a:latin typeface="Arial MT"/>
                <a:cs typeface="Arial MT"/>
              </a:rPr>
              <a:t> </a:t>
            </a:r>
            <a:r>
              <a:rPr sz="2201" dirty="0">
                <a:solidFill>
                  <a:srgbClr val="FF0000"/>
                </a:solidFill>
                <a:latin typeface="Arial MT"/>
                <a:cs typeface="Arial MT"/>
              </a:rPr>
              <a:t>gas</a:t>
            </a:r>
            <a:r>
              <a:rPr sz="2201" spc="-65" dirty="0">
                <a:solidFill>
                  <a:srgbClr val="FF0000"/>
                </a:solidFill>
                <a:latin typeface="Arial MT"/>
                <a:cs typeface="Arial MT"/>
              </a:rPr>
              <a:t> </a:t>
            </a:r>
            <a:r>
              <a:rPr sz="2201" dirty="0">
                <a:solidFill>
                  <a:srgbClr val="FF0000"/>
                </a:solidFill>
                <a:latin typeface="Arial MT"/>
                <a:cs typeface="Arial MT"/>
              </a:rPr>
              <a:t>and</a:t>
            </a:r>
            <a:r>
              <a:rPr sz="2201" spc="-75" dirty="0">
                <a:solidFill>
                  <a:srgbClr val="FF0000"/>
                </a:solidFill>
                <a:latin typeface="Arial MT"/>
                <a:cs typeface="Arial MT"/>
              </a:rPr>
              <a:t> </a:t>
            </a:r>
            <a:r>
              <a:rPr sz="2201" dirty="0">
                <a:solidFill>
                  <a:srgbClr val="FF0000"/>
                </a:solidFill>
                <a:latin typeface="Arial MT"/>
                <a:cs typeface="Arial MT"/>
              </a:rPr>
              <a:t>the</a:t>
            </a:r>
            <a:r>
              <a:rPr sz="2201" spc="-70" dirty="0">
                <a:solidFill>
                  <a:srgbClr val="FF0000"/>
                </a:solidFill>
                <a:latin typeface="Arial MT"/>
                <a:cs typeface="Arial MT"/>
              </a:rPr>
              <a:t> </a:t>
            </a:r>
            <a:r>
              <a:rPr sz="2201" spc="-10" dirty="0">
                <a:solidFill>
                  <a:srgbClr val="FF0000"/>
                </a:solidFill>
                <a:latin typeface="Arial MT"/>
                <a:cs typeface="Arial MT"/>
              </a:rPr>
              <a:t>liquid.</a:t>
            </a:r>
            <a:endParaRPr sz="2201" dirty="0">
              <a:latin typeface="Arial MT"/>
              <a:cs typeface="Arial MT"/>
            </a:endParaRPr>
          </a:p>
          <a:p>
            <a:pPr marL="240671" indent="-227971">
              <a:spcBef>
                <a:spcPts val="2065"/>
              </a:spcBef>
              <a:buChar char="•"/>
              <a:tabLst>
                <a:tab pos="240671" algn="l"/>
              </a:tabLst>
            </a:pPr>
            <a:r>
              <a:rPr sz="2201" dirty="0">
                <a:solidFill>
                  <a:srgbClr val="FF0000"/>
                </a:solidFill>
                <a:latin typeface="Arial MT"/>
                <a:cs typeface="Arial MT"/>
              </a:rPr>
              <a:t>The</a:t>
            </a:r>
            <a:r>
              <a:rPr sz="2201" spc="-34" dirty="0">
                <a:solidFill>
                  <a:srgbClr val="FF0000"/>
                </a:solidFill>
                <a:latin typeface="Arial MT"/>
                <a:cs typeface="Arial MT"/>
              </a:rPr>
              <a:t> </a:t>
            </a:r>
            <a:r>
              <a:rPr sz="2201" dirty="0">
                <a:solidFill>
                  <a:srgbClr val="FF0000"/>
                </a:solidFill>
                <a:latin typeface="Arial MT"/>
                <a:cs typeface="Arial MT"/>
              </a:rPr>
              <a:t>flat</a:t>
            </a:r>
            <a:r>
              <a:rPr sz="2201" spc="-55" dirty="0">
                <a:solidFill>
                  <a:srgbClr val="FF0000"/>
                </a:solidFill>
                <a:latin typeface="Arial MT"/>
                <a:cs typeface="Arial MT"/>
              </a:rPr>
              <a:t> </a:t>
            </a:r>
            <a:r>
              <a:rPr sz="2201" dirty="0">
                <a:solidFill>
                  <a:srgbClr val="FF0000"/>
                </a:solidFill>
                <a:latin typeface="Arial MT"/>
                <a:cs typeface="Arial MT"/>
              </a:rPr>
              <a:t>surface</a:t>
            </a:r>
            <a:r>
              <a:rPr sz="2201" spc="-41" dirty="0">
                <a:solidFill>
                  <a:srgbClr val="FF0000"/>
                </a:solidFill>
                <a:latin typeface="Arial MT"/>
                <a:cs typeface="Arial MT"/>
              </a:rPr>
              <a:t> </a:t>
            </a:r>
            <a:r>
              <a:rPr sz="2201" dirty="0">
                <a:solidFill>
                  <a:srgbClr val="FF0000"/>
                </a:solidFill>
                <a:latin typeface="Arial MT"/>
                <a:cs typeface="Arial MT"/>
              </a:rPr>
              <a:t>can</a:t>
            </a:r>
            <a:r>
              <a:rPr sz="2201" spc="-50" dirty="0">
                <a:solidFill>
                  <a:srgbClr val="FF0000"/>
                </a:solidFill>
                <a:latin typeface="Arial MT"/>
                <a:cs typeface="Arial MT"/>
              </a:rPr>
              <a:t> </a:t>
            </a:r>
            <a:r>
              <a:rPr sz="2201" dirty="0">
                <a:solidFill>
                  <a:srgbClr val="FF0000"/>
                </a:solidFill>
                <a:latin typeface="Arial MT"/>
                <a:cs typeface="Arial MT"/>
              </a:rPr>
              <a:t>be</a:t>
            </a:r>
            <a:r>
              <a:rPr sz="2201" spc="-50" dirty="0">
                <a:solidFill>
                  <a:srgbClr val="FF0000"/>
                </a:solidFill>
                <a:latin typeface="Arial MT"/>
                <a:cs typeface="Arial MT"/>
              </a:rPr>
              <a:t> </a:t>
            </a:r>
            <a:r>
              <a:rPr sz="2201" dirty="0">
                <a:solidFill>
                  <a:srgbClr val="FF0000"/>
                </a:solidFill>
                <a:latin typeface="Arial MT"/>
                <a:cs typeface="Arial MT"/>
              </a:rPr>
              <a:t>the</a:t>
            </a:r>
            <a:r>
              <a:rPr sz="2201" spc="-46" dirty="0">
                <a:solidFill>
                  <a:srgbClr val="FF0000"/>
                </a:solidFill>
                <a:latin typeface="Arial MT"/>
                <a:cs typeface="Arial MT"/>
              </a:rPr>
              <a:t> </a:t>
            </a:r>
            <a:r>
              <a:rPr sz="2201" dirty="0">
                <a:solidFill>
                  <a:srgbClr val="FF0000"/>
                </a:solidFill>
                <a:latin typeface="Arial MT"/>
                <a:cs typeface="Arial MT"/>
              </a:rPr>
              <a:t>bottom</a:t>
            </a:r>
            <a:r>
              <a:rPr sz="2201" spc="-30" dirty="0">
                <a:solidFill>
                  <a:srgbClr val="FF0000"/>
                </a:solidFill>
                <a:latin typeface="Arial MT"/>
                <a:cs typeface="Arial MT"/>
              </a:rPr>
              <a:t> </a:t>
            </a:r>
            <a:r>
              <a:rPr sz="2201" dirty="0">
                <a:solidFill>
                  <a:srgbClr val="FF0000"/>
                </a:solidFill>
                <a:latin typeface="Arial MT"/>
                <a:cs typeface="Arial MT"/>
              </a:rPr>
              <a:t>of</a:t>
            </a:r>
            <a:r>
              <a:rPr sz="2201" spc="-50" dirty="0">
                <a:solidFill>
                  <a:srgbClr val="FF0000"/>
                </a:solidFill>
                <a:latin typeface="Arial MT"/>
                <a:cs typeface="Arial MT"/>
              </a:rPr>
              <a:t> </a:t>
            </a:r>
            <a:r>
              <a:rPr sz="2201" dirty="0">
                <a:solidFill>
                  <a:srgbClr val="FF0000"/>
                </a:solidFill>
                <a:latin typeface="Arial MT"/>
                <a:cs typeface="Arial MT"/>
              </a:rPr>
              <a:t>the</a:t>
            </a:r>
            <a:r>
              <a:rPr sz="2201" spc="-50" dirty="0">
                <a:solidFill>
                  <a:srgbClr val="FF0000"/>
                </a:solidFill>
                <a:latin typeface="Arial MT"/>
                <a:cs typeface="Arial MT"/>
              </a:rPr>
              <a:t> </a:t>
            </a:r>
            <a:r>
              <a:rPr sz="2201" dirty="0">
                <a:solidFill>
                  <a:srgbClr val="FF0000"/>
                </a:solidFill>
                <a:latin typeface="Arial MT"/>
                <a:cs typeface="Arial MT"/>
              </a:rPr>
              <a:t>collector</a:t>
            </a:r>
            <a:r>
              <a:rPr sz="2201" spc="-50" dirty="0">
                <a:solidFill>
                  <a:srgbClr val="FF0000"/>
                </a:solidFill>
                <a:latin typeface="Arial MT"/>
                <a:cs typeface="Arial MT"/>
              </a:rPr>
              <a:t> </a:t>
            </a:r>
            <a:r>
              <a:rPr sz="2201" dirty="0">
                <a:solidFill>
                  <a:srgbClr val="FF0000"/>
                </a:solidFill>
                <a:latin typeface="Arial MT"/>
                <a:cs typeface="Arial MT"/>
              </a:rPr>
              <a:t>or</a:t>
            </a:r>
            <a:r>
              <a:rPr sz="2201" spc="-46" dirty="0">
                <a:solidFill>
                  <a:srgbClr val="FF0000"/>
                </a:solidFill>
                <a:latin typeface="Arial MT"/>
                <a:cs typeface="Arial MT"/>
              </a:rPr>
              <a:t> </a:t>
            </a:r>
            <a:r>
              <a:rPr sz="2201" dirty="0">
                <a:solidFill>
                  <a:srgbClr val="FF0000"/>
                </a:solidFill>
                <a:latin typeface="Arial MT"/>
                <a:cs typeface="Arial MT"/>
              </a:rPr>
              <a:t>a</a:t>
            </a:r>
            <a:r>
              <a:rPr sz="2201" spc="-55" dirty="0">
                <a:solidFill>
                  <a:srgbClr val="FF0000"/>
                </a:solidFill>
                <a:latin typeface="Arial MT"/>
                <a:cs typeface="Arial MT"/>
              </a:rPr>
              <a:t> </a:t>
            </a:r>
            <a:r>
              <a:rPr sz="2201" dirty="0">
                <a:solidFill>
                  <a:srgbClr val="FF0000"/>
                </a:solidFill>
                <a:latin typeface="Arial MT"/>
                <a:cs typeface="Arial MT"/>
              </a:rPr>
              <a:t>specially</a:t>
            </a:r>
            <a:r>
              <a:rPr sz="2201" spc="-65" dirty="0">
                <a:solidFill>
                  <a:srgbClr val="FF0000"/>
                </a:solidFill>
                <a:latin typeface="Arial MT"/>
                <a:cs typeface="Arial MT"/>
              </a:rPr>
              <a:t> </a:t>
            </a:r>
            <a:r>
              <a:rPr sz="2201" dirty="0">
                <a:solidFill>
                  <a:srgbClr val="FF0000"/>
                </a:solidFill>
                <a:latin typeface="Arial MT"/>
                <a:cs typeface="Arial MT"/>
              </a:rPr>
              <a:t>designed</a:t>
            </a:r>
            <a:r>
              <a:rPr sz="2201" spc="-41" dirty="0">
                <a:solidFill>
                  <a:srgbClr val="FF0000"/>
                </a:solidFill>
                <a:latin typeface="Arial MT"/>
                <a:cs typeface="Arial MT"/>
              </a:rPr>
              <a:t> </a:t>
            </a:r>
            <a:r>
              <a:rPr sz="2201" spc="-10" dirty="0">
                <a:solidFill>
                  <a:srgbClr val="FF0000"/>
                </a:solidFill>
                <a:latin typeface="Arial MT"/>
                <a:cs typeface="Arial MT"/>
              </a:rPr>
              <a:t>plate.</a:t>
            </a:r>
            <a:endParaRPr sz="2201" dirty="0">
              <a:latin typeface="Arial MT"/>
              <a:cs typeface="Arial MT"/>
            </a:endParaRPr>
          </a:p>
          <a:p>
            <a:pPr marL="240671" indent="-227971">
              <a:spcBef>
                <a:spcPts val="2051"/>
              </a:spcBef>
              <a:buChar char="•"/>
              <a:tabLst>
                <a:tab pos="240671" algn="l"/>
              </a:tabLst>
            </a:pPr>
            <a:r>
              <a:rPr sz="2201" dirty="0">
                <a:latin typeface="Arial MT"/>
                <a:cs typeface="Arial MT"/>
              </a:rPr>
              <a:t>The</a:t>
            </a:r>
            <a:r>
              <a:rPr sz="2201" spc="-46" dirty="0">
                <a:latin typeface="Arial MT"/>
                <a:cs typeface="Arial MT"/>
              </a:rPr>
              <a:t> </a:t>
            </a:r>
            <a:r>
              <a:rPr sz="2201" dirty="0">
                <a:latin typeface="Arial MT"/>
                <a:cs typeface="Arial MT"/>
              </a:rPr>
              <a:t>common</a:t>
            </a:r>
            <a:r>
              <a:rPr sz="2201" spc="-34" dirty="0">
                <a:latin typeface="Arial MT"/>
                <a:cs typeface="Arial MT"/>
              </a:rPr>
              <a:t> </a:t>
            </a:r>
            <a:r>
              <a:rPr sz="2201" dirty="0">
                <a:latin typeface="Arial MT"/>
                <a:cs typeface="Arial MT"/>
              </a:rPr>
              <a:t>impingers</a:t>
            </a:r>
            <a:r>
              <a:rPr sz="2201" spc="-46" dirty="0">
                <a:latin typeface="Arial MT"/>
                <a:cs typeface="Arial MT"/>
              </a:rPr>
              <a:t> </a:t>
            </a:r>
            <a:r>
              <a:rPr sz="2201" dirty="0">
                <a:latin typeface="Arial MT"/>
                <a:cs typeface="Arial MT"/>
              </a:rPr>
              <a:t>are</a:t>
            </a:r>
            <a:r>
              <a:rPr sz="2201" spc="-60" dirty="0">
                <a:latin typeface="Arial MT"/>
                <a:cs typeface="Arial MT"/>
              </a:rPr>
              <a:t> </a:t>
            </a:r>
            <a:r>
              <a:rPr sz="2201" dirty="0">
                <a:latin typeface="Arial MT"/>
                <a:cs typeface="Arial MT"/>
              </a:rPr>
              <a:t>the</a:t>
            </a:r>
            <a:r>
              <a:rPr sz="2201" spc="-10" dirty="0">
                <a:latin typeface="Arial MT"/>
                <a:cs typeface="Arial MT"/>
              </a:rPr>
              <a:t> </a:t>
            </a:r>
            <a:r>
              <a:rPr sz="2201" spc="-20" dirty="0">
                <a:solidFill>
                  <a:srgbClr val="FF0000"/>
                </a:solidFill>
                <a:latin typeface="Arial MT"/>
                <a:cs typeface="Arial MT"/>
              </a:rPr>
              <a:t>Greenburg-</a:t>
            </a:r>
            <a:r>
              <a:rPr sz="2201" dirty="0">
                <a:solidFill>
                  <a:srgbClr val="FF0000"/>
                </a:solidFill>
                <a:latin typeface="Arial MT"/>
                <a:cs typeface="Arial MT"/>
              </a:rPr>
              <a:t>Smith</a:t>
            </a:r>
            <a:r>
              <a:rPr sz="2201" spc="-20" dirty="0">
                <a:solidFill>
                  <a:srgbClr val="FF0000"/>
                </a:solidFill>
                <a:latin typeface="Arial MT"/>
                <a:cs typeface="Arial MT"/>
              </a:rPr>
              <a:t> </a:t>
            </a:r>
            <a:r>
              <a:rPr sz="2201" dirty="0">
                <a:latin typeface="Arial MT"/>
                <a:cs typeface="Arial MT"/>
              </a:rPr>
              <a:t>and</a:t>
            </a:r>
            <a:r>
              <a:rPr sz="2201" spc="-55" dirty="0">
                <a:latin typeface="Arial MT"/>
                <a:cs typeface="Arial MT"/>
              </a:rPr>
              <a:t> </a:t>
            </a:r>
            <a:r>
              <a:rPr sz="2201" dirty="0">
                <a:solidFill>
                  <a:srgbClr val="FF0000"/>
                </a:solidFill>
                <a:latin typeface="Arial MT"/>
                <a:cs typeface="Arial MT"/>
              </a:rPr>
              <a:t>the</a:t>
            </a:r>
            <a:r>
              <a:rPr sz="2201" spc="-50" dirty="0">
                <a:solidFill>
                  <a:srgbClr val="FF0000"/>
                </a:solidFill>
                <a:latin typeface="Arial MT"/>
                <a:cs typeface="Arial MT"/>
              </a:rPr>
              <a:t> </a:t>
            </a:r>
            <a:r>
              <a:rPr sz="2201" dirty="0">
                <a:solidFill>
                  <a:srgbClr val="FF0000"/>
                </a:solidFill>
                <a:latin typeface="Arial MT"/>
                <a:cs typeface="Arial MT"/>
              </a:rPr>
              <a:t>midget</a:t>
            </a:r>
            <a:r>
              <a:rPr sz="2201" spc="-46" dirty="0">
                <a:solidFill>
                  <a:srgbClr val="FF0000"/>
                </a:solidFill>
                <a:latin typeface="Arial MT"/>
                <a:cs typeface="Arial MT"/>
              </a:rPr>
              <a:t> </a:t>
            </a:r>
            <a:r>
              <a:rPr sz="2201" spc="-10" dirty="0">
                <a:solidFill>
                  <a:srgbClr val="FF0000"/>
                </a:solidFill>
                <a:latin typeface="Arial MT"/>
                <a:cs typeface="Arial MT"/>
              </a:rPr>
              <a:t>types</a:t>
            </a:r>
            <a:r>
              <a:rPr sz="2201" spc="-10" dirty="0">
                <a:latin typeface="Arial MT"/>
                <a:cs typeface="Arial MT"/>
              </a:rPr>
              <a:t>.</a:t>
            </a:r>
            <a:endParaRPr sz="2201" dirty="0">
              <a:latin typeface="Arial MT"/>
              <a:cs typeface="Arial MT"/>
            </a:endParaRPr>
          </a:p>
          <a:p>
            <a:pPr marL="241306" marR="582945" indent="-228606">
              <a:lnSpc>
                <a:spcPct val="140000"/>
              </a:lnSpc>
              <a:spcBef>
                <a:spcPts val="1001"/>
              </a:spcBef>
              <a:buChar char="•"/>
              <a:tabLst>
                <a:tab pos="241306" algn="l"/>
              </a:tabLst>
            </a:pPr>
            <a:r>
              <a:rPr sz="2201" dirty="0">
                <a:latin typeface="Arial MT"/>
                <a:cs typeface="Arial MT"/>
              </a:rPr>
              <a:t>These</a:t>
            </a:r>
            <a:r>
              <a:rPr sz="2201" spc="-46" dirty="0">
                <a:latin typeface="Arial MT"/>
                <a:cs typeface="Arial MT"/>
              </a:rPr>
              <a:t> </a:t>
            </a:r>
            <a:r>
              <a:rPr sz="2201" dirty="0">
                <a:latin typeface="Arial MT"/>
                <a:cs typeface="Arial MT"/>
              </a:rPr>
              <a:t>devices</a:t>
            </a:r>
            <a:r>
              <a:rPr sz="2201" spc="-50" dirty="0">
                <a:latin typeface="Arial MT"/>
                <a:cs typeface="Arial MT"/>
              </a:rPr>
              <a:t> </a:t>
            </a:r>
            <a:r>
              <a:rPr sz="2201" dirty="0">
                <a:latin typeface="Arial MT"/>
                <a:cs typeface="Arial MT"/>
              </a:rPr>
              <a:t>can</a:t>
            </a:r>
            <a:r>
              <a:rPr sz="2201" spc="-55" dirty="0">
                <a:latin typeface="Arial MT"/>
                <a:cs typeface="Arial MT"/>
              </a:rPr>
              <a:t> </a:t>
            </a:r>
            <a:r>
              <a:rPr sz="2201" dirty="0">
                <a:latin typeface="Arial MT"/>
                <a:cs typeface="Arial MT"/>
              </a:rPr>
              <a:t>handle</a:t>
            </a:r>
            <a:r>
              <a:rPr sz="2201" spc="-50" dirty="0">
                <a:latin typeface="Arial MT"/>
                <a:cs typeface="Arial MT"/>
              </a:rPr>
              <a:t> </a:t>
            </a:r>
            <a:r>
              <a:rPr sz="2201" dirty="0">
                <a:latin typeface="Arial MT"/>
                <a:cs typeface="Arial MT"/>
              </a:rPr>
              <a:t>sample</a:t>
            </a:r>
            <a:r>
              <a:rPr sz="2201" spc="-34" dirty="0">
                <a:latin typeface="Arial MT"/>
                <a:cs typeface="Arial MT"/>
              </a:rPr>
              <a:t> </a:t>
            </a:r>
            <a:r>
              <a:rPr sz="2201" dirty="0">
                <a:latin typeface="Arial MT"/>
                <a:cs typeface="Arial MT"/>
              </a:rPr>
              <a:t>flow</a:t>
            </a:r>
            <a:r>
              <a:rPr sz="2201" spc="-55" dirty="0">
                <a:latin typeface="Arial MT"/>
                <a:cs typeface="Arial MT"/>
              </a:rPr>
              <a:t> </a:t>
            </a:r>
            <a:r>
              <a:rPr sz="2201" dirty="0">
                <a:latin typeface="Arial MT"/>
                <a:cs typeface="Arial MT"/>
              </a:rPr>
              <a:t>rates</a:t>
            </a:r>
            <a:r>
              <a:rPr sz="2201" spc="-34" dirty="0">
                <a:latin typeface="Arial MT"/>
                <a:cs typeface="Arial MT"/>
              </a:rPr>
              <a:t> </a:t>
            </a:r>
            <a:r>
              <a:rPr sz="2201" dirty="0">
                <a:latin typeface="Arial MT"/>
                <a:cs typeface="Arial MT"/>
              </a:rPr>
              <a:t>of</a:t>
            </a:r>
            <a:r>
              <a:rPr sz="2201" spc="-55" dirty="0">
                <a:latin typeface="Arial MT"/>
                <a:cs typeface="Arial MT"/>
              </a:rPr>
              <a:t> </a:t>
            </a:r>
            <a:r>
              <a:rPr sz="2201" dirty="0">
                <a:latin typeface="Arial MT"/>
                <a:cs typeface="Arial MT"/>
              </a:rPr>
              <a:t>about</a:t>
            </a:r>
            <a:r>
              <a:rPr sz="2201" spc="-50" dirty="0">
                <a:latin typeface="Arial MT"/>
                <a:cs typeface="Arial MT"/>
              </a:rPr>
              <a:t> </a:t>
            </a:r>
            <a:r>
              <a:rPr sz="2201" dirty="0">
                <a:latin typeface="Arial MT"/>
                <a:cs typeface="Arial MT"/>
              </a:rPr>
              <a:t>30</a:t>
            </a:r>
            <a:r>
              <a:rPr sz="2201" spc="-46" dirty="0">
                <a:latin typeface="Arial MT"/>
                <a:cs typeface="Arial MT"/>
              </a:rPr>
              <a:t> </a:t>
            </a:r>
            <a:r>
              <a:rPr sz="2201" dirty="0">
                <a:latin typeface="Arial MT"/>
                <a:cs typeface="Arial MT"/>
              </a:rPr>
              <a:t>and</a:t>
            </a:r>
            <a:r>
              <a:rPr sz="2201" spc="-41" dirty="0">
                <a:latin typeface="Arial MT"/>
                <a:cs typeface="Arial MT"/>
              </a:rPr>
              <a:t> </a:t>
            </a:r>
            <a:r>
              <a:rPr sz="2201" dirty="0">
                <a:latin typeface="Arial MT"/>
                <a:cs typeface="Arial MT"/>
              </a:rPr>
              <a:t>3</a:t>
            </a:r>
            <a:r>
              <a:rPr sz="2201" spc="-55" dirty="0">
                <a:latin typeface="Arial MT"/>
                <a:cs typeface="Arial MT"/>
              </a:rPr>
              <a:t> </a:t>
            </a:r>
            <a:r>
              <a:rPr sz="2201" dirty="0">
                <a:latin typeface="Arial MT"/>
                <a:cs typeface="Arial MT"/>
              </a:rPr>
              <a:t>litres</a:t>
            </a:r>
            <a:r>
              <a:rPr sz="2201" spc="-60" dirty="0">
                <a:latin typeface="Arial MT"/>
                <a:cs typeface="Arial MT"/>
              </a:rPr>
              <a:t> </a:t>
            </a:r>
            <a:r>
              <a:rPr sz="2201" dirty="0">
                <a:latin typeface="Arial MT"/>
                <a:cs typeface="Arial MT"/>
              </a:rPr>
              <a:t>per</a:t>
            </a:r>
            <a:r>
              <a:rPr sz="2201" spc="-41" dirty="0">
                <a:latin typeface="Arial MT"/>
                <a:cs typeface="Arial MT"/>
              </a:rPr>
              <a:t> </a:t>
            </a:r>
            <a:r>
              <a:rPr sz="2201" spc="-10" dirty="0">
                <a:latin typeface="Arial MT"/>
                <a:cs typeface="Arial MT"/>
              </a:rPr>
              <a:t>minute respectively.</a:t>
            </a:r>
            <a:endParaRPr sz="2201" dirty="0">
              <a:latin typeface="Arial MT"/>
              <a:cs typeface="Arial MT"/>
            </a:endParaRPr>
          </a:p>
          <a:p>
            <a:pPr marL="241306" marR="5081" indent="-228606">
              <a:lnSpc>
                <a:spcPct val="140000"/>
              </a:lnSpc>
              <a:spcBef>
                <a:spcPts val="1006"/>
              </a:spcBef>
              <a:buChar char="•"/>
              <a:tabLst>
                <a:tab pos="241306" algn="l"/>
              </a:tabLst>
            </a:pPr>
            <a:r>
              <a:rPr sz="2201" dirty="0">
                <a:latin typeface="Arial MT"/>
                <a:cs typeface="Arial MT"/>
              </a:rPr>
              <a:t>Impingers</a:t>
            </a:r>
            <a:r>
              <a:rPr sz="2201" spc="-46" dirty="0">
                <a:latin typeface="Arial MT"/>
                <a:cs typeface="Arial MT"/>
              </a:rPr>
              <a:t> </a:t>
            </a:r>
            <a:r>
              <a:rPr sz="2201" dirty="0">
                <a:latin typeface="Arial MT"/>
                <a:cs typeface="Arial MT"/>
              </a:rPr>
              <a:t>can</a:t>
            </a:r>
            <a:r>
              <a:rPr sz="2201" spc="-60" dirty="0">
                <a:latin typeface="Arial MT"/>
                <a:cs typeface="Arial MT"/>
              </a:rPr>
              <a:t> </a:t>
            </a:r>
            <a:r>
              <a:rPr sz="2201" dirty="0">
                <a:latin typeface="Arial MT"/>
                <a:cs typeface="Arial MT"/>
              </a:rPr>
              <a:t>collect</a:t>
            </a:r>
            <a:r>
              <a:rPr sz="2201" spc="-60" dirty="0">
                <a:latin typeface="Arial MT"/>
                <a:cs typeface="Arial MT"/>
              </a:rPr>
              <a:t> </a:t>
            </a:r>
            <a:r>
              <a:rPr sz="2201" dirty="0">
                <a:latin typeface="Arial MT"/>
                <a:cs typeface="Arial MT"/>
              </a:rPr>
              <a:t>gases</a:t>
            </a:r>
            <a:r>
              <a:rPr sz="2201" spc="-50" dirty="0">
                <a:latin typeface="Arial MT"/>
                <a:cs typeface="Arial MT"/>
              </a:rPr>
              <a:t> </a:t>
            </a:r>
            <a:r>
              <a:rPr sz="2201" dirty="0">
                <a:latin typeface="Arial MT"/>
                <a:cs typeface="Arial MT"/>
              </a:rPr>
              <a:t>with</a:t>
            </a:r>
            <a:r>
              <a:rPr sz="2201" spc="-50" dirty="0">
                <a:latin typeface="Arial MT"/>
                <a:cs typeface="Arial MT"/>
              </a:rPr>
              <a:t> </a:t>
            </a:r>
            <a:r>
              <a:rPr sz="2201" spc="-10" dirty="0">
                <a:latin typeface="Arial MT"/>
                <a:cs typeface="Arial MT"/>
              </a:rPr>
              <a:t>efficiencies</a:t>
            </a:r>
            <a:r>
              <a:rPr sz="2201" spc="-75" dirty="0">
                <a:latin typeface="Arial MT"/>
                <a:cs typeface="Arial MT"/>
              </a:rPr>
              <a:t> </a:t>
            </a:r>
            <a:r>
              <a:rPr sz="2201" dirty="0">
                <a:latin typeface="Arial MT"/>
                <a:cs typeface="Arial MT"/>
              </a:rPr>
              <a:t>often</a:t>
            </a:r>
            <a:r>
              <a:rPr sz="2201" spc="-60" dirty="0">
                <a:latin typeface="Arial MT"/>
                <a:cs typeface="Arial MT"/>
              </a:rPr>
              <a:t> </a:t>
            </a:r>
            <a:r>
              <a:rPr sz="2201" dirty="0">
                <a:latin typeface="Arial MT"/>
                <a:cs typeface="Arial MT"/>
              </a:rPr>
              <a:t>approaching</a:t>
            </a:r>
            <a:r>
              <a:rPr sz="2201" spc="-41" dirty="0">
                <a:latin typeface="Arial MT"/>
                <a:cs typeface="Arial MT"/>
              </a:rPr>
              <a:t> </a:t>
            </a:r>
            <a:r>
              <a:rPr sz="2201" dirty="0">
                <a:latin typeface="Arial MT"/>
                <a:cs typeface="Arial MT"/>
              </a:rPr>
              <a:t>those</a:t>
            </a:r>
            <a:r>
              <a:rPr sz="2201" spc="-50" dirty="0">
                <a:latin typeface="Arial MT"/>
                <a:cs typeface="Arial MT"/>
              </a:rPr>
              <a:t> </a:t>
            </a:r>
            <a:r>
              <a:rPr sz="2201" dirty="0">
                <a:latin typeface="Arial MT"/>
                <a:cs typeface="Arial MT"/>
              </a:rPr>
              <a:t>of</a:t>
            </a:r>
            <a:r>
              <a:rPr sz="2201" spc="-55" dirty="0">
                <a:latin typeface="Arial MT"/>
                <a:cs typeface="Arial MT"/>
              </a:rPr>
              <a:t> </a:t>
            </a:r>
            <a:r>
              <a:rPr sz="2201" spc="-10" dirty="0">
                <a:latin typeface="Arial MT"/>
                <a:cs typeface="Arial MT"/>
              </a:rPr>
              <a:t>fritted-glass </a:t>
            </a:r>
            <a:r>
              <a:rPr sz="2201" dirty="0">
                <a:latin typeface="Arial MT"/>
                <a:cs typeface="Arial MT"/>
              </a:rPr>
              <a:t>collectors</a:t>
            </a:r>
            <a:r>
              <a:rPr sz="2201" spc="-55" dirty="0">
                <a:latin typeface="Arial MT"/>
                <a:cs typeface="Arial MT"/>
              </a:rPr>
              <a:t> </a:t>
            </a:r>
            <a:r>
              <a:rPr sz="2201" dirty="0">
                <a:latin typeface="Arial MT"/>
                <a:cs typeface="Arial MT"/>
              </a:rPr>
              <a:t>and</a:t>
            </a:r>
            <a:r>
              <a:rPr sz="2201" spc="-46" dirty="0">
                <a:latin typeface="Arial MT"/>
                <a:cs typeface="Arial MT"/>
              </a:rPr>
              <a:t> </a:t>
            </a:r>
            <a:r>
              <a:rPr sz="2201" dirty="0">
                <a:latin typeface="Arial MT"/>
                <a:cs typeface="Arial MT"/>
              </a:rPr>
              <a:t>unlike</a:t>
            </a:r>
            <a:r>
              <a:rPr sz="2201" spc="-46" dirty="0">
                <a:latin typeface="Arial MT"/>
                <a:cs typeface="Arial MT"/>
              </a:rPr>
              <a:t> </a:t>
            </a:r>
            <a:r>
              <a:rPr sz="2201" dirty="0">
                <a:latin typeface="Arial MT"/>
                <a:cs typeface="Arial MT"/>
              </a:rPr>
              <a:t>the</a:t>
            </a:r>
            <a:r>
              <a:rPr sz="2201" spc="-41" dirty="0">
                <a:latin typeface="Arial MT"/>
                <a:cs typeface="Arial MT"/>
              </a:rPr>
              <a:t> </a:t>
            </a:r>
            <a:r>
              <a:rPr sz="2201" dirty="0">
                <a:latin typeface="Arial MT"/>
                <a:cs typeface="Arial MT"/>
              </a:rPr>
              <a:t>latter</a:t>
            </a:r>
            <a:r>
              <a:rPr sz="2201" spc="-50" dirty="0">
                <a:latin typeface="Arial MT"/>
                <a:cs typeface="Arial MT"/>
              </a:rPr>
              <a:t> </a:t>
            </a:r>
            <a:r>
              <a:rPr sz="2201" dirty="0">
                <a:latin typeface="Arial MT"/>
                <a:cs typeface="Arial MT"/>
              </a:rPr>
              <a:t>they</a:t>
            </a:r>
            <a:r>
              <a:rPr sz="2201" spc="-50" dirty="0">
                <a:latin typeface="Arial MT"/>
                <a:cs typeface="Arial MT"/>
              </a:rPr>
              <a:t> </a:t>
            </a:r>
            <a:r>
              <a:rPr sz="2201" dirty="0">
                <a:latin typeface="Arial MT"/>
                <a:cs typeface="Arial MT"/>
              </a:rPr>
              <a:t>are</a:t>
            </a:r>
            <a:r>
              <a:rPr sz="2201" spc="-41" dirty="0">
                <a:latin typeface="Arial MT"/>
                <a:cs typeface="Arial MT"/>
              </a:rPr>
              <a:t> </a:t>
            </a:r>
            <a:r>
              <a:rPr sz="2201" dirty="0">
                <a:latin typeface="Arial MT"/>
                <a:cs typeface="Arial MT"/>
              </a:rPr>
              <a:t>easy</a:t>
            </a:r>
            <a:r>
              <a:rPr sz="2201" spc="-50" dirty="0">
                <a:latin typeface="Arial MT"/>
                <a:cs typeface="Arial MT"/>
              </a:rPr>
              <a:t> </a:t>
            </a:r>
            <a:r>
              <a:rPr sz="2201" dirty="0">
                <a:latin typeface="Arial MT"/>
                <a:cs typeface="Arial MT"/>
              </a:rPr>
              <a:t>to</a:t>
            </a:r>
            <a:r>
              <a:rPr sz="2201" spc="-55" dirty="0">
                <a:latin typeface="Arial MT"/>
                <a:cs typeface="Arial MT"/>
              </a:rPr>
              <a:t> </a:t>
            </a:r>
            <a:r>
              <a:rPr sz="2201" dirty="0">
                <a:latin typeface="Arial MT"/>
                <a:cs typeface="Arial MT"/>
              </a:rPr>
              <a:t>clean</a:t>
            </a:r>
            <a:r>
              <a:rPr sz="2201" spc="-50" dirty="0">
                <a:latin typeface="Arial MT"/>
                <a:cs typeface="Arial MT"/>
              </a:rPr>
              <a:t> </a:t>
            </a:r>
            <a:r>
              <a:rPr sz="2201" dirty="0">
                <a:latin typeface="Arial MT"/>
                <a:cs typeface="Arial MT"/>
              </a:rPr>
              <a:t>and</a:t>
            </a:r>
            <a:r>
              <a:rPr sz="2201" spc="-46" dirty="0">
                <a:latin typeface="Arial MT"/>
                <a:cs typeface="Arial MT"/>
              </a:rPr>
              <a:t> </a:t>
            </a:r>
            <a:r>
              <a:rPr sz="2201" spc="-10" dirty="0">
                <a:latin typeface="Arial MT"/>
                <a:cs typeface="Arial MT"/>
              </a:rPr>
              <a:t>maintain.</a:t>
            </a:r>
            <a:endParaRPr sz="2201" dirty="0">
              <a:latin typeface="Arial MT"/>
              <a:cs typeface="Arial MT"/>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70371" y="133352"/>
            <a:ext cx="7600956" cy="601574"/>
          </a:xfrm>
          <a:prstGeom prst="rect">
            <a:avLst/>
          </a:prstGeom>
        </p:spPr>
        <p:txBody>
          <a:bodyPr vert="horz" wrap="square" lIns="0" tIns="108076" rIns="0" bIns="0" rtlCol="0">
            <a:spAutoFit/>
          </a:bodyPr>
          <a:lstStyle/>
          <a:p>
            <a:pPr marL="221620">
              <a:spcBef>
                <a:spcPts val="100"/>
              </a:spcBef>
            </a:pPr>
            <a:r>
              <a:rPr dirty="0"/>
              <a:t>Absorption</a:t>
            </a:r>
            <a:r>
              <a:rPr spc="-50" dirty="0"/>
              <a:t> </a:t>
            </a:r>
            <a:r>
              <a:rPr dirty="0"/>
              <a:t>in</a:t>
            </a:r>
            <a:r>
              <a:rPr spc="-20" dirty="0"/>
              <a:t> </a:t>
            </a:r>
            <a:r>
              <a:rPr spc="-10" dirty="0"/>
              <a:t>Liquids</a:t>
            </a:r>
          </a:p>
        </p:txBody>
      </p:sp>
      <p:pic>
        <p:nvPicPr>
          <p:cNvPr id="3" name="object 3"/>
          <p:cNvPicPr/>
          <p:nvPr/>
        </p:nvPicPr>
        <p:blipFill>
          <a:blip r:embed="rId3" cstate="print"/>
          <a:stretch>
            <a:fillRect/>
          </a:stretch>
        </p:blipFill>
        <p:spPr>
          <a:xfrm>
            <a:off x="1031748" y="1133855"/>
            <a:ext cx="5109972" cy="4803648"/>
          </a:xfrm>
          <a:prstGeom prst="rect">
            <a:avLst/>
          </a:prstGeom>
        </p:spPr>
      </p:pic>
      <p:pic>
        <p:nvPicPr>
          <p:cNvPr id="4" name="object 4"/>
          <p:cNvPicPr/>
          <p:nvPr/>
        </p:nvPicPr>
        <p:blipFill>
          <a:blip r:embed="rId4" cstate="print"/>
          <a:stretch>
            <a:fillRect/>
          </a:stretch>
        </p:blipFill>
        <p:spPr>
          <a:xfrm>
            <a:off x="8572502" y="943357"/>
            <a:ext cx="1143001" cy="4648201"/>
          </a:xfrm>
          <a:prstGeom prst="rect">
            <a:avLst/>
          </a:prstGeom>
        </p:spPr>
      </p:pic>
      <p:sp>
        <p:nvSpPr>
          <p:cNvPr id="5" name="object 5"/>
          <p:cNvSpPr txBox="1">
            <a:spLocks noGrp="1"/>
          </p:cNvSpPr>
          <p:nvPr>
            <p:ph type="sldNum" sz="quarter" idx="7"/>
          </p:nvPr>
        </p:nvSpPr>
        <p:spPr>
          <a:xfrm>
            <a:off x="8993409" y="6464911"/>
            <a:ext cx="198636" cy="156068"/>
          </a:xfrm>
          <a:prstGeom prst="rect">
            <a:avLst/>
          </a:prstGeom>
        </p:spPr>
        <p:txBody>
          <a:bodyPr vert="horz" wrap="square" lIns="0" tIns="0" rIns="0" bIns="0" rtlCol="0">
            <a:spAutoFit/>
          </a:bodyPr>
          <a:lstStyle/>
          <a:p>
            <a:pPr marL="38101">
              <a:lnSpc>
                <a:spcPts val="1239"/>
              </a:lnSpc>
            </a:pPr>
            <a:fld id="{81D60167-4931-47E6-BA6A-407CBD079E47}" type="slidenum">
              <a:rPr spc="-25" dirty="0"/>
              <a:pPr marL="38101">
                <a:lnSpc>
                  <a:spcPts val="1239"/>
                </a:lnSpc>
              </a:pPr>
              <a:t>19</a:t>
            </a:fld>
            <a:endParaRPr spc="-25"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xfrm>
            <a:off x="8993409" y="6464911"/>
            <a:ext cx="198636" cy="156068"/>
          </a:xfrm>
          <a:prstGeom prst="rect">
            <a:avLst/>
          </a:prstGeom>
        </p:spPr>
        <p:txBody>
          <a:bodyPr vert="horz" wrap="square" lIns="0" tIns="0" rIns="0" bIns="0" rtlCol="0">
            <a:spAutoFit/>
          </a:bodyPr>
          <a:lstStyle/>
          <a:p>
            <a:pPr marL="38101">
              <a:lnSpc>
                <a:spcPts val="1239"/>
              </a:lnSpc>
            </a:pPr>
            <a:fld id="{81D60167-4931-47E6-BA6A-407CBD079E47}" type="slidenum">
              <a:rPr spc="-25" dirty="0"/>
              <a:pPr marL="38101">
                <a:lnSpc>
                  <a:spcPts val="1239"/>
                </a:lnSpc>
              </a:pPr>
              <a:t>20</a:t>
            </a:fld>
            <a:endParaRPr spc="-25" dirty="0"/>
          </a:p>
        </p:txBody>
      </p:sp>
      <p:sp>
        <p:nvSpPr>
          <p:cNvPr id="2" name="object 2"/>
          <p:cNvSpPr txBox="1">
            <a:spLocks noGrp="1"/>
          </p:cNvSpPr>
          <p:nvPr>
            <p:ph type="title"/>
          </p:nvPr>
        </p:nvSpPr>
        <p:spPr>
          <a:xfrm>
            <a:off x="470371" y="133351"/>
            <a:ext cx="7600956" cy="960083"/>
          </a:xfrm>
          <a:prstGeom prst="rect">
            <a:avLst/>
          </a:prstGeom>
        </p:spPr>
        <p:txBody>
          <a:bodyPr vert="horz" wrap="square" lIns="0" tIns="463118" rIns="0" bIns="0" rtlCol="0">
            <a:spAutoFit/>
          </a:bodyPr>
          <a:lstStyle/>
          <a:p>
            <a:pPr marL="131448">
              <a:spcBef>
                <a:spcPts val="105"/>
              </a:spcBef>
            </a:pPr>
            <a:r>
              <a:rPr dirty="0"/>
              <a:t>Adsorption</a:t>
            </a:r>
            <a:r>
              <a:rPr spc="-60" dirty="0"/>
              <a:t> </a:t>
            </a:r>
            <a:r>
              <a:rPr dirty="0"/>
              <a:t>on</a:t>
            </a:r>
            <a:r>
              <a:rPr spc="-25" dirty="0"/>
              <a:t> </a:t>
            </a:r>
            <a:r>
              <a:rPr spc="-10" dirty="0"/>
              <a:t>Solids</a:t>
            </a:r>
          </a:p>
        </p:txBody>
      </p:sp>
      <p:sp>
        <p:nvSpPr>
          <p:cNvPr id="3" name="object 3"/>
          <p:cNvSpPr txBox="1"/>
          <p:nvPr/>
        </p:nvSpPr>
        <p:spPr>
          <a:xfrm>
            <a:off x="329590" y="1349076"/>
            <a:ext cx="10469246" cy="4074320"/>
          </a:xfrm>
          <a:prstGeom prst="rect">
            <a:avLst/>
          </a:prstGeom>
        </p:spPr>
        <p:txBody>
          <a:bodyPr vert="horz" wrap="square" lIns="0" tIns="196215" rIns="0" bIns="0" rtlCol="0">
            <a:spAutoFit/>
          </a:bodyPr>
          <a:lstStyle/>
          <a:p>
            <a:pPr marL="240036" indent="-227336">
              <a:spcBef>
                <a:spcPts val="1545"/>
              </a:spcBef>
              <a:buChar char="•"/>
              <a:tabLst>
                <a:tab pos="239400" algn="l"/>
              </a:tabLst>
            </a:pPr>
            <a:r>
              <a:rPr sz="2400" dirty="0">
                <a:latin typeface="Arial MT"/>
                <a:cs typeface="Arial MT"/>
              </a:rPr>
              <a:t>This</a:t>
            </a:r>
            <a:r>
              <a:rPr sz="2400" spc="-46" dirty="0">
                <a:latin typeface="Arial MT"/>
                <a:cs typeface="Arial MT"/>
              </a:rPr>
              <a:t> </a:t>
            </a:r>
            <a:r>
              <a:rPr sz="2400" dirty="0">
                <a:latin typeface="Arial MT"/>
                <a:cs typeface="Arial MT"/>
              </a:rPr>
              <a:t>method</a:t>
            </a:r>
            <a:r>
              <a:rPr sz="2400" spc="-50" dirty="0">
                <a:latin typeface="Arial MT"/>
                <a:cs typeface="Arial MT"/>
              </a:rPr>
              <a:t> </a:t>
            </a:r>
            <a:r>
              <a:rPr sz="2400" dirty="0">
                <a:latin typeface="Arial MT"/>
                <a:cs typeface="Arial MT"/>
              </a:rPr>
              <a:t>is</a:t>
            </a:r>
            <a:r>
              <a:rPr sz="2400" spc="-41" dirty="0">
                <a:latin typeface="Arial MT"/>
                <a:cs typeface="Arial MT"/>
              </a:rPr>
              <a:t> </a:t>
            </a:r>
            <a:r>
              <a:rPr sz="2400" dirty="0">
                <a:solidFill>
                  <a:srgbClr val="FF0000"/>
                </a:solidFill>
                <a:latin typeface="Arial MT"/>
                <a:cs typeface="Arial MT"/>
              </a:rPr>
              <a:t>based</a:t>
            </a:r>
            <a:r>
              <a:rPr sz="2400" spc="-41" dirty="0">
                <a:solidFill>
                  <a:srgbClr val="FF0000"/>
                </a:solidFill>
                <a:latin typeface="Arial MT"/>
                <a:cs typeface="Arial MT"/>
              </a:rPr>
              <a:t> </a:t>
            </a:r>
            <a:r>
              <a:rPr sz="2400" dirty="0">
                <a:solidFill>
                  <a:srgbClr val="FF0000"/>
                </a:solidFill>
                <a:latin typeface="Arial MT"/>
                <a:cs typeface="Arial MT"/>
              </a:rPr>
              <a:t>on</a:t>
            </a:r>
            <a:r>
              <a:rPr sz="2400" spc="-50" dirty="0">
                <a:solidFill>
                  <a:srgbClr val="FF0000"/>
                </a:solidFill>
                <a:latin typeface="Arial MT"/>
                <a:cs typeface="Arial MT"/>
              </a:rPr>
              <a:t> </a:t>
            </a:r>
            <a:r>
              <a:rPr sz="2400" dirty="0">
                <a:solidFill>
                  <a:srgbClr val="FF0000"/>
                </a:solidFill>
                <a:latin typeface="Arial MT"/>
                <a:cs typeface="Arial MT"/>
              </a:rPr>
              <a:t>the</a:t>
            </a:r>
            <a:r>
              <a:rPr sz="2400" spc="-50" dirty="0">
                <a:solidFill>
                  <a:srgbClr val="FF0000"/>
                </a:solidFill>
                <a:latin typeface="Arial MT"/>
                <a:cs typeface="Arial MT"/>
              </a:rPr>
              <a:t> </a:t>
            </a:r>
            <a:r>
              <a:rPr sz="2400" dirty="0">
                <a:solidFill>
                  <a:srgbClr val="FF0000"/>
                </a:solidFill>
                <a:latin typeface="Arial MT"/>
                <a:cs typeface="Arial MT"/>
              </a:rPr>
              <a:t>tendency</a:t>
            </a:r>
            <a:r>
              <a:rPr sz="2400" spc="-46" dirty="0">
                <a:solidFill>
                  <a:srgbClr val="FF0000"/>
                </a:solidFill>
                <a:latin typeface="Arial MT"/>
                <a:cs typeface="Arial MT"/>
              </a:rPr>
              <a:t> </a:t>
            </a:r>
            <a:r>
              <a:rPr sz="2400" dirty="0">
                <a:solidFill>
                  <a:srgbClr val="FF0000"/>
                </a:solidFill>
                <a:latin typeface="Arial MT"/>
                <a:cs typeface="Arial MT"/>
              </a:rPr>
              <a:t>of</a:t>
            </a:r>
            <a:r>
              <a:rPr sz="2400" spc="-50" dirty="0">
                <a:solidFill>
                  <a:srgbClr val="FF0000"/>
                </a:solidFill>
                <a:latin typeface="Arial MT"/>
                <a:cs typeface="Arial MT"/>
              </a:rPr>
              <a:t> </a:t>
            </a:r>
            <a:r>
              <a:rPr sz="2400" dirty="0">
                <a:solidFill>
                  <a:srgbClr val="FF0000"/>
                </a:solidFill>
                <a:latin typeface="Arial MT"/>
                <a:cs typeface="Arial MT"/>
              </a:rPr>
              <a:t>gases</a:t>
            </a:r>
            <a:r>
              <a:rPr sz="2400" spc="-41" dirty="0">
                <a:solidFill>
                  <a:srgbClr val="FF0000"/>
                </a:solidFill>
                <a:latin typeface="Arial MT"/>
                <a:cs typeface="Arial MT"/>
              </a:rPr>
              <a:t> </a:t>
            </a:r>
            <a:r>
              <a:rPr sz="2400" dirty="0">
                <a:solidFill>
                  <a:srgbClr val="FF0000"/>
                </a:solidFill>
                <a:latin typeface="Arial MT"/>
                <a:cs typeface="Arial MT"/>
              </a:rPr>
              <a:t>to</a:t>
            </a:r>
            <a:r>
              <a:rPr sz="2400" spc="-50" dirty="0">
                <a:solidFill>
                  <a:srgbClr val="FF0000"/>
                </a:solidFill>
                <a:latin typeface="Arial MT"/>
                <a:cs typeface="Arial MT"/>
              </a:rPr>
              <a:t> </a:t>
            </a:r>
            <a:r>
              <a:rPr sz="2400" dirty="0">
                <a:solidFill>
                  <a:srgbClr val="FF0000"/>
                </a:solidFill>
                <a:latin typeface="Arial MT"/>
                <a:cs typeface="Arial MT"/>
              </a:rPr>
              <a:t>be</a:t>
            </a:r>
            <a:r>
              <a:rPr sz="2400" spc="-55" dirty="0">
                <a:solidFill>
                  <a:srgbClr val="FF0000"/>
                </a:solidFill>
                <a:latin typeface="Arial MT"/>
                <a:cs typeface="Arial MT"/>
              </a:rPr>
              <a:t> </a:t>
            </a:r>
            <a:r>
              <a:rPr sz="2400" dirty="0">
                <a:solidFill>
                  <a:srgbClr val="FF0000"/>
                </a:solidFill>
                <a:latin typeface="Arial MT"/>
                <a:cs typeface="Arial MT"/>
              </a:rPr>
              <a:t>adsorbed</a:t>
            </a:r>
            <a:r>
              <a:rPr sz="2400" spc="-30" dirty="0">
                <a:solidFill>
                  <a:srgbClr val="FF0000"/>
                </a:solidFill>
                <a:latin typeface="Arial MT"/>
                <a:cs typeface="Arial MT"/>
              </a:rPr>
              <a:t> </a:t>
            </a:r>
            <a:r>
              <a:rPr sz="2400" dirty="0">
                <a:solidFill>
                  <a:srgbClr val="FF0000"/>
                </a:solidFill>
                <a:latin typeface="Arial MT"/>
                <a:cs typeface="Arial MT"/>
              </a:rPr>
              <a:t>on</a:t>
            </a:r>
            <a:r>
              <a:rPr sz="2400" spc="-50" dirty="0">
                <a:solidFill>
                  <a:srgbClr val="FF0000"/>
                </a:solidFill>
                <a:latin typeface="Arial MT"/>
                <a:cs typeface="Arial MT"/>
              </a:rPr>
              <a:t> </a:t>
            </a:r>
            <a:r>
              <a:rPr sz="2400" spc="-25" dirty="0">
                <a:solidFill>
                  <a:srgbClr val="FF0000"/>
                </a:solidFill>
                <a:latin typeface="Arial MT"/>
                <a:cs typeface="Arial MT"/>
              </a:rPr>
              <a:t>the</a:t>
            </a:r>
            <a:endParaRPr sz="2400" dirty="0">
              <a:latin typeface="Arial MT"/>
              <a:cs typeface="Arial MT"/>
            </a:endParaRPr>
          </a:p>
          <a:p>
            <a:pPr marL="241306">
              <a:spcBef>
                <a:spcPts val="1440"/>
              </a:spcBef>
            </a:pPr>
            <a:r>
              <a:rPr sz="2400" dirty="0">
                <a:solidFill>
                  <a:srgbClr val="FF0000"/>
                </a:solidFill>
                <a:latin typeface="Arial MT"/>
                <a:cs typeface="Arial MT"/>
              </a:rPr>
              <a:t>surface</a:t>
            </a:r>
            <a:r>
              <a:rPr sz="2400" spc="-60" dirty="0">
                <a:solidFill>
                  <a:srgbClr val="FF0000"/>
                </a:solidFill>
                <a:latin typeface="Arial MT"/>
                <a:cs typeface="Arial MT"/>
              </a:rPr>
              <a:t> </a:t>
            </a:r>
            <a:r>
              <a:rPr sz="2400" dirty="0">
                <a:solidFill>
                  <a:srgbClr val="FF0000"/>
                </a:solidFill>
                <a:latin typeface="Arial MT"/>
                <a:cs typeface="Arial MT"/>
              </a:rPr>
              <a:t>of</a:t>
            </a:r>
            <a:r>
              <a:rPr sz="2400" spc="-41" dirty="0">
                <a:solidFill>
                  <a:srgbClr val="FF0000"/>
                </a:solidFill>
                <a:latin typeface="Arial MT"/>
                <a:cs typeface="Arial MT"/>
              </a:rPr>
              <a:t> </a:t>
            </a:r>
            <a:r>
              <a:rPr sz="2400" dirty="0">
                <a:solidFill>
                  <a:srgbClr val="FF0000"/>
                </a:solidFill>
                <a:latin typeface="Arial MT"/>
                <a:cs typeface="Arial MT"/>
              </a:rPr>
              <a:t>solid</a:t>
            </a:r>
            <a:r>
              <a:rPr sz="2400" spc="-20" dirty="0">
                <a:solidFill>
                  <a:srgbClr val="FF0000"/>
                </a:solidFill>
                <a:latin typeface="Arial MT"/>
                <a:cs typeface="Arial MT"/>
              </a:rPr>
              <a:t> </a:t>
            </a:r>
            <a:r>
              <a:rPr sz="2400" spc="-10" dirty="0">
                <a:solidFill>
                  <a:srgbClr val="FF0000"/>
                </a:solidFill>
                <a:latin typeface="Arial MT"/>
                <a:cs typeface="Arial MT"/>
              </a:rPr>
              <a:t>materials</a:t>
            </a:r>
            <a:r>
              <a:rPr sz="2400" spc="-10" dirty="0">
                <a:latin typeface="Arial MT"/>
                <a:cs typeface="Arial MT"/>
              </a:rPr>
              <a:t>.</a:t>
            </a:r>
            <a:endParaRPr sz="2400" dirty="0">
              <a:latin typeface="Arial MT"/>
              <a:cs typeface="Arial MT"/>
            </a:endParaRPr>
          </a:p>
          <a:p>
            <a:pPr marL="240036" marR="419746" indent="-227336">
              <a:lnSpc>
                <a:spcPct val="150000"/>
              </a:lnSpc>
              <a:spcBef>
                <a:spcPts val="994"/>
              </a:spcBef>
              <a:buChar char="•"/>
              <a:tabLst>
                <a:tab pos="241306" algn="l"/>
              </a:tabLst>
            </a:pPr>
            <a:r>
              <a:rPr sz="2400" dirty="0">
                <a:latin typeface="Arial MT"/>
                <a:cs typeface="Arial MT"/>
              </a:rPr>
              <a:t>The</a:t>
            </a:r>
            <a:r>
              <a:rPr sz="2400" spc="-70" dirty="0">
                <a:latin typeface="Arial MT"/>
                <a:cs typeface="Arial MT"/>
              </a:rPr>
              <a:t> </a:t>
            </a:r>
            <a:r>
              <a:rPr sz="2400" dirty="0">
                <a:solidFill>
                  <a:srgbClr val="FF0000"/>
                </a:solidFill>
                <a:latin typeface="Arial MT"/>
                <a:cs typeface="Arial MT"/>
              </a:rPr>
              <a:t>sample</a:t>
            </a:r>
            <a:r>
              <a:rPr sz="2400" spc="-65" dirty="0">
                <a:solidFill>
                  <a:srgbClr val="FF0000"/>
                </a:solidFill>
                <a:latin typeface="Arial MT"/>
                <a:cs typeface="Arial MT"/>
              </a:rPr>
              <a:t> </a:t>
            </a:r>
            <a:r>
              <a:rPr sz="2400" dirty="0">
                <a:solidFill>
                  <a:srgbClr val="FF0000"/>
                </a:solidFill>
                <a:latin typeface="Arial MT"/>
                <a:cs typeface="Arial MT"/>
              </a:rPr>
              <a:t>air</a:t>
            </a:r>
            <a:r>
              <a:rPr sz="2400" spc="-70" dirty="0">
                <a:solidFill>
                  <a:srgbClr val="FF0000"/>
                </a:solidFill>
                <a:latin typeface="Arial MT"/>
                <a:cs typeface="Arial MT"/>
              </a:rPr>
              <a:t> </a:t>
            </a:r>
            <a:r>
              <a:rPr sz="2400" dirty="0">
                <a:solidFill>
                  <a:srgbClr val="FF0000"/>
                </a:solidFill>
                <a:latin typeface="Arial MT"/>
                <a:cs typeface="Arial MT"/>
              </a:rPr>
              <a:t>is</a:t>
            </a:r>
            <a:r>
              <a:rPr sz="2400" spc="-70" dirty="0">
                <a:solidFill>
                  <a:srgbClr val="FF0000"/>
                </a:solidFill>
                <a:latin typeface="Arial MT"/>
                <a:cs typeface="Arial MT"/>
              </a:rPr>
              <a:t> </a:t>
            </a:r>
            <a:r>
              <a:rPr sz="2400" dirty="0">
                <a:solidFill>
                  <a:srgbClr val="FF0000"/>
                </a:solidFill>
                <a:latin typeface="Arial MT"/>
                <a:cs typeface="Arial MT"/>
              </a:rPr>
              <a:t>passed</a:t>
            </a:r>
            <a:r>
              <a:rPr sz="2400" spc="-70" dirty="0">
                <a:solidFill>
                  <a:srgbClr val="FF0000"/>
                </a:solidFill>
                <a:latin typeface="Arial MT"/>
                <a:cs typeface="Arial MT"/>
              </a:rPr>
              <a:t> </a:t>
            </a:r>
            <a:r>
              <a:rPr sz="2400" dirty="0">
                <a:solidFill>
                  <a:srgbClr val="FF0000"/>
                </a:solidFill>
                <a:latin typeface="Arial MT"/>
                <a:cs typeface="Arial MT"/>
              </a:rPr>
              <a:t>through</a:t>
            </a:r>
            <a:r>
              <a:rPr sz="2400" spc="-65" dirty="0">
                <a:solidFill>
                  <a:srgbClr val="FF0000"/>
                </a:solidFill>
                <a:latin typeface="Arial MT"/>
                <a:cs typeface="Arial MT"/>
              </a:rPr>
              <a:t> </a:t>
            </a:r>
            <a:r>
              <a:rPr sz="2400" dirty="0">
                <a:solidFill>
                  <a:srgbClr val="FF0000"/>
                </a:solidFill>
                <a:latin typeface="Arial MT"/>
                <a:cs typeface="Arial MT"/>
              </a:rPr>
              <a:t>a</a:t>
            </a:r>
            <a:r>
              <a:rPr sz="2400" spc="-80" dirty="0">
                <a:solidFill>
                  <a:srgbClr val="FF0000"/>
                </a:solidFill>
                <a:latin typeface="Arial MT"/>
                <a:cs typeface="Arial MT"/>
              </a:rPr>
              <a:t> </a:t>
            </a:r>
            <a:r>
              <a:rPr sz="2400" dirty="0">
                <a:solidFill>
                  <a:srgbClr val="FF0000"/>
                </a:solidFill>
                <a:latin typeface="Arial MT"/>
                <a:cs typeface="Arial MT"/>
              </a:rPr>
              <a:t>packed</a:t>
            </a:r>
            <a:r>
              <a:rPr sz="2400" spc="-70" dirty="0">
                <a:solidFill>
                  <a:srgbClr val="FF0000"/>
                </a:solidFill>
                <a:latin typeface="Arial MT"/>
                <a:cs typeface="Arial MT"/>
              </a:rPr>
              <a:t> </a:t>
            </a:r>
            <a:r>
              <a:rPr sz="2400" dirty="0">
                <a:solidFill>
                  <a:srgbClr val="FF0000"/>
                </a:solidFill>
                <a:latin typeface="Arial MT"/>
                <a:cs typeface="Arial MT"/>
              </a:rPr>
              <a:t>column</a:t>
            </a:r>
            <a:r>
              <a:rPr sz="2400" spc="-55" dirty="0">
                <a:solidFill>
                  <a:srgbClr val="FF0000"/>
                </a:solidFill>
                <a:latin typeface="Arial MT"/>
                <a:cs typeface="Arial MT"/>
              </a:rPr>
              <a:t> </a:t>
            </a:r>
            <a:r>
              <a:rPr sz="2400" dirty="0">
                <a:solidFill>
                  <a:srgbClr val="FF0000"/>
                </a:solidFill>
                <a:latin typeface="Arial MT"/>
                <a:cs typeface="Arial MT"/>
              </a:rPr>
              <a:t>containing</a:t>
            </a:r>
            <a:r>
              <a:rPr sz="2400" spc="-46" dirty="0">
                <a:solidFill>
                  <a:srgbClr val="FF0000"/>
                </a:solidFill>
                <a:latin typeface="Arial MT"/>
                <a:cs typeface="Arial MT"/>
              </a:rPr>
              <a:t> </a:t>
            </a:r>
            <a:r>
              <a:rPr sz="2400" dirty="0">
                <a:solidFill>
                  <a:srgbClr val="FF0000"/>
                </a:solidFill>
                <a:latin typeface="Arial MT"/>
                <a:cs typeface="Arial MT"/>
              </a:rPr>
              <a:t>a</a:t>
            </a:r>
            <a:r>
              <a:rPr sz="2400" spc="-75" dirty="0">
                <a:solidFill>
                  <a:srgbClr val="FF0000"/>
                </a:solidFill>
                <a:latin typeface="Arial MT"/>
                <a:cs typeface="Arial MT"/>
              </a:rPr>
              <a:t> </a:t>
            </a:r>
            <a:r>
              <a:rPr sz="2400" spc="-10" dirty="0">
                <a:solidFill>
                  <a:srgbClr val="FF0000"/>
                </a:solidFill>
                <a:latin typeface="Arial MT"/>
                <a:cs typeface="Arial MT"/>
              </a:rPr>
              <a:t>finely 	</a:t>
            </a:r>
            <a:r>
              <a:rPr sz="2400" dirty="0">
                <a:solidFill>
                  <a:srgbClr val="FF0000"/>
                </a:solidFill>
                <a:latin typeface="Arial MT"/>
                <a:cs typeface="Arial MT"/>
              </a:rPr>
              <a:t>divided</a:t>
            </a:r>
            <a:r>
              <a:rPr sz="2400" spc="-50" dirty="0">
                <a:solidFill>
                  <a:srgbClr val="FF0000"/>
                </a:solidFill>
                <a:latin typeface="Arial MT"/>
                <a:cs typeface="Arial MT"/>
              </a:rPr>
              <a:t> </a:t>
            </a:r>
            <a:r>
              <a:rPr sz="2400" dirty="0">
                <a:solidFill>
                  <a:srgbClr val="FF0000"/>
                </a:solidFill>
                <a:latin typeface="Arial MT"/>
                <a:cs typeface="Arial MT"/>
              </a:rPr>
              <a:t>solid</a:t>
            </a:r>
            <a:r>
              <a:rPr sz="2400" spc="-65" dirty="0">
                <a:solidFill>
                  <a:srgbClr val="FF0000"/>
                </a:solidFill>
                <a:latin typeface="Arial MT"/>
                <a:cs typeface="Arial MT"/>
              </a:rPr>
              <a:t> </a:t>
            </a:r>
            <a:r>
              <a:rPr sz="2400" dirty="0">
                <a:solidFill>
                  <a:srgbClr val="FF0000"/>
                </a:solidFill>
                <a:latin typeface="Arial MT"/>
                <a:cs typeface="Arial MT"/>
              </a:rPr>
              <a:t>adsorbent</a:t>
            </a:r>
            <a:r>
              <a:rPr sz="2400" spc="-60" dirty="0">
                <a:solidFill>
                  <a:srgbClr val="FF0000"/>
                </a:solidFill>
                <a:latin typeface="Arial MT"/>
                <a:cs typeface="Arial MT"/>
              </a:rPr>
              <a:t> </a:t>
            </a:r>
            <a:r>
              <a:rPr sz="2400" dirty="0">
                <a:solidFill>
                  <a:srgbClr val="FF0000"/>
                </a:solidFill>
                <a:latin typeface="Arial MT"/>
                <a:cs typeface="Arial MT"/>
              </a:rPr>
              <a:t>on</a:t>
            </a:r>
            <a:r>
              <a:rPr sz="2400" spc="-80" dirty="0">
                <a:solidFill>
                  <a:srgbClr val="FF0000"/>
                </a:solidFill>
                <a:latin typeface="Arial MT"/>
                <a:cs typeface="Arial MT"/>
              </a:rPr>
              <a:t> </a:t>
            </a:r>
            <a:r>
              <a:rPr sz="2400" dirty="0">
                <a:solidFill>
                  <a:srgbClr val="FF0000"/>
                </a:solidFill>
                <a:latin typeface="Arial MT"/>
                <a:cs typeface="Arial MT"/>
              </a:rPr>
              <a:t>whose</a:t>
            </a:r>
            <a:r>
              <a:rPr sz="2400" spc="-65" dirty="0">
                <a:solidFill>
                  <a:srgbClr val="FF0000"/>
                </a:solidFill>
                <a:latin typeface="Arial MT"/>
                <a:cs typeface="Arial MT"/>
              </a:rPr>
              <a:t> </a:t>
            </a:r>
            <a:r>
              <a:rPr sz="2400" dirty="0">
                <a:solidFill>
                  <a:srgbClr val="FF0000"/>
                </a:solidFill>
                <a:latin typeface="Arial MT"/>
                <a:cs typeface="Arial MT"/>
              </a:rPr>
              <a:t>surface</a:t>
            </a:r>
            <a:r>
              <a:rPr sz="2400" spc="-85" dirty="0">
                <a:solidFill>
                  <a:srgbClr val="FF0000"/>
                </a:solidFill>
                <a:latin typeface="Arial MT"/>
                <a:cs typeface="Arial MT"/>
              </a:rPr>
              <a:t> </a:t>
            </a:r>
            <a:r>
              <a:rPr sz="2400" dirty="0">
                <a:solidFill>
                  <a:srgbClr val="FF0000"/>
                </a:solidFill>
                <a:latin typeface="Arial MT"/>
                <a:cs typeface="Arial MT"/>
              </a:rPr>
              <a:t>the</a:t>
            </a:r>
            <a:r>
              <a:rPr sz="2400" spc="-85" dirty="0">
                <a:solidFill>
                  <a:srgbClr val="FF0000"/>
                </a:solidFill>
                <a:latin typeface="Arial MT"/>
                <a:cs typeface="Arial MT"/>
              </a:rPr>
              <a:t> </a:t>
            </a:r>
            <a:r>
              <a:rPr sz="2400" dirty="0">
                <a:solidFill>
                  <a:srgbClr val="FF0000"/>
                </a:solidFill>
                <a:latin typeface="Arial MT"/>
                <a:cs typeface="Arial MT"/>
              </a:rPr>
              <a:t>pollutants</a:t>
            </a:r>
            <a:r>
              <a:rPr sz="2400" spc="-55" dirty="0">
                <a:solidFill>
                  <a:srgbClr val="FF0000"/>
                </a:solidFill>
                <a:latin typeface="Arial MT"/>
                <a:cs typeface="Arial MT"/>
              </a:rPr>
              <a:t> </a:t>
            </a:r>
            <a:r>
              <a:rPr sz="2400" dirty="0">
                <a:solidFill>
                  <a:srgbClr val="FF0000"/>
                </a:solidFill>
                <a:latin typeface="Arial MT"/>
                <a:cs typeface="Arial MT"/>
              </a:rPr>
              <a:t>are</a:t>
            </a:r>
            <a:r>
              <a:rPr sz="2400" spc="-70" dirty="0">
                <a:solidFill>
                  <a:srgbClr val="FF0000"/>
                </a:solidFill>
                <a:latin typeface="Arial MT"/>
                <a:cs typeface="Arial MT"/>
              </a:rPr>
              <a:t> </a:t>
            </a:r>
            <a:r>
              <a:rPr sz="2400" dirty="0">
                <a:solidFill>
                  <a:srgbClr val="FF0000"/>
                </a:solidFill>
                <a:latin typeface="Arial MT"/>
                <a:cs typeface="Arial MT"/>
              </a:rPr>
              <a:t>retained</a:t>
            </a:r>
            <a:r>
              <a:rPr sz="2400" spc="-65" dirty="0">
                <a:solidFill>
                  <a:srgbClr val="FF0000"/>
                </a:solidFill>
                <a:latin typeface="Arial MT"/>
                <a:cs typeface="Arial MT"/>
              </a:rPr>
              <a:t> </a:t>
            </a:r>
            <a:r>
              <a:rPr sz="2400" spc="-25" dirty="0">
                <a:solidFill>
                  <a:srgbClr val="FF0000"/>
                </a:solidFill>
                <a:latin typeface="Arial MT"/>
                <a:cs typeface="Arial MT"/>
              </a:rPr>
              <a:t>and 	</a:t>
            </a:r>
            <a:r>
              <a:rPr sz="2400" spc="-10" dirty="0">
                <a:solidFill>
                  <a:srgbClr val="FF0000"/>
                </a:solidFill>
                <a:latin typeface="Arial MT"/>
                <a:cs typeface="Arial MT"/>
              </a:rPr>
              <a:t>concentrated</a:t>
            </a:r>
            <a:r>
              <a:rPr sz="2400" spc="-10" dirty="0">
                <a:latin typeface="Arial MT"/>
                <a:cs typeface="Arial MT"/>
              </a:rPr>
              <a:t>.</a:t>
            </a:r>
            <a:endParaRPr sz="2400" dirty="0">
              <a:latin typeface="Arial MT"/>
              <a:cs typeface="Arial MT"/>
            </a:endParaRPr>
          </a:p>
          <a:p>
            <a:pPr marL="241306" marR="5081" indent="-228606">
              <a:lnSpc>
                <a:spcPct val="150000"/>
              </a:lnSpc>
              <a:spcBef>
                <a:spcPts val="1006"/>
              </a:spcBef>
              <a:buChar char="•"/>
              <a:tabLst>
                <a:tab pos="241306" algn="l"/>
                <a:tab pos="320049" algn="l"/>
              </a:tabLst>
            </a:pPr>
            <a:r>
              <a:rPr sz="2400" dirty="0">
                <a:latin typeface="Arial MT"/>
                <a:cs typeface="Arial MT"/>
              </a:rPr>
              <a:t>	The</a:t>
            </a:r>
            <a:r>
              <a:rPr sz="2400" spc="-90" dirty="0">
                <a:latin typeface="Arial MT"/>
                <a:cs typeface="Arial MT"/>
              </a:rPr>
              <a:t> </a:t>
            </a:r>
            <a:r>
              <a:rPr sz="2400" dirty="0">
                <a:latin typeface="Arial MT"/>
                <a:cs typeface="Arial MT"/>
              </a:rPr>
              <a:t>most</a:t>
            </a:r>
            <a:r>
              <a:rPr sz="2400" spc="-100" dirty="0">
                <a:latin typeface="Arial MT"/>
                <a:cs typeface="Arial MT"/>
              </a:rPr>
              <a:t> </a:t>
            </a:r>
            <a:r>
              <a:rPr sz="2400" dirty="0">
                <a:latin typeface="Arial MT"/>
                <a:cs typeface="Arial MT"/>
              </a:rPr>
              <a:t>commonly</a:t>
            </a:r>
            <a:r>
              <a:rPr sz="2400" spc="-70" dirty="0">
                <a:latin typeface="Arial MT"/>
                <a:cs typeface="Arial MT"/>
              </a:rPr>
              <a:t> </a:t>
            </a:r>
            <a:r>
              <a:rPr sz="2400" dirty="0">
                <a:latin typeface="Arial MT"/>
                <a:cs typeface="Arial MT"/>
              </a:rPr>
              <a:t>used</a:t>
            </a:r>
            <a:r>
              <a:rPr sz="2400" spc="-80" dirty="0">
                <a:latin typeface="Arial MT"/>
                <a:cs typeface="Arial MT"/>
              </a:rPr>
              <a:t> </a:t>
            </a:r>
            <a:r>
              <a:rPr sz="2400" dirty="0">
                <a:latin typeface="Arial MT"/>
                <a:cs typeface="Arial MT"/>
              </a:rPr>
              <a:t>solid</a:t>
            </a:r>
            <a:r>
              <a:rPr sz="2400" spc="-65" dirty="0">
                <a:latin typeface="Arial MT"/>
                <a:cs typeface="Arial MT"/>
              </a:rPr>
              <a:t> </a:t>
            </a:r>
            <a:r>
              <a:rPr sz="2400" dirty="0">
                <a:latin typeface="Arial MT"/>
                <a:cs typeface="Arial MT"/>
              </a:rPr>
              <a:t>adsorbents</a:t>
            </a:r>
            <a:r>
              <a:rPr sz="2400" spc="-65" dirty="0">
                <a:latin typeface="Arial MT"/>
                <a:cs typeface="Arial MT"/>
              </a:rPr>
              <a:t> </a:t>
            </a:r>
            <a:r>
              <a:rPr sz="2400" dirty="0">
                <a:latin typeface="Arial MT"/>
                <a:cs typeface="Arial MT"/>
              </a:rPr>
              <a:t>are</a:t>
            </a:r>
            <a:r>
              <a:rPr sz="2400" spc="-80" dirty="0">
                <a:latin typeface="Arial MT"/>
                <a:cs typeface="Arial MT"/>
              </a:rPr>
              <a:t> </a:t>
            </a:r>
            <a:r>
              <a:rPr sz="2400" dirty="0">
                <a:latin typeface="Arial MT"/>
                <a:cs typeface="Arial MT"/>
              </a:rPr>
              <a:t>granular</a:t>
            </a:r>
            <a:r>
              <a:rPr sz="2400" spc="-65" dirty="0">
                <a:latin typeface="Arial MT"/>
                <a:cs typeface="Arial MT"/>
              </a:rPr>
              <a:t> </a:t>
            </a:r>
            <a:r>
              <a:rPr sz="2400" dirty="0">
                <a:latin typeface="Arial MT"/>
                <a:cs typeface="Arial MT"/>
              </a:rPr>
              <a:t>porous</a:t>
            </a:r>
            <a:r>
              <a:rPr sz="2400" spc="-75" dirty="0">
                <a:latin typeface="Arial MT"/>
                <a:cs typeface="Arial MT"/>
              </a:rPr>
              <a:t> </a:t>
            </a:r>
            <a:r>
              <a:rPr sz="2400" dirty="0">
                <a:latin typeface="Arial MT"/>
                <a:cs typeface="Arial MT"/>
              </a:rPr>
              <a:t>solids</a:t>
            </a:r>
            <a:r>
              <a:rPr sz="2400" spc="-60" dirty="0">
                <a:latin typeface="Arial MT"/>
                <a:cs typeface="Arial MT"/>
              </a:rPr>
              <a:t> </a:t>
            </a:r>
            <a:r>
              <a:rPr sz="2400" spc="-20" dirty="0">
                <a:latin typeface="Arial MT"/>
                <a:cs typeface="Arial MT"/>
              </a:rPr>
              <a:t>such </a:t>
            </a:r>
            <a:r>
              <a:rPr sz="2400" dirty="0">
                <a:latin typeface="Arial MT"/>
                <a:cs typeface="Arial MT"/>
              </a:rPr>
              <a:t>as</a:t>
            </a:r>
            <a:r>
              <a:rPr sz="2400" spc="-70" dirty="0">
                <a:latin typeface="Arial MT"/>
                <a:cs typeface="Arial MT"/>
              </a:rPr>
              <a:t> </a:t>
            </a:r>
            <a:r>
              <a:rPr sz="2400" dirty="0">
                <a:solidFill>
                  <a:srgbClr val="FF0000"/>
                </a:solidFill>
                <a:latin typeface="Arial MT"/>
                <a:cs typeface="Arial MT"/>
              </a:rPr>
              <a:t>activated</a:t>
            </a:r>
            <a:r>
              <a:rPr sz="2400" spc="-65" dirty="0">
                <a:solidFill>
                  <a:srgbClr val="FF0000"/>
                </a:solidFill>
                <a:latin typeface="Arial MT"/>
                <a:cs typeface="Arial MT"/>
              </a:rPr>
              <a:t> </a:t>
            </a:r>
            <a:r>
              <a:rPr sz="2400" dirty="0">
                <a:solidFill>
                  <a:srgbClr val="FF0000"/>
                </a:solidFill>
                <a:latin typeface="Arial MT"/>
                <a:cs typeface="Arial MT"/>
              </a:rPr>
              <a:t>charcoal</a:t>
            </a:r>
            <a:r>
              <a:rPr sz="2400" spc="-55" dirty="0">
                <a:solidFill>
                  <a:srgbClr val="FF0000"/>
                </a:solidFill>
                <a:latin typeface="Arial MT"/>
                <a:cs typeface="Arial MT"/>
              </a:rPr>
              <a:t> </a:t>
            </a:r>
            <a:r>
              <a:rPr sz="2400" dirty="0">
                <a:latin typeface="Arial MT"/>
                <a:cs typeface="Arial MT"/>
              </a:rPr>
              <a:t>and</a:t>
            </a:r>
            <a:r>
              <a:rPr sz="2400" spc="-55" dirty="0">
                <a:latin typeface="Arial MT"/>
                <a:cs typeface="Arial MT"/>
              </a:rPr>
              <a:t> </a:t>
            </a:r>
            <a:r>
              <a:rPr sz="2400" dirty="0">
                <a:solidFill>
                  <a:srgbClr val="FF0000"/>
                </a:solidFill>
                <a:latin typeface="Arial MT"/>
                <a:cs typeface="Arial MT"/>
              </a:rPr>
              <a:t>silica</a:t>
            </a:r>
            <a:r>
              <a:rPr sz="2400" spc="-55" dirty="0">
                <a:solidFill>
                  <a:srgbClr val="FF0000"/>
                </a:solidFill>
                <a:latin typeface="Arial MT"/>
                <a:cs typeface="Arial MT"/>
              </a:rPr>
              <a:t> </a:t>
            </a:r>
            <a:r>
              <a:rPr sz="2400" dirty="0">
                <a:solidFill>
                  <a:srgbClr val="FF0000"/>
                </a:solidFill>
                <a:latin typeface="Arial MT"/>
                <a:cs typeface="Arial MT"/>
              </a:rPr>
              <a:t>gel</a:t>
            </a:r>
            <a:r>
              <a:rPr sz="2400" spc="-55" dirty="0">
                <a:solidFill>
                  <a:srgbClr val="FF0000"/>
                </a:solidFill>
                <a:latin typeface="Arial MT"/>
                <a:cs typeface="Arial MT"/>
              </a:rPr>
              <a:t> </a:t>
            </a:r>
            <a:r>
              <a:rPr sz="2400" dirty="0">
                <a:latin typeface="Arial MT"/>
                <a:cs typeface="Arial MT"/>
              </a:rPr>
              <a:t>with</a:t>
            </a:r>
            <a:r>
              <a:rPr sz="2400" spc="-65" dirty="0">
                <a:latin typeface="Arial MT"/>
                <a:cs typeface="Arial MT"/>
              </a:rPr>
              <a:t> </a:t>
            </a:r>
            <a:r>
              <a:rPr sz="2400" dirty="0">
                <a:latin typeface="Arial MT"/>
                <a:cs typeface="Arial MT"/>
              </a:rPr>
              <a:t>very</a:t>
            </a:r>
            <a:r>
              <a:rPr sz="2400" spc="-65" dirty="0">
                <a:latin typeface="Arial MT"/>
                <a:cs typeface="Arial MT"/>
              </a:rPr>
              <a:t> </a:t>
            </a:r>
            <a:r>
              <a:rPr sz="2400" dirty="0">
                <a:latin typeface="Arial MT"/>
                <a:cs typeface="Arial MT"/>
              </a:rPr>
              <a:t>large</a:t>
            </a:r>
            <a:r>
              <a:rPr sz="2400" spc="-55" dirty="0">
                <a:latin typeface="Arial MT"/>
                <a:cs typeface="Arial MT"/>
              </a:rPr>
              <a:t> </a:t>
            </a:r>
            <a:r>
              <a:rPr sz="2400" dirty="0">
                <a:latin typeface="Arial MT"/>
                <a:cs typeface="Arial MT"/>
              </a:rPr>
              <a:t>surface</a:t>
            </a:r>
            <a:r>
              <a:rPr sz="2400" spc="-80" dirty="0">
                <a:latin typeface="Arial MT"/>
                <a:cs typeface="Arial MT"/>
              </a:rPr>
              <a:t> </a:t>
            </a:r>
            <a:r>
              <a:rPr sz="2400" dirty="0">
                <a:latin typeface="Arial MT"/>
                <a:cs typeface="Arial MT"/>
              </a:rPr>
              <a:t>area.</a:t>
            </a:r>
            <a:r>
              <a:rPr sz="2400" spc="-60" dirty="0">
                <a:latin typeface="Arial MT"/>
                <a:cs typeface="Arial MT"/>
              </a:rPr>
              <a:t> </a:t>
            </a:r>
            <a:r>
              <a:rPr sz="2400" spc="-50" dirty="0">
                <a:latin typeface="Arial MT"/>
                <a:cs typeface="Arial MT"/>
              </a:rPr>
              <a:t>.</a:t>
            </a:r>
            <a:endParaRPr sz="2400" dirty="0">
              <a:latin typeface="Arial MT"/>
              <a:cs typeface="Arial MT"/>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70371" y="133351"/>
            <a:ext cx="7600956" cy="960083"/>
          </a:xfrm>
          <a:prstGeom prst="rect">
            <a:avLst/>
          </a:prstGeom>
        </p:spPr>
        <p:txBody>
          <a:bodyPr vert="horz" wrap="square" lIns="0" tIns="463118" rIns="0" bIns="0" rtlCol="0">
            <a:spAutoFit/>
          </a:bodyPr>
          <a:lstStyle/>
          <a:p>
            <a:pPr marL="131448">
              <a:spcBef>
                <a:spcPts val="105"/>
              </a:spcBef>
            </a:pPr>
            <a:r>
              <a:rPr dirty="0"/>
              <a:t>Adsorption</a:t>
            </a:r>
            <a:r>
              <a:rPr spc="-60" dirty="0"/>
              <a:t> </a:t>
            </a:r>
            <a:r>
              <a:rPr dirty="0"/>
              <a:t>on</a:t>
            </a:r>
            <a:r>
              <a:rPr spc="-25" dirty="0"/>
              <a:t> </a:t>
            </a:r>
            <a:r>
              <a:rPr spc="-10" dirty="0"/>
              <a:t>Solids</a:t>
            </a:r>
          </a:p>
        </p:txBody>
      </p:sp>
      <p:pic>
        <p:nvPicPr>
          <p:cNvPr id="3" name="object 3"/>
          <p:cNvPicPr/>
          <p:nvPr/>
        </p:nvPicPr>
        <p:blipFill>
          <a:blip r:embed="rId3" cstate="print"/>
          <a:stretch>
            <a:fillRect/>
          </a:stretch>
        </p:blipFill>
        <p:spPr>
          <a:xfrm>
            <a:off x="1334463" y="1862328"/>
            <a:ext cx="4662478" cy="2296668"/>
          </a:xfrm>
          <a:prstGeom prst="rect">
            <a:avLst/>
          </a:prstGeom>
        </p:spPr>
      </p:pic>
      <p:pic>
        <p:nvPicPr>
          <p:cNvPr id="4" name="object 4"/>
          <p:cNvPicPr/>
          <p:nvPr/>
        </p:nvPicPr>
        <p:blipFill>
          <a:blip r:embed="rId4" cstate="print"/>
          <a:stretch>
            <a:fillRect/>
          </a:stretch>
        </p:blipFill>
        <p:spPr>
          <a:xfrm>
            <a:off x="6885432" y="1133857"/>
            <a:ext cx="4248912" cy="4779727"/>
          </a:xfrm>
          <a:prstGeom prst="rect">
            <a:avLst/>
          </a:prstGeom>
        </p:spPr>
      </p:pic>
      <p:sp>
        <p:nvSpPr>
          <p:cNvPr id="5" name="object 5"/>
          <p:cNvSpPr txBox="1">
            <a:spLocks noGrp="1"/>
          </p:cNvSpPr>
          <p:nvPr>
            <p:ph type="sldNum" sz="quarter" idx="7"/>
          </p:nvPr>
        </p:nvSpPr>
        <p:spPr>
          <a:xfrm>
            <a:off x="8993409" y="6464911"/>
            <a:ext cx="198636" cy="156068"/>
          </a:xfrm>
          <a:prstGeom prst="rect">
            <a:avLst/>
          </a:prstGeom>
        </p:spPr>
        <p:txBody>
          <a:bodyPr vert="horz" wrap="square" lIns="0" tIns="0" rIns="0" bIns="0" rtlCol="0">
            <a:spAutoFit/>
          </a:bodyPr>
          <a:lstStyle/>
          <a:p>
            <a:pPr marL="38101">
              <a:lnSpc>
                <a:spcPts val="1239"/>
              </a:lnSpc>
            </a:pPr>
            <a:fld id="{81D60167-4931-47E6-BA6A-407CBD079E47}" type="slidenum">
              <a:rPr spc="-25" dirty="0"/>
              <a:pPr marL="38101">
                <a:lnSpc>
                  <a:spcPts val="1239"/>
                </a:lnSpc>
              </a:pPr>
              <a:t>21</a:t>
            </a:fld>
            <a:endParaRPr spc="-25"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xfrm>
            <a:off x="8993409" y="6464911"/>
            <a:ext cx="198636" cy="156068"/>
          </a:xfrm>
          <a:prstGeom prst="rect">
            <a:avLst/>
          </a:prstGeom>
        </p:spPr>
        <p:txBody>
          <a:bodyPr vert="horz" wrap="square" lIns="0" tIns="0" rIns="0" bIns="0" rtlCol="0">
            <a:spAutoFit/>
          </a:bodyPr>
          <a:lstStyle/>
          <a:p>
            <a:pPr marL="38101">
              <a:lnSpc>
                <a:spcPts val="1239"/>
              </a:lnSpc>
            </a:pPr>
            <a:fld id="{81D60167-4931-47E6-BA6A-407CBD079E47}" type="slidenum">
              <a:rPr spc="-25" dirty="0"/>
              <a:pPr marL="38101">
                <a:lnSpc>
                  <a:spcPts val="1239"/>
                </a:lnSpc>
              </a:pPr>
              <a:t>22</a:t>
            </a:fld>
            <a:endParaRPr spc="-25" dirty="0"/>
          </a:p>
        </p:txBody>
      </p:sp>
      <p:sp>
        <p:nvSpPr>
          <p:cNvPr id="2" name="object 2"/>
          <p:cNvSpPr txBox="1">
            <a:spLocks noGrp="1"/>
          </p:cNvSpPr>
          <p:nvPr>
            <p:ph type="title"/>
          </p:nvPr>
        </p:nvSpPr>
        <p:spPr>
          <a:xfrm>
            <a:off x="470371" y="133351"/>
            <a:ext cx="7600956" cy="892423"/>
          </a:xfrm>
          <a:prstGeom prst="rect">
            <a:avLst/>
          </a:prstGeom>
        </p:spPr>
        <p:txBody>
          <a:bodyPr vert="horz" wrap="square" lIns="0" tIns="396112" rIns="0" bIns="0" rtlCol="0">
            <a:spAutoFit/>
          </a:bodyPr>
          <a:lstStyle/>
          <a:p>
            <a:pPr marL="131448">
              <a:spcBef>
                <a:spcPts val="105"/>
              </a:spcBef>
            </a:pPr>
            <a:r>
              <a:rPr dirty="0"/>
              <a:t>Adsorption</a:t>
            </a:r>
            <a:r>
              <a:rPr spc="-60" dirty="0"/>
              <a:t> </a:t>
            </a:r>
            <a:r>
              <a:rPr dirty="0"/>
              <a:t>on</a:t>
            </a:r>
            <a:r>
              <a:rPr spc="-20" dirty="0"/>
              <a:t> </a:t>
            </a:r>
            <a:r>
              <a:rPr spc="-10" dirty="0"/>
              <a:t>Solids</a:t>
            </a:r>
          </a:p>
        </p:txBody>
      </p:sp>
      <p:sp>
        <p:nvSpPr>
          <p:cNvPr id="3" name="object 3"/>
          <p:cNvSpPr txBox="1"/>
          <p:nvPr/>
        </p:nvSpPr>
        <p:spPr>
          <a:xfrm>
            <a:off x="698093" y="1641729"/>
            <a:ext cx="10745470" cy="4349396"/>
          </a:xfrm>
          <a:prstGeom prst="rect">
            <a:avLst/>
          </a:prstGeom>
        </p:spPr>
        <p:txBody>
          <a:bodyPr vert="horz" wrap="square" lIns="0" tIns="12065" rIns="0" bIns="0" rtlCol="0">
            <a:spAutoFit/>
          </a:bodyPr>
          <a:lstStyle/>
          <a:p>
            <a:pPr marL="240671" indent="-227971">
              <a:spcBef>
                <a:spcPts val="95"/>
              </a:spcBef>
              <a:buChar char="•"/>
              <a:tabLst>
                <a:tab pos="240671" algn="l"/>
              </a:tabLst>
            </a:pPr>
            <a:r>
              <a:rPr sz="2201" dirty="0">
                <a:solidFill>
                  <a:srgbClr val="FF0000"/>
                </a:solidFill>
                <a:latin typeface="Arial MT"/>
                <a:cs typeface="Arial MT"/>
              </a:rPr>
              <a:t>After</a:t>
            </a:r>
            <a:r>
              <a:rPr sz="2201" spc="-55" dirty="0">
                <a:solidFill>
                  <a:srgbClr val="FF0000"/>
                </a:solidFill>
                <a:latin typeface="Arial MT"/>
                <a:cs typeface="Arial MT"/>
              </a:rPr>
              <a:t> </a:t>
            </a:r>
            <a:r>
              <a:rPr sz="2201" dirty="0">
                <a:solidFill>
                  <a:srgbClr val="FF0000"/>
                </a:solidFill>
                <a:latin typeface="Arial MT"/>
                <a:cs typeface="Arial MT"/>
              </a:rPr>
              <a:t>adsorption,</a:t>
            </a:r>
            <a:r>
              <a:rPr sz="2201" spc="-65" dirty="0">
                <a:solidFill>
                  <a:srgbClr val="FF0000"/>
                </a:solidFill>
                <a:latin typeface="Arial MT"/>
                <a:cs typeface="Arial MT"/>
              </a:rPr>
              <a:t> </a:t>
            </a:r>
            <a:r>
              <a:rPr sz="2201" dirty="0">
                <a:solidFill>
                  <a:srgbClr val="FF0000"/>
                </a:solidFill>
                <a:latin typeface="Arial MT"/>
                <a:cs typeface="Arial MT"/>
              </a:rPr>
              <a:t>the</a:t>
            </a:r>
            <a:r>
              <a:rPr sz="2201" spc="-65" dirty="0">
                <a:solidFill>
                  <a:srgbClr val="FF0000"/>
                </a:solidFill>
                <a:latin typeface="Arial MT"/>
                <a:cs typeface="Arial MT"/>
              </a:rPr>
              <a:t> </a:t>
            </a:r>
            <a:r>
              <a:rPr sz="2201" dirty="0">
                <a:solidFill>
                  <a:srgbClr val="FF0000"/>
                </a:solidFill>
                <a:latin typeface="Arial MT"/>
                <a:cs typeface="Arial MT"/>
              </a:rPr>
              <a:t>sample</a:t>
            </a:r>
            <a:r>
              <a:rPr sz="2201" spc="-50" dirty="0">
                <a:solidFill>
                  <a:srgbClr val="FF0000"/>
                </a:solidFill>
                <a:latin typeface="Arial MT"/>
                <a:cs typeface="Arial MT"/>
              </a:rPr>
              <a:t> </a:t>
            </a:r>
            <a:r>
              <a:rPr sz="2201" dirty="0">
                <a:solidFill>
                  <a:srgbClr val="FF0000"/>
                </a:solidFill>
                <a:latin typeface="Arial MT"/>
                <a:cs typeface="Arial MT"/>
              </a:rPr>
              <a:t>gases</a:t>
            </a:r>
            <a:r>
              <a:rPr sz="2201" spc="-60" dirty="0">
                <a:solidFill>
                  <a:srgbClr val="FF0000"/>
                </a:solidFill>
                <a:latin typeface="Arial MT"/>
                <a:cs typeface="Arial MT"/>
              </a:rPr>
              <a:t> </a:t>
            </a:r>
            <a:r>
              <a:rPr sz="2201" dirty="0">
                <a:solidFill>
                  <a:srgbClr val="FF0000"/>
                </a:solidFill>
                <a:latin typeface="Arial MT"/>
                <a:cs typeface="Arial MT"/>
              </a:rPr>
              <a:t>are</a:t>
            </a:r>
            <a:r>
              <a:rPr sz="2201" spc="-60" dirty="0">
                <a:solidFill>
                  <a:srgbClr val="FF0000"/>
                </a:solidFill>
                <a:latin typeface="Arial MT"/>
                <a:cs typeface="Arial MT"/>
              </a:rPr>
              <a:t> </a:t>
            </a:r>
            <a:r>
              <a:rPr sz="2201" dirty="0">
                <a:solidFill>
                  <a:srgbClr val="FF0000"/>
                </a:solidFill>
                <a:latin typeface="Arial MT"/>
                <a:cs typeface="Arial MT"/>
              </a:rPr>
              <a:t>desorbed</a:t>
            </a:r>
            <a:r>
              <a:rPr sz="2201" spc="-55" dirty="0">
                <a:solidFill>
                  <a:srgbClr val="FF0000"/>
                </a:solidFill>
                <a:latin typeface="Arial MT"/>
                <a:cs typeface="Arial MT"/>
              </a:rPr>
              <a:t> </a:t>
            </a:r>
            <a:r>
              <a:rPr sz="2201" dirty="0">
                <a:solidFill>
                  <a:srgbClr val="FF0000"/>
                </a:solidFill>
                <a:latin typeface="Arial MT"/>
                <a:cs typeface="Arial MT"/>
              </a:rPr>
              <a:t>for</a:t>
            </a:r>
            <a:r>
              <a:rPr sz="2201" spc="-65" dirty="0">
                <a:solidFill>
                  <a:srgbClr val="FF0000"/>
                </a:solidFill>
                <a:latin typeface="Arial MT"/>
                <a:cs typeface="Arial MT"/>
              </a:rPr>
              <a:t> </a:t>
            </a:r>
            <a:r>
              <a:rPr sz="2201" spc="-10" dirty="0">
                <a:solidFill>
                  <a:srgbClr val="FF0000"/>
                </a:solidFill>
                <a:latin typeface="Arial MT"/>
                <a:cs typeface="Arial MT"/>
              </a:rPr>
              <a:t>analysis</a:t>
            </a:r>
            <a:r>
              <a:rPr sz="2201" spc="-10" dirty="0">
                <a:latin typeface="Arial MT"/>
                <a:cs typeface="Arial MT"/>
              </a:rPr>
              <a:t>.</a:t>
            </a:r>
            <a:endParaRPr sz="2201" dirty="0">
              <a:latin typeface="Arial MT"/>
              <a:cs typeface="Arial MT"/>
            </a:endParaRPr>
          </a:p>
          <a:p>
            <a:pPr marL="240671" indent="-227971">
              <a:spcBef>
                <a:spcPts val="2315"/>
              </a:spcBef>
              <a:buChar char="•"/>
              <a:tabLst>
                <a:tab pos="240671" algn="l"/>
              </a:tabLst>
            </a:pPr>
            <a:r>
              <a:rPr sz="2201" dirty="0">
                <a:latin typeface="Arial MT"/>
                <a:cs typeface="Arial MT"/>
              </a:rPr>
              <a:t>This</a:t>
            </a:r>
            <a:r>
              <a:rPr sz="2201" spc="-55" dirty="0">
                <a:latin typeface="Arial MT"/>
                <a:cs typeface="Arial MT"/>
              </a:rPr>
              <a:t> </a:t>
            </a:r>
            <a:r>
              <a:rPr sz="2201" dirty="0">
                <a:latin typeface="Arial MT"/>
                <a:cs typeface="Arial MT"/>
              </a:rPr>
              <a:t>may</a:t>
            </a:r>
            <a:r>
              <a:rPr sz="2201" spc="-46" dirty="0">
                <a:latin typeface="Arial MT"/>
                <a:cs typeface="Arial MT"/>
              </a:rPr>
              <a:t> </a:t>
            </a:r>
            <a:r>
              <a:rPr sz="2201" dirty="0">
                <a:latin typeface="Arial MT"/>
                <a:cs typeface="Arial MT"/>
              </a:rPr>
              <a:t>be</a:t>
            </a:r>
            <a:r>
              <a:rPr sz="2201" spc="-60" dirty="0">
                <a:latin typeface="Arial MT"/>
                <a:cs typeface="Arial MT"/>
              </a:rPr>
              <a:t> </a:t>
            </a:r>
            <a:r>
              <a:rPr sz="2201" spc="-10" dirty="0">
                <a:latin typeface="Arial MT"/>
                <a:cs typeface="Arial MT"/>
              </a:rPr>
              <a:t>accomplished</a:t>
            </a:r>
            <a:r>
              <a:rPr sz="2201" spc="-60" dirty="0">
                <a:latin typeface="Arial MT"/>
                <a:cs typeface="Arial MT"/>
              </a:rPr>
              <a:t> </a:t>
            </a:r>
            <a:r>
              <a:rPr sz="2201" dirty="0">
                <a:latin typeface="Arial MT"/>
                <a:cs typeface="Arial MT"/>
              </a:rPr>
              <a:t>by</a:t>
            </a:r>
            <a:r>
              <a:rPr sz="2201" spc="-41" dirty="0">
                <a:latin typeface="Arial MT"/>
                <a:cs typeface="Arial MT"/>
              </a:rPr>
              <a:t> </a:t>
            </a:r>
            <a:r>
              <a:rPr sz="2201" dirty="0">
                <a:solidFill>
                  <a:srgbClr val="FF0000"/>
                </a:solidFill>
                <a:latin typeface="Arial MT"/>
                <a:cs typeface="Arial MT"/>
              </a:rPr>
              <a:t>heating</a:t>
            </a:r>
            <a:r>
              <a:rPr sz="2201" spc="-60" dirty="0">
                <a:solidFill>
                  <a:srgbClr val="FF0000"/>
                </a:solidFill>
                <a:latin typeface="Arial MT"/>
                <a:cs typeface="Arial MT"/>
              </a:rPr>
              <a:t> </a:t>
            </a:r>
            <a:r>
              <a:rPr sz="2201" dirty="0">
                <a:solidFill>
                  <a:srgbClr val="FF0000"/>
                </a:solidFill>
                <a:latin typeface="Arial MT"/>
                <a:cs typeface="Arial MT"/>
              </a:rPr>
              <a:t>the</a:t>
            </a:r>
            <a:r>
              <a:rPr sz="2201" spc="-60" dirty="0">
                <a:solidFill>
                  <a:srgbClr val="FF0000"/>
                </a:solidFill>
                <a:latin typeface="Arial MT"/>
                <a:cs typeface="Arial MT"/>
              </a:rPr>
              <a:t> </a:t>
            </a:r>
            <a:r>
              <a:rPr sz="2201" dirty="0">
                <a:solidFill>
                  <a:srgbClr val="FF0000"/>
                </a:solidFill>
                <a:latin typeface="Arial MT"/>
                <a:cs typeface="Arial MT"/>
              </a:rPr>
              <a:t>adsorbent</a:t>
            </a:r>
            <a:r>
              <a:rPr sz="2201" spc="-46" dirty="0">
                <a:solidFill>
                  <a:srgbClr val="FF0000"/>
                </a:solidFill>
                <a:latin typeface="Arial MT"/>
                <a:cs typeface="Arial MT"/>
              </a:rPr>
              <a:t> </a:t>
            </a:r>
            <a:r>
              <a:rPr sz="2201" dirty="0">
                <a:solidFill>
                  <a:srgbClr val="FF0000"/>
                </a:solidFill>
                <a:latin typeface="Arial MT"/>
                <a:cs typeface="Arial MT"/>
              </a:rPr>
              <a:t>to</a:t>
            </a:r>
            <a:r>
              <a:rPr sz="2201" spc="-60" dirty="0">
                <a:solidFill>
                  <a:srgbClr val="FF0000"/>
                </a:solidFill>
                <a:latin typeface="Arial MT"/>
                <a:cs typeface="Arial MT"/>
              </a:rPr>
              <a:t> </a:t>
            </a:r>
            <a:r>
              <a:rPr sz="2201" dirty="0">
                <a:solidFill>
                  <a:srgbClr val="FF0000"/>
                </a:solidFill>
                <a:latin typeface="Arial MT"/>
                <a:cs typeface="Arial MT"/>
              </a:rPr>
              <a:t>volatilise</a:t>
            </a:r>
            <a:r>
              <a:rPr sz="2201" spc="-60" dirty="0">
                <a:solidFill>
                  <a:srgbClr val="FF0000"/>
                </a:solidFill>
                <a:latin typeface="Arial MT"/>
                <a:cs typeface="Arial MT"/>
              </a:rPr>
              <a:t> </a:t>
            </a:r>
            <a:r>
              <a:rPr sz="2201" dirty="0">
                <a:solidFill>
                  <a:srgbClr val="FF0000"/>
                </a:solidFill>
                <a:latin typeface="Arial MT"/>
                <a:cs typeface="Arial MT"/>
              </a:rPr>
              <a:t>the</a:t>
            </a:r>
            <a:r>
              <a:rPr sz="2201" spc="-60" dirty="0">
                <a:solidFill>
                  <a:srgbClr val="FF0000"/>
                </a:solidFill>
                <a:latin typeface="Arial MT"/>
                <a:cs typeface="Arial MT"/>
              </a:rPr>
              <a:t> </a:t>
            </a:r>
            <a:r>
              <a:rPr sz="2201" dirty="0">
                <a:solidFill>
                  <a:srgbClr val="FF0000"/>
                </a:solidFill>
                <a:latin typeface="Arial MT"/>
                <a:cs typeface="Arial MT"/>
              </a:rPr>
              <a:t>trapped</a:t>
            </a:r>
            <a:r>
              <a:rPr sz="2201" spc="-46" dirty="0">
                <a:solidFill>
                  <a:srgbClr val="FF0000"/>
                </a:solidFill>
                <a:latin typeface="Arial MT"/>
                <a:cs typeface="Arial MT"/>
              </a:rPr>
              <a:t> </a:t>
            </a:r>
            <a:r>
              <a:rPr sz="2201" spc="-10" dirty="0">
                <a:solidFill>
                  <a:srgbClr val="FF0000"/>
                </a:solidFill>
                <a:latin typeface="Arial MT"/>
                <a:cs typeface="Arial MT"/>
              </a:rPr>
              <a:t>material</a:t>
            </a:r>
            <a:endParaRPr sz="2201" dirty="0">
              <a:latin typeface="Arial MT"/>
              <a:cs typeface="Arial MT"/>
            </a:endParaRPr>
          </a:p>
          <a:p>
            <a:pPr marL="241306">
              <a:spcBef>
                <a:spcPts val="1326"/>
              </a:spcBef>
            </a:pPr>
            <a:r>
              <a:rPr sz="2201" dirty="0">
                <a:solidFill>
                  <a:srgbClr val="FF0000"/>
                </a:solidFill>
                <a:latin typeface="Arial MT"/>
                <a:cs typeface="Arial MT"/>
              </a:rPr>
              <a:t>or</a:t>
            </a:r>
            <a:r>
              <a:rPr sz="2201" spc="-25" dirty="0">
                <a:solidFill>
                  <a:srgbClr val="FF0000"/>
                </a:solidFill>
                <a:latin typeface="Arial MT"/>
                <a:cs typeface="Arial MT"/>
              </a:rPr>
              <a:t> </a:t>
            </a:r>
            <a:r>
              <a:rPr sz="2201" dirty="0">
                <a:solidFill>
                  <a:srgbClr val="FF0000"/>
                </a:solidFill>
                <a:latin typeface="Arial MT"/>
                <a:cs typeface="Arial MT"/>
              </a:rPr>
              <a:t>by</a:t>
            </a:r>
            <a:r>
              <a:rPr sz="2201" spc="-41" dirty="0">
                <a:solidFill>
                  <a:srgbClr val="FF0000"/>
                </a:solidFill>
                <a:latin typeface="Arial MT"/>
                <a:cs typeface="Arial MT"/>
              </a:rPr>
              <a:t> </a:t>
            </a:r>
            <a:r>
              <a:rPr sz="2201" dirty="0">
                <a:solidFill>
                  <a:srgbClr val="FF0000"/>
                </a:solidFill>
                <a:latin typeface="Arial MT"/>
                <a:cs typeface="Arial MT"/>
              </a:rPr>
              <a:t>washing</a:t>
            </a:r>
            <a:r>
              <a:rPr sz="2201" spc="-41" dirty="0">
                <a:solidFill>
                  <a:srgbClr val="FF0000"/>
                </a:solidFill>
                <a:latin typeface="Arial MT"/>
                <a:cs typeface="Arial MT"/>
              </a:rPr>
              <a:t> </a:t>
            </a:r>
            <a:r>
              <a:rPr sz="2201" dirty="0">
                <a:solidFill>
                  <a:srgbClr val="FF0000"/>
                </a:solidFill>
                <a:latin typeface="Arial MT"/>
                <a:cs typeface="Arial MT"/>
              </a:rPr>
              <a:t>it</a:t>
            </a:r>
            <a:r>
              <a:rPr sz="2201" spc="-41" dirty="0">
                <a:solidFill>
                  <a:srgbClr val="FF0000"/>
                </a:solidFill>
                <a:latin typeface="Arial MT"/>
                <a:cs typeface="Arial MT"/>
              </a:rPr>
              <a:t> </a:t>
            </a:r>
            <a:r>
              <a:rPr sz="2201" dirty="0">
                <a:solidFill>
                  <a:srgbClr val="FF0000"/>
                </a:solidFill>
                <a:latin typeface="Arial MT"/>
                <a:cs typeface="Arial MT"/>
              </a:rPr>
              <a:t>with</a:t>
            </a:r>
            <a:r>
              <a:rPr sz="2201" spc="-41" dirty="0">
                <a:solidFill>
                  <a:srgbClr val="FF0000"/>
                </a:solidFill>
                <a:latin typeface="Arial MT"/>
                <a:cs typeface="Arial MT"/>
              </a:rPr>
              <a:t> </a:t>
            </a:r>
            <a:r>
              <a:rPr sz="2201" dirty="0">
                <a:solidFill>
                  <a:srgbClr val="FF0000"/>
                </a:solidFill>
                <a:latin typeface="Arial MT"/>
                <a:cs typeface="Arial MT"/>
              </a:rPr>
              <a:t>a</a:t>
            </a:r>
            <a:r>
              <a:rPr sz="2201" spc="-30" dirty="0">
                <a:solidFill>
                  <a:srgbClr val="FF0000"/>
                </a:solidFill>
                <a:latin typeface="Arial MT"/>
                <a:cs typeface="Arial MT"/>
              </a:rPr>
              <a:t> </a:t>
            </a:r>
            <a:r>
              <a:rPr sz="2201" dirty="0">
                <a:solidFill>
                  <a:srgbClr val="FF0000"/>
                </a:solidFill>
                <a:latin typeface="Arial MT"/>
                <a:cs typeface="Arial MT"/>
              </a:rPr>
              <a:t>liquid</a:t>
            </a:r>
            <a:r>
              <a:rPr sz="2201" spc="-46" dirty="0">
                <a:solidFill>
                  <a:srgbClr val="FF0000"/>
                </a:solidFill>
                <a:latin typeface="Arial MT"/>
                <a:cs typeface="Arial MT"/>
              </a:rPr>
              <a:t> </a:t>
            </a:r>
            <a:r>
              <a:rPr sz="2201" spc="-10" dirty="0">
                <a:solidFill>
                  <a:srgbClr val="FF0000"/>
                </a:solidFill>
                <a:latin typeface="Arial MT"/>
                <a:cs typeface="Arial MT"/>
              </a:rPr>
              <a:t>solvent.</a:t>
            </a:r>
            <a:endParaRPr sz="2201" dirty="0">
              <a:latin typeface="Arial MT"/>
              <a:cs typeface="Arial MT"/>
            </a:endParaRPr>
          </a:p>
          <a:p>
            <a:pPr marL="303537" indent="-290837">
              <a:spcBef>
                <a:spcPts val="2315"/>
              </a:spcBef>
              <a:buChar char="•"/>
              <a:tabLst>
                <a:tab pos="303537" algn="l"/>
              </a:tabLst>
            </a:pPr>
            <a:r>
              <a:rPr sz="2201" dirty="0">
                <a:latin typeface="Arial MT"/>
                <a:cs typeface="Arial MT"/>
              </a:rPr>
              <a:t>Analysis</a:t>
            </a:r>
            <a:r>
              <a:rPr sz="2201" spc="-46" dirty="0">
                <a:latin typeface="Arial MT"/>
                <a:cs typeface="Arial MT"/>
              </a:rPr>
              <a:t> </a:t>
            </a:r>
            <a:r>
              <a:rPr sz="2201" dirty="0">
                <a:latin typeface="Arial MT"/>
                <a:cs typeface="Arial MT"/>
              </a:rPr>
              <a:t>of</a:t>
            </a:r>
            <a:r>
              <a:rPr sz="2201" spc="-46" dirty="0">
                <a:latin typeface="Arial MT"/>
                <a:cs typeface="Arial MT"/>
              </a:rPr>
              <a:t> </a:t>
            </a:r>
            <a:r>
              <a:rPr sz="2201" dirty="0">
                <a:latin typeface="Arial MT"/>
                <a:cs typeface="Arial MT"/>
              </a:rPr>
              <a:t>the</a:t>
            </a:r>
            <a:r>
              <a:rPr sz="2201" spc="-30" dirty="0">
                <a:latin typeface="Arial MT"/>
                <a:cs typeface="Arial MT"/>
              </a:rPr>
              <a:t> </a:t>
            </a:r>
            <a:r>
              <a:rPr sz="2201" dirty="0">
                <a:latin typeface="Arial MT"/>
                <a:cs typeface="Arial MT"/>
              </a:rPr>
              <a:t>gases</a:t>
            </a:r>
            <a:r>
              <a:rPr sz="2201" spc="-46" dirty="0">
                <a:latin typeface="Arial MT"/>
                <a:cs typeface="Arial MT"/>
              </a:rPr>
              <a:t> </a:t>
            </a:r>
            <a:r>
              <a:rPr sz="2201" dirty="0">
                <a:latin typeface="Arial MT"/>
                <a:cs typeface="Arial MT"/>
              </a:rPr>
              <a:t>can</a:t>
            </a:r>
            <a:r>
              <a:rPr sz="2201" spc="-46" dirty="0">
                <a:latin typeface="Arial MT"/>
                <a:cs typeface="Arial MT"/>
              </a:rPr>
              <a:t> </a:t>
            </a:r>
            <a:r>
              <a:rPr sz="2201" dirty="0">
                <a:latin typeface="Arial MT"/>
                <a:cs typeface="Arial MT"/>
              </a:rPr>
              <a:t>be</a:t>
            </a:r>
            <a:r>
              <a:rPr sz="2201" spc="-46" dirty="0">
                <a:latin typeface="Arial MT"/>
                <a:cs typeface="Arial MT"/>
              </a:rPr>
              <a:t> </a:t>
            </a:r>
            <a:r>
              <a:rPr sz="2201" dirty="0">
                <a:latin typeface="Arial MT"/>
                <a:cs typeface="Arial MT"/>
              </a:rPr>
              <a:t>done</a:t>
            </a:r>
            <a:r>
              <a:rPr sz="2201" spc="-30" dirty="0">
                <a:latin typeface="Arial MT"/>
                <a:cs typeface="Arial MT"/>
              </a:rPr>
              <a:t> </a:t>
            </a:r>
            <a:r>
              <a:rPr sz="2201" dirty="0">
                <a:latin typeface="Arial MT"/>
                <a:cs typeface="Arial MT"/>
              </a:rPr>
              <a:t>in</a:t>
            </a:r>
            <a:r>
              <a:rPr sz="2201" spc="-41" dirty="0">
                <a:latin typeface="Arial MT"/>
                <a:cs typeface="Arial MT"/>
              </a:rPr>
              <a:t> </a:t>
            </a:r>
            <a:r>
              <a:rPr sz="2201" dirty="0">
                <a:latin typeface="Arial MT"/>
                <a:cs typeface="Arial MT"/>
              </a:rPr>
              <a:t>a</a:t>
            </a:r>
            <a:r>
              <a:rPr sz="2201" spc="-41" dirty="0">
                <a:latin typeface="Arial MT"/>
                <a:cs typeface="Arial MT"/>
              </a:rPr>
              <a:t> </a:t>
            </a:r>
            <a:r>
              <a:rPr sz="2201" dirty="0">
                <a:latin typeface="Arial MT"/>
                <a:cs typeface="Arial MT"/>
              </a:rPr>
              <a:t>number</a:t>
            </a:r>
            <a:r>
              <a:rPr sz="2201" spc="-20" dirty="0">
                <a:latin typeface="Arial MT"/>
                <a:cs typeface="Arial MT"/>
              </a:rPr>
              <a:t> </a:t>
            </a:r>
            <a:r>
              <a:rPr sz="2201" dirty="0">
                <a:latin typeface="Arial MT"/>
                <a:cs typeface="Arial MT"/>
              </a:rPr>
              <a:t>of</a:t>
            </a:r>
            <a:r>
              <a:rPr sz="2201" spc="-46" dirty="0">
                <a:latin typeface="Arial MT"/>
                <a:cs typeface="Arial MT"/>
              </a:rPr>
              <a:t> </a:t>
            </a:r>
            <a:r>
              <a:rPr sz="2201" spc="-10" dirty="0">
                <a:latin typeface="Arial MT"/>
                <a:cs typeface="Arial MT"/>
              </a:rPr>
              <a:t>ways.</a:t>
            </a:r>
            <a:endParaRPr sz="2201" dirty="0">
              <a:latin typeface="Arial MT"/>
              <a:cs typeface="Arial MT"/>
            </a:endParaRPr>
          </a:p>
          <a:p>
            <a:pPr marL="241306" marR="31751" indent="-228606">
              <a:lnSpc>
                <a:spcPct val="150000"/>
              </a:lnSpc>
              <a:spcBef>
                <a:spcPts val="1010"/>
              </a:spcBef>
              <a:buChar char="•"/>
              <a:tabLst>
                <a:tab pos="241306" algn="l"/>
              </a:tabLst>
            </a:pPr>
            <a:r>
              <a:rPr sz="2201" dirty="0">
                <a:solidFill>
                  <a:srgbClr val="FF0000"/>
                </a:solidFill>
                <a:latin typeface="Arial MT"/>
                <a:cs typeface="Arial MT"/>
              </a:rPr>
              <a:t>Most</a:t>
            </a:r>
            <a:r>
              <a:rPr sz="2201" spc="-50" dirty="0">
                <a:solidFill>
                  <a:srgbClr val="FF0000"/>
                </a:solidFill>
                <a:latin typeface="Arial MT"/>
                <a:cs typeface="Arial MT"/>
              </a:rPr>
              <a:t> </a:t>
            </a:r>
            <a:r>
              <a:rPr sz="2201" dirty="0">
                <a:solidFill>
                  <a:srgbClr val="FF0000"/>
                </a:solidFill>
                <a:latin typeface="Arial MT"/>
                <a:cs typeface="Arial MT"/>
              </a:rPr>
              <a:t>organic</a:t>
            </a:r>
            <a:r>
              <a:rPr sz="2201" spc="-60" dirty="0">
                <a:solidFill>
                  <a:srgbClr val="FF0000"/>
                </a:solidFill>
                <a:latin typeface="Arial MT"/>
                <a:cs typeface="Arial MT"/>
              </a:rPr>
              <a:t> </a:t>
            </a:r>
            <a:r>
              <a:rPr sz="2201" dirty="0">
                <a:solidFill>
                  <a:srgbClr val="FF0000"/>
                </a:solidFill>
                <a:latin typeface="Arial MT"/>
                <a:cs typeface="Arial MT"/>
              </a:rPr>
              <a:t>vapours</a:t>
            </a:r>
            <a:r>
              <a:rPr sz="2201" spc="-34" dirty="0">
                <a:solidFill>
                  <a:srgbClr val="FF0000"/>
                </a:solidFill>
                <a:latin typeface="Arial MT"/>
                <a:cs typeface="Arial MT"/>
              </a:rPr>
              <a:t> </a:t>
            </a:r>
            <a:r>
              <a:rPr sz="2201" dirty="0">
                <a:latin typeface="Arial MT"/>
                <a:cs typeface="Arial MT"/>
              </a:rPr>
              <a:t>are</a:t>
            </a:r>
            <a:r>
              <a:rPr sz="2201" spc="-46" dirty="0">
                <a:latin typeface="Arial MT"/>
                <a:cs typeface="Arial MT"/>
              </a:rPr>
              <a:t> </a:t>
            </a:r>
            <a:r>
              <a:rPr sz="2201" dirty="0">
                <a:solidFill>
                  <a:srgbClr val="FF0000"/>
                </a:solidFill>
                <a:latin typeface="Arial MT"/>
                <a:cs typeface="Arial MT"/>
              </a:rPr>
              <a:t>analysed</a:t>
            </a:r>
            <a:r>
              <a:rPr sz="2201" spc="-55" dirty="0">
                <a:solidFill>
                  <a:srgbClr val="FF0000"/>
                </a:solidFill>
                <a:latin typeface="Arial MT"/>
                <a:cs typeface="Arial MT"/>
              </a:rPr>
              <a:t> </a:t>
            </a:r>
            <a:r>
              <a:rPr sz="2201" dirty="0">
                <a:solidFill>
                  <a:srgbClr val="FF0000"/>
                </a:solidFill>
                <a:latin typeface="Arial MT"/>
                <a:cs typeface="Arial MT"/>
              </a:rPr>
              <a:t>by</a:t>
            </a:r>
            <a:r>
              <a:rPr sz="2201" spc="-60" dirty="0">
                <a:solidFill>
                  <a:srgbClr val="FF0000"/>
                </a:solidFill>
                <a:latin typeface="Arial MT"/>
                <a:cs typeface="Arial MT"/>
              </a:rPr>
              <a:t> </a:t>
            </a:r>
            <a:r>
              <a:rPr sz="2201" dirty="0">
                <a:solidFill>
                  <a:srgbClr val="FF0000"/>
                </a:solidFill>
                <a:latin typeface="Arial MT"/>
                <a:cs typeface="Arial MT"/>
              </a:rPr>
              <a:t>gas</a:t>
            </a:r>
            <a:r>
              <a:rPr sz="2201" spc="-60" dirty="0">
                <a:solidFill>
                  <a:srgbClr val="FF0000"/>
                </a:solidFill>
                <a:latin typeface="Arial MT"/>
                <a:cs typeface="Arial MT"/>
              </a:rPr>
              <a:t> </a:t>
            </a:r>
            <a:r>
              <a:rPr sz="2201" spc="-10" dirty="0">
                <a:solidFill>
                  <a:srgbClr val="FF0000"/>
                </a:solidFill>
                <a:latin typeface="Arial MT"/>
                <a:cs typeface="Arial MT"/>
              </a:rPr>
              <a:t>chromatographic</a:t>
            </a:r>
            <a:r>
              <a:rPr sz="2201" spc="-30" dirty="0">
                <a:solidFill>
                  <a:srgbClr val="FF0000"/>
                </a:solidFill>
                <a:latin typeface="Arial MT"/>
                <a:cs typeface="Arial MT"/>
              </a:rPr>
              <a:t> </a:t>
            </a:r>
            <a:r>
              <a:rPr sz="2201" dirty="0">
                <a:solidFill>
                  <a:srgbClr val="FF0000"/>
                </a:solidFill>
                <a:latin typeface="Arial MT"/>
                <a:cs typeface="Arial MT"/>
              </a:rPr>
              <a:t>technique</a:t>
            </a:r>
            <a:r>
              <a:rPr sz="2201" spc="-60" dirty="0">
                <a:solidFill>
                  <a:srgbClr val="FF0000"/>
                </a:solidFill>
                <a:latin typeface="Arial MT"/>
                <a:cs typeface="Arial MT"/>
              </a:rPr>
              <a:t> </a:t>
            </a:r>
            <a:r>
              <a:rPr sz="2201" dirty="0">
                <a:latin typeface="Arial MT"/>
                <a:cs typeface="Arial MT"/>
              </a:rPr>
              <a:t>which</a:t>
            </a:r>
            <a:r>
              <a:rPr sz="2201" spc="-70" dirty="0">
                <a:latin typeface="Arial MT"/>
                <a:cs typeface="Arial MT"/>
              </a:rPr>
              <a:t> </a:t>
            </a:r>
            <a:r>
              <a:rPr sz="2201" spc="-10" dirty="0">
                <a:latin typeface="Arial MT"/>
                <a:cs typeface="Arial MT"/>
              </a:rPr>
              <a:t>directly </a:t>
            </a:r>
            <a:r>
              <a:rPr sz="2201" dirty="0">
                <a:latin typeface="Arial MT"/>
                <a:cs typeface="Arial MT"/>
              </a:rPr>
              <a:t>uses</a:t>
            </a:r>
            <a:r>
              <a:rPr sz="2201" spc="-75" dirty="0">
                <a:latin typeface="Arial MT"/>
                <a:cs typeface="Arial MT"/>
              </a:rPr>
              <a:t> </a:t>
            </a:r>
            <a:r>
              <a:rPr sz="2201" dirty="0">
                <a:latin typeface="Arial MT"/>
                <a:cs typeface="Arial MT"/>
              </a:rPr>
              <a:t>the</a:t>
            </a:r>
            <a:r>
              <a:rPr sz="2201" spc="-65" dirty="0">
                <a:latin typeface="Arial MT"/>
                <a:cs typeface="Arial MT"/>
              </a:rPr>
              <a:t> </a:t>
            </a:r>
            <a:r>
              <a:rPr sz="2201" dirty="0">
                <a:latin typeface="Arial MT"/>
                <a:cs typeface="Arial MT"/>
              </a:rPr>
              <a:t>adsorption</a:t>
            </a:r>
            <a:r>
              <a:rPr sz="2201" spc="-65" dirty="0">
                <a:latin typeface="Arial MT"/>
                <a:cs typeface="Arial MT"/>
              </a:rPr>
              <a:t> </a:t>
            </a:r>
            <a:r>
              <a:rPr sz="2201" spc="-10" dirty="0">
                <a:latin typeface="Arial MT"/>
                <a:cs typeface="Arial MT"/>
              </a:rPr>
              <a:t>principle.</a:t>
            </a:r>
            <a:endParaRPr sz="2201" dirty="0">
              <a:latin typeface="Arial MT"/>
              <a:cs typeface="Arial MT"/>
            </a:endParaRPr>
          </a:p>
          <a:p>
            <a:pPr marL="241306" marR="226701" indent="-228606">
              <a:lnSpc>
                <a:spcPct val="150000"/>
              </a:lnSpc>
              <a:spcBef>
                <a:spcPts val="994"/>
              </a:spcBef>
              <a:buChar char="•"/>
              <a:tabLst>
                <a:tab pos="241306" algn="l"/>
              </a:tabLst>
            </a:pPr>
            <a:r>
              <a:rPr sz="2201" dirty="0">
                <a:latin typeface="Arial MT"/>
                <a:cs typeface="Arial MT"/>
              </a:rPr>
              <a:t>But</a:t>
            </a:r>
            <a:r>
              <a:rPr sz="2201" spc="-70" dirty="0">
                <a:latin typeface="Arial MT"/>
                <a:cs typeface="Arial MT"/>
              </a:rPr>
              <a:t> </a:t>
            </a:r>
            <a:r>
              <a:rPr sz="2201" dirty="0">
                <a:latin typeface="Arial MT"/>
                <a:cs typeface="Arial MT"/>
              </a:rPr>
              <a:t>because</a:t>
            </a:r>
            <a:r>
              <a:rPr sz="2201" spc="-65" dirty="0">
                <a:latin typeface="Arial MT"/>
                <a:cs typeface="Arial MT"/>
              </a:rPr>
              <a:t> </a:t>
            </a:r>
            <a:r>
              <a:rPr sz="2201" dirty="0">
                <a:latin typeface="Arial MT"/>
                <a:cs typeface="Arial MT"/>
              </a:rPr>
              <a:t>of</a:t>
            </a:r>
            <a:r>
              <a:rPr sz="2201" spc="-65" dirty="0">
                <a:latin typeface="Arial MT"/>
                <a:cs typeface="Arial MT"/>
              </a:rPr>
              <a:t> </a:t>
            </a:r>
            <a:r>
              <a:rPr sz="2201" dirty="0">
                <a:latin typeface="Arial MT"/>
                <a:cs typeface="Arial MT"/>
              </a:rPr>
              <a:t>many</a:t>
            </a:r>
            <a:r>
              <a:rPr sz="2201" spc="-46" dirty="0">
                <a:latin typeface="Arial MT"/>
                <a:cs typeface="Arial MT"/>
              </a:rPr>
              <a:t> </a:t>
            </a:r>
            <a:r>
              <a:rPr sz="2201" dirty="0">
                <a:latin typeface="Arial MT"/>
                <a:cs typeface="Arial MT"/>
              </a:rPr>
              <a:t>problems</a:t>
            </a:r>
            <a:r>
              <a:rPr sz="2201" spc="-50" dirty="0">
                <a:latin typeface="Arial MT"/>
                <a:cs typeface="Arial MT"/>
              </a:rPr>
              <a:t> </a:t>
            </a:r>
            <a:r>
              <a:rPr sz="2201" dirty="0">
                <a:latin typeface="Arial MT"/>
                <a:cs typeface="Arial MT"/>
              </a:rPr>
              <a:t>associated</a:t>
            </a:r>
            <a:r>
              <a:rPr sz="2201" spc="-70" dirty="0">
                <a:latin typeface="Arial MT"/>
                <a:cs typeface="Arial MT"/>
              </a:rPr>
              <a:t> </a:t>
            </a:r>
            <a:r>
              <a:rPr sz="2201" dirty="0">
                <a:latin typeface="Arial MT"/>
                <a:cs typeface="Arial MT"/>
              </a:rPr>
              <a:t>with</a:t>
            </a:r>
            <a:r>
              <a:rPr sz="2201" spc="-60" dirty="0">
                <a:latin typeface="Arial MT"/>
                <a:cs typeface="Arial MT"/>
              </a:rPr>
              <a:t> </a:t>
            </a:r>
            <a:r>
              <a:rPr sz="2201" dirty="0">
                <a:latin typeface="Arial MT"/>
                <a:cs typeface="Arial MT"/>
              </a:rPr>
              <a:t>desorption</a:t>
            </a:r>
            <a:r>
              <a:rPr sz="2201" spc="-50" dirty="0">
                <a:latin typeface="Arial MT"/>
                <a:cs typeface="Arial MT"/>
              </a:rPr>
              <a:t> </a:t>
            </a:r>
            <a:r>
              <a:rPr sz="2201" dirty="0">
                <a:latin typeface="Arial MT"/>
                <a:cs typeface="Arial MT"/>
              </a:rPr>
              <a:t>of</a:t>
            </a:r>
            <a:r>
              <a:rPr sz="2201" spc="-65" dirty="0">
                <a:latin typeface="Arial MT"/>
                <a:cs typeface="Arial MT"/>
              </a:rPr>
              <a:t> </a:t>
            </a:r>
            <a:r>
              <a:rPr sz="2201" dirty="0">
                <a:latin typeface="Arial MT"/>
                <a:cs typeface="Arial MT"/>
              </a:rPr>
              <a:t>the</a:t>
            </a:r>
            <a:r>
              <a:rPr sz="2201" spc="-60" dirty="0">
                <a:latin typeface="Arial MT"/>
                <a:cs typeface="Arial MT"/>
              </a:rPr>
              <a:t> </a:t>
            </a:r>
            <a:r>
              <a:rPr sz="2201" dirty="0">
                <a:latin typeface="Arial MT"/>
                <a:cs typeface="Arial MT"/>
              </a:rPr>
              <a:t>gases,</a:t>
            </a:r>
            <a:r>
              <a:rPr sz="2201" spc="-70" dirty="0">
                <a:latin typeface="Arial MT"/>
                <a:cs typeface="Arial MT"/>
              </a:rPr>
              <a:t> </a:t>
            </a:r>
            <a:r>
              <a:rPr sz="2201" spc="-10" dirty="0">
                <a:latin typeface="Arial MT"/>
                <a:cs typeface="Arial MT"/>
              </a:rPr>
              <a:t>adsorptive </a:t>
            </a:r>
            <a:r>
              <a:rPr sz="2201" dirty="0">
                <a:latin typeface="Arial MT"/>
                <a:cs typeface="Arial MT"/>
              </a:rPr>
              <a:t>sampling</a:t>
            </a:r>
            <a:r>
              <a:rPr sz="2201" spc="-60" dirty="0">
                <a:latin typeface="Arial MT"/>
                <a:cs typeface="Arial MT"/>
              </a:rPr>
              <a:t> </a:t>
            </a:r>
            <a:r>
              <a:rPr sz="2201" dirty="0">
                <a:latin typeface="Arial MT"/>
                <a:cs typeface="Arial MT"/>
              </a:rPr>
              <a:t>is</a:t>
            </a:r>
            <a:r>
              <a:rPr sz="2201" spc="-50" dirty="0">
                <a:latin typeface="Arial MT"/>
                <a:cs typeface="Arial MT"/>
              </a:rPr>
              <a:t> </a:t>
            </a:r>
            <a:r>
              <a:rPr sz="2201" dirty="0">
                <a:latin typeface="Arial MT"/>
                <a:cs typeface="Arial MT"/>
              </a:rPr>
              <a:t>not</a:t>
            </a:r>
            <a:r>
              <a:rPr sz="2201" spc="-60" dirty="0">
                <a:latin typeface="Arial MT"/>
                <a:cs typeface="Arial MT"/>
              </a:rPr>
              <a:t> </a:t>
            </a:r>
            <a:r>
              <a:rPr sz="2201" dirty="0">
                <a:latin typeface="Arial MT"/>
                <a:cs typeface="Arial MT"/>
              </a:rPr>
              <a:t>much</a:t>
            </a:r>
            <a:r>
              <a:rPr sz="2201" spc="-46" dirty="0">
                <a:latin typeface="Arial MT"/>
                <a:cs typeface="Arial MT"/>
              </a:rPr>
              <a:t> </a:t>
            </a:r>
            <a:r>
              <a:rPr sz="2201" dirty="0">
                <a:latin typeface="Arial MT"/>
                <a:cs typeface="Arial MT"/>
              </a:rPr>
              <a:t>used</a:t>
            </a:r>
            <a:r>
              <a:rPr sz="2201" spc="-55" dirty="0">
                <a:latin typeface="Arial MT"/>
                <a:cs typeface="Arial MT"/>
              </a:rPr>
              <a:t> </a:t>
            </a:r>
            <a:r>
              <a:rPr sz="2201" dirty="0">
                <a:latin typeface="Arial MT"/>
                <a:cs typeface="Arial MT"/>
              </a:rPr>
              <a:t>for</a:t>
            </a:r>
            <a:r>
              <a:rPr sz="2201" spc="-46" dirty="0">
                <a:latin typeface="Arial MT"/>
                <a:cs typeface="Arial MT"/>
              </a:rPr>
              <a:t> </a:t>
            </a:r>
            <a:r>
              <a:rPr sz="2201" dirty="0">
                <a:latin typeface="Arial MT"/>
                <a:cs typeface="Arial MT"/>
              </a:rPr>
              <a:t>pollutant</a:t>
            </a:r>
            <a:r>
              <a:rPr sz="2201" spc="-65" dirty="0">
                <a:latin typeface="Arial MT"/>
                <a:cs typeface="Arial MT"/>
              </a:rPr>
              <a:t> </a:t>
            </a:r>
            <a:r>
              <a:rPr sz="2201" spc="-10" dirty="0">
                <a:latin typeface="Arial MT"/>
                <a:cs typeface="Arial MT"/>
              </a:rPr>
              <a:t>measurements.</a:t>
            </a:r>
            <a:endParaRPr sz="2201" dirty="0">
              <a:latin typeface="Arial MT"/>
              <a:cs typeface="Arial MT"/>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xfrm>
            <a:off x="8993409" y="6464911"/>
            <a:ext cx="198636" cy="156068"/>
          </a:xfrm>
          <a:prstGeom prst="rect">
            <a:avLst/>
          </a:prstGeom>
        </p:spPr>
        <p:txBody>
          <a:bodyPr vert="horz" wrap="square" lIns="0" tIns="0" rIns="0" bIns="0" rtlCol="0">
            <a:spAutoFit/>
          </a:bodyPr>
          <a:lstStyle/>
          <a:p>
            <a:pPr marL="38101">
              <a:lnSpc>
                <a:spcPts val="1239"/>
              </a:lnSpc>
            </a:pPr>
            <a:fld id="{81D60167-4931-47E6-BA6A-407CBD079E47}" type="slidenum">
              <a:rPr spc="-25" dirty="0"/>
              <a:pPr marL="38101">
                <a:lnSpc>
                  <a:spcPts val="1239"/>
                </a:lnSpc>
              </a:pPr>
              <a:t>23</a:t>
            </a:fld>
            <a:endParaRPr spc="-25" dirty="0"/>
          </a:p>
        </p:txBody>
      </p:sp>
      <p:sp>
        <p:nvSpPr>
          <p:cNvPr id="2" name="object 2"/>
          <p:cNvSpPr txBox="1">
            <a:spLocks noGrp="1"/>
          </p:cNvSpPr>
          <p:nvPr>
            <p:ph type="title"/>
          </p:nvPr>
        </p:nvSpPr>
        <p:spPr>
          <a:xfrm>
            <a:off x="470371" y="133351"/>
            <a:ext cx="7600956" cy="892423"/>
          </a:xfrm>
          <a:prstGeom prst="rect">
            <a:avLst/>
          </a:prstGeom>
        </p:spPr>
        <p:txBody>
          <a:bodyPr vert="horz" wrap="square" lIns="0" tIns="396112" rIns="0" bIns="0" rtlCol="0">
            <a:spAutoFit/>
          </a:bodyPr>
          <a:lstStyle/>
          <a:p>
            <a:pPr marL="131448">
              <a:spcBef>
                <a:spcPts val="105"/>
              </a:spcBef>
            </a:pPr>
            <a:r>
              <a:rPr spc="-10" dirty="0"/>
              <a:t>Freeze-</a:t>
            </a:r>
            <a:r>
              <a:rPr dirty="0"/>
              <a:t>out</a:t>
            </a:r>
            <a:r>
              <a:rPr spc="-5" dirty="0"/>
              <a:t> </a:t>
            </a:r>
            <a:r>
              <a:rPr spc="-10" dirty="0"/>
              <a:t>Sampling</a:t>
            </a:r>
          </a:p>
        </p:txBody>
      </p:sp>
      <p:sp>
        <p:nvSpPr>
          <p:cNvPr id="3" name="object 3"/>
          <p:cNvSpPr txBox="1"/>
          <p:nvPr/>
        </p:nvSpPr>
        <p:spPr>
          <a:xfrm>
            <a:off x="517348" y="1143000"/>
            <a:ext cx="10271125" cy="5571525"/>
          </a:xfrm>
          <a:prstGeom prst="rect">
            <a:avLst/>
          </a:prstGeom>
        </p:spPr>
        <p:txBody>
          <a:bodyPr vert="horz" wrap="square" lIns="0" tIns="12700" rIns="0" bIns="0" rtlCol="0">
            <a:spAutoFit/>
          </a:bodyPr>
          <a:lstStyle/>
          <a:p>
            <a:pPr marL="240036" marR="5081" indent="-227336">
              <a:lnSpc>
                <a:spcPct val="150000"/>
              </a:lnSpc>
              <a:spcBef>
                <a:spcPts val="100"/>
              </a:spcBef>
              <a:buChar char="•"/>
              <a:tabLst>
                <a:tab pos="241306" algn="l"/>
              </a:tabLst>
            </a:pPr>
            <a:r>
              <a:rPr sz="2400" dirty="0">
                <a:solidFill>
                  <a:srgbClr val="FF0000"/>
                </a:solidFill>
                <a:latin typeface="Arial MT"/>
                <a:cs typeface="Arial MT"/>
              </a:rPr>
              <a:t>In</a:t>
            </a:r>
            <a:r>
              <a:rPr sz="2400" spc="-65" dirty="0">
                <a:solidFill>
                  <a:srgbClr val="FF0000"/>
                </a:solidFill>
                <a:latin typeface="Arial MT"/>
                <a:cs typeface="Arial MT"/>
              </a:rPr>
              <a:t> </a:t>
            </a:r>
            <a:r>
              <a:rPr sz="2400" spc="-20" dirty="0">
                <a:solidFill>
                  <a:srgbClr val="FF0000"/>
                </a:solidFill>
                <a:latin typeface="Arial MT"/>
                <a:cs typeface="Arial MT"/>
              </a:rPr>
              <a:t>freeze-</a:t>
            </a:r>
            <a:r>
              <a:rPr sz="2400" dirty="0">
                <a:solidFill>
                  <a:srgbClr val="FF0000"/>
                </a:solidFill>
                <a:latin typeface="Arial MT"/>
                <a:cs typeface="Arial MT"/>
              </a:rPr>
              <a:t>out</a:t>
            </a:r>
            <a:r>
              <a:rPr sz="2400" spc="-55" dirty="0">
                <a:solidFill>
                  <a:srgbClr val="FF0000"/>
                </a:solidFill>
                <a:latin typeface="Arial MT"/>
                <a:cs typeface="Arial MT"/>
              </a:rPr>
              <a:t> </a:t>
            </a:r>
            <a:r>
              <a:rPr sz="2400" dirty="0">
                <a:solidFill>
                  <a:srgbClr val="FF0000"/>
                </a:solidFill>
                <a:latin typeface="Arial MT"/>
                <a:cs typeface="Arial MT"/>
              </a:rPr>
              <a:t>sampling</a:t>
            </a:r>
            <a:r>
              <a:rPr sz="2400" spc="-41" dirty="0">
                <a:solidFill>
                  <a:srgbClr val="FF0000"/>
                </a:solidFill>
                <a:latin typeface="Arial MT"/>
                <a:cs typeface="Arial MT"/>
              </a:rPr>
              <a:t> </a:t>
            </a:r>
            <a:r>
              <a:rPr sz="2400" dirty="0">
                <a:solidFill>
                  <a:srgbClr val="FF0000"/>
                </a:solidFill>
                <a:latin typeface="Arial MT"/>
                <a:cs typeface="Arial MT"/>
              </a:rPr>
              <a:t>a</a:t>
            </a:r>
            <a:r>
              <a:rPr sz="2400" spc="-55" dirty="0">
                <a:solidFill>
                  <a:srgbClr val="FF0000"/>
                </a:solidFill>
                <a:latin typeface="Arial MT"/>
                <a:cs typeface="Arial MT"/>
              </a:rPr>
              <a:t> </a:t>
            </a:r>
            <a:r>
              <a:rPr sz="2400" dirty="0">
                <a:solidFill>
                  <a:srgbClr val="FF0000"/>
                </a:solidFill>
                <a:latin typeface="Arial MT"/>
                <a:cs typeface="Arial MT"/>
              </a:rPr>
              <a:t>series</a:t>
            </a:r>
            <a:r>
              <a:rPr sz="2400" spc="-46" dirty="0">
                <a:solidFill>
                  <a:srgbClr val="FF0000"/>
                </a:solidFill>
                <a:latin typeface="Arial MT"/>
                <a:cs typeface="Arial MT"/>
              </a:rPr>
              <a:t> </a:t>
            </a:r>
            <a:r>
              <a:rPr sz="2400" dirty="0">
                <a:solidFill>
                  <a:srgbClr val="FF0000"/>
                </a:solidFill>
                <a:latin typeface="Arial MT"/>
                <a:cs typeface="Arial MT"/>
              </a:rPr>
              <a:t>of</a:t>
            </a:r>
            <a:r>
              <a:rPr sz="2400" spc="-65" dirty="0">
                <a:solidFill>
                  <a:srgbClr val="FF0000"/>
                </a:solidFill>
                <a:latin typeface="Arial MT"/>
                <a:cs typeface="Arial MT"/>
              </a:rPr>
              <a:t> </a:t>
            </a:r>
            <a:r>
              <a:rPr sz="2400" dirty="0">
                <a:solidFill>
                  <a:srgbClr val="FF0000"/>
                </a:solidFill>
                <a:latin typeface="Arial MT"/>
                <a:cs typeface="Arial MT"/>
              </a:rPr>
              <a:t>cold</a:t>
            </a:r>
            <a:r>
              <a:rPr sz="2400" spc="-55" dirty="0">
                <a:solidFill>
                  <a:srgbClr val="FF0000"/>
                </a:solidFill>
                <a:latin typeface="Arial MT"/>
                <a:cs typeface="Arial MT"/>
              </a:rPr>
              <a:t> </a:t>
            </a:r>
            <a:r>
              <a:rPr sz="2400" dirty="0">
                <a:solidFill>
                  <a:srgbClr val="FF0000"/>
                </a:solidFill>
                <a:latin typeface="Arial MT"/>
                <a:cs typeface="Arial MT"/>
              </a:rPr>
              <a:t>traps</a:t>
            </a:r>
            <a:r>
              <a:rPr sz="2400" dirty="0">
                <a:latin typeface="Arial MT"/>
                <a:cs typeface="Arial MT"/>
              </a:rPr>
              <a:t>,</a:t>
            </a:r>
            <a:r>
              <a:rPr sz="2400" spc="-55" dirty="0">
                <a:latin typeface="Arial MT"/>
                <a:cs typeface="Arial MT"/>
              </a:rPr>
              <a:t> </a:t>
            </a:r>
            <a:r>
              <a:rPr sz="2400" dirty="0">
                <a:latin typeface="Arial MT"/>
                <a:cs typeface="Arial MT"/>
              </a:rPr>
              <a:t>which</a:t>
            </a:r>
            <a:r>
              <a:rPr sz="2400" spc="-55" dirty="0">
                <a:latin typeface="Arial MT"/>
                <a:cs typeface="Arial MT"/>
              </a:rPr>
              <a:t> </a:t>
            </a:r>
            <a:r>
              <a:rPr sz="2400" dirty="0">
                <a:latin typeface="Arial MT"/>
                <a:cs typeface="Arial MT"/>
              </a:rPr>
              <a:t>are</a:t>
            </a:r>
            <a:r>
              <a:rPr sz="2400" spc="-55" dirty="0">
                <a:latin typeface="Arial MT"/>
                <a:cs typeface="Arial MT"/>
              </a:rPr>
              <a:t> </a:t>
            </a:r>
            <a:r>
              <a:rPr sz="2400" dirty="0">
                <a:latin typeface="Arial MT"/>
                <a:cs typeface="Arial MT"/>
              </a:rPr>
              <a:t>maintained</a:t>
            </a:r>
            <a:r>
              <a:rPr sz="2400" spc="-25" dirty="0">
                <a:latin typeface="Arial MT"/>
                <a:cs typeface="Arial MT"/>
              </a:rPr>
              <a:t> at 	</a:t>
            </a:r>
            <a:r>
              <a:rPr sz="2400" spc="-10" dirty="0">
                <a:solidFill>
                  <a:srgbClr val="FF0000"/>
                </a:solidFill>
                <a:latin typeface="Arial MT"/>
                <a:cs typeface="Arial MT"/>
              </a:rPr>
              <a:t>progressively</a:t>
            </a:r>
            <a:r>
              <a:rPr sz="2400" spc="-46" dirty="0">
                <a:solidFill>
                  <a:srgbClr val="FF0000"/>
                </a:solidFill>
                <a:latin typeface="Arial MT"/>
                <a:cs typeface="Arial MT"/>
              </a:rPr>
              <a:t> </a:t>
            </a:r>
            <a:r>
              <a:rPr sz="2400" dirty="0">
                <a:solidFill>
                  <a:srgbClr val="FF0000"/>
                </a:solidFill>
                <a:latin typeface="Arial MT"/>
                <a:cs typeface="Arial MT"/>
              </a:rPr>
              <a:t>lower</a:t>
            </a:r>
            <a:r>
              <a:rPr sz="2400" spc="-34" dirty="0">
                <a:solidFill>
                  <a:srgbClr val="FF0000"/>
                </a:solidFill>
                <a:latin typeface="Arial MT"/>
                <a:cs typeface="Arial MT"/>
              </a:rPr>
              <a:t> </a:t>
            </a:r>
            <a:r>
              <a:rPr sz="2400" dirty="0">
                <a:solidFill>
                  <a:srgbClr val="FF0000"/>
                </a:solidFill>
                <a:latin typeface="Arial MT"/>
                <a:cs typeface="Arial MT"/>
              </a:rPr>
              <a:t>temperature</a:t>
            </a:r>
            <a:r>
              <a:rPr sz="2400" dirty="0">
                <a:latin typeface="Arial MT"/>
                <a:cs typeface="Arial MT"/>
              </a:rPr>
              <a:t>,</a:t>
            </a:r>
            <a:r>
              <a:rPr sz="2400" spc="-80" dirty="0">
                <a:latin typeface="Arial MT"/>
                <a:cs typeface="Arial MT"/>
              </a:rPr>
              <a:t> </a:t>
            </a:r>
            <a:r>
              <a:rPr sz="2400" dirty="0">
                <a:latin typeface="Arial MT"/>
                <a:cs typeface="Arial MT"/>
              </a:rPr>
              <a:t>are</a:t>
            </a:r>
            <a:r>
              <a:rPr sz="2400" spc="-60" dirty="0">
                <a:latin typeface="Arial MT"/>
                <a:cs typeface="Arial MT"/>
              </a:rPr>
              <a:t> </a:t>
            </a:r>
            <a:r>
              <a:rPr sz="2400" dirty="0">
                <a:latin typeface="Arial MT"/>
                <a:cs typeface="Arial MT"/>
              </a:rPr>
              <a:t>used</a:t>
            </a:r>
            <a:r>
              <a:rPr sz="2400" spc="-55" dirty="0">
                <a:latin typeface="Arial MT"/>
                <a:cs typeface="Arial MT"/>
              </a:rPr>
              <a:t> </a:t>
            </a:r>
            <a:r>
              <a:rPr sz="2400" dirty="0">
                <a:latin typeface="Arial MT"/>
                <a:cs typeface="Arial MT"/>
              </a:rPr>
              <a:t>to</a:t>
            </a:r>
            <a:r>
              <a:rPr sz="2400" spc="-60" dirty="0">
                <a:latin typeface="Arial MT"/>
                <a:cs typeface="Arial MT"/>
              </a:rPr>
              <a:t> </a:t>
            </a:r>
            <a:r>
              <a:rPr sz="2400" dirty="0">
                <a:latin typeface="Arial MT"/>
                <a:cs typeface="Arial MT"/>
              </a:rPr>
              <a:t>draw</a:t>
            </a:r>
            <a:r>
              <a:rPr sz="2400" spc="-65" dirty="0">
                <a:latin typeface="Arial MT"/>
                <a:cs typeface="Arial MT"/>
              </a:rPr>
              <a:t> </a:t>
            </a:r>
            <a:r>
              <a:rPr sz="2400" dirty="0">
                <a:latin typeface="Arial MT"/>
                <a:cs typeface="Arial MT"/>
              </a:rPr>
              <a:t>the</a:t>
            </a:r>
            <a:r>
              <a:rPr sz="2400" spc="-60" dirty="0">
                <a:latin typeface="Arial MT"/>
                <a:cs typeface="Arial MT"/>
              </a:rPr>
              <a:t> </a:t>
            </a:r>
            <a:r>
              <a:rPr sz="2400" dirty="0">
                <a:latin typeface="Arial MT"/>
                <a:cs typeface="Arial MT"/>
              </a:rPr>
              <a:t>air</a:t>
            </a:r>
            <a:r>
              <a:rPr sz="2400" spc="-60" dirty="0">
                <a:latin typeface="Arial MT"/>
                <a:cs typeface="Arial MT"/>
              </a:rPr>
              <a:t> </a:t>
            </a:r>
            <a:r>
              <a:rPr sz="2400" dirty="0">
                <a:latin typeface="Arial MT"/>
                <a:cs typeface="Arial MT"/>
              </a:rPr>
              <a:t>sample</a:t>
            </a:r>
            <a:r>
              <a:rPr sz="2400" spc="-60" dirty="0">
                <a:latin typeface="Arial MT"/>
                <a:cs typeface="Arial MT"/>
              </a:rPr>
              <a:t> </a:t>
            </a:r>
            <a:r>
              <a:rPr sz="2400" spc="-10" dirty="0">
                <a:latin typeface="Arial MT"/>
                <a:cs typeface="Arial MT"/>
              </a:rPr>
              <a:t>whereby 	</a:t>
            </a:r>
            <a:r>
              <a:rPr sz="2400" dirty="0">
                <a:latin typeface="Arial MT"/>
                <a:cs typeface="Arial MT"/>
              </a:rPr>
              <a:t>the</a:t>
            </a:r>
            <a:r>
              <a:rPr sz="2400" spc="-70" dirty="0">
                <a:latin typeface="Arial MT"/>
                <a:cs typeface="Arial MT"/>
              </a:rPr>
              <a:t> </a:t>
            </a:r>
            <a:r>
              <a:rPr sz="2400" dirty="0">
                <a:solidFill>
                  <a:srgbClr val="FF0000"/>
                </a:solidFill>
                <a:latin typeface="Arial MT"/>
                <a:cs typeface="Arial MT"/>
              </a:rPr>
              <a:t>pollutants</a:t>
            </a:r>
            <a:r>
              <a:rPr sz="2400" spc="-30" dirty="0">
                <a:solidFill>
                  <a:srgbClr val="FF0000"/>
                </a:solidFill>
                <a:latin typeface="Arial MT"/>
                <a:cs typeface="Arial MT"/>
              </a:rPr>
              <a:t> </a:t>
            </a:r>
            <a:r>
              <a:rPr sz="2400" dirty="0">
                <a:solidFill>
                  <a:srgbClr val="FF0000"/>
                </a:solidFill>
                <a:latin typeface="Arial MT"/>
                <a:cs typeface="Arial MT"/>
              </a:rPr>
              <a:t>are</a:t>
            </a:r>
            <a:r>
              <a:rPr sz="2400" spc="-55" dirty="0">
                <a:solidFill>
                  <a:srgbClr val="FF0000"/>
                </a:solidFill>
                <a:latin typeface="Arial MT"/>
                <a:cs typeface="Arial MT"/>
              </a:rPr>
              <a:t> </a:t>
            </a:r>
            <a:r>
              <a:rPr sz="2400" spc="-10" dirty="0">
                <a:solidFill>
                  <a:srgbClr val="FF0000"/>
                </a:solidFill>
                <a:latin typeface="Arial MT"/>
                <a:cs typeface="Arial MT"/>
              </a:rPr>
              <a:t>condensed.</a:t>
            </a:r>
            <a:endParaRPr sz="2400" dirty="0">
              <a:latin typeface="Arial MT"/>
              <a:cs typeface="Arial MT"/>
            </a:endParaRPr>
          </a:p>
          <a:p>
            <a:pPr marL="240036" marR="536588" indent="-227336">
              <a:lnSpc>
                <a:spcPct val="150000"/>
              </a:lnSpc>
              <a:spcBef>
                <a:spcPts val="1001"/>
              </a:spcBef>
              <a:buChar char="•"/>
              <a:tabLst>
                <a:tab pos="241306" algn="l"/>
              </a:tabLst>
            </a:pPr>
            <a:r>
              <a:rPr sz="2400" dirty="0">
                <a:latin typeface="Arial MT"/>
                <a:cs typeface="Arial MT"/>
              </a:rPr>
              <a:t>The</a:t>
            </a:r>
            <a:r>
              <a:rPr sz="2400" spc="-65" dirty="0">
                <a:latin typeface="Arial MT"/>
                <a:cs typeface="Arial MT"/>
              </a:rPr>
              <a:t> </a:t>
            </a:r>
            <a:r>
              <a:rPr sz="2400" dirty="0">
                <a:latin typeface="Arial MT"/>
                <a:cs typeface="Arial MT"/>
              </a:rPr>
              <a:t>traps</a:t>
            </a:r>
            <a:r>
              <a:rPr sz="2400" spc="-65" dirty="0">
                <a:latin typeface="Arial MT"/>
                <a:cs typeface="Arial MT"/>
              </a:rPr>
              <a:t> </a:t>
            </a:r>
            <a:r>
              <a:rPr sz="2400" dirty="0">
                <a:latin typeface="Arial MT"/>
                <a:cs typeface="Arial MT"/>
              </a:rPr>
              <a:t>are</a:t>
            </a:r>
            <a:r>
              <a:rPr sz="2400" spc="-60" dirty="0">
                <a:latin typeface="Arial MT"/>
                <a:cs typeface="Arial MT"/>
              </a:rPr>
              <a:t> </a:t>
            </a:r>
            <a:r>
              <a:rPr sz="2400" dirty="0">
                <a:latin typeface="Arial MT"/>
                <a:cs typeface="Arial MT"/>
              </a:rPr>
              <a:t>brought</a:t>
            </a:r>
            <a:r>
              <a:rPr sz="2400" spc="-65" dirty="0">
                <a:latin typeface="Arial MT"/>
                <a:cs typeface="Arial MT"/>
              </a:rPr>
              <a:t> </a:t>
            </a:r>
            <a:r>
              <a:rPr sz="2400" dirty="0">
                <a:latin typeface="Arial MT"/>
                <a:cs typeface="Arial MT"/>
              </a:rPr>
              <a:t>to</a:t>
            </a:r>
            <a:r>
              <a:rPr sz="2400" spc="-65" dirty="0">
                <a:latin typeface="Arial MT"/>
                <a:cs typeface="Arial MT"/>
              </a:rPr>
              <a:t> </a:t>
            </a:r>
            <a:r>
              <a:rPr sz="2400" dirty="0">
                <a:solidFill>
                  <a:srgbClr val="FF0000"/>
                </a:solidFill>
                <a:latin typeface="Arial MT"/>
                <a:cs typeface="Arial MT"/>
              </a:rPr>
              <a:t>the</a:t>
            </a:r>
            <a:r>
              <a:rPr sz="2400" spc="-75" dirty="0">
                <a:solidFill>
                  <a:srgbClr val="FF0000"/>
                </a:solidFill>
                <a:latin typeface="Arial MT"/>
                <a:cs typeface="Arial MT"/>
              </a:rPr>
              <a:t> </a:t>
            </a:r>
            <a:r>
              <a:rPr sz="2400" spc="-10" dirty="0">
                <a:solidFill>
                  <a:srgbClr val="FF0000"/>
                </a:solidFill>
                <a:latin typeface="Arial MT"/>
                <a:cs typeface="Arial MT"/>
              </a:rPr>
              <a:t>laboratory,</a:t>
            </a:r>
            <a:r>
              <a:rPr sz="2400" spc="-46" dirty="0">
                <a:solidFill>
                  <a:srgbClr val="FF0000"/>
                </a:solidFill>
                <a:latin typeface="Arial MT"/>
                <a:cs typeface="Arial MT"/>
              </a:rPr>
              <a:t> </a:t>
            </a:r>
            <a:r>
              <a:rPr sz="2400" dirty="0">
                <a:solidFill>
                  <a:srgbClr val="FF0000"/>
                </a:solidFill>
                <a:latin typeface="Arial MT"/>
                <a:cs typeface="Arial MT"/>
              </a:rPr>
              <a:t>the</a:t>
            </a:r>
            <a:r>
              <a:rPr sz="2400" spc="-75" dirty="0">
                <a:solidFill>
                  <a:srgbClr val="FF0000"/>
                </a:solidFill>
                <a:latin typeface="Arial MT"/>
                <a:cs typeface="Arial MT"/>
              </a:rPr>
              <a:t> </a:t>
            </a:r>
            <a:r>
              <a:rPr sz="2400" dirty="0">
                <a:solidFill>
                  <a:srgbClr val="FF0000"/>
                </a:solidFill>
                <a:latin typeface="Arial MT"/>
                <a:cs typeface="Arial MT"/>
              </a:rPr>
              <a:t>samples</a:t>
            </a:r>
            <a:r>
              <a:rPr sz="2400" spc="-60" dirty="0">
                <a:solidFill>
                  <a:srgbClr val="FF0000"/>
                </a:solidFill>
                <a:latin typeface="Arial MT"/>
                <a:cs typeface="Arial MT"/>
              </a:rPr>
              <a:t> </a:t>
            </a:r>
            <a:r>
              <a:rPr sz="2400" dirty="0">
                <a:solidFill>
                  <a:srgbClr val="FF0000"/>
                </a:solidFill>
                <a:latin typeface="Arial MT"/>
                <a:cs typeface="Arial MT"/>
              </a:rPr>
              <a:t>are</a:t>
            </a:r>
            <a:r>
              <a:rPr sz="2400" spc="-60" dirty="0">
                <a:solidFill>
                  <a:srgbClr val="FF0000"/>
                </a:solidFill>
                <a:latin typeface="Arial MT"/>
                <a:cs typeface="Arial MT"/>
              </a:rPr>
              <a:t> </a:t>
            </a:r>
            <a:r>
              <a:rPr sz="2400" dirty="0">
                <a:solidFill>
                  <a:srgbClr val="FF0000"/>
                </a:solidFill>
                <a:latin typeface="Arial MT"/>
                <a:cs typeface="Arial MT"/>
              </a:rPr>
              <a:t>removed</a:t>
            </a:r>
            <a:r>
              <a:rPr sz="2400" dirty="0">
                <a:latin typeface="Arial MT"/>
                <a:cs typeface="Arial MT"/>
              </a:rPr>
              <a:t>,</a:t>
            </a:r>
            <a:r>
              <a:rPr sz="2400" spc="-60" dirty="0">
                <a:latin typeface="Arial MT"/>
                <a:cs typeface="Arial MT"/>
              </a:rPr>
              <a:t> </a:t>
            </a:r>
            <a:r>
              <a:rPr sz="2400" spc="-25" dirty="0">
                <a:latin typeface="Arial MT"/>
                <a:cs typeface="Arial MT"/>
              </a:rPr>
              <a:t>and 	</a:t>
            </a:r>
            <a:r>
              <a:rPr sz="2400" dirty="0">
                <a:solidFill>
                  <a:srgbClr val="FF0000"/>
                </a:solidFill>
                <a:latin typeface="Arial MT"/>
                <a:cs typeface="Arial MT"/>
              </a:rPr>
              <a:t>analysed</a:t>
            </a:r>
            <a:r>
              <a:rPr sz="2400" spc="-46" dirty="0">
                <a:solidFill>
                  <a:srgbClr val="FF0000"/>
                </a:solidFill>
                <a:latin typeface="Arial MT"/>
                <a:cs typeface="Arial MT"/>
              </a:rPr>
              <a:t> </a:t>
            </a:r>
            <a:r>
              <a:rPr sz="2400" dirty="0">
                <a:solidFill>
                  <a:srgbClr val="FF0000"/>
                </a:solidFill>
                <a:latin typeface="Arial MT"/>
                <a:cs typeface="Arial MT"/>
              </a:rPr>
              <a:t>by</a:t>
            </a:r>
            <a:r>
              <a:rPr sz="2400" spc="-55" dirty="0">
                <a:solidFill>
                  <a:srgbClr val="FF0000"/>
                </a:solidFill>
                <a:latin typeface="Arial MT"/>
                <a:cs typeface="Arial MT"/>
              </a:rPr>
              <a:t> </a:t>
            </a:r>
            <a:r>
              <a:rPr sz="2400" dirty="0">
                <a:solidFill>
                  <a:srgbClr val="FF0000"/>
                </a:solidFill>
                <a:latin typeface="Arial MT"/>
                <a:cs typeface="Arial MT"/>
              </a:rPr>
              <a:t>means</a:t>
            </a:r>
            <a:r>
              <a:rPr sz="2400" spc="-55" dirty="0">
                <a:solidFill>
                  <a:srgbClr val="FF0000"/>
                </a:solidFill>
                <a:latin typeface="Arial MT"/>
                <a:cs typeface="Arial MT"/>
              </a:rPr>
              <a:t> </a:t>
            </a:r>
            <a:r>
              <a:rPr sz="2400" dirty="0">
                <a:solidFill>
                  <a:srgbClr val="FF0000"/>
                </a:solidFill>
                <a:latin typeface="Arial MT"/>
                <a:cs typeface="Arial MT"/>
              </a:rPr>
              <a:t>of</a:t>
            </a:r>
            <a:r>
              <a:rPr sz="2400" spc="-55" dirty="0">
                <a:solidFill>
                  <a:srgbClr val="FF0000"/>
                </a:solidFill>
                <a:latin typeface="Arial MT"/>
                <a:cs typeface="Arial MT"/>
              </a:rPr>
              <a:t> </a:t>
            </a:r>
            <a:endParaRPr lang="en-IN" sz="2400" spc="-55" dirty="0">
              <a:solidFill>
                <a:srgbClr val="FF0000"/>
              </a:solidFill>
              <a:latin typeface="Arial MT"/>
              <a:cs typeface="Arial MT"/>
            </a:endParaRPr>
          </a:p>
          <a:p>
            <a:pPr marL="538163" marR="536588" lvl="5">
              <a:lnSpc>
                <a:spcPct val="150000"/>
              </a:lnSpc>
              <a:spcBef>
                <a:spcPts val="1001"/>
              </a:spcBef>
              <a:tabLst>
                <a:tab pos="241306" algn="l"/>
              </a:tabLst>
            </a:pPr>
            <a:r>
              <a:rPr lang="en-US" sz="2400" dirty="0">
                <a:solidFill>
                  <a:srgbClr val="FF0000"/>
                </a:solidFill>
                <a:latin typeface="Arial MT"/>
                <a:cs typeface="Arial MT"/>
              </a:rPr>
              <a:t>Gas</a:t>
            </a:r>
            <a:r>
              <a:rPr lang="en-US" sz="2400" spc="-55" dirty="0">
                <a:solidFill>
                  <a:srgbClr val="FF0000"/>
                </a:solidFill>
                <a:latin typeface="Arial MT"/>
                <a:cs typeface="Arial MT"/>
              </a:rPr>
              <a:t> </a:t>
            </a:r>
            <a:r>
              <a:rPr lang="en-US" sz="2400" spc="-20" dirty="0">
                <a:solidFill>
                  <a:srgbClr val="FF0000"/>
                </a:solidFill>
                <a:latin typeface="Arial MT"/>
                <a:cs typeface="Arial MT"/>
              </a:rPr>
              <a:t>chromatography</a:t>
            </a:r>
            <a:endParaRPr lang="en-US" sz="2400" spc="-41" dirty="0">
              <a:solidFill>
                <a:srgbClr val="FF0000"/>
              </a:solidFill>
              <a:latin typeface="Arial MT"/>
              <a:cs typeface="Arial MT"/>
            </a:endParaRPr>
          </a:p>
          <a:p>
            <a:pPr marL="538163" marR="536588" lvl="5">
              <a:lnSpc>
                <a:spcPct val="150000"/>
              </a:lnSpc>
              <a:spcBef>
                <a:spcPts val="1001"/>
              </a:spcBef>
              <a:tabLst>
                <a:tab pos="241306" algn="l"/>
              </a:tabLst>
            </a:pPr>
            <a:r>
              <a:rPr lang="en-US" sz="2400" dirty="0">
                <a:solidFill>
                  <a:srgbClr val="FF0000"/>
                </a:solidFill>
                <a:latin typeface="Arial MT"/>
                <a:cs typeface="Arial MT"/>
              </a:rPr>
              <a:t>Infrared</a:t>
            </a:r>
            <a:r>
              <a:rPr lang="en-US" sz="2400" spc="-55" dirty="0">
                <a:solidFill>
                  <a:srgbClr val="FF0000"/>
                </a:solidFill>
                <a:latin typeface="Arial MT"/>
                <a:cs typeface="Arial MT"/>
              </a:rPr>
              <a:t> </a:t>
            </a:r>
            <a:r>
              <a:rPr lang="en-US" sz="2400" dirty="0">
                <a:solidFill>
                  <a:srgbClr val="FF0000"/>
                </a:solidFill>
                <a:latin typeface="Arial MT"/>
                <a:cs typeface="Arial MT"/>
              </a:rPr>
              <a:t>or</a:t>
            </a:r>
            <a:r>
              <a:rPr lang="en-US" sz="2400" spc="-60" dirty="0">
                <a:solidFill>
                  <a:srgbClr val="FF0000"/>
                </a:solidFill>
                <a:latin typeface="Arial MT"/>
                <a:cs typeface="Arial MT"/>
              </a:rPr>
              <a:t> </a:t>
            </a:r>
            <a:r>
              <a:rPr lang="en-US" sz="2400" spc="-10" dirty="0">
                <a:solidFill>
                  <a:srgbClr val="FF0000"/>
                </a:solidFill>
                <a:latin typeface="Arial MT"/>
                <a:cs typeface="Arial MT"/>
              </a:rPr>
              <a:t>ultraviolet </a:t>
            </a:r>
            <a:r>
              <a:rPr lang="en-US" sz="2400" spc="-20" dirty="0">
                <a:solidFill>
                  <a:srgbClr val="FF0000"/>
                </a:solidFill>
                <a:latin typeface="Arial MT"/>
                <a:cs typeface="Arial MT"/>
              </a:rPr>
              <a:t>spectrophotometry</a:t>
            </a:r>
            <a:r>
              <a:rPr lang="en-US" sz="2400" spc="-46" dirty="0">
                <a:solidFill>
                  <a:srgbClr val="FF0000"/>
                </a:solidFill>
                <a:latin typeface="Arial MT"/>
                <a:cs typeface="Arial MT"/>
              </a:rPr>
              <a:t> </a:t>
            </a:r>
          </a:p>
          <a:p>
            <a:pPr marL="538163" marR="536588" lvl="5">
              <a:lnSpc>
                <a:spcPct val="150000"/>
              </a:lnSpc>
              <a:spcBef>
                <a:spcPts val="1001"/>
              </a:spcBef>
              <a:tabLst>
                <a:tab pos="241306" algn="l"/>
              </a:tabLst>
            </a:pPr>
            <a:r>
              <a:rPr lang="en-US" sz="2400" dirty="0">
                <a:solidFill>
                  <a:srgbClr val="FF0000"/>
                </a:solidFill>
                <a:latin typeface="Arial MT"/>
                <a:cs typeface="Arial MT"/>
              </a:rPr>
              <a:t>Mass</a:t>
            </a:r>
            <a:r>
              <a:rPr lang="en-US" sz="2400" spc="-41" dirty="0">
                <a:solidFill>
                  <a:srgbClr val="FF0000"/>
                </a:solidFill>
                <a:latin typeface="Arial MT"/>
                <a:cs typeface="Arial MT"/>
              </a:rPr>
              <a:t> </a:t>
            </a:r>
            <a:r>
              <a:rPr lang="en-US" sz="2400" spc="-20" dirty="0">
                <a:solidFill>
                  <a:srgbClr val="FF0000"/>
                </a:solidFill>
                <a:latin typeface="Arial MT"/>
                <a:cs typeface="Arial MT"/>
              </a:rPr>
              <a:t>spectrometry</a:t>
            </a:r>
            <a:endParaRPr lang="en-US" sz="2400" dirty="0">
              <a:solidFill>
                <a:srgbClr val="FF0000"/>
              </a:solidFill>
              <a:latin typeface="Arial MT"/>
              <a:cs typeface="Arial MT"/>
            </a:endParaRPr>
          </a:p>
          <a:p>
            <a:pPr marL="538163" marR="536588" lvl="5">
              <a:lnSpc>
                <a:spcPct val="150000"/>
              </a:lnSpc>
              <a:spcBef>
                <a:spcPts val="1001"/>
              </a:spcBef>
              <a:tabLst>
                <a:tab pos="241306" algn="l"/>
              </a:tabLst>
            </a:pPr>
            <a:r>
              <a:rPr lang="en-US" sz="2400" spc="-41" dirty="0">
                <a:solidFill>
                  <a:srgbClr val="FF0000"/>
                </a:solidFill>
                <a:latin typeface="Arial MT"/>
                <a:cs typeface="Arial MT"/>
              </a:rPr>
              <a:t> </a:t>
            </a:r>
            <a:r>
              <a:rPr lang="en-US" sz="2400" dirty="0">
                <a:solidFill>
                  <a:srgbClr val="FF0000"/>
                </a:solidFill>
                <a:latin typeface="Arial MT"/>
                <a:cs typeface="Arial MT"/>
              </a:rPr>
              <a:t>By</a:t>
            </a:r>
            <a:r>
              <a:rPr lang="en-US" sz="2400" spc="-41" dirty="0">
                <a:solidFill>
                  <a:srgbClr val="FF0000"/>
                </a:solidFill>
                <a:latin typeface="Arial MT"/>
                <a:cs typeface="Arial MT"/>
              </a:rPr>
              <a:t> </a:t>
            </a:r>
            <a:r>
              <a:rPr lang="en-US" sz="2400" dirty="0">
                <a:solidFill>
                  <a:srgbClr val="FF0000"/>
                </a:solidFill>
                <a:latin typeface="Arial MT"/>
                <a:cs typeface="Arial MT"/>
              </a:rPr>
              <a:t>wet</a:t>
            </a:r>
            <a:r>
              <a:rPr lang="en-US" sz="2400" spc="-41" dirty="0">
                <a:solidFill>
                  <a:srgbClr val="FF0000"/>
                </a:solidFill>
                <a:latin typeface="Arial MT"/>
                <a:cs typeface="Arial MT"/>
              </a:rPr>
              <a:t> </a:t>
            </a:r>
            <a:r>
              <a:rPr lang="en-US" sz="2400" dirty="0">
                <a:solidFill>
                  <a:srgbClr val="FF0000"/>
                </a:solidFill>
                <a:latin typeface="Arial MT"/>
                <a:cs typeface="Arial MT"/>
              </a:rPr>
              <a:t>chemical</a:t>
            </a:r>
            <a:r>
              <a:rPr lang="en-US" sz="2400" spc="-30" dirty="0">
                <a:solidFill>
                  <a:srgbClr val="FF0000"/>
                </a:solidFill>
                <a:latin typeface="Arial MT"/>
                <a:cs typeface="Arial MT"/>
              </a:rPr>
              <a:t> </a:t>
            </a:r>
            <a:r>
              <a:rPr lang="en-US" sz="2400" spc="-10" dirty="0">
                <a:solidFill>
                  <a:srgbClr val="FF0000"/>
                </a:solidFill>
                <a:latin typeface="Arial MT"/>
                <a:cs typeface="Arial MT"/>
              </a:rPr>
              <a:t>means</a:t>
            </a:r>
            <a:endParaRPr lang="en-US" sz="2400" dirty="0">
              <a:latin typeface="Arial MT"/>
              <a:cs typeface="Arial MT"/>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a:spLocks noGrp="1"/>
          </p:cNvSpPr>
          <p:nvPr>
            <p:ph type="sldNum" sz="quarter" idx="7"/>
          </p:nvPr>
        </p:nvSpPr>
        <p:spPr>
          <a:xfrm>
            <a:off x="8993409" y="6464911"/>
            <a:ext cx="198636" cy="156068"/>
          </a:xfrm>
          <a:prstGeom prst="rect">
            <a:avLst/>
          </a:prstGeom>
        </p:spPr>
        <p:txBody>
          <a:bodyPr vert="horz" wrap="square" lIns="0" tIns="0" rIns="0" bIns="0" rtlCol="0">
            <a:spAutoFit/>
          </a:bodyPr>
          <a:lstStyle/>
          <a:p>
            <a:pPr marL="38101">
              <a:lnSpc>
                <a:spcPts val="1239"/>
              </a:lnSpc>
            </a:pPr>
            <a:fld id="{81D60167-4931-47E6-BA6A-407CBD079E47}" type="slidenum">
              <a:rPr spc="-25" dirty="0"/>
              <a:pPr marL="38101">
                <a:lnSpc>
                  <a:spcPts val="1239"/>
                </a:lnSpc>
              </a:pPr>
              <a:t>24</a:t>
            </a:fld>
            <a:endParaRPr spc="-25" dirty="0"/>
          </a:p>
        </p:txBody>
      </p:sp>
      <p:sp>
        <p:nvSpPr>
          <p:cNvPr id="2" name="object 2"/>
          <p:cNvSpPr txBox="1">
            <a:spLocks noGrp="1"/>
          </p:cNvSpPr>
          <p:nvPr>
            <p:ph type="title"/>
          </p:nvPr>
        </p:nvSpPr>
        <p:spPr>
          <a:xfrm>
            <a:off x="470371" y="133351"/>
            <a:ext cx="7600956" cy="505267"/>
          </a:xfrm>
          <a:prstGeom prst="rect">
            <a:avLst/>
          </a:prstGeom>
        </p:spPr>
        <p:txBody>
          <a:bodyPr vert="horz" wrap="square" lIns="0" tIns="12700" rIns="0" bIns="0" rtlCol="0">
            <a:spAutoFit/>
          </a:bodyPr>
          <a:lstStyle/>
          <a:p>
            <a:pPr marL="12701">
              <a:spcBef>
                <a:spcPts val="100"/>
              </a:spcBef>
            </a:pPr>
            <a:r>
              <a:rPr spc="-10" dirty="0"/>
              <a:t>Freeze-</a:t>
            </a:r>
            <a:r>
              <a:rPr dirty="0"/>
              <a:t>out</a:t>
            </a:r>
            <a:r>
              <a:rPr spc="-10" dirty="0"/>
              <a:t> Sampling</a:t>
            </a:r>
          </a:p>
        </p:txBody>
      </p:sp>
      <p:sp>
        <p:nvSpPr>
          <p:cNvPr id="3" name="object 3"/>
          <p:cNvSpPr txBox="1"/>
          <p:nvPr/>
        </p:nvSpPr>
        <p:spPr>
          <a:xfrm>
            <a:off x="334163" y="766551"/>
            <a:ext cx="11046460" cy="3395930"/>
          </a:xfrm>
          <a:prstGeom prst="rect">
            <a:avLst/>
          </a:prstGeom>
        </p:spPr>
        <p:txBody>
          <a:bodyPr vert="horz" wrap="square" lIns="0" tIns="12065" rIns="0" bIns="0" rtlCol="0">
            <a:spAutoFit/>
          </a:bodyPr>
          <a:lstStyle/>
          <a:p>
            <a:pPr marL="239400" marR="5081" indent="-227336">
              <a:lnSpc>
                <a:spcPct val="150000"/>
              </a:lnSpc>
              <a:spcBef>
                <a:spcPts val="95"/>
              </a:spcBef>
              <a:buChar char="•"/>
              <a:tabLst>
                <a:tab pos="240671" algn="l"/>
              </a:tabLst>
            </a:pPr>
            <a:r>
              <a:rPr sz="2400" dirty="0">
                <a:latin typeface="Arial MT"/>
                <a:cs typeface="Arial MT"/>
              </a:rPr>
              <a:t>Though</a:t>
            </a:r>
            <a:r>
              <a:rPr sz="2400" spc="-65" dirty="0">
                <a:latin typeface="Arial MT"/>
                <a:cs typeface="Arial MT"/>
              </a:rPr>
              <a:t> </a:t>
            </a:r>
            <a:r>
              <a:rPr sz="2400" dirty="0">
                <a:latin typeface="Arial MT"/>
                <a:cs typeface="Arial MT"/>
              </a:rPr>
              <a:t>the</a:t>
            </a:r>
            <a:r>
              <a:rPr sz="2400" spc="-65" dirty="0">
                <a:latin typeface="Arial MT"/>
                <a:cs typeface="Arial MT"/>
              </a:rPr>
              <a:t> </a:t>
            </a:r>
            <a:r>
              <a:rPr sz="2400" dirty="0">
                <a:latin typeface="Arial MT"/>
                <a:cs typeface="Arial MT"/>
              </a:rPr>
              <a:t>method</a:t>
            </a:r>
            <a:r>
              <a:rPr sz="2400" spc="-65" dirty="0">
                <a:latin typeface="Arial MT"/>
                <a:cs typeface="Arial MT"/>
              </a:rPr>
              <a:t> </a:t>
            </a:r>
            <a:r>
              <a:rPr sz="2400" dirty="0">
                <a:latin typeface="Arial MT"/>
                <a:cs typeface="Arial MT"/>
              </a:rPr>
              <a:t>is</a:t>
            </a:r>
            <a:r>
              <a:rPr sz="2400" spc="-65" dirty="0">
                <a:latin typeface="Arial MT"/>
                <a:cs typeface="Arial MT"/>
              </a:rPr>
              <a:t> </a:t>
            </a:r>
            <a:r>
              <a:rPr sz="2400" dirty="0">
                <a:latin typeface="Arial MT"/>
                <a:cs typeface="Arial MT"/>
              </a:rPr>
              <a:t>potentially</a:t>
            </a:r>
            <a:r>
              <a:rPr sz="2400" spc="-50" dirty="0">
                <a:latin typeface="Arial MT"/>
                <a:cs typeface="Arial MT"/>
              </a:rPr>
              <a:t> </a:t>
            </a:r>
            <a:r>
              <a:rPr sz="2400" dirty="0">
                <a:latin typeface="Arial MT"/>
                <a:cs typeface="Arial MT"/>
              </a:rPr>
              <a:t>useful</a:t>
            </a:r>
            <a:r>
              <a:rPr sz="2400" spc="-60" dirty="0">
                <a:latin typeface="Arial MT"/>
                <a:cs typeface="Arial MT"/>
              </a:rPr>
              <a:t> </a:t>
            </a:r>
            <a:r>
              <a:rPr sz="2400" dirty="0">
                <a:latin typeface="Arial MT"/>
                <a:cs typeface="Arial MT"/>
              </a:rPr>
              <a:t>for</a:t>
            </a:r>
            <a:r>
              <a:rPr sz="2400" spc="-80" dirty="0">
                <a:latin typeface="Arial MT"/>
                <a:cs typeface="Arial MT"/>
              </a:rPr>
              <a:t> </a:t>
            </a:r>
            <a:r>
              <a:rPr sz="2400" dirty="0">
                <a:latin typeface="Arial MT"/>
                <a:cs typeface="Arial MT"/>
              </a:rPr>
              <a:t>trapping</a:t>
            </a:r>
            <a:r>
              <a:rPr sz="2400" spc="-55" dirty="0">
                <a:latin typeface="Arial MT"/>
                <a:cs typeface="Arial MT"/>
              </a:rPr>
              <a:t> </a:t>
            </a:r>
            <a:r>
              <a:rPr sz="2400" dirty="0">
                <a:latin typeface="Arial MT"/>
                <a:cs typeface="Arial MT"/>
              </a:rPr>
              <a:t>a</a:t>
            </a:r>
            <a:r>
              <a:rPr sz="2400" spc="-65" dirty="0">
                <a:latin typeface="Arial MT"/>
                <a:cs typeface="Arial MT"/>
              </a:rPr>
              <a:t> </a:t>
            </a:r>
            <a:r>
              <a:rPr sz="2400" dirty="0">
                <a:latin typeface="Arial MT"/>
                <a:cs typeface="Arial MT"/>
              </a:rPr>
              <a:t>large</a:t>
            </a:r>
            <a:r>
              <a:rPr sz="2400" spc="-60" dirty="0">
                <a:latin typeface="Arial MT"/>
                <a:cs typeface="Arial MT"/>
              </a:rPr>
              <a:t> </a:t>
            </a:r>
            <a:r>
              <a:rPr sz="2400" dirty="0">
                <a:latin typeface="Arial MT"/>
                <a:cs typeface="Arial MT"/>
              </a:rPr>
              <a:t>number</a:t>
            </a:r>
            <a:r>
              <a:rPr sz="2400" spc="-65" dirty="0">
                <a:latin typeface="Arial MT"/>
                <a:cs typeface="Arial MT"/>
              </a:rPr>
              <a:t> </a:t>
            </a:r>
            <a:r>
              <a:rPr sz="2400" dirty="0">
                <a:latin typeface="Arial MT"/>
                <a:cs typeface="Arial MT"/>
              </a:rPr>
              <a:t>of</a:t>
            </a:r>
            <a:r>
              <a:rPr sz="2400" spc="-65" dirty="0">
                <a:latin typeface="Arial MT"/>
                <a:cs typeface="Arial MT"/>
              </a:rPr>
              <a:t> </a:t>
            </a:r>
            <a:r>
              <a:rPr sz="2400" spc="-10" dirty="0">
                <a:latin typeface="Arial MT"/>
                <a:cs typeface="Arial MT"/>
              </a:rPr>
              <a:t>pollutants 	</a:t>
            </a:r>
            <a:r>
              <a:rPr sz="2400" dirty="0">
                <a:latin typeface="Arial MT"/>
                <a:cs typeface="Arial MT"/>
              </a:rPr>
              <a:t>for</a:t>
            </a:r>
            <a:r>
              <a:rPr sz="2400" spc="-41" dirty="0">
                <a:latin typeface="Arial MT"/>
                <a:cs typeface="Arial MT"/>
              </a:rPr>
              <a:t> </a:t>
            </a:r>
            <a:r>
              <a:rPr sz="2400" dirty="0">
                <a:latin typeface="Arial MT"/>
                <a:cs typeface="Arial MT"/>
              </a:rPr>
              <a:t>analyses,</a:t>
            </a:r>
            <a:r>
              <a:rPr sz="2400" spc="-25" dirty="0">
                <a:latin typeface="Arial MT"/>
                <a:cs typeface="Arial MT"/>
              </a:rPr>
              <a:t> </a:t>
            </a:r>
            <a:r>
              <a:rPr sz="2400" dirty="0">
                <a:latin typeface="Arial MT"/>
                <a:cs typeface="Arial MT"/>
              </a:rPr>
              <a:t>it</a:t>
            </a:r>
            <a:r>
              <a:rPr sz="2400" spc="-50" dirty="0">
                <a:latin typeface="Arial MT"/>
                <a:cs typeface="Arial MT"/>
              </a:rPr>
              <a:t> </a:t>
            </a:r>
            <a:r>
              <a:rPr sz="2400" dirty="0">
                <a:latin typeface="Arial MT"/>
                <a:cs typeface="Arial MT"/>
              </a:rPr>
              <a:t>is</a:t>
            </a:r>
            <a:r>
              <a:rPr sz="2400" spc="-34" dirty="0">
                <a:latin typeface="Arial MT"/>
                <a:cs typeface="Arial MT"/>
              </a:rPr>
              <a:t> </a:t>
            </a:r>
            <a:r>
              <a:rPr sz="2400" dirty="0">
                <a:solidFill>
                  <a:srgbClr val="FF0000"/>
                </a:solidFill>
                <a:latin typeface="Arial MT"/>
                <a:cs typeface="Arial MT"/>
              </a:rPr>
              <a:t>inconvenient</a:t>
            </a:r>
            <a:r>
              <a:rPr sz="2400" spc="-5" dirty="0">
                <a:solidFill>
                  <a:srgbClr val="FF0000"/>
                </a:solidFill>
                <a:latin typeface="Arial MT"/>
                <a:cs typeface="Arial MT"/>
              </a:rPr>
              <a:t> </a:t>
            </a:r>
            <a:r>
              <a:rPr sz="2400" dirty="0">
                <a:solidFill>
                  <a:srgbClr val="FF0000"/>
                </a:solidFill>
                <a:latin typeface="Arial MT"/>
                <a:cs typeface="Arial MT"/>
              </a:rPr>
              <a:t>to</a:t>
            </a:r>
            <a:r>
              <a:rPr sz="2400" spc="-50" dirty="0">
                <a:solidFill>
                  <a:srgbClr val="FF0000"/>
                </a:solidFill>
                <a:latin typeface="Arial MT"/>
                <a:cs typeface="Arial MT"/>
              </a:rPr>
              <a:t> </a:t>
            </a:r>
            <a:r>
              <a:rPr sz="2400" dirty="0">
                <a:solidFill>
                  <a:srgbClr val="FF0000"/>
                </a:solidFill>
                <a:latin typeface="Arial MT"/>
                <a:cs typeface="Arial MT"/>
              </a:rPr>
              <a:t>assemble</a:t>
            </a:r>
            <a:r>
              <a:rPr sz="2400" spc="-34" dirty="0">
                <a:solidFill>
                  <a:srgbClr val="FF0000"/>
                </a:solidFill>
                <a:latin typeface="Arial MT"/>
                <a:cs typeface="Arial MT"/>
              </a:rPr>
              <a:t> </a:t>
            </a:r>
            <a:r>
              <a:rPr sz="2400" dirty="0">
                <a:solidFill>
                  <a:srgbClr val="FF0000"/>
                </a:solidFill>
                <a:latin typeface="Arial MT"/>
                <a:cs typeface="Arial MT"/>
              </a:rPr>
              <a:t>the</a:t>
            </a:r>
            <a:r>
              <a:rPr sz="2400" spc="-41" dirty="0">
                <a:solidFill>
                  <a:srgbClr val="FF0000"/>
                </a:solidFill>
                <a:latin typeface="Arial MT"/>
                <a:cs typeface="Arial MT"/>
              </a:rPr>
              <a:t> </a:t>
            </a:r>
            <a:r>
              <a:rPr sz="2400" spc="-20" dirty="0">
                <a:solidFill>
                  <a:srgbClr val="FF0000"/>
                </a:solidFill>
                <a:latin typeface="Arial MT"/>
                <a:cs typeface="Arial MT"/>
              </a:rPr>
              <a:t>freeze-</a:t>
            </a:r>
            <a:r>
              <a:rPr sz="2400" dirty="0">
                <a:solidFill>
                  <a:srgbClr val="FF0000"/>
                </a:solidFill>
                <a:latin typeface="Arial MT"/>
                <a:cs typeface="Arial MT"/>
              </a:rPr>
              <a:t>out</a:t>
            </a:r>
            <a:r>
              <a:rPr sz="2400" spc="-41" dirty="0">
                <a:solidFill>
                  <a:srgbClr val="FF0000"/>
                </a:solidFill>
                <a:latin typeface="Arial MT"/>
                <a:cs typeface="Arial MT"/>
              </a:rPr>
              <a:t> </a:t>
            </a:r>
            <a:r>
              <a:rPr sz="2400" dirty="0">
                <a:solidFill>
                  <a:srgbClr val="FF0000"/>
                </a:solidFill>
                <a:latin typeface="Arial MT"/>
                <a:cs typeface="Arial MT"/>
              </a:rPr>
              <a:t>traps</a:t>
            </a:r>
            <a:r>
              <a:rPr sz="2400" dirty="0">
                <a:latin typeface="Arial MT"/>
                <a:cs typeface="Arial MT"/>
              </a:rPr>
              <a:t>;</a:t>
            </a:r>
            <a:r>
              <a:rPr sz="2400" spc="-55" dirty="0">
                <a:latin typeface="Arial MT"/>
                <a:cs typeface="Arial MT"/>
              </a:rPr>
              <a:t> </a:t>
            </a:r>
            <a:r>
              <a:rPr sz="2400" dirty="0">
                <a:latin typeface="Arial MT"/>
                <a:cs typeface="Arial MT"/>
              </a:rPr>
              <a:t>also,</a:t>
            </a:r>
            <a:r>
              <a:rPr sz="2400" spc="-41" dirty="0">
                <a:latin typeface="Arial MT"/>
                <a:cs typeface="Arial MT"/>
              </a:rPr>
              <a:t> </a:t>
            </a:r>
            <a:r>
              <a:rPr sz="2400" dirty="0">
                <a:latin typeface="Arial MT"/>
                <a:cs typeface="Arial MT"/>
              </a:rPr>
              <a:t>there</a:t>
            </a:r>
            <a:r>
              <a:rPr sz="2400" spc="-41" dirty="0">
                <a:latin typeface="Arial MT"/>
                <a:cs typeface="Arial MT"/>
              </a:rPr>
              <a:t> </a:t>
            </a:r>
            <a:r>
              <a:rPr sz="2400" spc="-25" dirty="0">
                <a:latin typeface="Arial MT"/>
                <a:cs typeface="Arial MT"/>
              </a:rPr>
              <a:t>is 	</a:t>
            </a:r>
            <a:r>
              <a:rPr sz="2400" dirty="0">
                <a:latin typeface="Arial MT"/>
                <a:cs typeface="Arial MT"/>
              </a:rPr>
              <a:t>the</a:t>
            </a:r>
            <a:r>
              <a:rPr sz="2400" spc="-55" dirty="0">
                <a:latin typeface="Arial MT"/>
                <a:cs typeface="Arial MT"/>
              </a:rPr>
              <a:t> </a:t>
            </a:r>
            <a:r>
              <a:rPr sz="2400" dirty="0">
                <a:latin typeface="Arial MT"/>
                <a:cs typeface="Arial MT"/>
              </a:rPr>
              <a:t>problem</a:t>
            </a:r>
            <a:r>
              <a:rPr sz="2400" spc="-25" dirty="0">
                <a:latin typeface="Arial MT"/>
                <a:cs typeface="Arial MT"/>
              </a:rPr>
              <a:t> </a:t>
            </a:r>
            <a:r>
              <a:rPr sz="2400" dirty="0">
                <a:latin typeface="Arial MT"/>
                <a:cs typeface="Arial MT"/>
              </a:rPr>
              <a:t>of</a:t>
            </a:r>
            <a:r>
              <a:rPr sz="2400" spc="-65" dirty="0">
                <a:latin typeface="Arial MT"/>
                <a:cs typeface="Arial MT"/>
              </a:rPr>
              <a:t> </a:t>
            </a:r>
            <a:r>
              <a:rPr sz="2400" spc="-10" dirty="0">
                <a:solidFill>
                  <a:srgbClr val="FF0000"/>
                </a:solidFill>
                <a:latin typeface="Arial MT"/>
                <a:cs typeface="Arial MT"/>
              </a:rPr>
              <a:t>accumulation</a:t>
            </a:r>
            <a:r>
              <a:rPr sz="2400" spc="-25" dirty="0">
                <a:solidFill>
                  <a:srgbClr val="FF0000"/>
                </a:solidFill>
                <a:latin typeface="Arial MT"/>
                <a:cs typeface="Arial MT"/>
              </a:rPr>
              <a:t> </a:t>
            </a:r>
            <a:r>
              <a:rPr sz="2400" dirty="0">
                <a:solidFill>
                  <a:srgbClr val="FF0000"/>
                </a:solidFill>
                <a:latin typeface="Arial MT"/>
                <a:cs typeface="Arial MT"/>
              </a:rPr>
              <a:t>of</a:t>
            </a:r>
            <a:r>
              <a:rPr sz="2400" spc="-55" dirty="0">
                <a:solidFill>
                  <a:srgbClr val="FF0000"/>
                </a:solidFill>
                <a:latin typeface="Arial MT"/>
                <a:cs typeface="Arial MT"/>
              </a:rPr>
              <a:t> </a:t>
            </a:r>
            <a:r>
              <a:rPr sz="2400" dirty="0">
                <a:solidFill>
                  <a:srgbClr val="FF0000"/>
                </a:solidFill>
                <a:latin typeface="Arial MT"/>
                <a:cs typeface="Arial MT"/>
              </a:rPr>
              <a:t>ice</a:t>
            </a:r>
            <a:r>
              <a:rPr sz="2400" spc="-50" dirty="0">
                <a:solidFill>
                  <a:srgbClr val="FF0000"/>
                </a:solidFill>
                <a:latin typeface="Arial MT"/>
                <a:cs typeface="Arial MT"/>
              </a:rPr>
              <a:t> </a:t>
            </a:r>
            <a:r>
              <a:rPr sz="2400" dirty="0">
                <a:solidFill>
                  <a:srgbClr val="FF0000"/>
                </a:solidFill>
                <a:latin typeface="Arial MT"/>
                <a:cs typeface="Arial MT"/>
              </a:rPr>
              <a:t>resulting</a:t>
            </a:r>
            <a:r>
              <a:rPr sz="2400" spc="-34" dirty="0">
                <a:solidFill>
                  <a:srgbClr val="FF0000"/>
                </a:solidFill>
                <a:latin typeface="Arial MT"/>
                <a:cs typeface="Arial MT"/>
              </a:rPr>
              <a:t> </a:t>
            </a:r>
            <a:r>
              <a:rPr sz="2400" dirty="0">
                <a:solidFill>
                  <a:srgbClr val="FF0000"/>
                </a:solidFill>
                <a:latin typeface="Arial MT"/>
                <a:cs typeface="Arial MT"/>
              </a:rPr>
              <a:t>from</a:t>
            </a:r>
            <a:r>
              <a:rPr sz="2400" spc="-70" dirty="0">
                <a:solidFill>
                  <a:srgbClr val="FF0000"/>
                </a:solidFill>
                <a:latin typeface="Arial MT"/>
                <a:cs typeface="Arial MT"/>
              </a:rPr>
              <a:t> </a:t>
            </a:r>
            <a:r>
              <a:rPr sz="2400" dirty="0">
                <a:solidFill>
                  <a:srgbClr val="FF0000"/>
                </a:solidFill>
                <a:latin typeface="Arial MT"/>
                <a:cs typeface="Arial MT"/>
              </a:rPr>
              <a:t>the</a:t>
            </a:r>
            <a:r>
              <a:rPr sz="2400" spc="-50" dirty="0">
                <a:solidFill>
                  <a:srgbClr val="FF0000"/>
                </a:solidFill>
                <a:latin typeface="Arial MT"/>
                <a:cs typeface="Arial MT"/>
              </a:rPr>
              <a:t> </a:t>
            </a:r>
            <a:r>
              <a:rPr sz="2400" spc="-10" dirty="0">
                <a:solidFill>
                  <a:srgbClr val="FF0000"/>
                </a:solidFill>
                <a:latin typeface="Arial MT"/>
                <a:cs typeface="Arial MT"/>
              </a:rPr>
              <a:t>condensation</a:t>
            </a:r>
            <a:r>
              <a:rPr sz="2400" spc="-25" dirty="0">
                <a:solidFill>
                  <a:srgbClr val="FF0000"/>
                </a:solidFill>
                <a:latin typeface="Arial MT"/>
                <a:cs typeface="Arial MT"/>
              </a:rPr>
              <a:t> </a:t>
            </a:r>
            <a:r>
              <a:rPr sz="2400" dirty="0">
                <a:solidFill>
                  <a:srgbClr val="FF0000"/>
                </a:solidFill>
                <a:latin typeface="Arial MT"/>
                <a:cs typeface="Arial MT"/>
              </a:rPr>
              <a:t>of</a:t>
            </a:r>
            <a:r>
              <a:rPr sz="2400" spc="-55" dirty="0">
                <a:solidFill>
                  <a:srgbClr val="FF0000"/>
                </a:solidFill>
                <a:latin typeface="Arial MT"/>
                <a:cs typeface="Arial MT"/>
              </a:rPr>
              <a:t> </a:t>
            </a:r>
            <a:r>
              <a:rPr sz="2400" spc="-10" dirty="0">
                <a:solidFill>
                  <a:srgbClr val="FF0000"/>
                </a:solidFill>
                <a:latin typeface="Arial MT"/>
                <a:cs typeface="Arial MT"/>
              </a:rPr>
              <a:t>water 	</a:t>
            </a:r>
            <a:r>
              <a:rPr sz="2400" dirty="0">
                <a:solidFill>
                  <a:srgbClr val="FF0000"/>
                </a:solidFill>
                <a:latin typeface="Arial MT"/>
                <a:cs typeface="Arial MT"/>
              </a:rPr>
              <a:t>vapour</a:t>
            </a:r>
            <a:r>
              <a:rPr sz="2400" spc="-60" dirty="0">
                <a:solidFill>
                  <a:srgbClr val="FF0000"/>
                </a:solidFill>
                <a:latin typeface="Arial MT"/>
                <a:cs typeface="Arial MT"/>
              </a:rPr>
              <a:t> </a:t>
            </a:r>
            <a:r>
              <a:rPr sz="2400" dirty="0">
                <a:solidFill>
                  <a:srgbClr val="FF0000"/>
                </a:solidFill>
                <a:latin typeface="Arial MT"/>
                <a:cs typeface="Arial MT"/>
              </a:rPr>
              <a:t>which</a:t>
            </a:r>
            <a:r>
              <a:rPr sz="2400" spc="-70" dirty="0">
                <a:solidFill>
                  <a:srgbClr val="FF0000"/>
                </a:solidFill>
                <a:latin typeface="Arial MT"/>
                <a:cs typeface="Arial MT"/>
              </a:rPr>
              <a:t> </a:t>
            </a:r>
            <a:r>
              <a:rPr sz="2400" dirty="0">
                <a:solidFill>
                  <a:srgbClr val="FF0000"/>
                </a:solidFill>
                <a:latin typeface="Arial MT"/>
                <a:cs typeface="Arial MT"/>
              </a:rPr>
              <a:t>leads</a:t>
            </a:r>
            <a:r>
              <a:rPr sz="2400" spc="-50" dirty="0">
                <a:solidFill>
                  <a:srgbClr val="FF0000"/>
                </a:solidFill>
                <a:latin typeface="Arial MT"/>
                <a:cs typeface="Arial MT"/>
              </a:rPr>
              <a:t> </a:t>
            </a:r>
            <a:r>
              <a:rPr sz="2400" dirty="0">
                <a:solidFill>
                  <a:srgbClr val="FF0000"/>
                </a:solidFill>
                <a:latin typeface="Arial MT"/>
                <a:cs typeface="Arial MT"/>
              </a:rPr>
              <a:t>to</a:t>
            </a:r>
            <a:r>
              <a:rPr sz="2400" spc="-75" dirty="0">
                <a:solidFill>
                  <a:srgbClr val="FF0000"/>
                </a:solidFill>
                <a:latin typeface="Arial MT"/>
                <a:cs typeface="Arial MT"/>
              </a:rPr>
              <a:t> </a:t>
            </a:r>
            <a:r>
              <a:rPr sz="2400" dirty="0">
                <a:solidFill>
                  <a:srgbClr val="FF0000"/>
                </a:solidFill>
                <a:latin typeface="Arial MT"/>
                <a:cs typeface="Arial MT"/>
              </a:rPr>
              <a:t>eventual</a:t>
            </a:r>
            <a:r>
              <a:rPr sz="2400" spc="-70" dirty="0">
                <a:solidFill>
                  <a:srgbClr val="FF0000"/>
                </a:solidFill>
                <a:latin typeface="Arial MT"/>
                <a:cs typeface="Arial MT"/>
              </a:rPr>
              <a:t> </a:t>
            </a:r>
            <a:r>
              <a:rPr sz="2400" dirty="0">
                <a:solidFill>
                  <a:srgbClr val="FF0000"/>
                </a:solidFill>
                <a:latin typeface="Arial MT"/>
                <a:cs typeface="Arial MT"/>
              </a:rPr>
              <a:t>plugging</a:t>
            </a:r>
            <a:r>
              <a:rPr sz="2400" spc="-34" dirty="0">
                <a:solidFill>
                  <a:srgbClr val="FF0000"/>
                </a:solidFill>
                <a:latin typeface="Arial MT"/>
                <a:cs typeface="Arial MT"/>
              </a:rPr>
              <a:t> </a:t>
            </a:r>
            <a:r>
              <a:rPr sz="2400" dirty="0">
                <a:solidFill>
                  <a:srgbClr val="FF0000"/>
                </a:solidFill>
                <a:latin typeface="Arial MT"/>
                <a:cs typeface="Arial MT"/>
              </a:rPr>
              <a:t>of</a:t>
            </a:r>
            <a:r>
              <a:rPr sz="2400" spc="-70" dirty="0">
                <a:solidFill>
                  <a:srgbClr val="FF0000"/>
                </a:solidFill>
                <a:latin typeface="Arial MT"/>
                <a:cs typeface="Arial MT"/>
              </a:rPr>
              <a:t> </a:t>
            </a:r>
            <a:r>
              <a:rPr sz="2400" dirty="0">
                <a:solidFill>
                  <a:srgbClr val="FF0000"/>
                </a:solidFill>
                <a:latin typeface="Arial MT"/>
                <a:cs typeface="Arial MT"/>
              </a:rPr>
              <a:t>the</a:t>
            </a:r>
            <a:r>
              <a:rPr sz="2400" spc="-85" dirty="0">
                <a:solidFill>
                  <a:srgbClr val="FF0000"/>
                </a:solidFill>
                <a:latin typeface="Arial MT"/>
                <a:cs typeface="Arial MT"/>
              </a:rPr>
              <a:t> </a:t>
            </a:r>
            <a:r>
              <a:rPr sz="2400" spc="-10" dirty="0">
                <a:solidFill>
                  <a:srgbClr val="FF0000"/>
                </a:solidFill>
                <a:latin typeface="Arial MT"/>
                <a:cs typeface="Arial MT"/>
              </a:rPr>
              <a:t>system.</a:t>
            </a:r>
            <a:endParaRPr sz="2400" dirty="0">
              <a:latin typeface="Arial MT"/>
              <a:cs typeface="Arial MT"/>
            </a:endParaRPr>
          </a:p>
          <a:p>
            <a:pPr marL="239400" marR="697882" indent="-227336">
              <a:lnSpc>
                <a:spcPct val="150000"/>
              </a:lnSpc>
              <a:spcBef>
                <a:spcPts val="1001"/>
              </a:spcBef>
              <a:buChar char="•"/>
              <a:tabLst>
                <a:tab pos="240671" algn="l"/>
              </a:tabLst>
            </a:pPr>
            <a:r>
              <a:rPr sz="2400" dirty="0">
                <a:latin typeface="Arial MT"/>
                <a:cs typeface="Arial MT"/>
              </a:rPr>
              <a:t>For</a:t>
            </a:r>
            <a:r>
              <a:rPr sz="2400" spc="-75" dirty="0">
                <a:latin typeface="Arial MT"/>
                <a:cs typeface="Arial MT"/>
              </a:rPr>
              <a:t> </a:t>
            </a:r>
            <a:r>
              <a:rPr sz="2400" dirty="0">
                <a:latin typeface="Arial MT"/>
                <a:cs typeface="Arial MT"/>
              </a:rPr>
              <a:t>these</a:t>
            </a:r>
            <a:r>
              <a:rPr sz="2400" spc="-65" dirty="0">
                <a:latin typeface="Arial MT"/>
                <a:cs typeface="Arial MT"/>
              </a:rPr>
              <a:t> </a:t>
            </a:r>
            <a:r>
              <a:rPr sz="2400" dirty="0">
                <a:latin typeface="Arial MT"/>
                <a:cs typeface="Arial MT"/>
              </a:rPr>
              <a:t>reasons,</a:t>
            </a:r>
            <a:r>
              <a:rPr sz="2400" spc="-60" dirty="0">
                <a:latin typeface="Arial MT"/>
                <a:cs typeface="Arial MT"/>
              </a:rPr>
              <a:t> </a:t>
            </a:r>
            <a:r>
              <a:rPr sz="2400" dirty="0">
                <a:latin typeface="Arial MT"/>
                <a:cs typeface="Arial MT"/>
              </a:rPr>
              <a:t>the</a:t>
            </a:r>
            <a:r>
              <a:rPr sz="2400" spc="-65" dirty="0">
                <a:latin typeface="Arial MT"/>
                <a:cs typeface="Arial MT"/>
              </a:rPr>
              <a:t> </a:t>
            </a:r>
            <a:r>
              <a:rPr sz="2400" dirty="0">
                <a:solidFill>
                  <a:srgbClr val="FF0000"/>
                </a:solidFill>
                <a:latin typeface="Arial MT"/>
                <a:cs typeface="Arial MT"/>
              </a:rPr>
              <a:t>technique</a:t>
            </a:r>
            <a:r>
              <a:rPr sz="2400" spc="-50" dirty="0">
                <a:solidFill>
                  <a:srgbClr val="FF0000"/>
                </a:solidFill>
                <a:latin typeface="Arial MT"/>
                <a:cs typeface="Arial MT"/>
              </a:rPr>
              <a:t> </a:t>
            </a:r>
            <a:r>
              <a:rPr sz="2400" dirty="0">
                <a:solidFill>
                  <a:srgbClr val="FF0000"/>
                </a:solidFill>
                <a:latin typeface="Arial MT"/>
                <a:cs typeface="Arial MT"/>
              </a:rPr>
              <a:t>is</a:t>
            </a:r>
            <a:r>
              <a:rPr sz="2400" spc="-65" dirty="0">
                <a:solidFill>
                  <a:srgbClr val="FF0000"/>
                </a:solidFill>
                <a:latin typeface="Arial MT"/>
                <a:cs typeface="Arial MT"/>
              </a:rPr>
              <a:t> </a:t>
            </a:r>
            <a:r>
              <a:rPr sz="2400" dirty="0">
                <a:solidFill>
                  <a:srgbClr val="FF0000"/>
                </a:solidFill>
                <a:latin typeface="Arial MT"/>
                <a:cs typeface="Arial MT"/>
              </a:rPr>
              <a:t>not</a:t>
            </a:r>
            <a:r>
              <a:rPr sz="2400" spc="-65" dirty="0">
                <a:solidFill>
                  <a:srgbClr val="FF0000"/>
                </a:solidFill>
                <a:latin typeface="Arial MT"/>
                <a:cs typeface="Arial MT"/>
              </a:rPr>
              <a:t> </a:t>
            </a:r>
            <a:r>
              <a:rPr sz="2400" dirty="0">
                <a:solidFill>
                  <a:srgbClr val="FF0000"/>
                </a:solidFill>
                <a:latin typeface="Arial MT"/>
                <a:cs typeface="Arial MT"/>
              </a:rPr>
              <a:t>generally</a:t>
            </a:r>
            <a:r>
              <a:rPr sz="2400" spc="-46" dirty="0">
                <a:solidFill>
                  <a:srgbClr val="FF0000"/>
                </a:solidFill>
                <a:latin typeface="Arial MT"/>
                <a:cs typeface="Arial MT"/>
              </a:rPr>
              <a:t> </a:t>
            </a:r>
            <a:r>
              <a:rPr sz="2400" dirty="0">
                <a:solidFill>
                  <a:srgbClr val="FF0000"/>
                </a:solidFill>
                <a:latin typeface="Arial MT"/>
                <a:cs typeface="Arial MT"/>
              </a:rPr>
              <a:t>used</a:t>
            </a:r>
            <a:r>
              <a:rPr sz="2400" spc="-60" dirty="0">
                <a:solidFill>
                  <a:srgbClr val="FF0000"/>
                </a:solidFill>
                <a:latin typeface="Arial MT"/>
                <a:cs typeface="Arial MT"/>
              </a:rPr>
              <a:t> </a:t>
            </a:r>
            <a:r>
              <a:rPr sz="2400" dirty="0">
                <a:solidFill>
                  <a:srgbClr val="FF0000"/>
                </a:solidFill>
                <a:latin typeface="Arial MT"/>
                <a:cs typeface="Arial MT"/>
              </a:rPr>
              <a:t>for</a:t>
            </a:r>
            <a:r>
              <a:rPr sz="2400" spc="-75" dirty="0">
                <a:solidFill>
                  <a:srgbClr val="FF0000"/>
                </a:solidFill>
                <a:latin typeface="Arial MT"/>
                <a:cs typeface="Arial MT"/>
              </a:rPr>
              <a:t> </a:t>
            </a:r>
            <a:r>
              <a:rPr sz="2400" dirty="0">
                <a:solidFill>
                  <a:srgbClr val="FF0000"/>
                </a:solidFill>
                <a:latin typeface="Arial MT"/>
                <a:cs typeface="Arial MT"/>
              </a:rPr>
              <a:t>routine</a:t>
            </a:r>
            <a:r>
              <a:rPr sz="2400" spc="-60" dirty="0">
                <a:solidFill>
                  <a:srgbClr val="FF0000"/>
                </a:solidFill>
                <a:latin typeface="Arial MT"/>
                <a:cs typeface="Arial MT"/>
              </a:rPr>
              <a:t> </a:t>
            </a:r>
            <a:r>
              <a:rPr sz="2400" spc="-10" dirty="0">
                <a:solidFill>
                  <a:srgbClr val="FF0000"/>
                </a:solidFill>
                <a:latin typeface="Arial MT"/>
                <a:cs typeface="Arial MT"/>
              </a:rPr>
              <a:t>sampling 	purposes.</a:t>
            </a:r>
            <a:endParaRPr sz="2400" dirty="0">
              <a:latin typeface="Arial MT"/>
              <a:cs typeface="Arial MT"/>
            </a:endParaRPr>
          </a:p>
        </p:txBody>
      </p:sp>
      <p:graphicFrame>
        <p:nvGraphicFramePr>
          <p:cNvPr id="4" name="object 4"/>
          <p:cNvGraphicFramePr>
            <a:graphicFrameLocks noGrp="1"/>
          </p:cNvGraphicFramePr>
          <p:nvPr>
            <p:extLst>
              <p:ext uri="{D42A27DB-BD31-4B8C-83A1-F6EECF244321}">
                <p14:modId xmlns:p14="http://schemas.microsoft.com/office/powerpoint/2010/main" val="3962504814"/>
              </p:ext>
            </p:extLst>
          </p:nvPr>
        </p:nvGraphicFramePr>
        <p:xfrm>
          <a:off x="2645032" y="3840991"/>
          <a:ext cx="6803768" cy="2767335"/>
        </p:xfrm>
        <a:graphic>
          <a:graphicData uri="http://schemas.openxmlformats.org/drawingml/2006/table">
            <a:tbl>
              <a:tblPr firstRow="1" bandRow="1">
                <a:tableStyleId>{2D5ABB26-0587-4C30-8999-92F81FD0307C}</a:tableStyleId>
              </a:tblPr>
              <a:tblGrid>
                <a:gridCol w="3142320">
                  <a:extLst>
                    <a:ext uri="{9D8B030D-6E8A-4147-A177-3AD203B41FA5}">
                      <a16:colId xmlns:a16="http://schemas.microsoft.com/office/drawing/2014/main" val="20000"/>
                    </a:ext>
                  </a:extLst>
                </a:gridCol>
                <a:gridCol w="3661448">
                  <a:extLst>
                    <a:ext uri="{9D8B030D-6E8A-4147-A177-3AD203B41FA5}">
                      <a16:colId xmlns:a16="http://schemas.microsoft.com/office/drawing/2014/main" val="20001"/>
                    </a:ext>
                  </a:extLst>
                </a:gridCol>
              </a:tblGrid>
              <a:tr h="532130">
                <a:tc>
                  <a:txBody>
                    <a:bodyPr/>
                    <a:lstStyle/>
                    <a:p>
                      <a:pPr>
                        <a:lnSpc>
                          <a:spcPct val="100000"/>
                        </a:lnSpc>
                        <a:spcBef>
                          <a:spcPts val="390"/>
                        </a:spcBef>
                      </a:pPr>
                      <a:endParaRPr sz="1800">
                        <a:latin typeface="Times New Roman" panose="02020603050405020304"/>
                        <a:cs typeface="Times New Roman" panose="02020603050405020304"/>
                      </a:endParaRPr>
                    </a:p>
                    <a:p>
                      <a:pPr algn="ctr">
                        <a:lnSpc>
                          <a:spcPct val="100000"/>
                        </a:lnSpc>
                      </a:pPr>
                      <a:r>
                        <a:rPr sz="1800" b="1" spc="-10" dirty="0">
                          <a:solidFill>
                            <a:srgbClr val="FFFFFF"/>
                          </a:solidFill>
                          <a:latin typeface="Arial" panose="020B0604020202020204"/>
                          <a:cs typeface="Arial" panose="020B0604020202020204"/>
                        </a:rPr>
                        <a:t>Coolant</a:t>
                      </a:r>
                      <a:endParaRPr sz="1800">
                        <a:latin typeface="Arial" panose="020B0604020202020204"/>
                        <a:cs typeface="Arial" panose="020B0604020202020204"/>
                      </a:endParaRPr>
                    </a:p>
                  </a:txBody>
                  <a:tcPr marL="0" marR="0" marT="4953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a:lnSpc>
                          <a:spcPct val="100000"/>
                        </a:lnSpc>
                        <a:spcBef>
                          <a:spcPts val="390"/>
                        </a:spcBef>
                      </a:pPr>
                      <a:endParaRPr sz="1800">
                        <a:latin typeface="Times New Roman" panose="02020603050405020304"/>
                        <a:cs typeface="Times New Roman" panose="02020603050405020304"/>
                      </a:endParaRPr>
                    </a:p>
                    <a:p>
                      <a:pPr marL="635" algn="ctr">
                        <a:lnSpc>
                          <a:spcPct val="100000"/>
                        </a:lnSpc>
                      </a:pPr>
                      <a:r>
                        <a:rPr sz="1800" b="1" spc="-20" dirty="0">
                          <a:solidFill>
                            <a:srgbClr val="FFFFFF"/>
                          </a:solidFill>
                          <a:latin typeface="Arial" panose="020B0604020202020204"/>
                          <a:cs typeface="Arial" panose="020B0604020202020204"/>
                        </a:rPr>
                        <a:t>Temp.</a:t>
                      </a:r>
                      <a:r>
                        <a:rPr sz="1800" b="1" spc="-40" dirty="0">
                          <a:solidFill>
                            <a:srgbClr val="FFFFFF"/>
                          </a:solidFill>
                          <a:latin typeface="Arial" panose="020B0604020202020204"/>
                          <a:cs typeface="Arial" panose="020B0604020202020204"/>
                        </a:rPr>
                        <a:t> </a:t>
                      </a:r>
                      <a:r>
                        <a:rPr sz="1800" b="1" dirty="0">
                          <a:solidFill>
                            <a:srgbClr val="FFFFFF"/>
                          </a:solidFill>
                          <a:latin typeface="Arial" panose="020B0604020202020204"/>
                          <a:cs typeface="Arial" panose="020B0604020202020204"/>
                        </a:rPr>
                        <a:t>attained</a:t>
                      </a:r>
                      <a:r>
                        <a:rPr sz="1800" b="1" spc="-70" dirty="0">
                          <a:solidFill>
                            <a:srgbClr val="FFFFFF"/>
                          </a:solidFill>
                          <a:latin typeface="Arial" panose="020B0604020202020204"/>
                          <a:cs typeface="Arial" panose="020B0604020202020204"/>
                        </a:rPr>
                        <a:t> </a:t>
                      </a:r>
                      <a:r>
                        <a:rPr sz="1800" b="1" dirty="0">
                          <a:solidFill>
                            <a:srgbClr val="FFFFFF"/>
                          </a:solidFill>
                          <a:latin typeface="Arial" panose="020B0604020202020204"/>
                          <a:cs typeface="Arial" panose="020B0604020202020204"/>
                        </a:rPr>
                        <a:t>(degree</a:t>
                      </a:r>
                      <a:r>
                        <a:rPr sz="1800" b="1" spc="-45" dirty="0">
                          <a:solidFill>
                            <a:srgbClr val="FFFFFF"/>
                          </a:solidFill>
                          <a:latin typeface="Arial" panose="020B0604020202020204"/>
                          <a:cs typeface="Arial" panose="020B0604020202020204"/>
                        </a:rPr>
                        <a:t> </a:t>
                      </a:r>
                      <a:r>
                        <a:rPr sz="1800" b="1" spc="-10" dirty="0">
                          <a:solidFill>
                            <a:srgbClr val="FFFFFF"/>
                          </a:solidFill>
                          <a:latin typeface="Arial" panose="020B0604020202020204"/>
                          <a:cs typeface="Arial" panose="020B0604020202020204"/>
                        </a:rPr>
                        <a:t>Celsius)</a:t>
                      </a:r>
                      <a:endParaRPr sz="1800">
                        <a:latin typeface="Arial" panose="020B0604020202020204"/>
                        <a:cs typeface="Arial" panose="020B0604020202020204"/>
                      </a:endParaRPr>
                    </a:p>
                  </a:txBody>
                  <a:tcPr marL="0" marR="0" marT="4953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extLst>
                  <a:ext uri="{0D108BD9-81ED-4DB2-BD59-A6C34878D82A}">
                    <a16:rowId xmlns:a16="http://schemas.microsoft.com/office/drawing/2014/main" val="10000"/>
                  </a:ext>
                </a:extLst>
              </a:tr>
              <a:tr h="304800">
                <a:tc>
                  <a:txBody>
                    <a:bodyPr/>
                    <a:lstStyle/>
                    <a:p>
                      <a:pPr marL="91440">
                        <a:lnSpc>
                          <a:spcPct val="100000"/>
                        </a:lnSpc>
                        <a:spcBef>
                          <a:spcPts val="325"/>
                        </a:spcBef>
                      </a:pPr>
                      <a:r>
                        <a:rPr sz="1800" dirty="0">
                          <a:latin typeface="Arial MT"/>
                          <a:cs typeface="Arial MT"/>
                        </a:rPr>
                        <a:t>Ice-</a:t>
                      </a:r>
                      <a:r>
                        <a:rPr sz="1800" spc="-10" dirty="0">
                          <a:latin typeface="Arial MT"/>
                          <a:cs typeface="Arial MT"/>
                        </a:rPr>
                        <a:t>water</a:t>
                      </a:r>
                      <a:endParaRPr sz="1800">
                        <a:latin typeface="Arial MT"/>
                        <a:cs typeface="Arial MT"/>
                      </a:endParaRPr>
                    </a:p>
                  </a:txBody>
                  <a:tcPr marL="0" marR="0" marT="4127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marL="1270" algn="ctr">
                        <a:lnSpc>
                          <a:spcPct val="100000"/>
                        </a:lnSpc>
                        <a:spcBef>
                          <a:spcPts val="325"/>
                        </a:spcBef>
                      </a:pPr>
                      <a:r>
                        <a:rPr sz="1800" spc="-50" dirty="0">
                          <a:latin typeface="Arial MT"/>
                          <a:cs typeface="Arial MT"/>
                        </a:rPr>
                        <a:t>0</a:t>
                      </a:r>
                      <a:endParaRPr sz="1800">
                        <a:latin typeface="Arial MT"/>
                        <a:cs typeface="Arial MT"/>
                      </a:endParaRPr>
                    </a:p>
                  </a:txBody>
                  <a:tcPr marL="0" marR="0" marT="4127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1"/>
                  </a:ext>
                </a:extLst>
              </a:tr>
              <a:tr h="370206">
                <a:tc>
                  <a:txBody>
                    <a:bodyPr/>
                    <a:lstStyle/>
                    <a:p>
                      <a:pPr marL="91440">
                        <a:lnSpc>
                          <a:spcPct val="100000"/>
                        </a:lnSpc>
                        <a:spcBef>
                          <a:spcPts val="325"/>
                        </a:spcBef>
                      </a:pPr>
                      <a:r>
                        <a:rPr sz="1800" dirty="0">
                          <a:latin typeface="Arial MT"/>
                          <a:cs typeface="Arial MT"/>
                        </a:rPr>
                        <a:t>Ice-</a:t>
                      </a:r>
                      <a:r>
                        <a:rPr sz="1800" spc="-20" dirty="0">
                          <a:latin typeface="Arial MT"/>
                          <a:cs typeface="Arial MT"/>
                        </a:rPr>
                        <a:t>salt</a:t>
                      </a:r>
                      <a:endParaRPr sz="1800">
                        <a:latin typeface="Arial MT"/>
                        <a:cs typeface="Arial MT"/>
                      </a:endParaRPr>
                    </a:p>
                  </a:txBody>
                  <a:tcPr marL="0" marR="0" marT="412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1270" algn="ctr">
                        <a:lnSpc>
                          <a:spcPct val="100000"/>
                        </a:lnSpc>
                        <a:spcBef>
                          <a:spcPts val="325"/>
                        </a:spcBef>
                      </a:pPr>
                      <a:r>
                        <a:rPr sz="1800" dirty="0">
                          <a:latin typeface="Arial MT"/>
                          <a:cs typeface="Arial MT"/>
                        </a:rPr>
                        <a:t>-</a:t>
                      </a:r>
                      <a:r>
                        <a:rPr sz="1800" spc="-25" dirty="0">
                          <a:latin typeface="Arial MT"/>
                          <a:cs typeface="Arial MT"/>
                        </a:rPr>
                        <a:t>21</a:t>
                      </a:r>
                      <a:endParaRPr sz="1800">
                        <a:latin typeface="Arial MT"/>
                        <a:cs typeface="Arial MT"/>
                      </a:endParaRPr>
                    </a:p>
                  </a:txBody>
                  <a:tcPr marL="0" marR="0" marT="412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2"/>
                  </a:ext>
                </a:extLst>
              </a:tr>
              <a:tr h="370841">
                <a:tc>
                  <a:txBody>
                    <a:bodyPr/>
                    <a:lstStyle/>
                    <a:p>
                      <a:pPr marL="91440">
                        <a:lnSpc>
                          <a:spcPct val="100000"/>
                        </a:lnSpc>
                        <a:spcBef>
                          <a:spcPts val="325"/>
                        </a:spcBef>
                      </a:pPr>
                      <a:r>
                        <a:rPr sz="1800" dirty="0">
                          <a:latin typeface="Arial MT"/>
                          <a:cs typeface="Arial MT"/>
                        </a:rPr>
                        <a:t>Dry</a:t>
                      </a:r>
                      <a:r>
                        <a:rPr sz="1800" spc="-20" dirty="0">
                          <a:latin typeface="Arial MT"/>
                          <a:cs typeface="Arial MT"/>
                        </a:rPr>
                        <a:t> </a:t>
                      </a:r>
                      <a:r>
                        <a:rPr sz="1800" dirty="0">
                          <a:latin typeface="Arial MT"/>
                          <a:cs typeface="Arial MT"/>
                        </a:rPr>
                        <a:t>ice</a:t>
                      </a:r>
                      <a:r>
                        <a:rPr sz="1800" spc="-25" dirty="0">
                          <a:latin typeface="Arial MT"/>
                          <a:cs typeface="Arial MT"/>
                        </a:rPr>
                        <a:t> </a:t>
                      </a:r>
                      <a:r>
                        <a:rPr sz="1800" dirty="0">
                          <a:latin typeface="Arial MT"/>
                          <a:cs typeface="Arial MT"/>
                        </a:rPr>
                        <a:t>and</a:t>
                      </a:r>
                      <a:r>
                        <a:rPr sz="1800" spc="-25" dirty="0">
                          <a:latin typeface="Arial MT"/>
                          <a:cs typeface="Arial MT"/>
                        </a:rPr>
                        <a:t> </a:t>
                      </a:r>
                      <a:r>
                        <a:rPr sz="1800" spc="-10" dirty="0">
                          <a:latin typeface="Arial MT"/>
                          <a:cs typeface="Arial MT"/>
                        </a:rPr>
                        <a:t>acetone</a:t>
                      </a:r>
                      <a:endParaRPr sz="1800">
                        <a:latin typeface="Arial MT"/>
                        <a:cs typeface="Arial MT"/>
                      </a:endParaRPr>
                    </a:p>
                  </a:txBody>
                  <a:tcPr marL="0" marR="0" marT="412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1270" algn="ctr">
                        <a:lnSpc>
                          <a:spcPct val="100000"/>
                        </a:lnSpc>
                        <a:spcBef>
                          <a:spcPts val="325"/>
                        </a:spcBef>
                      </a:pPr>
                      <a:r>
                        <a:rPr sz="1800" dirty="0">
                          <a:latin typeface="Arial MT"/>
                          <a:cs typeface="Arial MT"/>
                        </a:rPr>
                        <a:t>-</a:t>
                      </a:r>
                      <a:r>
                        <a:rPr sz="1800" spc="-25" dirty="0">
                          <a:latin typeface="Arial MT"/>
                          <a:cs typeface="Arial MT"/>
                        </a:rPr>
                        <a:t>79</a:t>
                      </a:r>
                      <a:endParaRPr sz="1800">
                        <a:latin typeface="Arial MT"/>
                        <a:cs typeface="Arial MT"/>
                      </a:endParaRPr>
                    </a:p>
                  </a:txBody>
                  <a:tcPr marL="0" marR="0" marT="412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3"/>
                  </a:ext>
                </a:extLst>
              </a:tr>
              <a:tr h="370841">
                <a:tc>
                  <a:txBody>
                    <a:bodyPr/>
                    <a:lstStyle/>
                    <a:p>
                      <a:pPr marL="91440">
                        <a:lnSpc>
                          <a:spcPct val="100000"/>
                        </a:lnSpc>
                        <a:spcBef>
                          <a:spcPts val="325"/>
                        </a:spcBef>
                      </a:pPr>
                      <a:r>
                        <a:rPr sz="1800" dirty="0">
                          <a:latin typeface="Arial MT"/>
                          <a:cs typeface="Arial MT"/>
                        </a:rPr>
                        <a:t>Liquid</a:t>
                      </a:r>
                      <a:r>
                        <a:rPr sz="1800" spc="-45" dirty="0">
                          <a:latin typeface="Arial MT"/>
                          <a:cs typeface="Arial MT"/>
                        </a:rPr>
                        <a:t> </a:t>
                      </a:r>
                      <a:r>
                        <a:rPr sz="1800" spc="-25" dirty="0">
                          <a:latin typeface="Arial MT"/>
                          <a:cs typeface="Arial MT"/>
                        </a:rPr>
                        <a:t>air</a:t>
                      </a:r>
                      <a:endParaRPr sz="1800">
                        <a:latin typeface="Arial MT"/>
                        <a:cs typeface="Arial MT"/>
                      </a:endParaRPr>
                    </a:p>
                  </a:txBody>
                  <a:tcPr marL="0" marR="0" marT="412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algn="ctr">
                        <a:lnSpc>
                          <a:spcPct val="100000"/>
                        </a:lnSpc>
                        <a:spcBef>
                          <a:spcPts val="325"/>
                        </a:spcBef>
                      </a:pPr>
                      <a:r>
                        <a:rPr sz="1800" dirty="0">
                          <a:latin typeface="Arial MT"/>
                          <a:cs typeface="Arial MT"/>
                        </a:rPr>
                        <a:t>-</a:t>
                      </a:r>
                      <a:r>
                        <a:rPr sz="1800" spc="-25" dirty="0">
                          <a:latin typeface="Arial MT"/>
                          <a:cs typeface="Arial MT"/>
                        </a:rPr>
                        <a:t>147</a:t>
                      </a:r>
                      <a:endParaRPr sz="1800">
                        <a:latin typeface="Arial MT"/>
                        <a:cs typeface="Arial MT"/>
                      </a:endParaRPr>
                    </a:p>
                  </a:txBody>
                  <a:tcPr marL="0" marR="0" marT="412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4"/>
                  </a:ext>
                </a:extLst>
              </a:tr>
              <a:tr h="370841">
                <a:tc>
                  <a:txBody>
                    <a:bodyPr/>
                    <a:lstStyle/>
                    <a:p>
                      <a:pPr marL="91440">
                        <a:lnSpc>
                          <a:spcPct val="100000"/>
                        </a:lnSpc>
                        <a:spcBef>
                          <a:spcPts val="325"/>
                        </a:spcBef>
                      </a:pPr>
                      <a:r>
                        <a:rPr sz="1800" dirty="0">
                          <a:latin typeface="Arial MT"/>
                          <a:cs typeface="Arial MT"/>
                        </a:rPr>
                        <a:t>Liquid</a:t>
                      </a:r>
                      <a:r>
                        <a:rPr sz="1800" spc="-45" dirty="0">
                          <a:latin typeface="Arial MT"/>
                          <a:cs typeface="Arial MT"/>
                        </a:rPr>
                        <a:t> </a:t>
                      </a:r>
                      <a:r>
                        <a:rPr sz="1800" spc="-10" dirty="0">
                          <a:latin typeface="Arial MT"/>
                          <a:cs typeface="Arial MT"/>
                        </a:rPr>
                        <a:t>oxygen</a:t>
                      </a:r>
                      <a:endParaRPr sz="1800">
                        <a:latin typeface="Arial MT"/>
                        <a:cs typeface="Arial MT"/>
                      </a:endParaRPr>
                    </a:p>
                  </a:txBody>
                  <a:tcPr marL="0" marR="0" marT="412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algn="ctr">
                        <a:lnSpc>
                          <a:spcPct val="100000"/>
                        </a:lnSpc>
                        <a:spcBef>
                          <a:spcPts val="325"/>
                        </a:spcBef>
                      </a:pPr>
                      <a:r>
                        <a:rPr sz="1800" dirty="0">
                          <a:latin typeface="Arial MT"/>
                          <a:cs typeface="Arial MT"/>
                        </a:rPr>
                        <a:t>-</a:t>
                      </a:r>
                      <a:r>
                        <a:rPr sz="1800" spc="-25" dirty="0">
                          <a:latin typeface="Arial MT"/>
                          <a:cs typeface="Arial MT"/>
                        </a:rPr>
                        <a:t>183</a:t>
                      </a:r>
                      <a:endParaRPr sz="1800">
                        <a:latin typeface="Arial MT"/>
                        <a:cs typeface="Arial MT"/>
                      </a:endParaRPr>
                    </a:p>
                  </a:txBody>
                  <a:tcPr marL="0" marR="0" marT="412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5"/>
                  </a:ext>
                </a:extLst>
              </a:tr>
              <a:tr h="370841">
                <a:tc>
                  <a:txBody>
                    <a:bodyPr/>
                    <a:lstStyle/>
                    <a:p>
                      <a:pPr marL="91440">
                        <a:lnSpc>
                          <a:spcPct val="100000"/>
                        </a:lnSpc>
                        <a:spcBef>
                          <a:spcPts val="325"/>
                        </a:spcBef>
                      </a:pPr>
                      <a:r>
                        <a:rPr sz="1800" dirty="0">
                          <a:latin typeface="Arial MT"/>
                          <a:cs typeface="Arial MT"/>
                        </a:rPr>
                        <a:t>Liquid</a:t>
                      </a:r>
                      <a:r>
                        <a:rPr sz="1800" spc="-45" dirty="0">
                          <a:latin typeface="Arial MT"/>
                          <a:cs typeface="Arial MT"/>
                        </a:rPr>
                        <a:t> </a:t>
                      </a:r>
                      <a:r>
                        <a:rPr sz="1800" spc="-10" dirty="0">
                          <a:latin typeface="Arial MT"/>
                          <a:cs typeface="Arial MT"/>
                        </a:rPr>
                        <a:t>nitrogen</a:t>
                      </a:r>
                      <a:endParaRPr sz="1800">
                        <a:latin typeface="Arial MT"/>
                        <a:cs typeface="Arial MT"/>
                      </a:endParaRPr>
                    </a:p>
                  </a:txBody>
                  <a:tcPr marL="0" marR="0" marT="412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algn="ctr">
                        <a:lnSpc>
                          <a:spcPct val="100000"/>
                        </a:lnSpc>
                        <a:spcBef>
                          <a:spcPts val="325"/>
                        </a:spcBef>
                      </a:pPr>
                      <a:r>
                        <a:rPr sz="1800" dirty="0">
                          <a:latin typeface="Arial MT"/>
                          <a:cs typeface="Arial MT"/>
                        </a:rPr>
                        <a:t>-</a:t>
                      </a:r>
                      <a:r>
                        <a:rPr sz="1800" spc="-25" dirty="0">
                          <a:latin typeface="Arial MT"/>
                          <a:cs typeface="Arial MT"/>
                        </a:rPr>
                        <a:t>196</a:t>
                      </a:r>
                      <a:endParaRPr sz="1800" dirty="0">
                        <a:latin typeface="Arial MT"/>
                        <a:cs typeface="Arial MT"/>
                      </a:endParaRPr>
                    </a:p>
                  </a:txBody>
                  <a:tcPr marL="0" marR="0" marT="412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xfrm>
            <a:off x="8993409" y="6464911"/>
            <a:ext cx="198636" cy="156068"/>
          </a:xfrm>
          <a:prstGeom prst="rect">
            <a:avLst/>
          </a:prstGeom>
        </p:spPr>
        <p:txBody>
          <a:bodyPr vert="horz" wrap="square" lIns="0" tIns="0" rIns="0" bIns="0" rtlCol="0">
            <a:spAutoFit/>
          </a:bodyPr>
          <a:lstStyle/>
          <a:p>
            <a:pPr marL="38101">
              <a:lnSpc>
                <a:spcPts val="1239"/>
              </a:lnSpc>
            </a:pPr>
            <a:fld id="{81D60167-4931-47E6-BA6A-407CBD079E47}" type="slidenum">
              <a:rPr spc="-25" dirty="0"/>
              <a:pPr marL="38101">
                <a:lnSpc>
                  <a:spcPts val="1239"/>
                </a:lnSpc>
              </a:pPr>
              <a:t>25</a:t>
            </a:fld>
            <a:endParaRPr spc="-25" dirty="0"/>
          </a:p>
        </p:txBody>
      </p:sp>
      <p:sp>
        <p:nvSpPr>
          <p:cNvPr id="2" name="object 2"/>
          <p:cNvSpPr txBox="1">
            <a:spLocks noGrp="1"/>
          </p:cNvSpPr>
          <p:nvPr>
            <p:ph type="title"/>
          </p:nvPr>
        </p:nvSpPr>
        <p:spPr>
          <a:xfrm>
            <a:off x="470371" y="133352"/>
            <a:ext cx="7600956" cy="892423"/>
          </a:xfrm>
          <a:prstGeom prst="rect">
            <a:avLst/>
          </a:prstGeom>
        </p:spPr>
        <p:txBody>
          <a:bodyPr vert="horz" wrap="square" lIns="0" tIns="396112" rIns="0" bIns="0" rtlCol="0">
            <a:spAutoFit/>
          </a:bodyPr>
          <a:lstStyle/>
          <a:p>
            <a:pPr marL="131448">
              <a:spcBef>
                <a:spcPts val="105"/>
              </a:spcBef>
            </a:pPr>
            <a:r>
              <a:rPr dirty="0"/>
              <a:t>Collection</a:t>
            </a:r>
            <a:r>
              <a:rPr spc="-85" dirty="0"/>
              <a:t> </a:t>
            </a:r>
            <a:r>
              <a:rPr dirty="0"/>
              <a:t>of</a:t>
            </a:r>
            <a:r>
              <a:rPr spc="-50" dirty="0"/>
              <a:t> </a:t>
            </a:r>
            <a:r>
              <a:rPr dirty="0"/>
              <a:t>Particulate</a:t>
            </a:r>
            <a:r>
              <a:rPr spc="-55" dirty="0"/>
              <a:t> </a:t>
            </a:r>
            <a:r>
              <a:rPr spc="-10" dirty="0"/>
              <a:t>Pollutants</a:t>
            </a:r>
          </a:p>
        </p:txBody>
      </p:sp>
      <p:sp>
        <p:nvSpPr>
          <p:cNvPr id="3" name="object 3"/>
          <p:cNvSpPr txBox="1">
            <a:spLocks noGrp="1"/>
          </p:cNvSpPr>
          <p:nvPr>
            <p:ph type="body" idx="1"/>
          </p:nvPr>
        </p:nvSpPr>
        <p:spPr>
          <a:xfrm>
            <a:off x="451300" y="1243919"/>
            <a:ext cx="11283500" cy="3978012"/>
          </a:xfrm>
          <a:prstGeom prst="rect">
            <a:avLst/>
          </a:prstGeom>
        </p:spPr>
        <p:txBody>
          <a:bodyPr vert="horz" wrap="square" lIns="0" tIns="13335" rIns="0" bIns="0" rtlCol="0">
            <a:spAutoFit/>
          </a:bodyPr>
          <a:lstStyle/>
          <a:p>
            <a:pPr marL="355600" marR="379740" indent="-342900" algn="just">
              <a:lnSpc>
                <a:spcPct val="150000"/>
              </a:lnSpc>
              <a:spcBef>
                <a:spcPts val="105"/>
              </a:spcBef>
              <a:buFont typeface="Arial" panose="020B0604020202020204" pitchFamily="34" charset="0"/>
              <a:buChar char="•"/>
              <a:tabLst>
                <a:tab pos="241306" algn="l"/>
              </a:tabLst>
            </a:pPr>
            <a:r>
              <a:rPr dirty="0"/>
              <a:t>Particulate</a:t>
            </a:r>
            <a:r>
              <a:rPr spc="-60" dirty="0"/>
              <a:t> </a:t>
            </a:r>
            <a:r>
              <a:rPr dirty="0"/>
              <a:t>pollutants</a:t>
            </a:r>
            <a:r>
              <a:rPr spc="-46" dirty="0"/>
              <a:t> </a:t>
            </a:r>
            <a:r>
              <a:rPr dirty="0"/>
              <a:t>in</a:t>
            </a:r>
            <a:r>
              <a:rPr spc="-80" dirty="0"/>
              <a:t> </a:t>
            </a:r>
            <a:r>
              <a:rPr dirty="0"/>
              <a:t>the</a:t>
            </a:r>
            <a:r>
              <a:rPr spc="-80" dirty="0"/>
              <a:t> </a:t>
            </a:r>
            <a:r>
              <a:rPr dirty="0"/>
              <a:t>atmosphere</a:t>
            </a:r>
            <a:r>
              <a:rPr spc="-65" dirty="0"/>
              <a:t> </a:t>
            </a:r>
            <a:r>
              <a:rPr dirty="0"/>
              <a:t>are</a:t>
            </a:r>
            <a:r>
              <a:rPr spc="-70" dirty="0"/>
              <a:t> </a:t>
            </a:r>
            <a:r>
              <a:rPr dirty="0"/>
              <a:t>grouped</a:t>
            </a:r>
            <a:r>
              <a:rPr spc="-65" dirty="0"/>
              <a:t> </a:t>
            </a:r>
            <a:r>
              <a:rPr dirty="0"/>
              <a:t>generally</a:t>
            </a:r>
            <a:r>
              <a:rPr spc="-41" dirty="0"/>
              <a:t> </a:t>
            </a:r>
            <a:r>
              <a:rPr dirty="0"/>
              <a:t>into</a:t>
            </a:r>
            <a:r>
              <a:rPr spc="-70" dirty="0"/>
              <a:t> </a:t>
            </a:r>
            <a:r>
              <a:rPr dirty="0"/>
              <a:t>those</a:t>
            </a:r>
            <a:r>
              <a:rPr spc="-80" dirty="0"/>
              <a:t> </a:t>
            </a:r>
            <a:r>
              <a:rPr spc="-20" dirty="0"/>
              <a:t>that</a:t>
            </a:r>
            <a:endParaRPr lang="en-IN" spc="-20" dirty="0"/>
          </a:p>
          <a:p>
            <a:pPr marL="927111" marR="379740" lvl="1" indent="-457200" algn="just">
              <a:lnSpc>
                <a:spcPct val="150000"/>
              </a:lnSpc>
              <a:spcBef>
                <a:spcPts val="105"/>
              </a:spcBef>
              <a:buFont typeface="+mj-lt"/>
              <a:buAutoNum type="arabicPeriod"/>
              <a:tabLst>
                <a:tab pos="241306" algn="l"/>
              </a:tabLst>
            </a:pPr>
            <a:r>
              <a:rPr lang="en-US" sz="2400" dirty="0">
                <a:solidFill>
                  <a:srgbClr val="FF0000"/>
                </a:solidFill>
                <a:latin typeface="Arial MT"/>
              </a:rPr>
              <a:t>Settle out due to the force of gravity  </a:t>
            </a:r>
          </a:p>
          <a:p>
            <a:pPr marL="927111" marR="379740" lvl="1" indent="-457200" algn="just">
              <a:lnSpc>
                <a:spcPct val="150000"/>
              </a:lnSpc>
              <a:spcBef>
                <a:spcPts val="105"/>
              </a:spcBef>
              <a:buFont typeface="+mj-lt"/>
              <a:buAutoNum type="arabicPeriod"/>
              <a:tabLst>
                <a:tab pos="241306" algn="l"/>
              </a:tabLst>
            </a:pPr>
            <a:r>
              <a:rPr lang="en-US" sz="2400" dirty="0">
                <a:solidFill>
                  <a:srgbClr val="FF0000"/>
                </a:solidFill>
                <a:latin typeface="Arial MT"/>
              </a:rPr>
              <a:t> Remain suspended as aerosols.</a:t>
            </a:r>
          </a:p>
          <a:p>
            <a:pPr marL="241306" marR="5081" indent="-228606" algn="just">
              <a:lnSpc>
                <a:spcPct val="151000"/>
              </a:lnSpc>
              <a:spcBef>
                <a:spcPts val="910"/>
              </a:spcBef>
              <a:buChar char="•"/>
              <a:tabLst>
                <a:tab pos="241306" algn="l"/>
                <a:tab pos="320049" algn="l"/>
              </a:tabLst>
            </a:pPr>
            <a:r>
              <a:rPr dirty="0"/>
              <a:t>	The</a:t>
            </a:r>
            <a:r>
              <a:rPr spc="-55" dirty="0"/>
              <a:t> </a:t>
            </a:r>
            <a:r>
              <a:rPr dirty="0"/>
              <a:t>first</a:t>
            </a:r>
            <a:r>
              <a:rPr spc="-60" dirty="0"/>
              <a:t> </a:t>
            </a:r>
            <a:r>
              <a:rPr spc="-10" dirty="0"/>
              <a:t>category,</a:t>
            </a:r>
            <a:r>
              <a:rPr spc="-60" dirty="0"/>
              <a:t> </a:t>
            </a:r>
            <a:r>
              <a:rPr dirty="0"/>
              <a:t>consisting</a:t>
            </a:r>
            <a:r>
              <a:rPr spc="-34" dirty="0"/>
              <a:t> </a:t>
            </a:r>
            <a:r>
              <a:rPr dirty="0"/>
              <a:t>of</a:t>
            </a:r>
            <a:r>
              <a:rPr spc="-60" dirty="0"/>
              <a:t> </a:t>
            </a:r>
            <a:r>
              <a:rPr dirty="0"/>
              <a:t>large</a:t>
            </a:r>
            <a:r>
              <a:rPr spc="-41" dirty="0"/>
              <a:t> </a:t>
            </a:r>
            <a:r>
              <a:rPr dirty="0"/>
              <a:t>particles</a:t>
            </a:r>
            <a:r>
              <a:rPr spc="-50" dirty="0"/>
              <a:t> </a:t>
            </a:r>
            <a:r>
              <a:rPr dirty="0"/>
              <a:t>of</a:t>
            </a:r>
            <a:r>
              <a:rPr spc="-60" dirty="0">
                <a:solidFill>
                  <a:srgbClr val="FF0000"/>
                </a:solidFill>
              </a:rPr>
              <a:t> </a:t>
            </a:r>
            <a:r>
              <a:rPr dirty="0">
                <a:solidFill>
                  <a:srgbClr val="FF0000"/>
                </a:solidFill>
              </a:rPr>
              <a:t>size</a:t>
            </a:r>
            <a:r>
              <a:rPr spc="-50" dirty="0">
                <a:solidFill>
                  <a:srgbClr val="FF0000"/>
                </a:solidFill>
              </a:rPr>
              <a:t> </a:t>
            </a:r>
            <a:r>
              <a:rPr dirty="0">
                <a:solidFill>
                  <a:srgbClr val="FF0000"/>
                </a:solidFill>
              </a:rPr>
              <a:t>greater</a:t>
            </a:r>
            <a:r>
              <a:rPr spc="-50" dirty="0">
                <a:solidFill>
                  <a:srgbClr val="FF0000"/>
                </a:solidFill>
              </a:rPr>
              <a:t> </a:t>
            </a:r>
            <a:r>
              <a:rPr dirty="0">
                <a:solidFill>
                  <a:srgbClr val="FF0000"/>
                </a:solidFill>
              </a:rPr>
              <a:t>than</a:t>
            </a:r>
            <a:r>
              <a:rPr spc="-65" dirty="0">
                <a:solidFill>
                  <a:srgbClr val="FF0000"/>
                </a:solidFill>
              </a:rPr>
              <a:t> </a:t>
            </a:r>
            <a:r>
              <a:rPr dirty="0">
                <a:solidFill>
                  <a:srgbClr val="FF0000"/>
                </a:solidFill>
              </a:rPr>
              <a:t>10</a:t>
            </a:r>
            <a:r>
              <a:rPr spc="-34" dirty="0">
                <a:solidFill>
                  <a:srgbClr val="FF0000"/>
                </a:solidFill>
              </a:rPr>
              <a:t> </a:t>
            </a:r>
            <a:r>
              <a:rPr b="1" i="1" spc="-25" dirty="0">
                <a:solidFill>
                  <a:srgbClr val="FF0000"/>
                </a:solidFill>
                <a:latin typeface="Verdana" panose="020B0604030504040204"/>
                <a:cs typeface="Verdana" panose="020B0604030504040204"/>
              </a:rPr>
              <a:t>µ</a:t>
            </a:r>
            <a:r>
              <a:rPr spc="-25" dirty="0">
                <a:solidFill>
                  <a:srgbClr val="FF0000"/>
                </a:solidFill>
              </a:rPr>
              <a:t>m </a:t>
            </a:r>
            <a:r>
              <a:rPr spc="-10" dirty="0">
                <a:solidFill>
                  <a:srgbClr val="FF0000"/>
                </a:solidFill>
              </a:rPr>
              <a:t>diameter,</a:t>
            </a:r>
            <a:r>
              <a:rPr spc="-85" dirty="0">
                <a:solidFill>
                  <a:srgbClr val="FF0000"/>
                </a:solidFill>
              </a:rPr>
              <a:t> </a:t>
            </a:r>
            <a:r>
              <a:rPr dirty="0"/>
              <a:t>can</a:t>
            </a:r>
            <a:r>
              <a:rPr spc="-90" dirty="0"/>
              <a:t> </a:t>
            </a:r>
            <a:r>
              <a:rPr dirty="0"/>
              <a:t>be</a:t>
            </a:r>
            <a:r>
              <a:rPr spc="-90" dirty="0"/>
              <a:t> </a:t>
            </a:r>
            <a:r>
              <a:rPr dirty="0"/>
              <a:t>collected</a:t>
            </a:r>
            <a:r>
              <a:rPr spc="-65" dirty="0"/>
              <a:t> </a:t>
            </a:r>
            <a:r>
              <a:rPr dirty="0"/>
              <a:t>using</a:t>
            </a:r>
            <a:r>
              <a:rPr spc="-85" dirty="0"/>
              <a:t> </a:t>
            </a:r>
            <a:r>
              <a:rPr dirty="0">
                <a:solidFill>
                  <a:srgbClr val="FF0000"/>
                </a:solidFill>
              </a:rPr>
              <a:t>sedimentation</a:t>
            </a:r>
            <a:r>
              <a:rPr spc="-70" dirty="0">
                <a:solidFill>
                  <a:srgbClr val="FF0000"/>
                </a:solidFill>
              </a:rPr>
              <a:t> </a:t>
            </a:r>
            <a:r>
              <a:rPr dirty="0">
                <a:solidFill>
                  <a:srgbClr val="FF0000"/>
                </a:solidFill>
              </a:rPr>
              <a:t>techniques</a:t>
            </a:r>
            <a:r>
              <a:rPr dirty="0"/>
              <a:t>,</a:t>
            </a:r>
            <a:r>
              <a:rPr spc="-75" dirty="0"/>
              <a:t> </a:t>
            </a:r>
            <a:r>
              <a:rPr dirty="0"/>
              <a:t>while</a:t>
            </a:r>
            <a:r>
              <a:rPr spc="-60" dirty="0"/>
              <a:t> </a:t>
            </a:r>
            <a:r>
              <a:rPr dirty="0"/>
              <a:t>for</a:t>
            </a:r>
            <a:r>
              <a:rPr spc="-100" dirty="0"/>
              <a:t> </a:t>
            </a:r>
            <a:r>
              <a:rPr dirty="0"/>
              <a:t>the</a:t>
            </a:r>
            <a:r>
              <a:rPr spc="-80" dirty="0"/>
              <a:t> </a:t>
            </a:r>
            <a:r>
              <a:rPr spc="-10" dirty="0"/>
              <a:t>second </a:t>
            </a:r>
            <a:r>
              <a:rPr dirty="0"/>
              <a:t>category</a:t>
            </a:r>
            <a:r>
              <a:rPr spc="-90" dirty="0"/>
              <a:t> </a:t>
            </a:r>
            <a:r>
              <a:rPr dirty="0"/>
              <a:t>containing</a:t>
            </a:r>
            <a:r>
              <a:rPr spc="-65" dirty="0"/>
              <a:t> </a:t>
            </a:r>
            <a:r>
              <a:rPr dirty="0">
                <a:solidFill>
                  <a:srgbClr val="FF0000"/>
                </a:solidFill>
              </a:rPr>
              <a:t>particles</a:t>
            </a:r>
            <a:r>
              <a:rPr spc="-85" dirty="0">
                <a:solidFill>
                  <a:srgbClr val="FF0000"/>
                </a:solidFill>
              </a:rPr>
              <a:t> </a:t>
            </a:r>
            <a:r>
              <a:rPr dirty="0">
                <a:solidFill>
                  <a:srgbClr val="FF0000"/>
                </a:solidFill>
              </a:rPr>
              <a:t>of</a:t>
            </a:r>
            <a:r>
              <a:rPr spc="-90" dirty="0">
                <a:solidFill>
                  <a:srgbClr val="FF0000"/>
                </a:solidFill>
              </a:rPr>
              <a:t> </a:t>
            </a:r>
            <a:r>
              <a:rPr dirty="0">
                <a:solidFill>
                  <a:srgbClr val="FF0000"/>
                </a:solidFill>
              </a:rPr>
              <a:t>smaller</a:t>
            </a:r>
            <a:r>
              <a:rPr spc="-80" dirty="0">
                <a:solidFill>
                  <a:srgbClr val="FF0000"/>
                </a:solidFill>
              </a:rPr>
              <a:t> </a:t>
            </a:r>
            <a:r>
              <a:rPr dirty="0">
                <a:solidFill>
                  <a:srgbClr val="FF0000"/>
                </a:solidFill>
              </a:rPr>
              <a:t>size</a:t>
            </a:r>
            <a:r>
              <a:rPr spc="-90" dirty="0">
                <a:solidFill>
                  <a:srgbClr val="FF0000"/>
                </a:solidFill>
              </a:rPr>
              <a:t> </a:t>
            </a:r>
            <a:r>
              <a:rPr dirty="0"/>
              <a:t>more</a:t>
            </a:r>
            <a:r>
              <a:rPr spc="-90" dirty="0"/>
              <a:t> </a:t>
            </a:r>
            <a:r>
              <a:rPr spc="-10" dirty="0"/>
              <a:t>sophisticated</a:t>
            </a:r>
            <a:r>
              <a:rPr spc="-70" dirty="0"/>
              <a:t> </a:t>
            </a:r>
            <a:r>
              <a:rPr dirty="0"/>
              <a:t>techniques</a:t>
            </a:r>
            <a:r>
              <a:rPr spc="-85" dirty="0"/>
              <a:t> </a:t>
            </a:r>
            <a:r>
              <a:rPr spc="-20" dirty="0"/>
              <a:t>like </a:t>
            </a:r>
            <a:r>
              <a:rPr dirty="0">
                <a:solidFill>
                  <a:srgbClr val="FF0000"/>
                </a:solidFill>
              </a:rPr>
              <a:t>filtration,</a:t>
            </a:r>
            <a:r>
              <a:rPr spc="-70" dirty="0">
                <a:solidFill>
                  <a:srgbClr val="FF0000"/>
                </a:solidFill>
              </a:rPr>
              <a:t> </a:t>
            </a:r>
            <a:r>
              <a:rPr dirty="0">
                <a:solidFill>
                  <a:srgbClr val="FF0000"/>
                </a:solidFill>
              </a:rPr>
              <a:t>impingement,</a:t>
            </a:r>
            <a:r>
              <a:rPr spc="-46" dirty="0">
                <a:solidFill>
                  <a:srgbClr val="FF0000"/>
                </a:solidFill>
              </a:rPr>
              <a:t> </a:t>
            </a:r>
            <a:r>
              <a:rPr dirty="0">
                <a:solidFill>
                  <a:srgbClr val="FF0000"/>
                </a:solidFill>
              </a:rPr>
              <a:t>and</a:t>
            </a:r>
            <a:r>
              <a:rPr spc="-80" dirty="0">
                <a:solidFill>
                  <a:srgbClr val="FF0000"/>
                </a:solidFill>
              </a:rPr>
              <a:t> </a:t>
            </a:r>
            <a:r>
              <a:rPr dirty="0">
                <a:solidFill>
                  <a:srgbClr val="FF0000"/>
                </a:solidFill>
              </a:rPr>
              <a:t>electrostatic</a:t>
            </a:r>
            <a:r>
              <a:rPr spc="-70" dirty="0">
                <a:solidFill>
                  <a:srgbClr val="FF0000"/>
                </a:solidFill>
              </a:rPr>
              <a:t> </a:t>
            </a:r>
            <a:r>
              <a:rPr dirty="0">
                <a:solidFill>
                  <a:srgbClr val="FF0000"/>
                </a:solidFill>
              </a:rPr>
              <a:t>and</a:t>
            </a:r>
            <a:r>
              <a:rPr spc="-65" dirty="0">
                <a:solidFill>
                  <a:srgbClr val="FF0000"/>
                </a:solidFill>
              </a:rPr>
              <a:t> </a:t>
            </a:r>
            <a:r>
              <a:rPr dirty="0">
                <a:solidFill>
                  <a:srgbClr val="FF0000"/>
                </a:solidFill>
              </a:rPr>
              <a:t>thermal</a:t>
            </a:r>
            <a:r>
              <a:rPr spc="-75" dirty="0">
                <a:solidFill>
                  <a:srgbClr val="FF0000"/>
                </a:solidFill>
              </a:rPr>
              <a:t> </a:t>
            </a:r>
            <a:r>
              <a:rPr spc="-10" dirty="0">
                <a:solidFill>
                  <a:srgbClr val="FF0000"/>
                </a:solidFill>
              </a:rPr>
              <a:t>precipitation</a:t>
            </a:r>
            <a:r>
              <a:rPr spc="-60" dirty="0">
                <a:solidFill>
                  <a:srgbClr val="FF0000"/>
                </a:solidFill>
              </a:rPr>
              <a:t> </a:t>
            </a:r>
            <a:r>
              <a:rPr dirty="0">
                <a:solidFill>
                  <a:srgbClr val="FF0000"/>
                </a:solidFill>
              </a:rPr>
              <a:t>are</a:t>
            </a:r>
            <a:r>
              <a:rPr spc="-70" dirty="0">
                <a:solidFill>
                  <a:srgbClr val="FF0000"/>
                </a:solidFill>
              </a:rPr>
              <a:t> </a:t>
            </a:r>
            <a:r>
              <a:rPr spc="-10" dirty="0">
                <a:solidFill>
                  <a:srgbClr val="FF0000"/>
                </a:solidFill>
              </a:rPr>
              <a:t>used.</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xfrm>
            <a:off x="8993409" y="6464911"/>
            <a:ext cx="198636" cy="156068"/>
          </a:xfrm>
          <a:prstGeom prst="rect">
            <a:avLst/>
          </a:prstGeom>
        </p:spPr>
        <p:txBody>
          <a:bodyPr vert="horz" wrap="square" lIns="0" tIns="0" rIns="0" bIns="0" rtlCol="0">
            <a:spAutoFit/>
          </a:bodyPr>
          <a:lstStyle/>
          <a:p>
            <a:pPr marL="38101">
              <a:lnSpc>
                <a:spcPts val="1239"/>
              </a:lnSpc>
            </a:pPr>
            <a:fld id="{81D60167-4931-47E6-BA6A-407CBD079E47}" type="slidenum">
              <a:rPr spc="-25" dirty="0"/>
              <a:pPr marL="38101">
                <a:lnSpc>
                  <a:spcPts val="1239"/>
                </a:lnSpc>
              </a:pPr>
              <a:t>26</a:t>
            </a:fld>
            <a:endParaRPr spc="-25" dirty="0"/>
          </a:p>
        </p:txBody>
      </p:sp>
      <p:sp>
        <p:nvSpPr>
          <p:cNvPr id="2" name="object 2"/>
          <p:cNvSpPr txBox="1">
            <a:spLocks noGrp="1"/>
          </p:cNvSpPr>
          <p:nvPr>
            <p:ph type="title"/>
          </p:nvPr>
        </p:nvSpPr>
        <p:spPr>
          <a:xfrm>
            <a:off x="470371" y="133352"/>
            <a:ext cx="7600956" cy="892423"/>
          </a:xfrm>
          <a:prstGeom prst="rect">
            <a:avLst/>
          </a:prstGeom>
        </p:spPr>
        <p:txBody>
          <a:bodyPr vert="horz" wrap="square" lIns="0" tIns="396112" rIns="0" bIns="0" rtlCol="0">
            <a:spAutoFit/>
          </a:bodyPr>
          <a:lstStyle/>
          <a:p>
            <a:pPr marL="131448">
              <a:spcBef>
                <a:spcPts val="105"/>
              </a:spcBef>
            </a:pPr>
            <a:r>
              <a:rPr dirty="0"/>
              <a:t>Collection</a:t>
            </a:r>
            <a:r>
              <a:rPr spc="-85" dirty="0"/>
              <a:t> </a:t>
            </a:r>
            <a:r>
              <a:rPr dirty="0"/>
              <a:t>of</a:t>
            </a:r>
            <a:r>
              <a:rPr spc="-50" dirty="0"/>
              <a:t> </a:t>
            </a:r>
            <a:r>
              <a:rPr dirty="0"/>
              <a:t>Particulate</a:t>
            </a:r>
            <a:r>
              <a:rPr spc="-55" dirty="0"/>
              <a:t> </a:t>
            </a:r>
            <a:r>
              <a:rPr spc="-10" dirty="0"/>
              <a:t>Pollutants</a:t>
            </a:r>
          </a:p>
        </p:txBody>
      </p:sp>
      <p:sp>
        <p:nvSpPr>
          <p:cNvPr id="3" name="object 3"/>
          <p:cNvSpPr txBox="1"/>
          <p:nvPr/>
        </p:nvSpPr>
        <p:spPr>
          <a:xfrm>
            <a:off x="555626" y="1243965"/>
            <a:ext cx="10574655" cy="1774190"/>
          </a:xfrm>
          <a:prstGeom prst="rect">
            <a:avLst/>
          </a:prstGeom>
        </p:spPr>
        <p:txBody>
          <a:bodyPr vert="horz" wrap="square" lIns="0" tIns="13335" rIns="0" bIns="0" rtlCol="0">
            <a:noAutofit/>
          </a:bodyPr>
          <a:lstStyle/>
          <a:p>
            <a:pPr marL="240036" marR="5081" indent="-227336" algn="just">
              <a:lnSpc>
                <a:spcPct val="150000"/>
              </a:lnSpc>
              <a:spcBef>
                <a:spcPts val="105"/>
              </a:spcBef>
              <a:buChar char="•"/>
              <a:tabLst>
                <a:tab pos="241306" algn="l"/>
              </a:tabLst>
            </a:pPr>
            <a:r>
              <a:rPr sz="2400" dirty="0">
                <a:latin typeface="Arial MT"/>
                <a:cs typeface="Arial MT"/>
              </a:rPr>
              <a:t>Most</a:t>
            </a:r>
            <a:r>
              <a:rPr sz="2400" spc="-55" dirty="0">
                <a:latin typeface="Arial MT"/>
                <a:cs typeface="Arial MT"/>
              </a:rPr>
              <a:t> </a:t>
            </a:r>
            <a:r>
              <a:rPr sz="2400" b="1" dirty="0">
                <a:latin typeface="Arial MT"/>
                <a:cs typeface="Arial MT"/>
              </a:rPr>
              <a:t>instruments</a:t>
            </a:r>
            <a:r>
              <a:rPr sz="2400" spc="-60" dirty="0">
                <a:latin typeface="Arial MT"/>
                <a:cs typeface="Arial MT"/>
              </a:rPr>
              <a:t> </a:t>
            </a:r>
            <a:r>
              <a:rPr sz="2400" dirty="0">
                <a:latin typeface="Arial MT"/>
                <a:cs typeface="Arial MT"/>
              </a:rPr>
              <a:t>used</a:t>
            </a:r>
            <a:r>
              <a:rPr sz="2400" spc="-41" dirty="0">
                <a:latin typeface="Arial MT"/>
                <a:cs typeface="Arial MT"/>
              </a:rPr>
              <a:t> </a:t>
            </a:r>
            <a:r>
              <a:rPr sz="2400" dirty="0">
                <a:latin typeface="Arial MT"/>
                <a:cs typeface="Arial MT"/>
              </a:rPr>
              <a:t>for</a:t>
            </a:r>
            <a:r>
              <a:rPr sz="2400" spc="-65" dirty="0">
                <a:latin typeface="Arial MT"/>
                <a:cs typeface="Arial MT"/>
              </a:rPr>
              <a:t> </a:t>
            </a:r>
            <a:r>
              <a:rPr sz="2400" dirty="0">
                <a:latin typeface="Arial MT"/>
                <a:cs typeface="Arial MT"/>
              </a:rPr>
              <a:t>monitoring</a:t>
            </a:r>
            <a:r>
              <a:rPr sz="2400" spc="-34" dirty="0">
                <a:latin typeface="Arial MT"/>
                <a:cs typeface="Arial MT"/>
              </a:rPr>
              <a:t> </a:t>
            </a:r>
            <a:r>
              <a:rPr sz="2400" dirty="0">
                <a:latin typeface="Arial MT"/>
                <a:cs typeface="Arial MT"/>
              </a:rPr>
              <a:t>either</a:t>
            </a:r>
            <a:r>
              <a:rPr sz="2400" spc="-55" dirty="0">
                <a:latin typeface="Arial MT"/>
                <a:cs typeface="Arial MT"/>
              </a:rPr>
              <a:t> </a:t>
            </a:r>
            <a:r>
              <a:rPr sz="2400" dirty="0">
                <a:latin typeface="Arial MT"/>
                <a:cs typeface="Arial MT"/>
              </a:rPr>
              <a:t>class</a:t>
            </a:r>
            <a:r>
              <a:rPr sz="2400" spc="-46" dirty="0">
                <a:latin typeface="Arial MT"/>
                <a:cs typeface="Arial MT"/>
              </a:rPr>
              <a:t> </a:t>
            </a:r>
            <a:r>
              <a:rPr sz="2400" dirty="0">
                <a:latin typeface="Arial MT"/>
                <a:cs typeface="Arial MT"/>
              </a:rPr>
              <a:t>of</a:t>
            </a:r>
            <a:r>
              <a:rPr sz="2400" spc="-70" dirty="0">
                <a:latin typeface="Arial MT"/>
                <a:cs typeface="Arial MT"/>
              </a:rPr>
              <a:t> </a:t>
            </a:r>
            <a:r>
              <a:rPr sz="2400" dirty="0">
                <a:latin typeface="Arial MT"/>
                <a:cs typeface="Arial MT"/>
              </a:rPr>
              <a:t>particulates</a:t>
            </a:r>
            <a:r>
              <a:rPr sz="2400" spc="-25" dirty="0">
                <a:latin typeface="Arial MT"/>
                <a:cs typeface="Arial MT"/>
              </a:rPr>
              <a:t> </a:t>
            </a:r>
            <a:r>
              <a:rPr sz="2400" dirty="0">
                <a:latin typeface="Arial MT"/>
                <a:cs typeface="Arial MT"/>
              </a:rPr>
              <a:t>are</a:t>
            </a:r>
            <a:r>
              <a:rPr sz="2400" spc="-65" dirty="0">
                <a:latin typeface="Arial MT"/>
                <a:cs typeface="Arial MT"/>
              </a:rPr>
              <a:t> </a:t>
            </a:r>
            <a:r>
              <a:rPr sz="2400" spc="-10" dirty="0">
                <a:latin typeface="Arial MT"/>
                <a:cs typeface="Arial MT"/>
              </a:rPr>
              <a:t>merely 	</a:t>
            </a:r>
            <a:r>
              <a:rPr sz="2400" dirty="0">
                <a:latin typeface="Arial MT"/>
                <a:cs typeface="Arial MT"/>
              </a:rPr>
              <a:t>collectors</a:t>
            </a:r>
            <a:r>
              <a:rPr sz="2400" spc="-70" dirty="0">
                <a:latin typeface="Arial MT"/>
                <a:cs typeface="Arial MT"/>
              </a:rPr>
              <a:t> </a:t>
            </a:r>
            <a:r>
              <a:rPr sz="2400" dirty="0">
                <a:latin typeface="Arial MT"/>
                <a:cs typeface="Arial MT"/>
              </a:rPr>
              <a:t>whose</a:t>
            </a:r>
            <a:r>
              <a:rPr sz="2400" spc="-75" dirty="0">
                <a:latin typeface="Arial MT"/>
                <a:cs typeface="Arial MT"/>
              </a:rPr>
              <a:t> </a:t>
            </a:r>
            <a:r>
              <a:rPr sz="2400" dirty="0">
                <a:latin typeface="Arial MT"/>
                <a:cs typeface="Arial MT"/>
              </a:rPr>
              <a:t>function</a:t>
            </a:r>
            <a:r>
              <a:rPr sz="2400" spc="-70" dirty="0">
                <a:latin typeface="Arial MT"/>
                <a:cs typeface="Arial MT"/>
              </a:rPr>
              <a:t> </a:t>
            </a:r>
            <a:r>
              <a:rPr lang="en-US" sz="2400" b="1" dirty="0"/>
              <a:t>trap</a:t>
            </a:r>
            <a:r>
              <a:rPr lang="en-US" sz="2400" dirty="0"/>
              <a:t> the dust so that it can be taken to a lab.</a:t>
            </a:r>
            <a:r>
              <a:rPr sz="2400" spc="-75" dirty="0">
                <a:latin typeface="Arial MT"/>
                <a:cs typeface="Arial MT"/>
              </a:rPr>
              <a:t> </a:t>
            </a:r>
            <a:endParaRPr lang="en-IN" sz="2400" spc="-75" dirty="0">
              <a:latin typeface="Arial MT"/>
              <a:cs typeface="Arial MT"/>
            </a:endParaRPr>
          </a:p>
          <a:p>
            <a:pPr marL="240036" marR="5081" indent="-227336" algn="just">
              <a:lnSpc>
                <a:spcPct val="150000"/>
              </a:lnSpc>
              <a:spcBef>
                <a:spcPts val="105"/>
              </a:spcBef>
              <a:buChar char="•"/>
              <a:tabLst>
                <a:tab pos="241306" algn="l"/>
              </a:tabLst>
            </a:pPr>
            <a:r>
              <a:rPr lang="en-IN" sz="2400" spc="-75" dirty="0">
                <a:latin typeface="Arial MT"/>
                <a:cs typeface="Arial MT"/>
              </a:rPr>
              <a:t>T</a:t>
            </a:r>
            <a:r>
              <a:rPr sz="2400" spc="-25" dirty="0">
                <a:latin typeface="Arial MT"/>
                <a:cs typeface="Arial MT"/>
              </a:rPr>
              <a:t>he 	</a:t>
            </a:r>
            <a:r>
              <a:rPr sz="2400" dirty="0">
                <a:latin typeface="Arial MT"/>
                <a:cs typeface="Arial MT"/>
              </a:rPr>
              <a:t>analysis</a:t>
            </a:r>
            <a:r>
              <a:rPr sz="2400" spc="-34" dirty="0">
                <a:latin typeface="Arial MT"/>
                <a:cs typeface="Arial MT"/>
              </a:rPr>
              <a:t> </a:t>
            </a:r>
            <a:r>
              <a:rPr sz="2400" dirty="0">
                <a:latin typeface="Arial MT"/>
                <a:cs typeface="Arial MT"/>
              </a:rPr>
              <a:t>of</a:t>
            </a:r>
            <a:r>
              <a:rPr sz="2400" spc="-50" dirty="0">
                <a:latin typeface="Arial MT"/>
                <a:cs typeface="Arial MT"/>
              </a:rPr>
              <a:t> </a:t>
            </a:r>
            <a:r>
              <a:rPr sz="2400" dirty="0">
                <a:latin typeface="Arial MT"/>
                <a:cs typeface="Arial MT"/>
              </a:rPr>
              <a:t>the</a:t>
            </a:r>
            <a:r>
              <a:rPr sz="2400" spc="-70" dirty="0">
                <a:latin typeface="Arial MT"/>
                <a:cs typeface="Arial MT"/>
              </a:rPr>
              <a:t> </a:t>
            </a:r>
            <a:r>
              <a:rPr sz="2400" b="1" dirty="0">
                <a:latin typeface="Arial MT"/>
                <a:cs typeface="Arial MT"/>
              </a:rPr>
              <a:t>weight</a:t>
            </a:r>
            <a:r>
              <a:rPr sz="2400" b="1" spc="-30" dirty="0">
                <a:latin typeface="Arial MT"/>
                <a:cs typeface="Arial MT"/>
              </a:rPr>
              <a:t> </a:t>
            </a:r>
            <a:r>
              <a:rPr sz="2400" b="1" dirty="0">
                <a:latin typeface="Arial MT"/>
                <a:cs typeface="Arial MT"/>
              </a:rPr>
              <a:t>or</a:t>
            </a:r>
            <a:r>
              <a:rPr sz="2400" b="1" spc="-55" dirty="0">
                <a:latin typeface="Arial MT"/>
                <a:cs typeface="Arial MT"/>
              </a:rPr>
              <a:t> </a:t>
            </a:r>
            <a:r>
              <a:rPr sz="2400" b="1" dirty="0">
                <a:latin typeface="Arial MT"/>
                <a:cs typeface="Arial MT"/>
              </a:rPr>
              <a:t>number</a:t>
            </a:r>
            <a:r>
              <a:rPr sz="2400" b="1" spc="-50" dirty="0">
                <a:latin typeface="Arial MT"/>
                <a:cs typeface="Arial MT"/>
              </a:rPr>
              <a:t> </a:t>
            </a:r>
            <a:r>
              <a:rPr sz="2400" b="1" dirty="0">
                <a:latin typeface="Arial MT"/>
                <a:cs typeface="Arial MT"/>
              </a:rPr>
              <a:t>of</a:t>
            </a:r>
            <a:r>
              <a:rPr sz="2400" b="1" spc="-50" dirty="0">
                <a:latin typeface="Arial MT"/>
                <a:cs typeface="Arial MT"/>
              </a:rPr>
              <a:t> </a:t>
            </a:r>
            <a:r>
              <a:rPr sz="2400" b="1" dirty="0">
                <a:latin typeface="Arial MT"/>
                <a:cs typeface="Arial MT"/>
              </a:rPr>
              <a:t>particles</a:t>
            </a:r>
            <a:r>
              <a:rPr sz="2400" b="1" spc="-46" dirty="0">
                <a:latin typeface="Arial MT"/>
                <a:cs typeface="Arial MT"/>
              </a:rPr>
              <a:t> </a:t>
            </a:r>
            <a:r>
              <a:rPr sz="2400" dirty="0">
                <a:latin typeface="Arial MT"/>
                <a:cs typeface="Arial MT"/>
              </a:rPr>
              <a:t>is</a:t>
            </a:r>
            <a:r>
              <a:rPr sz="2400" spc="-55" dirty="0">
                <a:latin typeface="Arial MT"/>
                <a:cs typeface="Arial MT"/>
              </a:rPr>
              <a:t> </a:t>
            </a:r>
            <a:r>
              <a:rPr sz="2400" dirty="0">
                <a:latin typeface="Arial MT"/>
                <a:cs typeface="Arial MT"/>
              </a:rPr>
              <a:t>done</a:t>
            </a:r>
            <a:r>
              <a:rPr sz="2400" spc="-55" dirty="0">
                <a:latin typeface="Arial MT"/>
                <a:cs typeface="Arial MT"/>
              </a:rPr>
              <a:t> </a:t>
            </a:r>
            <a:r>
              <a:rPr lang="en-IN" sz="2400" spc="-55" dirty="0">
                <a:latin typeface="Arial MT"/>
                <a:cs typeface="Arial MT"/>
              </a:rPr>
              <a:t>in lab </a:t>
            </a:r>
            <a:r>
              <a:rPr sz="2400" spc="-10" dirty="0">
                <a:latin typeface="Arial MT"/>
                <a:cs typeface="Arial MT"/>
              </a:rPr>
              <a:t>separately.</a:t>
            </a:r>
            <a:endParaRPr sz="2400" dirty="0">
              <a:latin typeface="Arial MT"/>
              <a:cs typeface="Arial MT"/>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xfrm>
            <a:off x="8993409" y="6464911"/>
            <a:ext cx="198636" cy="156068"/>
          </a:xfrm>
          <a:prstGeom prst="rect">
            <a:avLst/>
          </a:prstGeom>
        </p:spPr>
        <p:txBody>
          <a:bodyPr vert="horz" wrap="square" lIns="0" tIns="0" rIns="0" bIns="0" rtlCol="0">
            <a:spAutoFit/>
          </a:bodyPr>
          <a:lstStyle/>
          <a:p>
            <a:pPr marL="38101">
              <a:lnSpc>
                <a:spcPts val="1239"/>
              </a:lnSpc>
            </a:pPr>
            <a:fld id="{81D60167-4931-47E6-BA6A-407CBD079E47}" type="slidenum">
              <a:rPr spc="-25" dirty="0"/>
              <a:pPr marL="38101">
                <a:lnSpc>
                  <a:spcPts val="1239"/>
                </a:lnSpc>
              </a:pPr>
              <a:t>27</a:t>
            </a:fld>
            <a:endParaRPr spc="-25" dirty="0"/>
          </a:p>
        </p:txBody>
      </p:sp>
      <p:sp>
        <p:nvSpPr>
          <p:cNvPr id="2" name="object 2"/>
          <p:cNvSpPr txBox="1">
            <a:spLocks noGrp="1"/>
          </p:cNvSpPr>
          <p:nvPr>
            <p:ph type="title"/>
          </p:nvPr>
        </p:nvSpPr>
        <p:spPr>
          <a:xfrm>
            <a:off x="470371" y="133351"/>
            <a:ext cx="7600956" cy="892423"/>
          </a:xfrm>
          <a:prstGeom prst="rect">
            <a:avLst/>
          </a:prstGeom>
        </p:spPr>
        <p:txBody>
          <a:bodyPr vert="horz" wrap="square" lIns="0" tIns="396112" rIns="0" bIns="0" rtlCol="0">
            <a:spAutoFit/>
          </a:bodyPr>
          <a:lstStyle/>
          <a:p>
            <a:pPr marL="131448">
              <a:spcBef>
                <a:spcPts val="105"/>
              </a:spcBef>
            </a:pPr>
            <a:r>
              <a:rPr dirty="0"/>
              <a:t>Sedimentation</a:t>
            </a:r>
            <a:r>
              <a:rPr spc="-75" dirty="0"/>
              <a:t> </a:t>
            </a:r>
            <a:r>
              <a:rPr dirty="0"/>
              <a:t>(Dustfall</a:t>
            </a:r>
            <a:r>
              <a:rPr spc="-50" dirty="0"/>
              <a:t> </a:t>
            </a:r>
            <a:r>
              <a:rPr spc="-20" dirty="0"/>
              <a:t>Jar)</a:t>
            </a:r>
          </a:p>
        </p:txBody>
      </p:sp>
      <p:sp>
        <p:nvSpPr>
          <p:cNvPr id="3" name="object 3"/>
          <p:cNvSpPr txBox="1"/>
          <p:nvPr/>
        </p:nvSpPr>
        <p:spPr>
          <a:xfrm>
            <a:off x="555448" y="1253491"/>
            <a:ext cx="11039474" cy="5178854"/>
          </a:xfrm>
          <a:prstGeom prst="rect">
            <a:avLst/>
          </a:prstGeom>
        </p:spPr>
        <p:txBody>
          <a:bodyPr vert="horz" wrap="square" lIns="0" tIns="12700" rIns="0" bIns="0" rtlCol="0">
            <a:spAutoFit/>
          </a:bodyPr>
          <a:lstStyle/>
          <a:p>
            <a:pPr marL="240036" marR="5081" indent="-227336" algn="just">
              <a:lnSpc>
                <a:spcPct val="140000"/>
              </a:lnSpc>
              <a:spcBef>
                <a:spcPts val="100"/>
              </a:spcBef>
              <a:buChar char="•"/>
              <a:tabLst>
                <a:tab pos="241306" algn="l"/>
              </a:tabLst>
            </a:pPr>
            <a:r>
              <a:rPr sz="2400" dirty="0">
                <a:latin typeface="Arial MT"/>
                <a:cs typeface="Arial MT"/>
              </a:rPr>
              <a:t>The</a:t>
            </a:r>
            <a:r>
              <a:rPr sz="2400" spc="-75" dirty="0">
                <a:latin typeface="Arial MT"/>
                <a:cs typeface="Arial MT"/>
              </a:rPr>
              <a:t> </a:t>
            </a:r>
            <a:r>
              <a:rPr sz="2400" dirty="0">
                <a:latin typeface="Arial MT"/>
                <a:cs typeface="Arial MT"/>
              </a:rPr>
              <a:t>simplest</a:t>
            </a:r>
            <a:r>
              <a:rPr sz="2400" spc="-50" dirty="0">
                <a:latin typeface="Arial MT"/>
                <a:cs typeface="Arial MT"/>
              </a:rPr>
              <a:t> </a:t>
            </a:r>
            <a:r>
              <a:rPr sz="2400" dirty="0">
                <a:latin typeface="Arial MT"/>
                <a:cs typeface="Arial MT"/>
              </a:rPr>
              <a:t>device</a:t>
            </a:r>
            <a:r>
              <a:rPr sz="2400" spc="-60" dirty="0">
                <a:latin typeface="Arial MT"/>
                <a:cs typeface="Arial MT"/>
              </a:rPr>
              <a:t> </a:t>
            </a:r>
            <a:r>
              <a:rPr sz="2400" dirty="0">
                <a:latin typeface="Arial MT"/>
                <a:cs typeface="Arial MT"/>
              </a:rPr>
              <a:t>used</a:t>
            </a:r>
            <a:r>
              <a:rPr sz="2400" spc="-60" dirty="0">
                <a:latin typeface="Arial MT"/>
                <a:cs typeface="Arial MT"/>
              </a:rPr>
              <a:t> </a:t>
            </a:r>
            <a:r>
              <a:rPr sz="2400" dirty="0">
                <a:latin typeface="Arial MT"/>
                <a:cs typeface="Arial MT"/>
              </a:rPr>
              <a:t>for</a:t>
            </a:r>
            <a:r>
              <a:rPr sz="2400" spc="-75" dirty="0">
                <a:latin typeface="Arial MT"/>
                <a:cs typeface="Arial MT"/>
              </a:rPr>
              <a:t> </a:t>
            </a:r>
            <a:r>
              <a:rPr sz="2400" dirty="0">
                <a:latin typeface="Arial MT"/>
                <a:cs typeface="Arial MT"/>
              </a:rPr>
              <a:t>sampling</a:t>
            </a:r>
            <a:r>
              <a:rPr sz="2400" spc="-50" dirty="0">
                <a:latin typeface="Arial MT"/>
                <a:cs typeface="Arial MT"/>
              </a:rPr>
              <a:t> </a:t>
            </a:r>
            <a:r>
              <a:rPr sz="2400" dirty="0">
                <a:latin typeface="Arial MT"/>
                <a:cs typeface="Arial MT"/>
              </a:rPr>
              <a:t>particles</a:t>
            </a:r>
            <a:r>
              <a:rPr sz="2400" spc="-60" dirty="0">
                <a:latin typeface="Arial MT"/>
                <a:cs typeface="Arial MT"/>
              </a:rPr>
              <a:t> </a:t>
            </a:r>
            <a:r>
              <a:rPr sz="2400" dirty="0">
                <a:latin typeface="Arial MT"/>
                <a:cs typeface="Arial MT"/>
              </a:rPr>
              <a:t>larger</a:t>
            </a:r>
            <a:r>
              <a:rPr sz="2400" spc="-50" dirty="0">
                <a:latin typeface="Arial MT"/>
                <a:cs typeface="Arial MT"/>
              </a:rPr>
              <a:t> </a:t>
            </a:r>
            <a:r>
              <a:rPr sz="2400" dirty="0">
                <a:latin typeface="Arial MT"/>
                <a:cs typeface="Arial MT"/>
              </a:rPr>
              <a:t>than</a:t>
            </a:r>
            <a:r>
              <a:rPr sz="2400" spc="-65" dirty="0">
                <a:latin typeface="Arial MT"/>
                <a:cs typeface="Arial MT"/>
              </a:rPr>
              <a:t> </a:t>
            </a:r>
            <a:r>
              <a:rPr sz="2400" b="1" dirty="0">
                <a:latin typeface="Arial MT"/>
                <a:cs typeface="Arial MT"/>
              </a:rPr>
              <a:t>10</a:t>
            </a:r>
            <a:r>
              <a:rPr sz="2400" b="1" spc="-65" dirty="0">
                <a:latin typeface="Arial MT"/>
                <a:cs typeface="Arial MT"/>
              </a:rPr>
              <a:t> </a:t>
            </a:r>
            <a:r>
              <a:rPr sz="2400" b="1" dirty="0">
                <a:latin typeface="Arial MT"/>
                <a:cs typeface="Arial MT"/>
              </a:rPr>
              <a:t>µm</a:t>
            </a:r>
            <a:r>
              <a:rPr sz="2400" b="1" spc="-60" dirty="0">
                <a:latin typeface="Arial MT"/>
                <a:cs typeface="Arial MT"/>
              </a:rPr>
              <a:t> </a:t>
            </a:r>
            <a:r>
              <a:rPr sz="2400" dirty="0">
                <a:latin typeface="Arial MT"/>
                <a:cs typeface="Arial MT"/>
              </a:rPr>
              <a:t>in</a:t>
            </a:r>
            <a:r>
              <a:rPr sz="2400" spc="-70" dirty="0">
                <a:latin typeface="Arial MT"/>
                <a:cs typeface="Arial MT"/>
              </a:rPr>
              <a:t> </a:t>
            </a:r>
            <a:r>
              <a:rPr sz="2400" dirty="0">
                <a:latin typeface="Arial MT"/>
                <a:cs typeface="Arial MT"/>
              </a:rPr>
              <a:t>diameter</a:t>
            </a:r>
            <a:r>
              <a:rPr sz="2400" spc="-60" dirty="0">
                <a:latin typeface="Arial MT"/>
                <a:cs typeface="Arial MT"/>
              </a:rPr>
              <a:t> </a:t>
            </a:r>
            <a:r>
              <a:rPr sz="2400" spc="-25" dirty="0">
                <a:latin typeface="Arial MT"/>
                <a:cs typeface="Arial MT"/>
              </a:rPr>
              <a:t>is 	</a:t>
            </a:r>
            <a:r>
              <a:rPr sz="2400" dirty="0">
                <a:latin typeface="Arial MT"/>
                <a:cs typeface="Arial MT"/>
              </a:rPr>
              <a:t>the</a:t>
            </a:r>
            <a:r>
              <a:rPr sz="2400" spc="-80" dirty="0">
                <a:latin typeface="Arial MT"/>
                <a:cs typeface="Arial MT"/>
              </a:rPr>
              <a:t> </a:t>
            </a:r>
            <a:r>
              <a:rPr sz="2400" dirty="0">
                <a:solidFill>
                  <a:srgbClr val="FF0000"/>
                </a:solidFill>
                <a:latin typeface="Arial MT"/>
                <a:cs typeface="Arial MT"/>
              </a:rPr>
              <a:t>dustfall</a:t>
            </a:r>
            <a:r>
              <a:rPr sz="2400" spc="-65" dirty="0">
                <a:solidFill>
                  <a:srgbClr val="FF0000"/>
                </a:solidFill>
                <a:latin typeface="Arial MT"/>
                <a:cs typeface="Arial MT"/>
              </a:rPr>
              <a:t> </a:t>
            </a:r>
            <a:r>
              <a:rPr sz="2400" dirty="0">
                <a:solidFill>
                  <a:srgbClr val="FF0000"/>
                </a:solidFill>
                <a:latin typeface="Arial MT"/>
                <a:cs typeface="Arial MT"/>
              </a:rPr>
              <a:t>collector</a:t>
            </a:r>
            <a:r>
              <a:rPr lang="en-US" altLang="en-US" sz="2400" dirty="0">
                <a:solidFill>
                  <a:srgbClr val="FF0000"/>
                </a:solidFill>
                <a:latin typeface="Arial MT"/>
                <a:cs typeface="Arial MT"/>
              </a:rPr>
              <a:t>.</a:t>
            </a:r>
            <a:endParaRPr sz="2400" dirty="0">
              <a:latin typeface="Arial MT"/>
              <a:cs typeface="Arial MT"/>
            </a:endParaRPr>
          </a:p>
          <a:p>
            <a:pPr marL="240036" marR="98427" indent="-227336" algn="just">
              <a:lnSpc>
                <a:spcPct val="140000"/>
              </a:lnSpc>
              <a:spcBef>
                <a:spcPts val="990"/>
              </a:spcBef>
              <a:buChar char="•"/>
              <a:tabLst>
                <a:tab pos="241306" algn="l"/>
              </a:tabLst>
            </a:pPr>
            <a:r>
              <a:rPr sz="2400" dirty="0">
                <a:latin typeface="Arial MT"/>
                <a:cs typeface="Arial MT"/>
              </a:rPr>
              <a:t>A</a:t>
            </a:r>
            <a:r>
              <a:rPr sz="2400" spc="-170" dirty="0">
                <a:latin typeface="Arial MT"/>
                <a:cs typeface="Arial MT"/>
              </a:rPr>
              <a:t> </a:t>
            </a:r>
            <a:r>
              <a:rPr sz="2400" dirty="0">
                <a:latin typeface="Arial MT"/>
                <a:cs typeface="Arial MT"/>
              </a:rPr>
              <a:t>typical</a:t>
            </a:r>
            <a:r>
              <a:rPr sz="2400" spc="-55" dirty="0">
                <a:latin typeface="Arial MT"/>
                <a:cs typeface="Arial MT"/>
              </a:rPr>
              <a:t> </a:t>
            </a:r>
            <a:r>
              <a:rPr sz="2400" dirty="0">
                <a:latin typeface="Arial MT"/>
                <a:cs typeface="Arial MT"/>
              </a:rPr>
              <a:t>collector</a:t>
            </a:r>
            <a:r>
              <a:rPr sz="2400" spc="-20" dirty="0">
                <a:latin typeface="Arial MT"/>
                <a:cs typeface="Arial MT"/>
              </a:rPr>
              <a:t> </a:t>
            </a:r>
            <a:r>
              <a:rPr sz="2400" dirty="0">
                <a:solidFill>
                  <a:schemeClr val="tx1"/>
                </a:solidFill>
                <a:latin typeface="Arial MT"/>
                <a:cs typeface="Arial MT"/>
              </a:rPr>
              <a:t>consists</a:t>
            </a:r>
            <a:r>
              <a:rPr sz="2400" spc="-34" dirty="0">
                <a:solidFill>
                  <a:schemeClr val="tx1"/>
                </a:solidFill>
                <a:latin typeface="Arial MT"/>
                <a:cs typeface="Arial MT"/>
              </a:rPr>
              <a:t> </a:t>
            </a:r>
            <a:r>
              <a:rPr sz="2400" dirty="0">
                <a:solidFill>
                  <a:schemeClr val="tx1"/>
                </a:solidFill>
                <a:latin typeface="Arial MT"/>
                <a:cs typeface="Arial MT"/>
              </a:rPr>
              <a:t>of</a:t>
            </a:r>
            <a:r>
              <a:rPr sz="2400" spc="-65" dirty="0">
                <a:solidFill>
                  <a:schemeClr val="tx1"/>
                </a:solidFill>
                <a:latin typeface="Arial MT"/>
                <a:cs typeface="Arial MT"/>
              </a:rPr>
              <a:t> </a:t>
            </a:r>
            <a:r>
              <a:rPr sz="2400" dirty="0">
                <a:solidFill>
                  <a:schemeClr val="tx1"/>
                </a:solidFill>
                <a:latin typeface="Arial MT"/>
                <a:cs typeface="Arial MT"/>
              </a:rPr>
              <a:t>a</a:t>
            </a:r>
            <a:r>
              <a:rPr sz="2400" spc="-50" dirty="0">
                <a:solidFill>
                  <a:schemeClr val="tx1"/>
                </a:solidFill>
                <a:latin typeface="Arial MT"/>
                <a:cs typeface="Arial MT"/>
              </a:rPr>
              <a:t> </a:t>
            </a:r>
            <a:r>
              <a:rPr sz="2400" dirty="0">
                <a:solidFill>
                  <a:schemeClr val="tx1"/>
                </a:solidFill>
                <a:latin typeface="Arial MT"/>
                <a:cs typeface="Arial MT"/>
              </a:rPr>
              <a:t>plastic</a:t>
            </a:r>
            <a:r>
              <a:rPr sz="2400" spc="-34" dirty="0">
                <a:solidFill>
                  <a:schemeClr val="tx1"/>
                </a:solidFill>
                <a:latin typeface="Arial MT"/>
                <a:cs typeface="Arial MT"/>
              </a:rPr>
              <a:t> </a:t>
            </a:r>
            <a:r>
              <a:rPr sz="2400" dirty="0">
                <a:solidFill>
                  <a:schemeClr val="tx1"/>
                </a:solidFill>
                <a:latin typeface="Arial MT"/>
                <a:cs typeface="Arial MT"/>
              </a:rPr>
              <a:t>jar</a:t>
            </a:r>
            <a:r>
              <a:rPr sz="2400" spc="-50" dirty="0">
                <a:solidFill>
                  <a:schemeClr val="tx1"/>
                </a:solidFill>
                <a:latin typeface="Arial MT"/>
                <a:cs typeface="Arial MT"/>
              </a:rPr>
              <a:t> </a:t>
            </a:r>
            <a:r>
              <a:rPr sz="2400" dirty="0">
                <a:solidFill>
                  <a:schemeClr val="tx1"/>
                </a:solidFill>
                <a:latin typeface="Arial MT"/>
                <a:cs typeface="Arial MT"/>
              </a:rPr>
              <a:t>of</a:t>
            </a:r>
            <a:r>
              <a:rPr sz="2400" spc="-46" dirty="0">
                <a:solidFill>
                  <a:schemeClr val="tx1"/>
                </a:solidFill>
                <a:latin typeface="Arial MT"/>
                <a:cs typeface="Arial MT"/>
              </a:rPr>
              <a:t> </a:t>
            </a:r>
            <a:r>
              <a:rPr sz="2400" dirty="0">
                <a:solidFill>
                  <a:schemeClr val="tx1"/>
                </a:solidFill>
                <a:latin typeface="Arial MT"/>
                <a:cs typeface="Arial MT"/>
              </a:rPr>
              <a:t>about</a:t>
            </a:r>
            <a:r>
              <a:rPr sz="2400" spc="-50" dirty="0">
                <a:solidFill>
                  <a:schemeClr val="tx1"/>
                </a:solidFill>
                <a:latin typeface="Arial MT"/>
                <a:cs typeface="Arial MT"/>
              </a:rPr>
              <a:t> </a:t>
            </a:r>
            <a:r>
              <a:rPr sz="2400" dirty="0">
                <a:solidFill>
                  <a:srgbClr val="FF0000"/>
                </a:solidFill>
                <a:latin typeface="Arial MT"/>
                <a:cs typeface="Arial MT"/>
              </a:rPr>
              <a:t>20</a:t>
            </a:r>
            <a:r>
              <a:rPr sz="2400" spc="-46" dirty="0">
                <a:solidFill>
                  <a:srgbClr val="FF0000"/>
                </a:solidFill>
                <a:latin typeface="Arial MT"/>
                <a:cs typeface="Arial MT"/>
              </a:rPr>
              <a:t> </a:t>
            </a:r>
            <a:r>
              <a:rPr sz="2400" dirty="0">
                <a:solidFill>
                  <a:srgbClr val="FF0000"/>
                </a:solidFill>
                <a:latin typeface="Arial MT"/>
                <a:cs typeface="Arial MT"/>
              </a:rPr>
              <a:t>to</a:t>
            </a:r>
            <a:r>
              <a:rPr sz="2400" spc="-60" dirty="0">
                <a:solidFill>
                  <a:srgbClr val="FF0000"/>
                </a:solidFill>
                <a:latin typeface="Arial MT"/>
                <a:cs typeface="Arial MT"/>
              </a:rPr>
              <a:t> </a:t>
            </a:r>
            <a:r>
              <a:rPr sz="2400" dirty="0">
                <a:solidFill>
                  <a:srgbClr val="FF0000"/>
                </a:solidFill>
                <a:latin typeface="Arial MT"/>
                <a:cs typeface="Arial MT"/>
              </a:rPr>
              <a:t>35</a:t>
            </a:r>
            <a:r>
              <a:rPr sz="2400" spc="-46" dirty="0">
                <a:solidFill>
                  <a:srgbClr val="FF0000"/>
                </a:solidFill>
                <a:latin typeface="Arial MT"/>
                <a:cs typeface="Arial MT"/>
              </a:rPr>
              <a:t> </a:t>
            </a:r>
            <a:r>
              <a:rPr sz="2400" dirty="0">
                <a:solidFill>
                  <a:srgbClr val="FF0000"/>
                </a:solidFill>
                <a:latin typeface="Arial MT"/>
                <a:cs typeface="Arial MT"/>
              </a:rPr>
              <a:t>cm</a:t>
            </a:r>
            <a:r>
              <a:rPr sz="2400" spc="-50" dirty="0">
                <a:solidFill>
                  <a:srgbClr val="FF0000"/>
                </a:solidFill>
                <a:latin typeface="Arial MT"/>
                <a:cs typeface="Arial MT"/>
              </a:rPr>
              <a:t> </a:t>
            </a:r>
            <a:r>
              <a:rPr sz="2400" dirty="0">
                <a:solidFill>
                  <a:srgbClr val="FF0000"/>
                </a:solidFill>
                <a:latin typeface="Arial MT"/>
                <a:cs typeface="Arial MT"/>
              </a:rPr>
              <a:t>height</a:t>
            </a:r>
            <a:r>
              <a:rPr sz="2400" spc="-30" dirty="0">
                <a:solidFill>
                  <a:srgbClr val="FF0000"/>
                </a:solidFill>
                <a:latin typeface="Arial MT"/>
                <a:cs typeface="Arial MT"/>
              </a:rPr>
              <a:t> </a:t>
            </a:r>
            <a:r>
              <a:rPr sz="2400" dirty="0">
                <a:solidFill>
                  <a:srgbClr val="FF0000"/>
                </a:solidFill>
                <a:latin typeface="Arial MT"/>
                <a:cs typeface="Arial MT"/>
              </a:rPr>
              <a:t>and</a:t>
            </a:r>
            <a:r>
              <a:rPr sz="2400" spc="-46" dirty="0">
                <a:solidFill>
                  <a:srgbClr val="FF0000"/>
                </a:solidFill>
                <a:latin typeface="Arial MT"/>
                <a:cs typeface="Arial MT"/>
              </a:rPr>
              <a:t> </a:t>
            </a:r>
            <a:r>
              <a:rPr sz="2400" dirty="0">
                <a:solidFill>
                  <a:srgbClr val="FF0000"/>
                </a:solidFill>
                <a:latin typeface="Arial MT"/>
                <a:cs typeface="Arial MT"/>
              </a:rPr>
              <a:t>10</a:t>
            </a:r>
            <a:r>
              <a:rPr sz="2400" spc="-46" dirty="0">
                <a:solidFill>
                  <a:srgbClr val="FF0000"/>
                </a:solidFill>
                <a:latin typeface="Arial MT"/>
                <a:cs typeface="Arial MT"/>
              </a:rPr>
              <a:t> </a:t>
            </a:r>
            <a:r>
              <a:rPr sz="2400" spc="-25" dirty="0">
                <a:solidFill>
                  <a:srgbClr val="FF0000"/>
                </a:solidFill>
                <a:latin typeface="Arial MT"/>
                <a:cs typeface="Arial MT"/>
              </a:rPr>
              <a:t>to 	</a:t>
            </a:r>
            <a:r>
              <a:rPr sz="2400" dirty="0">
                <a:solidFill>
                  <a:srgbClr val="FF0000"/>
                </a:solidFill>
                <a:latin typeface="Arial MT"/>
                <a:cs typeface="Arial MT"/>
              </a:rPr>
              <a:t>15</a:t>
            </a:r>
            <a:r>
              <a:rPr sz="2400" spc="-55" dirty="0">
                <a:solidFill>
                  <a:srgbClr val="FF0000"/>
                </a:solidFill>
                <a:latin typeface="Arial MT"/>
                <a:cs typeface="Arial MT"/>
              </a:rPr>
              <a:t> </a:t>
            </a:r>
            <a:r>
              <a:rPr sz="2400" dirty="0">
                <a:solidFill>
                  <a:srgbClr val="FF0000"/>
                </a:solidFill>
                <a:latin typeface="Arial MT"/>
                <a:cs typeface="Arial MT"/>
              </a:rPr>
              <a:t>cm</a:t>
            </a:r>
            <a:r>
              <a:rPr sz="2400" spc="-41" dirty="0">
                <a:solidFill>
                  <a:srgbClr val="FF0000"/>
                </a:solidFill>
                <a:latin typeface="Arial MT"/>
                <a:cs typeface="Arial MT"/>
              </a:rPr>
              <a:t> </a:t>
            </a:r>
            <a:r>
              <a:rPr sz="2400" dirty="0">
                <a:solidFill>
                  <a:srgbClr val="FF0000"/>
                </a:solidFill>
                <a:latin typeface="Arial MT"/>
                <a:cs typeface="Arial MT"/>
              </a:rPr>
              <a:t>diameter</a:t>
            </a:r>
            <a:r>
              <a:rPr sz="2400" spc="-41" dirty="0">
                <a:solidFill>
                  <a:srgbClr val="FF0000"/>
                </a:solidFill>
                <a:latin typeface="Arial MT"/>
                <a:cs typeface="Arial MT"/>
              </a:rPr>
              <a:t> </a:t>
            </a:r>
            <a:r>
              <a:rPr sz="2400" dirty="0">
                <a:solidFill>
                  <a:schemeClr val="tx1"/>
                </a:solidFill>
                <a:latin typeface="Arial MT"/>
                <a:cs typeface="Arial MT"/>
              </a:rPr>
              <a:t>at</a:t>
            </a:r>
            <a:r>
              <a:rPr sz="2400" spc="-41" dirty="0">
                <a:solidFill>
                  <a:schemeClr val="tx1"/>
                </a:solidFill>
                <a:latin typeface="Arial MT"/>
                <a:cs typeface="Arial MT"/>
              </a:rPr>
              <a:t> </a:t>
            </a:r>
            <a:r>
              <a:rPr sz="2400" dirty="0">
                <a:solidFill>
                  <a:schemeClr val="tx1"/>
                </a:solidFill>
                <a:latin typeface="Arial MT"/>
                <a:cs typeface="Arial MT"/>
              </a:rPr>
              <a:t>the</a:t>
            </a:r>
            <a:r>
              <a:rPr sz="2400" spc="-46" dirty="0">
                <a:solidFill>
                  <a:schemeClr val="tx1"/>
                </a:solidFill>
                <a:latin typeface="Arial MT"/>
                <a:cs typeface="Arial MT"/>
              </a:rPr>
              <a:t> </a:t>
            </a:r>
            <a:r>
              <a:rPr sz="2400" dirty="0">
                <a:solidFill>
                  <a:schemeClr val="tx1"/>
                </a:solidFill>
                <a:latin typeface="Arial MT"/>
                <a:cs typeface="Arial MT"/>
              </a:rPr>
              <a:t>base</a:t>
            </a:r>
            <a:r>
              <a:rPr sz="2400" spc="-50" dirty="0">
                <a:solidFill>
                  <a:schemeClr val="tx1"/>
                </a:solidFill>
                <a:latin typeface="Arial MT"/>
                <a:cs typeface="Arial MT"/>
              </a:rPr>
              <a:t> </a:t>
            </a:r>
            <a:r>
              <a:rPr sz="2400" dirty="0">
                <a:solidFill>
                  <a:schemeClr val="tx1"/>
                </a:solidFill>
                <a:latin typeface="Arial MT"/>
                <a:cs typeface="Arial MT"/>
              </a:rPr>
              <a:t>with</a:t>
            </a:r>
            <a:r>
              <a:rPr sz="2400" spc="-41" dirty="0">
                <a:solidFill>
                  <a:schemeClr val="tx1"/>
                </a:solidFill>
                <a:latin typeface="Arial MT"/>
                <a:cs typeface="Arial MT"/>
              </a:rPr>
              <a:t> </a:t>
            </a:r>
            <a:r>
              <a:rPr sz="2400" dirty="0">
                <a:solidFill>
                  <a:schemeClr val="tx1"/>
                </a:solidFill>
                <a:latin typeface="Arial MT"/>
                <a:cs typeface="Arial MT"/>
              </a:rPr>
              <a:t>a</a:t>
            </a:r>
            <a:r>
              <a:rPr sz="2400" spc="-55" dirty="0">
                <a:solidFill>
                  <a:schemeClr val="tx1"/>
                </a:solidFill>
                <a:latin typeface="Arial MT"/>
                <a:cs typeface="Arial MT"/>
              </a:rPr>
              <a:t> </a:t>
            </a:r>
            <a:r>
              <a:rPr sz="2400" dirty="0">
                <a:solidFill>
                  <a:srgbClr val="FF0000"/>
                </a:solidFill>
                <a:latin typeface="Arial MT"/>
                <a:cs typeface="Arial MT"/>
              </a:rPr>
              <a:t>slight</a:t>
            </a:r>
            <a:r>
              <a:rPr sz="2400" spc="-30" dirty="0">
                <a:solidFill>
                  <a:srgbClr val="FF0000"/>
                </a:solidFill>
                <a:latin typeface="Arial MT"/>
                <a:cs typeface="Arial MT"/>
              </a:rPr>
              <a:t> </a:t>
            </a:r>
            <a:r>
              <a:rPr sz="2400" dirty="0">
                <a:solidFill>
                  <a:srgbClr val="FF0000"/>
                </a:solidFill>
                <a:latin typeface="Arial MT"/>
                <a:cs typeface="Arial MT"/>
              </a:rPr>
              <a:t>inward</a:t>
            </a:r>
            <a:r>
              <a:rPr sz="2400" spc="-15" dirty="0">
                <a:solidFill>
                  <a:srgbClr val="FF0000"/>
                </a:solidFill>
                <a:latin typeface="Arial MT"/>
                <a:cs typeface="Arial MT"/>
              </a:rPr>
              <a:t> </a:t>
            </a:r>
            <a:r>
              <a:rPr sz="2400" dirty="0">
                <a:solidFill>
                  <a:srgbClr val="FF0000"/>
                </a:solidFill>
                <a:latin typeface="Arial MT"/>
                <a:cs typeface="Arial MT"/>
              </a:rPr>
              <a:t>tapering</a:t>
            </a:r>
            <a:r>
              <a:rPr sz="2400" spc="-41" dirty="0">
                <a:solidFill>
                  <a:srgbClr val="FF0000"/>
                </a:solidFill>
                <a:latin typeface="Arial MT"/>
                <a:cs typeface="Arial MT"/>
              </a:rPr>
              <a:t> </a:t>
            </a:r>
            <a:r>
              <a:rPr sz="2400" dirty="0">
                <a:solidFill>
                  <a:schemeClr val="tx1"/>
                </a:solidFill>
                <a:latin typeface="Arial MT"/>
                <a:cs typeface="Arial MT"/>
              </a:rPr>
              <a:t>of</a:t>
            </a:r>
            <a:r>
              <a:rPr sz="2400" spc="-50" dirty="0">
                <a:solidFill>
                  <a:schemeClr val="tx1"/>
                </a:solidFill>
                <a:latin typeface="Arial MT"/>
                <a:cs typeface="Arial MT"/>
              </a:rPr>
              <a:t> </a:t>
            </a:r>
            <a:r>
              <a:rPr sz="2400" dirty="0">
                <a:solidFill>
                  <a:schemeClr val="tx1"/>
                </a:solidFill>
                <a:latin typeface="Arial MT"/>
                <a:cs typeface="Arial MT"/>
              </a:rPr>
              <a:t>the</a:t>
            </a:r>
            <a:r>
              <a:rPr sz="2400" spc="-55" dirty="0">
                <a:solidFill>
                  <a:schemeClr val="tx1"/>
                </a:solidFill>
                <a:latin typeface="Arial MT"/>
                <a:cs typeface="Arial MT"/>
              </a:rPr>
              <a:t> </a:t>
            </a:r>
            <a:r>
              <a:rPr sz="2400" dirty="0">
                <a:solidFill>
                  <a:schemeClr val="tx1"/>
                </a:solidFill>
                <a:latin typeface="Arial MT"/>
                <a:cs typeface="Arial MT"/>
              </a:rPr>
              <a:t>walls</a:t>
            </a:r>
            <a:r>
              <a:rPr sz="2400" spc="-20" dirty="0">
                <a:solidFill>
                  <a:schemeClr val="tx1"/>
                </a:solidFill>
                <a:latin typeface="Arial MT"/>
                <a:cs typeface="Arial MT"/>
              </a:rPr>
              <a:t> </a:t>
            </a:r>
            <a:r>
              <a:rPr sz="2400" dirty="0">
                <a:solidFill>
                  <a:schemeClr val="tx1"/>
                </a:solidFill>
                <a:latin typeface="Arial MT"/>
                <a:cs typeface="Arial MT"/>
              </a:rPr>
              <a:t>from</a:t>
            </a:r>
            <a:r>
              <a:rPr sz="2400" spc="-60" dirty="0">
                <a:solidFill>
                  <a:schemeClr val="tx1"/>
                </a:solidFill>
                <a:latin typeface="Arial MT"/>
                <a:cs typeface="Arial MT"/>
              </a:rPr>
              <a:t> </a:t>
            </a:r>
            <a:r>
              <a:rPr sz="2400" dirty="0">
                <a:solidFill>
                  <a:schemeClr val="tx1"/>
                </a:solidFill>
                <a:latin typeface="Arial MT"/>
                <a:cs typeface="Arial MT"/>
              </a:rPr>
              <a:t>top</a:t>
            </a:r>
            <a:r>
              <a:rPr sz="2400" spc="-55" dirty="0">
                <a:solidFill>
                  <a:schemeClr val="tx1"/>
                </a:solidFill>
                <a:latin typeface="Arial MT"/>
                <a:cs typeface="Arial MT"/>
              </a:rPr>
              <a:t> </a:t>
            </a:r>
            <a:r>
              <a:rPr sz="2400" spc="-25" dirty="0">
                <a:solidFill>
                  <a:schemeClr val="tx1"/>
                </a:solidFill>
                <a:latin typeface="Arial MT"/>
                <a:cs typeface="Arial MT"/>
              </a:rPr>
              <a:t>to 	</a:t>
            </a:r>
            <a:r>
              <a:rPr sz="2400" spc="-10" dirty="0">
                <a:solidFill>
                  <a:schemeClr val="tx1"/>
                </a:solidFill>
                <a:latin typeface="Arial MT"/>
                <a:cs typeface="Arial MT"/>
              </a:rPr>
              <a:t>bottom.</a:t>
            </a:r>
            <a:endParaRPr sz="2400" dirty="0">
              <a:solidFill>
                <a:schemeClr val="tx1"/>
              </a:solidFill>
              <a:latin typeface="Arial MT"/>
              <a:cs typeface="Arial MT"/>
            </a:endParaRPr>
          </a:p>
          <a:p>
            <a:pPr marL="240036" indent="-227336" algn="just">
              <a:spcBef>
                <a:spcPts val="2160"/>
              </a:spcBef>
              <a:buChar char="•"/>
              <a:tabLst>
                <a:tab pos="239400" algn="l"/>
              </a:tabLst>
            </a:pPr>
            <a:r>
              <a:rPr sz="2400" dirty="0">
                <a:solidFill>
                  <a:schemeClr val="tx1"/>
                </a:solidFill>
                <a:latin typeface="Arial MT"/>
                <a:cs typeface="Arial MT"/>
              </a:rPr>
              <a:t>A</a:t>
            </a:r>
            <a:r>
              <a:rPr sz="2400" spc="-170" dirty="0">
                <a:solidFill>
                  <a:schemeClr val="tx1"/>
                </a:solidFill>
                <a:latin typeface="Arial MT"/>
                <a:cs typeface="Arial MT"/>
              </a:rPr>
              <a:t> </a:t>
            </a:r>
            <a:r>
              <a:rPr sz="2400" dirty="0">
                <a:solidFill>
                  <a:schemeClr val="tx1"/>
                </a:solidFill>
                <a:latin typeface="Arial MT"/>
                <a:cs typeface="Arial MT"/>
              </a:rPr>
              <a:t>holder</a:t>
            </a:r>
            <a:r>
              <a:rPr sz="2400" spc="-70" dirty="0">
                <a:solidFill>
                  <a:schemeClr val="tx1"/>
                </a:solidFill>
                <a:latin typeface="Arial MT"/>
                <a:cs typeface="Arial MT"/>
              </a:rPr>
              <a:t> </a:t>
            </a:r>
            <a:r>
              <a:rPr sz="2400" dirty="0">
                <a:solidFill>
                  <a:schemeClr val="tx1"/>
                </a:solidFill>
                <a:latin typeface="Arial MT"/>
                <a:cs typeface="Arial MT"/>
              </a:rPr>
              <a:t>is</a:t>
            </a:r>
            <a:r>
              <a:rPr sz="2400" spc="-65" dirty="0">
                <a:solidFill>
                  <a:schemeClr val="tx1"/>
                </a:solidFill>
                <a:latin typeface="Arial MT"/>
                <a:cs typeface="Arial MT"/>
              </a:rPr>
              <a:t> </a:t>
            </a:r>
            <a:r>
              <a:rPr sz="2400" dirty="0">
                <a:solidFill>
                  <a:schemeClr val="tx1"/>
                </a:solidFill>
                <a:latin typeface="Arial MT"/>
                <a:cs typeface="Arial MT"/>
              </a:rPr>
              <a:t>provided</a:t>
            </a:r>
            <a:r>
              <a:rPr sz="2400" spc="-46" dirty="0">
                <a:solidFill>
                  <a:schemeClr val="tx1"/>
                </a:solidFill>
                <a:latin typeface="Arial MT"/>
                <a:cs typeface="Arial MT"/>
              </a:rPr>
              <a:t> </a:t>
            </a:r>
            <a:r>
              <a:rPr sz="2400" dirty="0">
                <a:solidFill>
                  <a:schemeClr val="tx1"/>
                </a:solidFill>
                <a:latin typeface="Arial MT"/>
                <a:cs typeface="Arial MT"/>
              </a:rPr>
              <a:t>to</a:t>
            </a:r>
            <a:r>
              <a:rPr sz="2400" spc="-65" dirty="0">
                <a:solidFill>
                  <a:schemeClr val="tx1"/>
                </a:solidFill>
                <a:latin typeface="Arial MT"/>
                <a:cs typeface="Arial MT"/>
              </a:rPr>
              <a:t> </a:t>
            </a:r>
            <a:r>
              <a:rPr sz="2400" dirty="0">
                <a:solidFill>
                  <a:schemeClr val="tx1"/>
                </a:solidFill>
                <a:latin typeface="Arial MT"/>
                <a:cs typeface="Arial MT"/>
              </a:rPr>
              <a:t>ensure</a:t>
            </a:r>
            <a:r>
              <a:rPr sz="2400" spc="-60" dirty="0">
                <a:solidFill>
                  <a:schemeClr val="tx1"/>
                </a:solidFill>
                <a:latin typeface="Arial MT"/>
                <a:cs typeface="Arial MT"/>
              </a:rPr>
              <a:t> </a:t>
            </a:r>
            <a:r>
              <a:rPr sz="2400" dirty="0">
                <a:solidFill>
                  <a:schemeClr val="tx1"/>
                </a:solidFill>
                <a:latin typeface="Arial MT"/>
                <a:cs typeface="Arial MT"/>
              </a:rPr>
              <a:t>safe</a:t>
            </a:r>
            <a:r>
              <a:rPr sz="2400" spc="-65" dirty="0">
                <a:solidFill>
                  <a:schemeClr val="tx1"/>
                </a:solidFill>
                <a:latin typeface="Arial MT"/>
                <a:cs typeface="Arial MT"/>
              </a:rPr>
              <a:t> </a:t>
            </a:r>
            <a:r>
              <a:rPr sz="2400" dirty="0">
                <a:solidFill>
                  <a:schemeClr val="tx1"/>
                </a:solidFill>
                <a:latin typeface="Arial MT"/>
                <a:cs typeface="Arial MT"/>
              </a:rPr>
              <a:t>and</a:t>
            </a:r>
            <a:r>
              <a:rPr sz="2400" spc="-65" dirty="0">
                <a:solidFill>
                  <a:schemeClr val="tx1"/>
                </a:solidFill>
                <a:latin typeface="Arial MT"/>
                <a:cs typeface="Arial MT"/>
              </a:rPr>
              <a:t> </a:t>
            </a:r>
            <a:r>
              <a:rPr sz="2400" dirty="0">
                <a:solidFill>
                  <a:schemeClr val="tx1"/>
                </a:solidFill>
                <a:latin typeface="Arial MT"/>
                <a:cs typeface="Arial MT"/>
              </a:rPr>
              <a:t>upright</a:t>
            </a:r>
            <a:r>
              <a:rPr sz="2400" spc="-50" dirty="0">
                <a:solidFill>
                  <a:schemeClr val="tx1"/>
                </a:solidFill>
                <a:latin typeface="Arial MT"/>
                <a:cs typeface="Arial MT"/>
              </a:rPr>
              <a:t> </a:t>
            </a:r>
            <a:r>
              <a:rPr sz="2400" dirty="0">
                <a:solidFill>
                  <a:schemeClr val="tx1"/>
                </a:solidFill>
                <a:latin typeface="Arial MT"/>
                <a:cs typeface="Arial MT"/>
              </a:rPr>
              <a:t>positioning</a:t>
            </a:r>
            <a:r>
              <a:rPr sz="2400" spc="-25" dirty="0">
                <a:solidFill>
                  <a:schemeClr val="tx1"/>
                </a:solidFill>
                <a:latin typeface="Arial MT"/>
                <a:cs typeface="Arial MT"/>
              </a:rPr>
              <a:t> </a:t>
            </a:r>
            <a:r>
              <a:rPr sz="2400" dirty="0">
                <a:solidFill>
                  <a:schemeClr val="tx1"/>
                </a:solidFill>
                <a:latin typeface="Arial MT"/>
                <a:cs typeface="Arial MT"/>
              </a:rPr>
              <a:t>of</a:t>
            </a:r>
            <a:r>
              <a:rPr sz="2400" spc="-65" dirty="0">
                <a:solidFill>
                  <a:schemeClr val="tx1"/>
                </a:solidFill>
                <a:latin typeface="Arial MT"/>
                <a:cs typeface="Arial MT"/>
              </a:rPr>
              <a:t> </a:t>
            </a:r>
            <a:r>
              <a:rPr sz="2400" dirty="0">
                <a:solidFill>
                  <a:schemeClr val="tx1"/>
                </a:solidFill>
                <a:latin typeface="Arial MT"/>
                <a:cs typeface="Arial MT"/>
              </a:rPr>
              <a:t>the</a:t>
            </a:r>
            <a:r>
              <a:rPr sz="2400" spc="-80" dirty="0">
                <a:solidFill>
                  <a:schemeClr val="tx1"/>
                </a:solidFill>
                <a:latin typeface="Arial MT"/>
                <a:cs typeface="Arial MT"/>
              </a:rPr>
              <a:t> </a:t>
            </a:r>
            <a:r>
              <a:rPr sz="2400" spc="-10" dirty="0">
                <a:solidFill>
                  <a:schemeClr val="tx1"/>
                </a:solidFill>
                <a:latin typeface="Arial MT"/>
                <a:cs typeface="Arial MT"/>
              </a:rPr>
              <a:t>collector.</a:t>
            </a:r>
            <a:endParaRPr sz="2400" dirty="0">
              <a:solidFill>
                <a:schemeClr val="tx1"/>
              </a:solidFill>
              <a:latin typeface="Arial MT"/>
              <a:cs typeface="Arial MT"/>
            </a:endParaRPr>
          </a:p>
          <a:p>
            <a:pPr marL="240036" marR="417841" indent="-227336" algn="just">
              <a:lnSpc>
                <a:spcPct val="140000"/>
              </a:lnSpc>
              <a:spcBef>
                <a:spcPts val="1001"/>
              </a:spcBef>
              <a:buChar char="•"/>
              <a:tabLst>
                <a:tab pos="241306" algn="l"/>
              </a:tabLst>
            </a:pPr>
            <a:r>
              <a:rPr sz="2400" dirty="0">
                <a:solidFill>
                  <a:schemeClr val="tx1"/>
                </a:solidFill>
                <a:latin typeface="Arial MT"/>
                <a:cs typeface="Arial MT"/>
              </a:rPr>
              <a:t>The</a:t>
            </a:r>
            <a:r>
              <a:rPr sz="2400" spc="-60" dirty="0">
                <a:solidFill>
                  <a:schemeClr val="tx1"/>
                </a:solidFill>
                <a:latin typeface="Arial MT"/>
                <a:cs typeface="Arial MT"/>
              </a:rPr>
              <a:t> </a:t>
            </a:r>
            <a:r>
              <a:rPr sz="2400" dirty="0">
                <a:solidFill>
                  <a:schemeClr val="tx1"/>
                </a:solidFill>
                <a:latin typeface="Arial MT"/>
                <a:cs typeface="Arial MT"/>
              </a:rPr>
              <a:t>sample</a:t>
            </a:r>
            <a:r>
              <a:rPr sz="2400" spc="-55" dirty="0">
                <a:solidFill>
                  <a:schemeClr val="tx1"/>
                </a:solidFill>
                <a:latin typeface="Arial MT"/>
                <a:cs typeface="Arial MT"/>
              </a:rPr>
              <a:t> </a:t>
            </a:r>
            <a:r>
              <a:rPr sz="2400" dirty="0">
                <a:solidFill>
                  <a:schemeClr val="tx1"/>
                </a:solidFill>
                <a:latin typeface="Arial MT"/>
                <a:cs typeface="Arial MT"/>
              </a:rPr>
              <a:t>is</a:t>
            </a:r>
            <a:r>
              <a:rPr sz="2400" spc="-55" dirty="0">
                <a:solidFill>
                  <a:schemeClr val="tx1"/>
                </a:solidFill>
                <a:latin typeface="Arial MT"/>
                <a:cs typeface="Arial MT"/>
              </a:rPr>
              <a:t> </a:t>
            </a:r>
            <a:r>
              <a:rPr sz="2400" dirty="0">
                <a:solidFill>
                  <a:schemeClr val="tx1"/>
                </a:solidFill>
                <a:latin typeface="Arial MT"/>
                <a:cs typeface="Arial MT"/>
              </a:rPr>
              <a:t>deposited</a:t>
            </a:r>
            <a:r>
              <a:rPr sz="2400" spc="-41" dirty="0">
                <a:solidFill>
                  <a:schemeClr val="tx1"/>
                </a:solidFill>
                <a:latin typeface="Arial MT"/>
                <a:cs typeface="Arial MT"/>
              </a:rPr>
              <a:t> </a:t>
            </a:r>
            <a:r>
              <a:rPr sz="2400" dirty="0">
                <a:solidFill>
                  <a:schemeClr val="tx1"/>
                </a:solidFill>
                <a:latin typeface="Arial MT"/>
                <a:cs typeface="Arial MT"/>
              </a:rPr>
              <a:t>over</a:t>
            </a:r>
            <a:r>
              <a:rPr sz="2400" spc="-55" dirty="0">
                <a:solidFill>
                  <a:schemeClr val="tx1"/>
                </a:solidFill>
                <a:latin typeface="Arial MT"/>
                <a:cs typeface="Arial MT"/>
              </a:rPr>
              <a:t> </a:t>
            </a:r>
            <a:r>
              <a:rPr sz="2400" dirty="0">
                <a:solidFill>
                  <a:schemeClr val="tx1"/>
                </a:solidFill>
                <a:latin typeface="Arial MT"/>
                <a:cs typeface="Arial MT"/>
              </a:rPr>
              <a:t>a</a:t>
            </a:r>
            <a:r>
              <a:rPr sz="2400" spc="-60" dirty="0">
                <a:solidFill>
                  <a:schemeClr val="tx1"/>
                </a:solidFill>
                <a:latin typeface="Arial MT"/>
                <a:cs typeface="Arial MT"/>
              </a:rPr>
              <a:t> </a:t>
            </a:r>
            <a:r>
              <a:rPr sz="2400" dirty="0">
                <a:solidFill>
                  <a:schemeClr val="tx1"/>
                </a:solidFill>
                <a:latin typeface="Arial MT"/>
                <a:cs typeface="Arial MT"/>
              </a:rPr>
              <a:t>period</a:t>
            </a:r>
            <a:r>
              <a:rPr sz="2400" spc="-41" dirty="0">
                <a:solidFill>
                  <a:schemeClr val="tx1"/>
                </a:solidFill>
                <a:latin typeface="Arial MT"/>
                <a:cs typeface="Arial MT"/>
              </a:rPr>
              <a:t> </a:t>
            </a:r>
            <a:r>
              <a:rPr sz="2400" dirty="0">
                <a:solidFill>
                  <a:schemeClr val="tx1"/>
                </a:solidFill>
                <a:latin typeface="Arial MT"/>
                <a:cs typeface="Arial MT"/>
              </a:rPr>
              <a:t>of</a:t>
            </a:r>
            <a:r>
              <a:rPr sz="2400" spc="-55" dirty="0">
                <a:solidFill>
                  <a:schemeClr val="tx1"/>
                </a:solidFill>
                <a:latin typeface="Arial MT"/>
                <a:cs typeface="Arial MT"/>
              </a:rPr>
              <a:t> </a:t>
            </a:r>
            <a:r>
              <a:rPr sz="2400" b="1" dirty="0">
                <a:solidFill>
                  <a:schemeClr val="tx1"/>
                </a:solidFill>
                <a:latin typeface="Arial MT"/>
                <a:cs typeface="Arial MT"/>
              </a:rPr>
              <a:t>one</a:t>
            </a:r>
            <a:r>
              <a:rPr sz="2400" b="1" spc="-60" dirty="0">
                <a:solidFill>
                  <a:schemeClr val="tx1"/>
                </a:solidFill>
                <a:latin typeface="Arial MT"/>
                <a:cs typeface="Arial MT"/>
              </a:rPr>
              <a:t> </a:t>
            </a:r>
            <a:r>
              <a:rPr sz="2400" b="1" dirty="0">
                <a:solidFill>
                  <a:schemeClr val="tx1"/>
                </a:solidFill>
                <a:latin typeface="Arial MT"/>
                <a:cs typeface="Arial MT"/>
              </a:rPr>
              <a:t>month</a:t>
            </a:r>
            <a:r>
              <a:rPr sz="2400" b="1" spc="-55" dirty="0">
                <a:solidFill>
                  <a:schemeClr val="tx1"/>
                </a:solidFill>
                <a:latin typeface="Arial MT"/>
                <a:cs typeface="Arial MT"/>
              </a:rPr>
              <a:t> </a:t>
            </a:r>
            <a:r>
              <a:rPr sz="2400" dirty="0">
                <a:solidFill>
                  <a:schemeClr val="tx1"/>
                </a:solidFill>
                <a:latin typeface="Arial MT"/>
                <a:cs typeface="Arial MT"/>
              </a:rPr>
              <a:t>and</a:t>
            </a:r>
            <a:r>
              <a:rPr sz="2400" spc="-70" dirty="0">
                <a:solidFill>
                  <a:schemeClr val="tx1"/>
                </a:solidFill>
                <a:latin typeface="Arial MT"/>
                <a:cs typeface="Arial MT"/>
              </a:rPr>
              <a:t> </a:t>
            </a:r>
            <a:r>
              <a:rPr sz="2400" dirty="0">
                <a:solidFill>
                  <a:schemeClr val="tx1"/>
                </a:solidFill>
                <a:latin typeface="Arial MT"/>
                <a:cs typeface="Arial MT"/>
              </a:rPr>
              <a:t>the</a:t>
            </a:r>
            <a:r>
              <a:rPr sz="2400" spc="-55" dirty="0">
                <a:solidFill>
                  <a:schemeClr val="tx1"/>
                </a:solidFill>
                <a:latin typeface="Arial MT"/>
                <a:cs typeface="Arial MT"/>
              </a:rPr>
              <a:t> </a:t>
            </a:r>
            <a:r>
              <a:rPr sz="2400" dirty="0">
                <a:solidFill>
                  <a:schemeClr val="tx1"/>
                </a:solidFill>
                <a:latin typeface="Arial MT"/>
                <a:cs typeface="Arial MT"/>
              </a:rPr>
              <a:t>material</a:t>
            </a:r>
            <a:r>
              <a:rPr sz="2400" spc="-55" dirty="0">
                <a:solidFill>
                  <a:schemeClr val="tx1"/>
                </a:solidFill>
                <a:latin typeface="Arial MT"/>
                <a:cs typeface="Arial MT"/>
              </a:rPr>
              <a:t> </a:t>
            </a:r>
            <a:r>
              <a:rPr sz="2400" dirty="0">
                <a:solidFill>
                  <a:schemeClr val="tx1"/>
                </a:solidFill>
                <a:latin typeface="Arial MT"/>
                <a:cs typeface="Arial MT"/>
              </a:rPr>
              <a:t>is</a:t>
            </a:r>
            <a:r>
              <a:rPr sz="2400" spc="-55" dirty="0">
                <a:solidFill>
                  <a:schemeClr val="tx1"/>
                </a:solidFill>
                <a:latin typeface="Arial MT"/>
                <a:cs typeface="Arial MT"/>
              </a:rPr>
              <a:t> </a:t>
            </a:r>
            <a:r>
              <a:rPr sz="2400" spc="-10" dirty="0">
                <a:solidFill>
                  <a:schemeClr val="tx1"/>
                </a:solidFill>
                <a:latin typeface="Arial MT"/>
                <a:cs typeface="Arial MT"/>
              </a:rPr>
              <a:t>dried </a:t>
            </a:r>
            <a:r>
              <a:rPr sz="2400" dirty="0">
                <a:solidFill>
                  <a:schemeClr val="tx1"/>
                </a:solidFill>
                <a:latin typeface="Arial MT"/>
                <a:cs typeface="Arial MT"/>
              </a:rPr>
              <a:t>and</a:t>
            </a:r>
            <a:r>
              <a:rPr sz="2400" spc="-50" dirty="0">
                <a:solidFill>
                  <a:schemeClr val="tx1"/>
                </a:solidFill>
                <a:latin typeface="Arial MT"/>
                <a:cs typeface="Arial MT"/>
              </a:rPr>
              <a:t> </a:t>
            </a:r>
            <a:r>
              <a:rPr sz="2400" spc="-10" dirty="0">
                <a:solidFill>
                  <a:schemeClr val="tx1"/>
                </a:solidFill>
                <a:latin typeface="Arial MT"/>
                <a:cs typeface="Arial MT"/>
              </a:rPr>
              <a:t>weighed.</a:t>
            </a:r>
            <a:endParaRPr sz="2400" dirty="0">
              <a:solidFill>
                <a:schemeClr val="tx1"/>
              </a:solidFill>
              <a:latin typeface="Arial MT"/>
              <a:cs typeface="Arial MT"/>
            </a:endParaRPr>
          </a:p>
          <a:p>
            <a:pPr marL="324493" indent="-311792" algn="just">
              <a:spcBef>
                <a:spcPts val="2145"/>
              </a:spcBef>
              <a:buChar char="•"/>
              <a:tabLst>
                <a:tab pos="324493" algn="l"/>
              </a:tabLst>
            </a:pPr>
            <a:r>
              <a:rPr sz="2400" spc="-20" dirty="0">
                <a:latin typeface="Arial MT"/>
                <a:cs typeface="Arial MT"/>
              </a:rPr>
              <a:t>Usually,</a:t>
            </a:r>
            <a:r>
              <a:rPr sz="2400" spc="-30" dirty="0">
                <a:latin typeface="Arial MT"/>
                <a:cs typeface="Arial MT"/>
              </a:rPr>
              <a:t> </a:t>
            </a:r>
            <a:r>
              <a:rPr sz="2400" dirty="0">
                <a:latin typeface="Arial MT"/>
                <a:cs typeface="Arial MT"/>
              </a:rPr>
              <a:t>only</a:t>
            </a:r>
            <a:r>
              <a:rPr sz="2400" spc="-46" dirty="0">
                <a:latin typeface="Arial MT"/>
                <a:cs typeface="Arial MT"/>
              </a:rPr>
              <a:t> </a:t>
            </a:r>
            <a:r>
              <a:rPr sz="2400" b="1" spc="-10" dirty="0">
                <a:latin typeface="Arial MT"/>
                <a:cs typeface="Arial MT"/>
              </a:rPr>
              <a:t>water-</a:t>
            </a:r>
            <a:r>
              <a:rPr sz="2400" b="1" dirty="0">
                <a:latin typeface="Arial MT"/>
                <a:cs typeface="Arial MT"/>
              </a:rPr>
              <a:t>insoluble</a:t>
            </a:r>
            <a:r>
              <a:rPr sz="2400" b="1" spc="-5" dirty="0">
                <a:latin typeface="Arial MT"/>
                <a:cs typeface="Arial MT"/>
              </a:rPr>
              <a:t> </a:t>
            </a:r>
            <a:r>
              <a:rPr sz="2400" b="1" dirty="0">
                <a:latin typeface="Arial MT"/>
                <a:cs typeface="Arial MT"/>
              </a:rPr>
              <a:t>dustfall</a:t>
            </a:r>
            <a:r>
              <a:rPr sz="2400" b="1" spc="-55" dirty="0">
                <a:latin typeface="Arial MT"/>
                <a:cs typeface="Arial MT"/>
              </a:rPr>
              <a:t> </a:t>
            </a:r>
            <a:r>
              <a:rPr sz="2400" dirty="0">
                <a:latin typeface="Arial MT"/>
                <a:cs typeface="Arial MT"/>
              </a:rPr>
              <a:t>is</a:t>
            </a:r>
            <a:r>
              <a:rPr sz="2400" spc="-50" dirty="0">
                <a:latin typeface="Arial MT"/>
                <a:cs typeface="Arial MT"/>
              </a:rPr>
              <a:t> </a:t>
            </a:r>
            <a:r>
              <a:rPr sz="2400" dirty="0">
                <a:latin typeface="Arial MT"/>
                <a:cs typeface="Arial MT"/>
              </a:rPr>
              <a:t>reported</a:t>
            </a:r>
            <a:r>
              <a:rPr sz="2400" spc="-55" dirty="0">
                <a:latin typeface="Arial MT"/>
                <a:cs typeface="Arial MT"/>
              </a:rPr>
              <a:t> </a:t>
            </a:r>
            <a:r>
              <a:rPr sz="2400" dirty="0">
                <a:latin typeface="Arial MT"/>
                <a:cs typeface="Arial MT"/>
              </a:rPr>
              <a:t>in</a:t>
            </a:r>
            <a:r>
              <a:rPr sz="2400" spc="-65" dirty="0">
                <a:latin typeface="Arial MT"/>
                <a:cs typeface="Arial MT"/>
              </a:rPr>
              <a:t> </a:t>
            </a:r>
            <a:r>
              <a:rPr sz="2400" b="1" dirty="0">
                <a:latin typeface="Arial MT"/>
                <a:cs typeface="Arial MT"/>
              </a:rPr>
              <a:t>mg/cm</a:t>
            </a:r>
            <a:r>
              <a:rPr lang="en-IN" sz="2400" b="1" baseline="30000" dirty="0">
                <a:latin typeface="Arial MT"/>
                <a:cs typeface="Arial MT"/>
              </a:rPr>
              <a:t>2</a:t>
            </a:r>
            <a:r>
              <a:rPr sz="2400" b="1" spc="-60" dirty="0">
                <a:latin typeface="Arial MT"/>
                <a:cs typeface="Arial MT"/>
              </a:rPr>
              <a:t> </a:t>
            </a:r>
            <a:r>
              <a:rPr sz="2400" b="1" dirty="0">
                <a:latin typeface="Arial MT"/>
                <a:cs typeface="Arial MT"/>
              </a:rPr>
              <a:t>or</a:t>
            </a:r>
            <a:r>
              <a:rPr sz="2400" b="1" spc="-55" dirty="0">
                <a:latin typeface="Arial MT"/>
                <a:cs typeface="Arial MT"/>
              </a:rPr>
              <a:t> </a:t>
            </a:r>
            <a:r>
              <a:rPr sz="2400" b="1" dirty="0">
                <a:latin typeface="Arial MT"/>
                <a:cs typeface="Arial MT"/>
              </a:rPr>
              <a:t>in</a:t>
            </a:r>
            <a:r>
              <a:rPr sz="2400" b="1" spc="-46" dirty="0">
                <a:latin typeface="Arial MT"/>
                <a:cs typeface="Arial MT"/>
              </a:rPr>
              <a:t> </a:t>
            </a:r>
            <a:r>
              <a:rPr sz="2400" b="1" spc="-10" dirty="0">
                <a:latin typeface="Arial MT"/>
                <a:cs typeface="Arial MT"/>
              </a:rPr>
              <a:t>tons/km</a:t>
            </a:r>
            <a:r>
              <a:rPr sz="2400" b="1" spc="-10" baseline="30000" dirty="0">
                <a:latin typeface="Arial MT"/>
                <a:cs typeface="Arial MT"/>
              </a:rPr>
              <a:t>2</a:t>
            </a:r>
            <a:r>
              <a:rPr sz="2400" spc="-10" dirty="0">
                <a:latin typeface="Arial MT"/>
                <a:cs typeface="Arial MT"/>
              </a:rPr>
              <a:t>.</a:t>
            </a:r>
            <a:endParaRPr sz="2400" dirty="0">
              <a:latin typeface="Arial MT"/>
              <a:cs typeface="Arial MT"/>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70371" y="133351"/>
            <a:ext cx="7600956" cy="892423"/>
          </a:xfrm>
          <a:prstGeom prst="rect">
            <a:avLst/>
          </a:prstGeom>
        </p:spPr>
        <p:txBody>
          <a:bodyPr vert="horz" wrap="square" lIns="0" tIns="396112" rIns="0" bIns="0" rtlCol="0">
            <a:spAutoFit/>
          </a:bodyPr>
          <a:lstStyle/>
          <a:p>
            <a:pPr marL="131448">
              <a:spcBef>
                <a:spcPts val="105"/>
              </a:spcBef>
            </a:pPr>
            <a:r>
              <a:rPr dirty="0"/>
              <a:t>Sedimentation</a:t>
            </a:r>
            <a:r>
              <a:rPr spc="-75" dirty="0"/>
              <a:t> </a:t>
            </a:r>
            <a:r>
              <a:rPr dirty="0"/>
              <a:t>(Dustfall</a:t>
            </a:r>
            <a:r>
              <a:rPr spc="-50" dirty="0"/>
              <a:t> </a:t>
            </a:r>
            <a:r>
              <a:rPr spc="-20" dirty="0"/>
              <a:t>Jar)</a:t>
            </a:r>
          </a:p>
        </p:txBody>
      </p:sp>
      <p:pic>
        <p:nvPicPr>
          <p:cNvPr id="3" name="object 3"/>
          <p:cNvPicPr/>
          <p:nvPr/>
        </p:nvPicPr>
        <p:blipFill>
          <a:blip r:embed="rId3" cstate="print"/>
          <a:stretch>
            <a:fillRect/>
          </a:stretch>
        </p:blipFill>
        <p:spPr>
          <a:xfrm>
            <a:off x="1179802" y="1283454"/>
            <a:ext cx="4641566" cy="4275820"/>
          </a:xfrm>
          <a:prstGeom prst="rect">
            <a:avLst/>
          </a:prstGeom>
        </p:spPr>
      </p:pic>
      <p:pic>
        <p:nvPicPr>
          <p:cNvPr id="4" name="object 4"/>
          <p:cNvPicPr/>
          <p:nvPr/>
        </p:nvPicPr>
        <p:blipFill>
          <a:blip r:embed="rId4" cstate="print"/>
          <a:stretch>
            <a:fillRect/>
          </a:stretch>
        </p:blipFill>
        <p:spPr>
          <a:xfrm>
            <a:off x="6880860" y="809244"/>
            <a:ext cx="4933188" cy="4931664"/>
          </a:xfrm>
          <a:prstGeom prst="rect">
            <a:avLst/>
          </a:prstGeom>
        </p:spPr>
      </p:pic>
      <p:sp>
        <p:nvSpPr>
          <p:cNvPr id="5" name="object 5"/>
          <p:cNvSpPr txBox="1"/>
          <p:nvPr/>
        </p:nvSpPr>
        <p:spPr>
          <a:xfrm>
            <a:off x="2691510" y="6176582"/>
            <a:ext cx="5673090" cy="269304"/>
          </a:xfrm>
          <a:prstGeom prst="rect">
            <a:avLst/>
          </a:prstGeom>
        </p:spPr>
        <p:txBody>
          <a:bodyPr vert="horz" wrap="square" lIns="0" tIns="0" rIns="0" bIns="0" rtlCol="0">
            <a:spAutoFit/>
          </a:bodyPr>
          <a:lstStyle/>
          <a:p>
            <a:pPr marL="12701">
              <a:lnSpc>
                <a:spcPts val="2090"/>
              </a:lnSpc>
            </a:pPr>
            <a:r>
              <a:rPr sz="1801" b="1" dirty="0">
                <a:latin typeface="Arial" panose="020B0604020202020204"/>
                <a:cs typeface="Arial" panose="020B0604020202020204"/>
              </a:rPr>
              <a:t>Fig.</a:t>
            </a:r>
            <a:r>
              <a:rPr sz="1801" b="1" spc="-50" dirty="0">
                <a:latin typeface="Arial" panose="020B0604020202020204"/>
                <a:cs typeface="Arial" panose="020B0604020202020204"/>
              </a:rPr>
              <a:t> </a:t>
            </a:r>
            <a:r>
              <a:rPr sz="1801" b="1" dirty="0">
                <a:latin typeface="Arial" panose="020B0604020202020204"/>
                <a:cs typeface="Arial" panose="020B0604020202020204"/>
              </a:rPr>
              <a:t>3</a:t>
            </a:r>
            <a:r>
              <a:rPr sz="1801" b="1" spc="-30" dirty="0">
                <a:latin typeface="Arial" panose="020B0604020202020204"/>
                <a:cs typeface="Arial" panose="020B0604020202020204"/>
              </a:rPr>
              <a:t> </a:t>
            </a:r>
            <a:r>
              <a:rPr sz="1801" b="1" dirty="0">
                <a:latin typeface="Arial" panose="020B0604020202020204"/>
                <a:cs typeface="Arial" panose="020B0604020202020204"/>
              </a:rPr>
              <a:t>Dustfall</a:t>
            </a:r>
            <a:r>
              <a:rPr sz="1801" b="1" spc="-15" dirty="0">
                <a:latin typeface="Arial" panose="020B0604020202020204"/>
                <a:cs typeface="Arial" panose="020B0604020202020204"/>
              </a:rPr>
              <a:t> </a:t>
            </a:r>
            <a:r>
              <a:rPr sz="1801" b="1" dirty="0">
                <a:latin typeface="Arial" panose="020B0604020202020204"/>
                <a:cs typeface="Arial" panose="020B0604020202020204"/>
              </a:rPr>
              <a:t>collector</a:t>
            </a:r>
            <a:r>
              <a:rPr sz="1801" b="1" spc="-30" dirty="0">
                <a:latin typeface="Arial" panose="020B0604020202020204"/>
                <a:cs typeface="Arial" panose="020B0604020202020204"/>
              </a:rPr>
              <a:t> </a:t>
            </a:r>
            <a:r>
              <a:rPr sz="1801" b="1" dirty="0">
                <a:latin typeface="Arial" panose="020B0604020202020204"/>
                <a:cs typeface="Arial" panose="020B0604020202020204"/>
              </a:rPr>
              <a:t>for</a:t>
            </a:r>
            <a:r>
              <a:rPr sz="1801" b="1" spc="-46" dirty="0">
                <a:latin typeface="Arial" panose="020B0604020202020204"/>
                <a:cs typeface="Arial" panose="020B0604020202020204"/>
              </a:rPr>
              <a:t> </a:t>
            </a:r>
            <a:r>
              <a:rPr sz="1801" b="1" dirty="0">
                <a:latin typeface="Arial" panose="020B0604020202020204"/>
                <a:cs typeface="Arial" panose="020B0604020202020204"/>
              </a:rPr>
              <a:t>particulate</a:t>
            </a:r>
            <a:r>
              <a:rPr sz="1801" b="1" spc="-34" dirty="0">
                <a:latin typeface="Arial" panose="020B0604020202020204"/>
                <a:cs typeface="Arial" panose="020B0604020202020204"/>
              </a:rPr>
              <a:t> </a:t>
            </a:r>
            <a:r>
              <a:rPr sz="1801" b="1" spc="-10" dirty="0">
                <a:latin typeface="Arial" panose="020B0604020202020204"/>
                <a:cs typeface="Arial" panose="020B0604020202020204"/>
              </a:rPr>
              <a:t>measurement</a:t>
            </a:r>
            <a:endParaRPr sz="1801">
              <a:latin typeface="Arial" panose="020B0604020202020204"/>
              <a:cs typeface="Arial" panose="020B0604020202020204"/>
            </a:endParaRPr>
          </a:p>
        </p:txBody>
      </p:sp>
      <p:sp>
        <p:nvSpPr>
          <p:cNvPr id="6" name="object 6"/>
          <p:cNvSpPr txBox="1">
            <a:spLocks noGrp="1"/>
          </p:cNvSpPr>
          <p:nvPr>
            <p:ph type="sldNum" sz="quarter" idx="7"/>
          </p:nvPr>
        </p:nvSpPr>
        <p:spPr>
          <a:xfrm>
            <a:off x="8993409" y="6464911"/>
            <a:ext cx="198636" cy="156068"/>
          </a:xfrm>
          <a:prstGeom prst="rect">
            <a:avLst/>
          </a:prstGeom>
        </p:spPr>
        <p:txBody>
          <a:bodyPr vert="horz" wrap="square" lIns="0" tIns="0" rIns="0" bIns="0" rtlCol="0">
            <a:spAutoFit/>
          </a:bodyPr>
          <a:lstStyle/>
          <a:p>
            <a:pPr marL="38101">
              <a:lnSpc>
                <a:spcPts val="1239"/>
              </a:lnSpc>
            </a:pPr>
            <a:fld id="{81D60167-4931-47E6-BA6A-407CBD079E47}" type="slidenum">
              <a:rPr spc="-25" dirty="0"/>
              <a:pPr marL="38101">
                <a:lnSpc>
                  <a:spcPts val="1239"/>
                </a:lnSpc>
              </a:pPr>
              <a:t>28</a:t>
            </a:fld>
            <a:endParaRPr spc="-25"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70371" y="133352"/>
            <a:ext cx="7600956" cy="581569"/>
          </a:xfrm>
          <a:prstGeom prst="rect">
            <a:avLst/>
          </a:prstGeom>
        </p:spPr>
        <p:txBody>
          <a:bodyPr vert="horz" wrap="square" lIns="0" tIns="88265" rIns="0" bIns="0" rtlCol="0">
            <a:spAutoFit/>
          </a:bodyPr>
          <a:lstStyle/>
          <a:p>
            <a:pPr marL="131448">
              <a:spcBef>
                <a:spcPts val="100"/>
              </a:spcBef>
            </a:pPr>
            <a:r>
              <a:rPr dirty="0"/>
              <a:t>Sedimentation</a:t>
            </a:r>
            <a:r>
              <a:rPr spc="-75" dirty="0"/>
              <a:t> </a:t>
            </a:r>
            <a:r>
              <a:rPr dirty="0"/>
              <a:t>(Dustfall</a:t>
            </a:r>
            <a:r>
              <a:rPr spc="-50" dirty="0"/>
              <a:t> </a:t>
            </a:r>
            <a:r>
              <a:rPr spc="-20" dirty="0"/>
              <a:t>Jar)</a:t>
            </a:r>
          </a:p>
        </p:txBody>
      </p:sp>
      <p:pic>
        <p:nvPicPr>
          <p:cNvPr id="3" name="object 3"/>
          <p:cNvPicPr/>
          <p:nvPr/>
        </p:nvPicPr>
        <p:blipFill>
          <a:blip r:embed="rId3" cstate="print"/>
          <a:stretch>
            <a:fillRect/>
          </a:stretch>
        </p:blipFill>
        <p:spPr>
          <a:xfrm>
            <a:off x="3851147" y="812292"/>
            <a:ext cx="3816096" cy="5088636"/>
          </a:xfrm>
          <a:prstGeom prst="rect">
            <a:avLst/>
          </a:prstGeom>
        </p:spPr>
      </p:pic>
      <p:sp>
        <p:nvSpPr>
          <p:cNvPr id="4" name="object 4"/>
          <p:cNvSpPr txBox="1"/>
          <p:nvPr/>
        </p:nvSpPr>
        <p:spPr>
          <a:xfrm>
            <a:off x="2691510" y="6176582"/>
            <a:ext cx="5673090" cy="269304"/>
          </a:xfrm>
          <a:prstGeom prst="rect">
            <a:avLst/>
          </a:prstGeom>
        </p:spPr>
        <p:txBody>
          <a:bodyPr vert="horz" wrap="square" lIns="0" tIns="0" rIns="0" bIns="0" rtlCol="0">
            <a:spAutoFit/>
          </a:bodyPr>
          <a:lstStyle/>
          <a:p>
            <a:pPr marL="12701">
              <a:lnSpc>
                <a:spcPts val="2090"/>
              </a:lnSpc>
            </a:pPr>
            <a:r>
              <a:rPr sz="1801" b="1" dirty="0">
                <a:latin typeface="Arial" panose="020B0604020202020204"/>
                <a:cs typeface="Arial" panose="020B0604020202020204"/>
              </a:rPr>
              <a:t>Fig.</a:t>
            </a:r>
            <a:r>
              <a:rPr sz="1801" b="1" spc="-50" dirty="0">
                <a:latin typeface="Arial" panose="020B0604020202020204"/>
                <a:cs typeface="Arial" panose="020B0604020202020204"/>
              </a:rPr>
              <a:t> </a:t>
            </a:r>
            <a:r>
              <a:rPr sz="1801" b="1" dirty="0">
                <a:latin typeface="Arial" panose="020B0604020202020204"/>
                <a:cs typeface="Arial" panose="020B0604020202020204"/>
              </a:rPr>
              <a:t>3</a:t>
            </a:r>
            <a:r>
              <a:rPr sz="1801" b="1" spc="-30" dirty="0">
                <a:latin typeface="Arial" panose="020B0604020202020204"/>
                <a:cs typeface="Arial" panose="020B0604020202020204"/>
              </a:rPr>
              <a:t> </a:t>
            </a:r>
            <a:r>
              <a:rPr sz="1801" b="1" dirty="0">
                <a:latin typeface="Arial" panose="020B0604020202020204"/>
                <a:cs typeface="Arial" panose="020B0604020202020204"/>
              </a:rPr>
              <a:t>Dustfall</a:t>
            </a:r>
            <a:r>
              <a:rPr sz="1801" b="1" spc="-15" dirty="0">
                <a:latin typeface="Arial" panose="020B0604020202020204"/>
                <a:cs typeface="Arial" panose="020B0604020202020204"/>
              </a:rPr>
              <a:t> </a:t>
            </a:r>
            <a:r>
              <a:rPr sz="1801" b="1" dirty="0">
                <a:latin typeface="Arial" panose="020B0604020202020204"/>
                <a:cs typeface="Arial" panose="020B0604020202020204"/>
              </a:rPr>
              <a:t>collector</a:t>
            </a:r>
            <a:r>
              <a:rPr sz="1801" b="1" spc="-30" dirty="0">
                <a:latin typeface="Arial" panose="020B0604020202020204"/>
                <a:cs typeface="Arial" panose="020B0604020202020204"/>
              </a:rPr>
              <a:t> </a:t>
            </a:r>
            <a:r>
              <a:rPr sz="1801" b="1" dirty="0">
                <a:latin typeface="Arial" panose="020B0604020202020204"/>
                <a:cs typeface="Arial" panose="020B0604020202020204"/>
              </a:rPr>
              <a:t>for</a:t>
            </a:r>
            <a:r>
              <a:rPr sz="1801" b="1" spc="-46" dirty="0">
                <a:latin typeface="Arial" panose="020B0604020202020204"/>
                <a:cs typeface="Arial" panose="020B0604020202020204"/>
              </a:rPr>
              <a:t> </a:t>
            </a:r>
            <a:r>
              <a:rPr sz="1801" b="1" dirty="0">
                <a:latin typeface="Arial" panose="020B0604020202020204"/>
                <a:cs typeface="Arial" panose="020B0604020202020204"/>
              </a:rPr>
              <a:t>particulate</a:t>
            </a:r>
            <a:r>
              <a:rPr sz="1801" b="1" spc="-34" dirty="0">
                <a:latin typeface="Arial" panose="020B0604020202020204"/>
                <a:cs typeface="Arial" panose="020B0604020202020204"/>
              </a:rPr>
              <a:t> </a:t>
            </a:r>
            <a:r>
              <a:rPr sz="1801" b="1" spc="-10" dirty="0">
                <a:latin typeface="Arial" panose="020B0604020202020204"/>
                <a:cs typeface="Arial" panose="020B0604020202020204"/>
              </a:rPr>
              <a:t>measurement</a:t>
            </a:r>
            <a:endParaRPr sz="1801">
              <a:latin typeface="Arial" panose="020B0604020202020204"/>
              <a:cs typeface="Arial" panose="020B0604020202020204"/>
            </a:endParaRPr>
          </a:p>
        </p:txBody>
      </p:sp>
      <p:sp>
        <p:nvSpPr>
          <p:cNvPr id="5" name="object 5"/>
          <p:cNvSpPr txBox="1">
            <a:spLocks noGrp="1"/>
          </p:cNvSpPr>
          <p:nvPr>
            <p:ph type="sldNum" sz="quarter" idx="7"/>
          </p:nvPr>
        </p:nvSpPr>
        <p:spPr>
          <a:xfrm>
            <a:off x="8993409" y="6464911"/>
            <a:ext cx="198636" cy="156068"/>
          </a:xfrm>
          <a:prstGeom prst="rect">
            <a:avLst/>
          </a:prstGeom>
        </p:spPr>
        <p:txBody>
          <a:bodyPr vert="horz" wrap="square" lIns="0" tIns="0" rIns="0" bIns="0" rtlCol="0">
            <a:spAutoFit/>
          </a:bodyPr>
          <a:lstStyle/>
          <a:p>
            <a:pPr marL="38101">
              <a:lnSpc>
                <a:spcPts val="1239"/>
              </a:lnSpc>
            </a:pPr>
            <a:fld id="{81D60167-4931-47E6-BA6A-407CBD079E47}" type="slidenum">
              <a:rPr spc="-25" dirty="0"/>
              <a:pPr marL="38101">
                <a:lnSpc>
                  <a:spcPts val="1239"/>
                </a:lnSpc>
              </a:pPr>
              <a:t>29</a:t>
            </a:fld>
            <a:endParaRPr spc="-25"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xfrm>
            <a:off x="8993409" y="6464911"/>
            <a:ext cx="198636" cy="156068"/>
          </a:xfrm>
          <a:prstGeom prst="rect">
            <a:avLst/>
          </a:prstGeom>
        </p:spPr>
        <p:txBody>
          <a:bodyPr vert="horz" wrap="square" lIns="0" tIns="0" rIns="0" bIns="0" rtlCol="0">
            <a:spAutoFit/>
          </a:bodyPr>
          <a:lstStyle/>
          <a:p>
            <a:pPr marL="38101">
              <a:lnSpc>
                <a:spcPts val="1239"/>
              </a:lnSpc>
            </a:pPr>
            <a:fld id="{81D60167-4931-47E6-BA6A-407CBD079E47}" type="slidenum">
              <a:rPr spc="-25" dirty="0"/>
              <a:pPr marL="38101">
                <a:lnSpc>
                  <a:spcPts val="1239"/>
                </a:lnSpc>
              </a:pPr>
              <a:t>30</a:t>
            </a:fld>
            <a:endParaRPr spc="-25" dirty="0"/>
          </a:p>
        </p:txBody>
      </p:sp>
      <p:sp>
        <p:nvSpPr>
          <p:cNvPr id="2" name="object 2"/>
          <p:cNvSpPr txBox="1">
            <a:spLocks noGrp="1"/>
          </p:cNvSpPr>
          <p:nvPr>
            <p:ph type="title"/>
          </p:nvPr>
        </p:nvSpPr>
        <p:spPr>
          <a:xfrm>
            <a:off x="470371" y="133351"/>
            <a:ext cx="7600956" cy="892423"/>
          </a:xfrm>
          <a:prstGeom prst="rect">
            <a:avLst/>
          </a:prstGeom>
        </p:spPr>
        <p:txBody>
          <a:bodyPr vert="horz" wrap="square" lIns="0" tIns="396112" rIns="0" bIns="0" rtlCol="0">
            <a:spAutoFit/>
          </a:bodyPr>
          <a:lstStyle/>
          <a:p>
            <a:pPr marL="131448">
              <a:spcBef>
                <a:spcPts val="105"/>
              </a:spcBef>
            </a:pPr>
            <a:r>
              <a:rPr dirty="0"/>
              <a:t>Sedimentation</a:t>
            </a:r>
            <a:r>
              <a:rPr spc="-75" dirty="0"/>
              <a:t> </a:t>
            </a:r>
            <a:r>
              <a:rPr dirty="0"/>
              <a:t>(Dustfall</a:t>
            </a:r>
            <a:r>
              <a:rPr spc="-50" dirty="0"/>
              <a:t> </a:t>
            </a:r>
            <a:r>
              <a:rPr spc="-20" dirty="0"/>
              <a:t>Jar)</a:t>
            </a:r>
          </a:p>
        </p:txBody>
      </p:sp>
      <p:sp>
        <p:nvSpPr>
          <p:cNvPr id="3" name="object 3"/>
          <p:cNvSpPr txBox="1"/>
          <p:nvPr/>
        </p:nvSpPr>
        <p:spPr>
          <a:xfrm>
            <a:off x="304800" y="1295400"/>
            <a:ext cx="11734800" cy="5329151"/>
          </a:xfrm>
          <a:prstGeom prst="rect">
            <a:avLst/>
          </a:prstGeom>
        </p:spPr>
        <p:txBody>
          <a:bodyPr vert="horz" wrap="square" lIns="0" tIns="12065" rIns="0" bIns="0" rtlCol="0">
            <a:spAutoFit/>
          </a:bodyPr>
          <a:lstStyle/>
          <a:p>
            <a:pPr marL="240036" marR="278137" indent="-227336" algn="just">
              <a:lnSpc>
                <a:spcPct val="152000"/>
              </a:lnSpc>
              <a:spcBef>
                <a:spcPts val="95"/>
              </a:spcBef>
              <a:buChar char="•"/>
              <a:tabLst>
                <a:tab pos="241306" algn="l"/>
              </a:tabLst>
            </a:pPr>
            <a:r>
              <a:rPr sz="2400" dirty="0">
                <a:latin typeface="Arial MT"/>
                <a:cs typeface="Arial MT"/>
              </a:rPr>
              <a:t>Since</a:t>
            </a:r>
            <a:r>
              <a:rPr sz="2400" spc="-55" dirty="0">
                <a:latin typeface="Arial MT"/>
                <a:cs typeface="Arial MT"/>
              </a:rPr>
              <a:t> </a:t>
            </a:r>
            <a:r>
              <a:rPr sz="2400" dirty="0">
                <a:latin typeface="Arial MT"/>
                <a:cs typeface="Arial MT"/>
              </a:rPr>
              <a:t>dust</a:t>
            </a:r>
            <a:r>
              <a:rPr sz="2400" spc="-55" dirty="0">
                <a:latin typeface="Arial MT"/>
                <a:cs typeface="Arial MT"/>
              </a:rPr>
              <a:t> </a:t>
            </a:r>
            <a:r>
              <a:rPr sz="2400" dirty="0">
                <a:latin typeface="Arial MT"/>
                <a:cs typeface="Arial MT"/>
              </a:rPr>
              <a:t>particles</a:t>
            </a:r>
            <a:r>
              <a:rPr sz="2400" spc="-46" dirty="0">
                <a:latin typeface="Arial MT"/>
                <a:cs typeface="Arial MT"/>
              </a:rPr>
              <a:t> </a:t>
            </a:r>
            <a:r>
              <a:rPr sz="2400" dirty="0">
                <a:latin typeface="Arial MT"/>
                <a:cs typeface="Arial MT"/>
              </a:rPr>
              <a:t>larger</a:t>
            </a:r>
            <a:r>
              <a:rPr sz="2400" spc="-55" dirty="0">
                <a:latin typeface="Arial MT"/>
                <a:cs typeface="Arial MT"/>
              </a:rPr>
              <a:t> </a:t>
            </a:r>
            <a:r>
              <a:rPr sz="2400" dirty="0">
                <a:latin typeface="Arial MT"/>
                <a:cs typeface="Arial MT"/>
              </a:rPr>
              <a:t>than</a:t>
            </a:r>
            <a:r>
              <a:rPr sz="2400" spc="-55" dirty="0">
                <a:latin typeface="Arial MT"/>
                <a:cs typeface="Arial MT"/>
              </a:rPr>
              <a:t> </a:t>
            </a:r>
            <a:r>
              <a:rPr sz="2400" dirty="0">
                <a:latin typeface="Arial MT"/>
                <a:cs typeface="Arial MT"/>
              </a:rPr>
              <a:t>10</a:t>
            </a:r>
            <a:r>
              <a:rPr sz="2400" spc="-46" dirty="0">
                <a:latin typeface="Arial MT"/>
                <a:cs typeface="Arial MT"/>
              </a:rPr>
              <a:t> </a:t>
            </a:r>
            <a:r>
              <a:rPr sz="2400" b="1" i="1" dirty="0">
                <a:latin typeface="Verdana" panose="020B0604030504040204"/>
                <a:cs typeface="Verdana" panose="020B0604030504040204"/>
              </a:rPr>
              <a:t>µ</a:t>
            </a:r>
            <a:r>
              <a:rPr sz="2400" dirty="0">
                <a:latin typeface="Arial MT"/>
                <a:cs typeface="Arial MT"/>
              </a:rPr>
              <a:t>m</a:t>
            </a:r>
            <a:r>
              <a:rPr sz="2400" spc="-70" dirty="0">
                <a:latin typeface="Arial MT"/>
                <a:cs typeface="Arial MT"/>
              </a:rPr>
              <a:t> </a:t>
            </a:r>
            <a:r>
              <a:rPr sz="2400" dirty="0">
                <a:latin typeface="Arial MT"/>
                <a:cs typeface="Arial MT"/>
              </a:rPr>
              <a:t>are</a:t>
            </a:r>
            <a:r>
              <a:rPr sz="2400" spc="-55" dirty="0">
                <a:latin typeface="Arial MT"/>
                <a:cs typeface="Arial MT"/>
              </a:rPr>
              <a:t> </a:t>
            </a:r>
            <a:r>
              <a:rPr sz="2400" dirty="0">
                <a:latin typeface="Arial MT"/>
                <a:cs typeface="Arial MT"/>
              </a:rPr>
              <a:t>seldom</a:t>
            </a:r>
            <a:r>
              <a:rPr sz="2400" spc="-50" dirty="0">
                <a:latin typeface="Arial MT"/>
                <a:cs typeface="Arial MT"/>
              </a:rPr>
              <a:t> </a:t>
            </a:r>
            <a:r>
              <a:rPr sz="2400" dirty="0">
                <a:latin typeface="Arial MT"/>
                <a:cs typeface="Arial MT"/>
              </a:rPr>
              <a:t>carried</a:t>
            </a:r>
            <a:r>
              <a:rPr sz="2400" spc="-46" dirty="0">
                <a:latin typeface="Arial MT"/>
                <a:cs typeface="Arial MT"/>
              </a:rPr>
              <a:t> </a:t>
            </a:r>
            <a:r>
              <a:rPr sz="2400" dirty="0">
                <a:latin typeface="Arial MT"/>
                <a:cs typeface="Arial MT"/>
              </a:rPr>
              <a:t>for</a:t>
            </a:r>
            <a:r>
              <a:rPr sz="2400" spc="-70" dirty="0">
                <a:latin typeface="Arial MT"/>
                <a:cs typeface="Arial MT"/>
              </a:rPr>
              <a:t> </a:t>
            </a:r>
            <a:r>
              <a:rPr sz="2400" dirty="0">
                <a:latin typeface="Arial MT"/>
                <a:cs typeface="Arial MT"/>
              </a:rPr>
              <a:t>distances</a:t>
            </a:r>
            <a:r>
              <a:rPr sz="2400" spc="-46" dirty="0">
                <a:latin typeface="Arial MT"/>
                <a:cs typeface="Arial MT"/>
              </a:rPr>
              <a:t> </a:t>
            </a:r>
            <a:r>
              <a:rPr sz="2400" spc="-25" dirty="0">
                <a:latin typeface="Arial MT"/>
                <a:cs typeface="Arial MT"/>
              </a:rPr>
              <a:t>in 	</a:t>
            </a:r>
            <a:r>
              <a:rPr sz="2400" dirty="0">
                <a:latin typeface="Arial MT"/>
                <a:cs typeface="Arial MT"/>
              </a:rPr>
              <a:t>excess</a:t>
            </a:r>
            <a:r>
              <a:rPr sz="2400" spc="-60" dirty="0">
                <a:latin typeface="Arial MT"/>
                <a:cs typeface="Arial MT"/>
              </a:rPr>
              <a:t> </a:t>
            </a:r>
            <a:r>
              <a:rPr sz="2400" dirty="0">
                <a:latin typeface="Arial MT"/>
                <a:cs typeface="Arial MT"/>
              </a:rPr>
              <a:t>km,</a:t>
            </a:r>
            <a:r>
              <a:rPr sz="2400" spc="-75" dirty="0">
                <a:latin typeface="Arial MT"/>
                <a:cs typeface="Arial MT"/>
              </a:rPr>
              <a:t> </a:t>
            </a:r>
            <a:r>
              <a:rPr sz="2400" dirty="0">
                <a:latin typeface="Arial MT"/>
                <a:cs typeface="Arial MT"/>
              </a:rPr>
              <a:t>dustfall</a:t>
            </a:r>
            <a:r>
              <a:rPr sz="2400" spc="-55" dirty="0">
                <a:latin typeface="Arial MT"/>
                <a:cs typeface="Arial MT"/>
              </a:rPr>
              <a:t> </a:t>
            </a:r>
            <a:r>
              <a:rPr sz="2400" dirty="0">
                <a:latin typeface="Arial MT"/>
                <a:cs typeface="Arial MT"/>
              </a:rPr>
              <a:t>stations</a:t>
            </a:r>
            <a:r>
              <a:rPr sz="2400" spc="-65" dirty="0">
                <a:latin typeface="Arial MT"/>
                <a:cs typeface="Arial MT"/>
              </a:rPr>
              <a:t> </a:t>
            </a:r>
            <a:r>
              <a:rPr sz="2400" dirty="0">
                <a:latin typeface="Arial MT"/>
                <a:cs typeface="Arial MT"/>
              </a:rPr>
              <a:t>must</a:t>
            </a:r>
            <a:r>
              <a:rPr sz="2400" spc="-80" dirty="0">
                <a:latin typeface="Arial MT"/>
                <a:cs typeface="Arial MT"/>
              </a:rPr>
              <a:t> </a:t>
            </a:r>
            <a:r>
              <a:rPr sz="2400" dirty="0">
                <a:latin typeface="Arial MT"/>
                <a:cs typeface="Arial MT"/>
              </a:rPr>
              <a:t>be</a:t>
            </a:r>
            <a:r>
              <a:rPr sz="2400" spc="-65" dirty="0">
                <a:latin typeface="Arial MT"/>
                <a:cs typeface="Arial MT"/>
              </a:rPr>
              <a:t> </a:t>
            </a:r>
            <a:r>
              <a:rPr sz="2400" dirty="0">
                <a:latin typeface="Arial MT"/>
                <a:cs typeface="Arial MT"/>
              </a:rPr>
              <a:t>closely</a:t>
            </a:r>
            <a:r>
              <a:rPr sz="2400" spc="-55" dirty="0">
                <a:latin typeface="Arial MT"/>
                <a:cs typeface="Arial MT"/>
              </a:rPr>
              <a:t> </a:t>
            </a:r>
            <a:r>
              <a:rPr sz="2400" dirty="0">
                <a:latin typeface="Arial MT"/>
                <a:cs typeface="Arial MT"/>
              </a:rPr>
              <a:t>spaced</a:t>
            </a:r>
            <a:r>
              <a:rPr sz="2400" spc="-65" dirty="0">
                <a:latin typeface="Arial MT"/>
                <a:cs typeface="Arial MT"/>
              </a:rPr>
              <a:t> </a:t>
            </a:r>
            <a:r>
              <a:rPr sz="2400" dirty="0">
                <a:latin typeface="Arial MT"/>
                <a:cs typeface="Arial MT"/>
              </a:rPr>
              <a:t>for</a:t>
            </a:r>
            <a:r>
              <a:rPr sz="2400" spc="-60" dirty="0">
                <a:latin typeface="Arial MT"/>
                <a:cs typeface="Arial MT"/>
              </a:rPr>
              <a:t> </a:t>
            </a:r>
            <a:r>
              <a:rPr sz="2400" dirty="0">
                <a:latin typeface="Arial MT"/>
                <a:cs typeface="Arial MT"/>
              </a:rPr>
              <a:t>any</a:t>
            </a:r>
            <a:r>
              <a:rPr sz="2400" spc="-65" dirty="0">
                <a:latin typeface="Arial MT"/>
                <a:cs typeface="Arial MT"/>
              </a:rPr>
              <a:t> </a:t>
            </a:r>
            <a:r>
              <a:rPr sz="2400" dirty="0">
                <a:latin typeface="Arial MT"/>
                <a:cs typeface="Arial MT"/>
              </a:rPr>
              <a:t>meaningful</a:t>
            </a:r>
            <a:r>
              <a:rPr sz="2400" spc="-46" dirty="0">
                <a:latin typeface="Arial MT"/>
                <a:cs typeface="Arial MT"/>
              </a:rPr>
              <a:t> </a:t>
            </a:r>
            <a:r>
              <a:rPr sz="2400" spc="-10" dirty="0">
                <a:latin typeface="Arial MT"/>
                <a:cs typeface="Arial MT"/>
              </a:rPr>
              <a:t>data.</a:t>
            </a:r>
            <a:endParaRPr sz="2400" dirty="0">
              <a:latin typeface="Arial MT"/>
              <a:cs typeface="Arial MT"/>
            </a:endParaRPr>
          </a:p>
          <a:p>
            <a:pPr marL="241306" marR="125099" indent="-228606" algn="just">
              <a:lnSpc>
                <a:spcPct val="150000"/>
              </a:lnSpc>
              <a:spcBef>
                <a:spcPts val="1001"/>
              </a:spcBef>
              <a:buChar char="•"/>
              <a:tabLst>
                <a:tab pos="241306" algn="l"/>
                <a:tab pos="320049" algn="l"/>
              </a:tabLst>
            </a:pPr>
            <a:r>
              <a:rPr sz="2400" dirty="0">
                <a:latin typeface="Arial MT"/>
                <a:cs typeface="Arial MT"/>
              </a:rPr>
              <a:t>	The</a:t>
            </a:r>
            <a:r>
              <a:rPr sz="2400" spc="-90" dirty="0">
                <a:latin typeface="Arial MT"/>
                <a:cs typeface="Arial MT"/>
              </a:rPr>
              <a:t> </a:t>
            </a:r>
            <a:r>
              <a:rPr sz="2400" dirty="0">
                <a:latin typeface="Arial MT"/>
                <a:cs typeface="Arial MT"/>
              </a:rPr>
              <a:t>method</a:t>
            </a:r>
            <a:r>
              <a:rPr sz="2400" spc="-75" dirty="0">
                <a:latin typeface="Arial MT"/>
                <a:cs typeface="Arial MT"/>
              </a:rPr>
              <a:t> </a:t>
            </a:r>
            <a:r>
              <a:rPr sz="2400" dirty="0">
                <a:solidFill>
                  <a:srgbClr val="FF0000"/>
                </a:solidFill>
                <a:latin typeface="Arial MT"/>
                <a:cs typeface="Arial MT"/>
              </a:rPr>
              <a:t>simple</a:t>
            </a:r>
            <a:r>
              <a:rPr sz="2400" spc="-75" dirty="0">
                <a:solidFill>
                  <a:srgbClr val="FF0000"/>
                </a:solidFill>
                <a:latin typeface="Arial MT"/>
                <a:cs typeface="Arial MT"/>
              </a:rPr>
              <a:t> </a:t>
            </a:r>
            <a:r>
              <a:rPr sz="2400" dirty="0">
                <a:solidFill>
                  <a:srgbClr val="FF0000"/>
                </a:solidFill>
                <a:latin typeface="Arial MT"/>
                <a:cs typeface="Arial MT"/>
              </a:rPr>
              <a:t>and</a:t>
            </a:r>
            <a:r>
              <a:rPr sz="2400" spc="-90" dirty="0">
                <a:solidFill>
                  <a:srgbClr val="FF0000"/>
                </a:solidFill>
                <a:latin typeface="Arial MT"/>
                <a:cs typeface="Arial MT"/>
              </a:rPr>
              <a:t> </a:t>
            </a:r>
            <a:r>
              <a:rPr sz="2400" dirty="0">
                <a:solidFill>
                  <a:srgbClr val="FF0000"/>
                </a:solidFill>
                <a:latin typeface="Arial MT"/>
                <a:cs typeface="Arial MT"/>
              </a:rPr>
              <a:t>inexpensive</a:t>
            </a:r>
            <a:r>
              <a:rPr sz="2400" spc="-30" dirty="0">
                <a:solidFill>
                  <a:srgbClr val="FF0000"/>
                </a:solidFill>
                <a:latin typeface="Arial MT"/>
                <a:cs typeface="Arial MT"/>
              </a:rPr>
              <a:t> </a:t>
            </a:r>
            <a:r>
              <a:rPr sz="2400" dirty="0">
                <a:solidFill>
                  <a:srgbClr val="FF0000"/>
                </a:solidFill>
                <a:latin typeface="Arial MT"/>
                <a:cs typeface="Arial MT"/>
              </a:rPr>
              <a:t>and</a:t>
            </a:r>
            <a:r>
              <a:rPr sz="2400" spc="-75" dirty="0">
                <a:solidFill>
                  <a:srgbClr val="FF0000"/>
                </a:solidFill>
                <a:latin typeface="Arial MT"/>
                <a:cs typeface="Arial MT"/>
              </a:rPr>
              <a:t> </a:t>
            </a:r>
            <a:r>
              <a:rPr sz="2400" dirty="0">
                <a:solidFill>
                  <a:srgbClr val="FF0000"/>
                </a:solidFill>
                <a:latin typeface="Arial MT"/>
                <a:cs typeface="Arial MT"/>
              </a:rPr>
              <a:t>requires</a:t>
            </a:r>
            <a:r>
              <a:rPr sz="2400" spc="-65" dirty="0">
                <a:solidFill>
                  <a:srgbClr val="FF0000"/>
                </a:solidFill>
                <a:latin typeface="Arial MT"/>
                <a:cs typeface="Arial MT"/>
              </a:rPr>
              <a:t> </a:t>
            </a:r>
            <a:r>
              <a:rPr sz="2400" dirty="0">
                <a:solidFill>
                  <a:srgbClr val="FF0000"/>
                </a:solidFill>
                <a:latin typeface="Arial MT"/>
                <a:cs typeface="Arial MT"/>
              </a:rPr>
              <a:t>no</a:t>
            </a:r>
            <a:r>
              <a:rPr sz="2400" spc="-85" dirty="0">
                <a:solidFill>
                  <a:srgbClr val="FF0000"/>
                </a:solidFill>
                <a:latin typeface="Arial MT"/>
                <a:cs typeface="Arial MT"/>
              </a:rPr>
              <a:t> </a:t>
            </a:r>
            <a:r>
              <a:rPr sz="2400" dirty="0">
                <a:solidFill>
                  <a:srgbClr val="FF0000"/>
                </a:solidFill>
                <a:latin typeface="Arial MT"/>
                <a:cs typeface="Arial MT"/>
              </a:rPr>
              <a:t>electrical</a:t>
            </a:r>
            <a:r>
              <a:rPr sz="2400" spc="-60" dirty="0">
                <a:solidFill>
                  <a:srgbClr val="FF0000"/>
                </a:solidFill>
                <a:latin typeface="Arial MT"/>
                <a:cs typeface="Arial MT"/>
              </a:rPr>
              <a:t> </a:t>
            </a:r>
            <a:r>
              <a:rPr sz="2400" dirty="0">
                <a:solidFill>
                  <a:srgbClr val="FF0000"/>
                </a:solidFill>
                <a:latin typeface="Arial MT"/>
                <a:cs typeface="Arial MT"/>
              </a:rPr>
              <a:t>method</a:t>
            </a:r>
            <a:r>
              <a:rPr sz="2400" spc="-90" dirty="0">
                <a:solidFill>
                  <a:srgbClr val="FF0000"/>
                </a:solidFill>
                <a:latin typeface="Arial MT"/>
                <a:cs typeface="Arial MT"/>
              </a:rPr>
              <a:t> </a:t>
            </a:r>
            <a:r>
              <a:rPr sz="2400" spc="-10" dirty="0">
                <a:solidFill>
                  <a:srgbClr val="FF0000"/>
                </a:solidFill>
                <a:latin typeface="Arial MT"/>
                <a:cs typeface="Arial MT"/>
              </a:rPr>
              <a:t>power </a:t>
            </a:r>
            <a:r>
              <a:rPr sz="2400" dirty="0">
                <a:solidFill>
                  <a:srgbClr val="FF0000"/>
                </a:solidFill>
                <a:latin typeface="Arial MT"/>
                <a:cs typeface="Arial MT"/>
              </a:rPr>
              <a:t>or</a:t>
            </a:r>
            <a:r>
              <a:rPr sz="2400" spc="-75" dirty="0">
                <a:solidFill>
                  <a:srgbClr val="FF0000"/>
                </a:solidFill>
                <a:latin typeface="Arial MT"/>
                <a:cs typeface="Arial MT"/>
              </a:rPr>
              <a:t> </a:t>
            </a:r>
            <a:r>
              <a:rPr sz="2400" dirty="0">
                <a:solidFill>
                  <a:srgbClr val="FF0000"/>
                </a:solidFill>
                <a:latin typeface="Arial MT"/>
                <a:cs typeface="Arial MT"/>
              </a:rPr>
              <a:t>moving</a:t>
            </a:r>
            <a:r>
              <a:rPr sz="2400" spc="-60" dirty="0">
                <a:solidFill>
                  <a:srgbClr val="FF0000"/>
                </a:solidFill>
                <a:latin typeface="Arial MT"/>
                <a:cs typeface="Arial MT"/>
              </a:rPr>
              <a:t> </a:t>
            </a:r>
            <a:r>
              <a:rPr sz="2400" spc="-10" dirty="0">
                <a:solidFill>
                  <a:srgbClr val="FF0000"/>
                </a:solidFill>
                <a:latin typeface="Arial MT"/>
                <a:cs typeface="Arial MT"/>
              </a:rPr>
              <a:t>parts.</a:t>
            </a:r>
            <a:endParaRPr sz="2400" dirty="0">
              <a:latin typeface="Arial MT"/>
              <a:cs typeface="Arial MT"/>
            </a:endParaRPr>
          </a:p>
          <a:p>
            <a:pPr marL="241306" marR="125099" indent="-228606" algn="just" defTabSz="985838">
              <a:lnSpc>
                <a:spcPct val="150000"/>
              </a:lnSpc>
              <a:spcBef>
                <a:spcPts val="1001"/>
              </a:spcBef>
              <a:buChar char="•"/>
              <a:tabLst>
                <a:tab pos="241306" algn="l"/>
                <a:tab pos="320049" algn="l"/>
              </a:tabLst>
            </a:pPr>
            <a:r>
              <a:rPr sz="2400" dirty="0">
                <a:latin typeface="Arial MT"/>
              </a:rPr>
              <a:t>However, the method </a:t>
            </a:r>
            <a:r>
              <a:rPr sz="2400" dirty="0">
                <a:solidFill>
                  <a:srgbClr val="FF0000"/>
                </a:solidFill>
                <a:latin typeface="Arial MT"/>
              </a:rPr>
              <a:t>lacks precision </a:t>
            </a:r>
            <a:r>
              <a:rPr sz="2400" dirty="0">
                <a:latin typeface="Arial MT"/>
              </a:rPr>
              <a:t>and is selective and usually</a:t>
            </a:r>
            <a:r>
              <a:rPr lang="en-IN" sz="2400" dirty="0">
                <a:latin typeface="Arial MT"/>
              </a:rPr>
              <a:t> </a:t>
            </a:r>
            <a:r>
              <a:rPr sz="2400" dirty="0">
                <a:solidFill>
                  <a:srgbClr val="FF0000"/>
                </a:solidFill>
                <a:latin typeface="Arial MT"/>
              </a:rPr>
              <a:t>nonrepeatable</a:t>
            </a:r>
            <a:r>
              <a:rPr lang="en-IN" sz="2400" dirty="0">
                <a:latin typeface="Arial MT"/>
              </a:rPr>
              <a:t> (</a:t>
            </a:r>
            <a:r>
              <a:rPr lang="en-US" sz="2400" dirty="0">
                <a:latin typeface="Arial MT"/>
              </a:rPr>
              <a:t>non-repeatable means that if you ran the exact same test again under the same conditions, you would likely get a different result.)</a:t>
            </a:r>
            <a:r>
              <a:rPr sz="2400" dirty="0">
                <a:latin typeface="Arial MT"/>
              </a:rPr>
              <a:t>.</a:t>
            </a:r>
          </a:p>
          <a:p>
            <a:pPr marL="241306" marR="5081" indent="-228606" algn="just">
              <a:lnSpc>
                <a:spcPct val="150000"/>
              </a:lnSpc>
              <a:spcBef>
                <a:spcPts val="994"/>
              </a:spcBef>
              <a:buChar char="•"/>
              <a:tabLst>
                <a:tab pos="241306" algn="l"/>
                <a:tab pos="324493" algn="l"/>
              </a:tabLst>
            </a:pPr>
            <a:r>
              <a:rPr sz="2400" dirty="0">
                <a:latin typeface="Arial MT"/>
                <a:cs typeface="Arial MT"/>
              </a:rPr>
              <a:t>	Hence,</a:t>
            </a:r>
            <a:r>
              <a:rPr sz="2400" spc="-50" dirty="0">
                <a:latin typeface="Arial MT"/>
                <a:cs typeface="Arial MT"/>
              </a:rPr>
              <a:t> </a:t>
            </a:r>
            <a:r>
              <a:rPr sz="2400" dirty="0">
                <a:latin typeface="Arial MT"/>
                <a:cs typeface="Arial MT"/>
              </a:rPr>
              <a:t>it</a:t>
            </a:r>
            <a:r>
              <a:rPr sz="2400" spc="-60" dirty="0">
                <a:latin typeface="Arial MT"/>
                <a:cs typeface="Arial MT"/>
              </a:rPr>
              <a:t> </a:t>
            </a:r>
            <a:r>
              <a:rPr sz="2400" dirty="0">
                <a:solidFill>
                  <a:srgbClr val="FF0000"/>
                </a:solidFill>
                <a:latin typeface="Arial MT"/>
                <a:cs typeface="Arial MT"/>
              </a:rPr>
              <a:t>may</a:t>
            </a:r>
            <a:r>
              <a:rPr sz="2400" spc="-55" dirty="0">
                <a:solidFill>
                  <a:srgbClr val="FF0000"/>
                </a:solidFill>
                <a:latin typeface="Arial MT"/>
                <a:cs typeface="Arial MT"/>
              </a:rPr>
              <a:t> </a:t>
            </a:r>
            <a:r>
              <a:rPr sz="2400" dirty="0">
                <a:solidFill>
                  <a:srgbClr val="FF0000"/>
                </a:solidFill>
                <a:latin typeface="Arial MT"/>
                <a:cs typeface="Arial MT"/>
              </a:rPr>
              <a:t>only</a:t>
            </a:r>
            <a:r>
              <a:rPr sz="2400" spc="-46" dirty="0">
                <a:solidFill>
                  <a:srgbClr val="FF0000"/>
                </a:solidFill>
                <a:latin typeface="Arial MT"/>
                <a:cs typeface="Arial MT"/>
              </a:rPr>
              <a:t> </a:t>
            </a:r>
            <a:r>
              <a:rPr sz="2400" dirty="0">
                <a:solidFill>
                  <a:srgbClr val="FF0000"/>
                </a:solidFill>
                <a:latin typeface="Arial MT"/>
                <a:cs typeface="Arial MT"/>
              </a:rPr>
              <a:t>be</a:t>
            </a:r>
            <a:r>
              <a:rPr sz="2400" spc="-55" dirty="0">
                <a:solidFill>
                  <a:srgbClr val="FF0000"/>
                </a:solidFill>
                <a:latin typeface="Arial MT"/>
                <a:cs typeface="Arial MT"/>
              </a:rPr>
              <a:t> </a:t>
            </a:r>
            <a:r>
              <a:rPr sz="2400" dirty="0">
                <a:solidFill>
                  <a:srgbClr val="FF0000"/>
                </a:solidFill>
                <a:latin typeface="Arial MT"/>
                <a:cs typeface="Arial MT"/>
              </a:rPr>
              <a:t>used</a:t>
            </a:r>
            <a:r>
              <a:rPr sz="2400" spc="-50" dirty="0">
                <a:solidFill>
                  <a:srgbClr val="FF0000"/>
                </a:solidFill>
                <a:latin typeface="Arial MT"/>
                <a:cs typeface="Arial MT"/>
              </a:rPr>
              <a:t> </a:t>
            </a:r>
            <a:r>
              <a:rPr sz="2400" dirty="0">
                <a:solidFill>
                  <a:srgbClr val="FF0000"/>
                </a:solidFill>
                <a:latin typeface="Arial MT"/>
                <a:cs typeface="Arial MT"/>
              </a:rPr>
              <a:t>to</a:t>
            </a:r>
            <a:r>
              <a:rPr sz="2400" spc="-55" dirty="0">
                <a:solidFill>
                  <a:srgbClr val="FF0000"/>
                </a:solidFill>
                <a:latin typeface="Arial MT"/>
                <a:cs typeface="Arial MT"/>
              </a:rPr>
              <a:t> </a:t>
            </a:r>
            <a:r>
              <a:rPr sz="2400" dirty="0">
                <a:solidFill>
                  <a:srgbClr val="FF0000"/>
                </a:solidFill>
                <a:latin typeface="Arial MT"/>
                <a:cs typeface="Arial MT"/>
              </a:rPr>
              <a:t>show</a:t>
            </a:r>
            <a:r>
              <a:rPr sz="2400" spc="-55" dirty="0">
                <a:solidFill>
                  <a:srgbClr val="FF0000"/>
                </a:solidFill>
                <a:latin typeface="Arial MT"/>
                <a:cs typeface="Arial MT"/>
              </a:rPr>
              <a:t> </a:t>
            </a:r>
            <a:r>
              <a:rPr sz="2400" dirty="0">
                <a:solidFill>
                  <a:srgbClr val="FF0000"/>
                </a:solidFill>
                <a:latin typeface="Arial MT"/>
                <a:cs typeface="Arial MT"/>
              </a:rPr>
              <a:t>pollution</a:t>
            </a:r>
            <a:r>
              <a:rPr sz="2400" spc="-25" dirty="0">
                <a:solidFill>
                  <a:srgbClr val="FF0000"/>
                </a:solidFill>
                <a:latin typeface="Arial MT"/>
                <a:cs typeface="Arial MT"/>
              </a:rPr>
              <a:t> </a:t>
            </a:r>
            <a:r>
              <a:rPr sz="2400" dirty="0">
                <a:solidFill>
                  <a:srgbClr val="FF0000"/>
                </a:solidFill>
                <a:latin typeface="Arial MT"/>
                <a:cs typeface="Arial MT"/>
              </a:rPr>
              <a:t>trends</a:t>
            </a:r>
            <a:r>
              <a:rPr sz="2400" spc="-65" dirty="0">
                <a:solidFill>
                  <a:srgbClr val="FF0000"/>
                </a:solidFill>
                <a:latin typeface="Arial MT"/>
                <a:cs typeface="Arial MT"/>
              </a:rPr>
              <a:t> </a:t>
            </a:r>
            <a:r>
              <a:rPr sz="2400" dirty="0">
                <a:solidFill>
                  <a:srgbClr val="FF0000"/>
                </a:solidFill>
                <a:latin typeface="Arial MT"/>
                <a:cs typeface="Arial MT"/>
              </a:rPr>
              <a:t>in</a:t>
            </a:r>
            <a:r>
              <a:rPr sz="2400" spc="-50" dirty="0">
                <a:solidFill>
                  <a:srgbClr val="FF0000"/>
                </a:solidFill>
                <a:latin typeface="Arial MT"/>
                <a:cs typeface="Arial MT"/>
              </a:rPr>
              <a:t> </a:t>
            </a:r>
            <a:r>
              <a:rPr sz="2400" dirty="0">
                <a:solidFill>
                  <a:srgbClr val="FF0000"/>
                </a:solidFill>
                <a:latin typeface="Arial MT"/>
                <a:cs typeface="Arial MT"/>
              </a:rPr>
              <a:t>a</a:t>
            </a:r>
            <a:r>
              <a:rPr sz="2400" spc="-65" dirty="0">
                <a:solidFill>
                  <a:srgbClr val="FF0000"/>
                </a:solidFill>
                <a:latin typeface="Arial MT"/>
                <a:cs typeface="Arial MT"/>
              </a:rPr>
              <a:t> </a:t>
            </a:r>
            <a:r>
              <a:rPr sz="2400" dirty="0">
                <a:solidFill>
                  <a:srgbClr val="FF0000"/>
                </a:solidFill>
                <a:latin typeface="Arial MT"/>
                <a:cs typeface="Arial MT"/>
              </a:rPr>
              <a:t>specific</a:t>
            </a:r>
            <a:r>
              <a:rPr sz="2400" spc="-46" dirty="0">
                <a:solidFill>
                  <a:srgbClr val="FF0000"/>
                </a:solidFill>
                <a:latin typeface="Arial MT"/>
                <a:cs typeface="Arial MT"/>
              </a:rPr>
              <a:t> </a:t>
            </a:r>
            <a:r>
              <a:rPr sz="2400" dirty="0">
                <a:solidFill>
                  <a:srgbClr val="FF0000"/>
                </a:solidFill>
                <a:latin typeface="Arial MT"/>
                <a:cs typeface="Arial MT"/>
              </a:rPr>
              <a:t>region</a:t>
            </a:r>
            <a:r>
              <a:rPr sz="2400" spc="-41" dirty="0">
                <a:solidFill>
                  <a:srgbClr val="FF0000"/>
                </a:solidFill>
                <a:latin typeface="Arial MT"/>
                <a:cs typeface="Arial MT"/>
              </a:rPr>
              <a:t> </a:t>
            </a:r>
            <a:r>
              <a:rPr sz="2400" dirty="0">
                <a:solidFill>
                  <a:srgbClr val="FF0000"/>
                </a:solidFill>
                <a:latin typeface="Arial MT"/>
                <a:cs typeface="Arial MT"/>
              </a:rPr>
              <a:t>over</a:t>
            </a:r>
            <a:r>
              <a:rPr sz="2400" spc="-55" dirty="0">
                <a:solidFill>
                  <a:srgbClr val="FF0000"/>
                </a:solidFill>
                <a:latin typeface="Arial MT"/>
                <a:cs typeface="Arial MT"/>
              </a:rPr>
              <a:t> </a:t>
            </a:r>
            <a:r>
              <a:rPr sz="2400" spc="-50" dirty="0">
                <a:solidFill>
                  <a:srgbClr val="FF0000"/>
                </a:solidFill>
                <a:latin typeface="Arial MT"/>
                <a:cs typeface="Arial MT"/>
              </a:rPr>
              <a:t>a </a:t>
            </a:r>
            <a:r>
              <a:rPr sz="2400" dirty="0">
                <a:solidFill>
                  <a:srgbClr val="FF0000"/>
                </a:solidFill>
                <a:latin typeface="Arial MT"/>
                <a:cs typeface="Arial MT"/>
              </a:rPr>
              <a:t>period</a:t>
            </a:r>
            <a:r>
              <a:rPr sz="2400" spc="-41" dirty="0">
                <a:solidFill>
                  <a:srgbClr val="FF0000"/>
                </a:solidFill>
                <a:latin typeface="Arial MT"/>
                <a:cs typeface="Arial MT"/>
              </a:rPr>
              <a:t> </a:t>
            </a:r>
            <a:r>
              <a:rPr sz="2400" dirty="0">
                <a:solidFill>
                  <a:srgbClr val="FF0000"/>
                </a:solidFill>
                <a:latin typeface="Arial MT"/>
                <a:cs typeface="Arial MT"/>
              </a:rPr>
              <a:t>of</a:t>
            </a:r>
            <a:r>
              <a:rPr sz="2400" spc="-50" dirty="0">
                <a:solidFill>
                  <a:srgbClr val="FF0000"/>
                </a:solidFill>
                <a:latin typeface="Arial MT"/>
                <a:cs typeface="Arial MT"/>
              </a:rPr>
              <a:t> </a:t>
            </a:r>
            <a:r>
              <a:rPr sz="2400" spc="-10" dirty="0">
                <a:solidFill>
                  <a:srgbClr val="FF0000"/>
                </a:solidFill>
                <a:latin typeface="Arial MT"/>
                <a:cs typeface="Arial MT"/>
              </a:rPr>
              <a:t>time.</a:t>
            </a:r>
            <a:endParaRPr sz="2400" dirty="0">
              <a:latin typeface="Arial MT"/>
              <a:cs typeface="Arial MT"/>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8917" y="133351"/>
            <a:ext cx="9355023" cy="492126"/>
          </a:xfrm>
        </p:spPr>
        <p:txBody>
          <a:bodyPr/>
          <a:lstStyle/>
          <a:p>
            <a:r>
              <a:rPr lang="en-US"/>
              <a:t>Selection of sampling site</a:t>
            </a:r>
          </a:p>
        </p:txBody>
      </p:sp>
      <p:sp>
        <p:nvSpPr>
          <p:cNvPr id="3" name="Text Placeholder 2"/>
          <p:cNvSpPr>
            <a:spLocks noGrp="1"/>
          </p:cNvSpPr>
          <p:nvPr>
            <p:ph type="body" idx="1"/>
          </p:nvPr>
        </p:nvSpPr>
        <p:spPr>
          <a:xfrm>
            <a:off x="533401" y="685800"/>
            <a:ext cx="11416665" cy="6025496"/>
          </a:xfrm>
        </p:spPr>
        <p:txBody>
          <a:bodyPr wrap="square"/>
          <a:lstStyle/>
          <a:p>
            <a:pPr marL="342908" indent="-342908" algn="just">
              <a:lnSpc>
                <a:spcPct val="150000"/>
              </a:lnSpc>
              <a:buFont typeface="Arial" panose="020B0604020202020204" pitchFamily="34" charset="0"/>
              <a:buChar char="•"/>
            </a:pPr>
            <a:r>
              <a:rPr lang="en-US" dirty="0"/>
              <a:t>Dust fall collectors should be placed at a </a:t>
            </a:r>
            <a:r>
              <a:rPr lang="en-US" b="1" dirty="0"/>
              <a:t>height of 3m to 15m </a:t>
            </a:r>
            <a:r>
              <a:rPr lang="en-US" dirty="0"/>
              <a:t>above ground level.</a:t>
            </a:r>
          </a:p>
          <a:p>
            <a:pPr marL="342908" indent="-342908" algn="just">
              <a:lnSpc>
                <a:spcPct val="150000"/>
              </a:lnSpc>
              <a:buFont typeface="Arial" panose="020B0604020202020204" pitchFamily="34" charset="0"/>
              <a:buChar char="•"/>
            </a:pPr>
            <a:r>
              <a:rPr lang="en-US" b="1" dirty="0"/>
              <a:t>No stack or chimney </a:t>
            </a:r>
            <a:r>
              <a:rPr lang="en-US" dirty="0"/>
              <a:t>should be present in the </a:t>
            </a:r>
            <a:r>
              <a:rPr lang="en-US" b="1" dirty="0"/>
              <a:t>vicinity </a:t>
            </a:r>
            <a:r>
              <a:rPr lang="en-US" dirty="0"/>
              <a:t>of the site.</a:t>
            </a:r>
          </a:p>
          <a:p>
            <a:pPr marL="342908" indent="-342908" algn="just">
              <a:lnSpc>
                <a:spcPct val="150000"/>
              </a:lnSpc>
              <a:buFont typeface="Arial" panose="020B0604020202020204" pitchFamily="34" charset="0"/>
              <a:buChar char="•"/>
            </a:pPr>
            <a:r>
              <a:rPr lang="en-US" dirty="0"/>
              <a:t>Whenever higher buildings in the immediate vicinity cannot be avoided, the </a:t>
            </a:r>
            <a:r>
              <a:rPr lang="en-US" b="1" dirty="0"/>
              <a:t>top of building should be more than 30 degrees</a:t>
            </a:r>
            <a:r>
              <a:rPr lang="en-US" dirty="0"/>
              <a:t> above the sampling point.</a:t>
            </a:r>
          </a:p>
          <a:p>
            <a:pPr marL="342908" indent="-342908" algn="just">
              <a:lnSpc>
                <a:spcPct val="150000"/>
              </a:lnSpc>
              <a:buFont typeface="Arial" panose="020B0604020202020204" pitchFamily="34" charset="0"/>
              <a:buChar char="•"/>
            </a:pPr>
            <a:r>
              <a:rPr lang="en-US" dirty="0"/>
              <a:t>It should </a:t>
            </a:r>
            <a:r>
              <a:rPr lang="en-US" b="1" dirty="0"/>
              <a:t>not have any interference </a:t>
            </a:r>
            <a:r>
              <a:rPr lang="en-US" dirty="0"/>
              <a:t>from the </a:t>
            </a:r>
            <a:r>
              <a:rPr lang="en-US" b="1" dirty="0"/>
              <a:t>buildings</a:t>
            </a:r>
            <a:r>
              <a:rPr lang="en-US" dirty="0"/>
              <a:t> or any other </a:t>
            </a:r>
            <a:r>
              <a:rPr lang="en-US" b="1" dirty="0"/>
              <a:t>higher objects.</a:t>
            </a:r>
          </a:p>
          <a:p>
            <a:pPr marL="342908" indent="-342908" algn="just">
              <a:lnSpc>
                <a:spcPct val="150000"/>
              </a:lnSpc>
              <a:buFont typeface="Arial" panose="020B0604020202020204" pitchFamily="34" charset="0"/>
              <a:buChar char="•"/>
            </a:pPr>
            <a:r>
              <a:rPr lang="en-US" dirty="0"/>
              <a:t>It should have </a:t>
            </a:r>
            <a:r>
              <a:rPr lang="en-US" b="1" dirty="0"/>
              <a:t>easy accessibility </a:t>
            </a:r>
            <a:r>
              <a:rPr lang="en-US" dirty="0"/>
              <a:t>but shall have </a:t>
            </a:r>
            <a:r>
              <a:rPr lang="en-US" b="1" dirty="0"/>
              <a:t>security</a:t>
            </a:r>
            <a:r>
              <a:rPr lang="en-US" dirty="0"/>
              <a:t> so as to </a:t>
            </a:r>
            <a:r>
              <a:rPr lang="en-US" b="1" dirty="0"/>
              <a:t>avoid</a:t>
            </a:r>
            <a:r>
              <a:rPr lang="en-US" dirty="0"/>
              <a:t> any </a:t>
            </a:r>
            <a:r>
              <a:rPr lang="en-US" b="1" dirty="0"/>
              <a:t>tampering.</a:t>
            </a:r>
          </a:p>
          <a:p>
            <a:pPr marL="342908" indent="-342908" algn="just">
              <a:lnSpc>
                <a:spcPct val="150000"/>
              </a:lnSpc>
              <a:buFont typeface="Arial" panose="020B0604020202020204" pitchFamily="34" charset="0"/>
              <a:buChar char="•"/>
            </a:pPr>
            <a:r>
              <a:rPr lang="en-US" dirty="0"/>
              <a:t>It should have a </a:t>
            </a:r>
            <a:r>
              <a:rPr lang="en-US" b="1" dirty="0"/>
              <a:t>free exposure </a:t>
            </a:r>
            <a:r>
              <a:rPr lang="en-US" dirty="0"/>
              <a:t>so that the sample is collected by gravity setting only.</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xfrm>
            <a:off x="8993409" y="6464911"/>
            <a:ext cx="198636" cy="156068"/>
          </a:xfrm>
          <a:prstGeom prst="rect">
            <a:avLst/>
          </a:prstGeom>
        </p:spPr>
        <p:txBody>
          <a:bodyPr vert="horz" wrap="square" lIns="0" tIns="0" rIns="0" bIns="0" rtlCol="0">
            <a:spAutoFit/>
          </a:bodyPr>
          <a:lstStyle/>
          <a:p>
            <a:pPr marL="38101">
              <a:lnSpc>
                <a:spcPts val="1239"/>
              </a:lnSpc>
            </a:pPr>
            <a:fld id="{81D60167-4931-47E6-BA6A-407CBD079E47}" type="slidenum">
              <a:rPr spc="-25" dirty="0"/>
              <a:pPr marL="38101">
                <a:lnSpc>
                  <a:spcPts val="1239"/>
                </a:lnSpc>
              </a:pPr>
              <a:t>32</a:t>
            </a:fld>
            <a:endParaRPr spc="-25" dirty="0"/>
          </a:p>
        </p:txBody>
      </p:sp>
      <p:sp>
        <p:nvSpPr>
          <p:cNvPr id="2" name="object 2"/>
          <p:cNvSpPr txBox="1">
            <a:spLocks noGrp="1"/>
          </p:cNvSpPr>
          <p:nvPr>
            <p:ph type="title"/>
          </p:nvPr>
        </p:nvSpPr>
        <p:spPr>
          <a:xfrm>
            <a:off x="470370" y="133352"/>
            <a:ext cx="10502429" cy="892423"/>
          </a:xfrm>
          <a:prstGeom prst="rect">
            <a:avLst/>
          </a:prstGeom>
        </p:spPr>
        <p:txBody>
          <a:bodyPr vert="horz" wrap="square" lIns="0" tIns="396112" rIns="0" bIns="0" rtlCol="0">
            <a:spAutoFit/>
          </a:bodyPr>
          <a:lstStyle/>
          <a:p>
            <a:pPr marL="131448">
              <a:spcBef>
                <a:spcPts val="105"/>
              </a:spcBef>
            </a:pPr>
            <a:r>
              <a:rPr spc="-10" dirty="0"/>
              <a:t>High-</a:t>
            </a:r>
            <a:r>
              <a:rPr dirty="0"/>
              <a:t>volume</a:t>
            </a:r>
            <a:r>
              <a:rPr spc="-55" dirty="0"/>
              <a:t> </a:t>
            </a:r>
            <a:r>
              <a:rPr dirty="0"/>
              <a:t>Filtration</a:t>
            </a:r>
            <a:r>
              <a:rPr spc="-25" dirty="0"/>
              <a:t> </a:t>
            </a:r>
            <a:r>
              <a:rPr dirty="0"/>
              <a:t>(The</a:t>
            </a:r>
            <a:r>
              <a:rPr spc="-15" dirty="0"/>
              <a:t> </a:t>
            </a:r>
            <a:r>
              <a:rPr spc="-20" dirty="0"/>
              <a:t>hi-</a:t>
            </a:r>
            <a:r>
              <a:rPr dirty="0"/>
              <a:t>vol.</a:t>
            </a:r>
            <a:r>
              <a:rPr spc="-15" dirty="0"/>
              <a:t> </a:t>
            </a:r>
            <a:r>
              <a:rPr spc="-10" dirty="0"/>
              <a:t>sampler)</a:t>
            </a:r>
          </a:p>
        </p:txBody>
      </p:sp>
      <p:sp>
        <p:nvSpPr>
          <p:cNvPr id="3" name="object 3"/>
          <p:cNvSpPr txBox="1"/>
          <p:nvPr/>
        </p:nvSpPr>
        <p:spPr>
          <a:xfrm>
            <a:off x="457023" y="1418256"/>
            <a:ext cx="10997566" cy="5171225"/>
          </a:xfrm>
          <a:prstGeom prst="rect">
            <a:avLst/>
          </a:prstGeom>
        </p:spPr>
        <p:txBody>
          <a:bodyPr vert="horz" wrap="square" lIns="0" tIns="95886" rIns="0" bIns="0" rtlCol="0">
            <a:spAutoFit/>
          </a:bodyPr>
          <a:lstStyle/>
          <a:p>
            <a:pPr marL="240671" indent="-227971">
              <a:spcBef>
                <a:spcPts val="754"/>
              </a:spcBef>
              <a:buChar char="•"/>
              <a:tabLst>
                <a:tab pos="240671" algn="l"/>
              </a:tabLst>
            </a:pPr>
            <a:r>
              <a:rPr sz="2200" dirty="0">
                <a:solidFill>
                  <a:schemeClr val="tx1"/>
                </a:solidFill>
                <a:latin typeface="+mj-lt"/>
                <a:cs typeface="Arial" panose="020B0604020202020204" pitchFamily="34" charset="0"/>
              </a:rPr>
              <a:t>The</a:t>
            </a:r>
            <a:r>
              <a:rPr sz="2200" spc="-34" dirty="0">
                <a:solidFill>
                  <a:schemeClr val="tx1"/>
                </a:solidFill>
                <a:latin typeface="+mj-lt"/>
                <a:cs typeface="Arial" panose="020B0604020202020204" pitchFamily="34" charset="0"/>
              </a:rPr>
              <a:t> </a:t>
            </a:r>
            <a:r>
              <a:rPr sz="2200" dirty="0">
                <a:solidFill>
                  <a:schemeClr val="tx1"/>
                </a:solidFill>
                <a:latin typeface="+mj-lt"/>
                <a:cs typeface="Arial" panose="020B0604020202020204" pitchFamily="34" charset="0"/>
              </a:rPr>
              <a:t>high</a:t>
            </a:r>
            <a:r>
              <a:rPr sz="2200" spc="-20" dirty="0">
                <a:solidFill>
                  <a:schemeClr val="tx1"/>
                </a:solidFill>
                <a:latin typeface="+mj-lt"/>
                <a:cs typeface="Arial" panose="020B0604020202020204" pitchFamily="34" charset="0"/>
              </a:rPr>
              <a:t> </a:t>
            </a:r>
            <a:r>
              <a:rPr sz="2200" dirty="0">
                <a:solidFill>
                  <a:schemeClr val="tx1"/>
                </a:solidFill>
                <a:latin typeface="+mj-lt"/>
                <a:cs typeface="Arial" panose="020B0604020202020204" pitchFamily="34" charset="0"/>
              </a:rPr>
              <a:t>volume</a:t>
            </a:r>
            <a:r>
              <a:rPr sz="2200" spc="-30" dirty="0">
                <a:solidFill>
                  <a:schemeClr val="tx1"/>
                </a:solidFill>
                <a:latin typeface="+mj-lt"/>
                <a:cs typeface="Arial" panose="020B0604020202020204" pitchFamily="34" charset="0"/>
              </a:rPr>
              <a:t> </a:t>
            </a:r>
            <a:r>
              <a:rPr sz="2200" dirty="0">
                <a:solidFill>
                  <a:schemeClr val="tx1"/>
                </a:solidFill>
                <a:latin typeface="+mj-lt"/>
                <a:cs typeface="Arial" panose="020B0604020202020204" pitchFamily="34" charset="0"/>
              </a:rPr>
              <a:t>filtration</a:t>
            </a:r>
            <a:r>
              <a:rPr sz="2200" spc="-41" dirty="0">
                <a:solidFill>
                  <a:schemeClr val="tx1"/>
                </a:solidFill>
                <a:latin typeface="+mj-lt"/>
                <a:cs typeface="Arial" panose="020B0604020202020204" pitchFamily="34" charset="0"/>
              </a:rPr>
              <a:t> </a:t>
            </a:r>
            <a:r>
              <a:rPr sz="2200" dirty="0">
                <a:solidFill>
                  <a:schemeClr val="tx1"/>
                </a:solidFill>
                <a:latin typeface="+mj-lt"/>
                <a:cs typeface="Arial" panose="020B0604020202020204" pitchFamily="34" charset="0"/>
              </a:rPr>
              <a:t>method</a:t>
            </a:r>
            <a:r>
              <a:rPr sz="2200" spc="-46" dirty="0">
                <a:solidFill>
                  <a:schemeClr val="tx1"/>
                </a:solidFill>
                <a:latin typeface="+mj-lt"/>
                <a:cs typeface="Arial" panose="020B0604020202020204" pitchFamily="34" charset="0"/>
              </a:rPr>
              <a:t> </a:t>
            </a:r>
            <a:r>
              <a:rPr sz="2200" dirty="0">
                <a:solidFill>
                  <a:schemeClr val="tx1"/>
                </a:solidFill>
                <a:latin typeface="+mj-lt"/>
                <a:cs typeface="Arial" panose="020B0604020202020204" pitchFamily="34" charset="0"/>
              </a:rPr>
              <a:t>is</a:t>
            </a:r>
            <a:r>
              <a:rPr sz="2200" spc="-20" dirty="0">
                <a:solidFill>
                  <a:schemeClr val="tx1"/>
                </a:solidFill>
                <a:latin typeface="+mj-lt"/>
                <a:cs typeface="Arial" panose="020B0604020202020204" pitchFamily="34" charset="0"/>
              </a:rPr>
              <a:t> </a:t>
            </a:r>
            <a:r>
              <a:rPr sz="2200" dirty="0">
                <a:solidFill>
                  <a:schemeClr val="tx1"/>
                </a:solidFill>
                <a:latin typeface="+mj-lt"/>
                <a:cs typeface="Arial" panose="020B0604020202020204" pitchFamily="34" charset="0"/>
              </a:rPr>
              <a:t>popular</a:t>
            </a:r>
            <a:r>
              <a:rPr sz="2200" spc="-34" dirty="0">
                <a:solidFill>
                  <a:schemeClr val="tx1"/>
                </a:solidFill>
                <a:latin typeface="+mj-lt"/>
                <a:cs typeface="Arial" panose="020B0604020202020204" pitchFamily="34" charset="0"/>
              </a:rPr>
              <a:t> </a:t>
            </a:r>
            <a:r>
              <a:rPr sz="2200" dirty="0">
                <a:solidFill>
                  <a:schemeClr val="tx1"/>
                </a:solidFill>
                <a:latin typeface="+mj-lt"/>
                <a:cs typeface="Arial" panose="020B0604020202020204" pitchFamily="34" charset="0"/>
              </a:rPr>
              <a:t>for</a:t>
            </a:r>
            <a:r>
              <a:rPr sz="2200" spc="-30" dirty="0">
                <a:solidFill>
                  <a:schemeClr val="tx1"/>
                </a:solidFill>
                <a:latin typeface="+mj-lt"/>
                <a:cs typeface="Arial" panose="020B0604020202020204" pitchFamily="34" charset="0"/>
              </a:rPr>
              <a:t> </a:t>
            </a:r>
            <a:r>
              <a:rPr sz="2200" dirty="0">
                <a:solidFill>
                  <a:schemeClr val="tx1"/>
                </a:solidFill>
                <a:latin typeface="+mj-lt"/>
                <a:cs typeface="Arial" panose="020B0604020202020204" pitchFamily="34" charset="0"/>
              </a:rPr>
              <a:t>measurement</a:t>
            </a:r>
            <a:r>
              <a:rPr sz="2200" spc="-75" dirty="0">
                <a:solidFill>
                  <a:schemeClr val="tx1"/>
                </a:solidFill>
                <a:latin typeface="+mj-lt"/>
                <a:cs typeface="Arial" panose="020B0604020202020204" pitchFamily="34" charset="0"/>
              </a:rPr>
              <a:t> </a:t>
            </a:r>
            <a:r>
              <a:rPr sz="2200" dirty="0">
                <a:solidFill>
                  <a:schemeClr val="tx1"/>
                </a:solidFill>
                <a:latin typeface="+mj-lt"/>
                <a:cs typeface="Arial" panose="020B0604020202020204" pitchFamily="34" charset="0"/>
              </a:rPr>
              <a:t>of</a:t>
            </a:r>
            <a:r>
              <a:rPr sz="2200" spc="-25" dirty="0">
                <a:solidFill>
                  <a:schemeClr val="tx1"/>
                </a:solidFill>
                <a:latin typeface="+mj-lt"/>
                <a:cs typeface="Arial" panose="020B0604020202020204" pitchFamily="34" charset="0"/>
              </a:rPr>
              <a:t> </a:t>
            </a:r>
            <a:r>
              <a:rPr sz="2200" dirty="0">
                <a:solidFill>
                  <a:schemeClr val="tx1"/>
                </a:solidFill>
                <a:latin typeface="+mj-lt"/>
                <a:cs typeface="Arial" panose="020B0604020202020204" pitchFamily="34" charset="0"/>
              </a:rPr>
              <a:t>the</a:t>
            </a:r>
            <a:r>
              <a:rPr sz="2200" spc="-41" dirty="0">
                <a:solidFill>
                  <a:schemeClr val="tx1"/>
                </a:solidFill>
                <a:latin typeface="+mj-lt"/>
                <a:cs typeface="Arial" panose="020B0604020202020204" pitchFamily="34" charset="0"/>
              </a:rPr>
              <a:t> </a:t>
            </a:r>
            <a:r>
              <a:rPr sz="2200" dirty="0">
                <a:solidFill>
                  <a:schemeClr val="tx1"/>
                </a:solidFill>
                <a:latin typeface="+mj-lt"/>
                <a:cs typeface="Arial" panose="020B0604020202020204" pitchFamily="34" charset="0"/>
              </a:rPr>
              <a:t>mass</a:t>
            </a:r>
            <a:r>
              <a:rPr sz="2200" spc="-50" dirty="0">
                <a:solidFill>
                  <a:schemeClr val="tx1"/>
                </a:solidFill>
                <a:latin typeface="+mj-lt"/>
                <a:cs typeface="Arial" panose="020B0604020202020204" pitchFamily="34" charset="0"/>
              </a:rPr>
              <a:t> </a:t>
            </a:r>
            <a:r>
              <a:rPr sz="2200" dirty="0">
                <a:solidFill>
                  <a:schemeClr val="tx1"/>
                </a:solidFill>
                <a:latin typeface="+mj-lt"/>
                <a:cs typeface="Arial" panose="020B0604020202020204" pitchFamily="34" charset="0"/>
              </a:rPr>
              <a:t>concentration</a:t>
            </a:r>
            <a:r>
              <a:rPr sz="2200" spc="-70" dirty="0">
                <a:solidFill>
                  <a:schemeClr val="tx1"/>
                </a:solidFill>
                <a:latin typeface="+mj-lt"/>
                <a:cs typeface="Arial" panose="020B0604020202020204" pitchFamily="34" charset="0"/>
              </a:rPr>
              <a:t> </a:t>
            </a:r>
            <a:r>
              <a:rPr sz="2200" spc="-25" dirty="0">
                <a:solidFill>
                  <a:schemeClr val="tx1"/>
                </a:solidFill>
                <a:latin typeface="+mj-lt"/>
                <a:cs typeface="Arial" panose="020B0604020202020204" pitchFamily="34" charset="0"/>
              </a:rPr>
              <a:t>of</a:t>
            </a:r>
            <a:endParaRPr sz="2200" dirty="0">
              <a:solidFill>
                <a:schemeClr val="tx1"/>
              </a:solidFill>
              <a:latin typeface="+mj-lt"/>
              <a:cs typeface="Arial" panose="020B0604020202020204" pitchFamily="34" charset="0"/>
            </a:endParaRPr>
          </a:p>
          <a:p>
            <a:pPr marL="241306" algn="just">
              <a:spcBef>
                <a:spcPts val="660"/>
              </a:spcBef>
              <a:tabLst>
                <a:tab pos="2640396" algn="l"/>
              </a:tabLst>
            </a:pPr>
            <a:r>
              <a:rPr sz="2200" dirty="0">
                <a:solidFill>
                  <a:schemeClr val="tx1"/>
                </a:solidFill>
                <a:latin typeface="+mj-lt"/>
                <a:cs typeface="Arial" panose="020B0604020202020204" pitchFamily="34" charset="0"/>
              </a:rPr>
              <a:t>suspended</a:t>
            </a:r>
            <a:r>
              <a:rPr sz="2200" spc="-70" dirty="0">
                <a:solidFill>
                  <a:schemeClr val="tx1"/>
                </a:solidFill>
                <a:latin typeface="+mj-lt"/>
                <a:cs typeface="Arial" panose="020B0604020202020204" pitchFamily="34" charset="0"/>
              </a:rPr>
              <a:t> </a:t>
            </a:r>
            <a:r>
              <a:rPr sz="2200" spc="-10" dirty="0">
                <a:solidFill>
                  <a:schemeClr val="tx1"/>
                </a:solidFill>
                <a:latin typeface="+mj-lt"/>
                <a:cs typeface="Arial" panose="020B0604020202020204" pitchFamily="34" charset="0"/>
              </a:rPr>
              <a:t>particles</a:t>
            </a:r>
            <a:r>
              <a:rPr sz="2200" dirty="0">
                <a:solidFill>
                  <a:schemeClr val="tx1"/>
                </a:solidFill>
                <a:latin typeface="+mj-lt"/>
                <a:cs typeface="Arial" panose="020B0604020202020204" pitchFamily="34" charset="0"/>
              </a:rPr>
              <a:t>	</a:t>
            </a:r>
            <a:r>
              <a:rPr sz="2200" b="1" dirty="0">
                <a:solidFill>
                  <a:schemeClr val="tx1"/>
                </a:solidFill>
                <a:latin typeface="+mj-lt"/>
                <a:cs typeface="Arial" panose="020B0604020202020204" pitchFamily="34" charset="0"/>
              </a:rPr>
              <a:t>smaller</a:t>
            </a:r>
            <a:r>
              <a:rPr sz="2200" b="1" spc="-41" dirty="0">
                <a:solidFill>
                  <a:schemeClr val="tx1"/>
                </a:solidFill>
                <a:latin typeface="+mj-lt"/>
                <a:cs typeface="Arial" panose="020B0604020202020204" pitchFamily="34" charset="0"/>
              </a:rPr>
              <a:t> </a:t>
            </a:r>
            <a:r>
              <a:rPr sz="2200" b="1" dirty="0">
                <a:solidFill>
                  <a:schemeClr val="tx1"/>
                </a:solidFill>
                <a:latin typeface="+mj-lt"/>
                <a:cs typeface="Arial" panose="020B0604020202020204" pitchFamily="34" charset="0"/>
              </a:rPr>
              <a:t>than</a:t>
            </a:r>
            <a:r>
              <a:rPr sz="2200" b="1" spc="-41" dirty="0">
                <a:solidFill>
                  <a:schemeClr val="tx1"/>
                </a:solidFill>
                <a:latin typeface="+mj-lt"/>
                <a:cs typeface="Arial" panose="020B0604020202020204" pitchFamily="34" charset="0"/>
              </a:rPr>
              <a:t> </a:t>
            </a:r>
            <a:r>
              <a:rPr sz="2200" b="1" dirty="0">
                <a:solidFill>
                  <a:schemeClr val="tx1"/>
                </a:solidFill>
                <a:latin typeface="+mj-lt"/>
                <a:cs typeface="Arial" panose="020B0604020202020204" pitchFamily="34" charset="0"/>
              </a:rPr>
              <a:t>10</a:t>
            </a:r>
            <a:r>
              <a:rPr sz="2200" b="1" spc="-25" dirty="0">
                <a:solidFill>
                  <a:schemeClr val="tx1"/>
                </a:solidFill>
                <a:latin typeface="+mj-lt"/>
                <a:cs typeface="Arial" panose="020B0604020202020204" pitchFamily="34" charset="0"/>
              </a:rPr>
              <a:t> </a:t>
            </a:r>
            <a:r>
              <a:rPr sz="2200" b="1" i="1" spc="-25" dirty="0">
                <a:solidFill>
                  <a:schemeClr val="tx1"/>
                </a:solidFill>
                <a:latin typeface="+mj-lt"/>
                <a:cs typeface="Arial" panose="020B0604020202020204" pitchFamily="34" charset="0"/>
              </a:rPr>
              <a:t>µ</a:t>
            </a:r>
            <a:r>
              <a:rPr sz="2200" b="1" spc="-25" dirty="0">
                <a:solidFill>
                  <a:schemeClr val="tx1"/>
                </a:solidFill>
                <a:latin typeface="+mj-lt"/>
                <a:cs typeface="Arial" panose="020B0604020202020204" pitchFamily="34" charset="0"/>
              </a:rPr>
              <a:t>m.</a:t>
            </a:r>
            <a:endParaRPr sz="2200" b="1" dirty="0">
              <a:solidFill>
                <a:schemeClr val="tx1"/>
              </a:solidFill>
              <a:latin typeface="+mj-lt"/>
              <a:cs typeface="Arial" panose="020B0604020202020204" pitchFamily="34" charset="0"/>
            </a:endParaRPr>
          </a:p>
          <a:p>
            <a:pPr marL="240671" indent="-227971">
              <a:spcBef>
                <a:spcPts val="1780"/>
              </a:spcBef>
              <a:buChar char="•"/>
              <a:tabLst>
                <a:tab pos="240671" algn="l"/>
              </a:tabLst>
            </a:pPr>
            <a:r>
              <a:rPr sz="2200" dirty="0">
                <a:solidFill>
                  <a:schemeClr val="tx1"/>
                </a:solidFill>
                <a:latin typeface="+mj-lt"/>
                <a:cs typeface="Arial" panose="020B0604020202020204" pitchFamily="34" charset="0"/>
              </a:rPr>
              <a:t>The</a:t>
            </a:r>
            <a:r>
              <a:rPr sz="2200" spc="-34" dirty="0">
                <a:solidFill>
                  <a:schemeClr val="tx1"/>
                </a:solidFill>
                <a:latin typeface="+mj-lt"/>
                <a:cs typeface="Arial" panose="020B0604020202020204" pitchFamily="34" charset="0"/>
              </a:rPr>
              <a:t> </a:t>
            </a:r>
            <a:r>
              <a:rPr sz="2200" spc="-10" dirty="0">
                <a:solidFill>
                  <a:schemeClr val="tx1"/>
                </a:solidFill>
                <a:latin typeface="+mj-lt"/>
                <a:cs typeface="Arial" panose="020B0604020202020204" pitchFamily="34" charset="0"/>
              </a:rPr>
              <a:t>sampler,</a:t>
            </a:r>
            <a:r>
              <a:rPr sz="2200" spc="-65" dirty="0">
                <a:solidFill>
                  <a:schemeClr val="tx1"/>
                </a:solidFill>
                <a:latin typeface="+mj-lt"/>
                <a:cs typeface="Arial" panose="020B0604020202020204" pitchFamily="34" charset="0"/>
              </a:rPr>
              <a:t> </a:t>
            </a:r>
            <a:r>
              <a:rPr sz="2200" dirty="0">
                <a:solidFill>
                  <a:schemeClr val="tx1"/>
                </a:solidFill>
                <a:latin typeface="+mj-lt"/>
                <a:cs typeface="Arial" panose="020B0604020202020204" pitchFamily="34" charset="0"/>
              </a:rPr>
              <a:t>universally</a:t>
            </a:r>
            <a:r>
              <a:rPr sz="2200" spc="-34" dirty="0">
                <a:solidFill>
                  <a:schemeClr val="tx1"/>
                </a:solidFill>
                <a:latin typeface="+mj-lt"/>
                <a:cs typeface="Arial" panose="020B0604020202020204" pitchFamily="34" charset="0"/>
              </a:rPr>
              <a:t> </a:t>
            </a:r>
            <a:r>
              <a:rPr sz="2200" dirty="0">
                <a:solidFill>
                  <a:schemeClr val="tx1"/>
                </a:solidFill>
                <a:latin typeface="+mj-lt"/>
                <a:cs typeface="Arial" panose="020B0604020202020204" pitchFamily="34" charset="0"/>
              </a:rPr>
              <a:t>known</a:t>
            </a:r>
            <a:r>
              <a:rPr sz="2200" spc="-46" dirty="0">
                <a:solidFill>
                  <a:schemeClr val="tx1"/>
                </a:solidFill>
                <a:latin typeface="+mj-lt"/>
                <a:cs typeface="Arial" panose="020B0604020202020204" pitchFamily="34" charset="0"/>
              </a:rPr>
              <a:t> </a:t>
            </a:r>
            <a:r>
              <a:rPr sz="2200" dirty="0">
                <a:solidFill>
                  <a:schemeClr val="tx1"/>
                </a:solidFill>
                <a:latin typeface="+mj-lt"/>
                <a:cs typeface="Arial" panose="020B0604020202020204" pitchFamily="34" charset="0"/>
              </a:rPr>
              <a:t>as</a:t>
            </a:r>
            <a:r>
              <a:rPr sz="2200" spc="-34" dirty="0">
                <a:solidFill>
                  <a:schemeClr val="tx1"/>
                </a:solidFill>
                <a:latin typeface="+mj-lt"/>
                <a:cs typeface="Arial" panose="020B0604020202020204" pitchFamily="34" charset="0"/>
              </a:rPr>
              <a:t> </a:t>
            </a:r>
            <a:r>
              <a:rPr sz="2200" spc="-10" dirty="0">
                <a:solidFill>
                  <a:schemeClr val="tx1"/>
                </a:solidFill>
                <a:latin typeface="+mj-lt"/>
                <a:cs typeface="Arial" panose="020B0604020202020204" pitchFamily="34" charset="0"/>
              </a:rPr>
              <a:t>"</a:t>
            </a:r>
            <a:r>
              <a:rPr sz="2200" b="1" spc="-10" dirty="0">
                <a:solidFill>
                  <a:schemeClr val="tx1"/>
                </a:solidFill>
                <a:latin typeface="+mj-lt"/>
                <a:cs typeface="Arial" panose="020B0604020202020204" pitchFamily="34" charset="0"/>
              </a:rPr>
              <a:t>hi-</a:t>
            </a:r>
            <a:r>
              <a:rPr sz="2200" b="1" dirty="0">
                <a:solidFill>
                  <a:schemeClr val="tx1"/>
                </a:solidFill>
                <a:latin typeface="+mj-lt"/>
                <a:cs typeface="Arial" panose="020B0604020202020204" pitchFamily="34" charset="0"/>
              </a:rPr>
              <a:t>vol</a:t>
            </a:r>
            <a:r>
              <a:rPr sz="2200" dirty="0">
                <a:solidFill>
                  <a:schemeClr val="tx1"/>
                </a:solidFill>
                <a:latin typeface="+mj-lt"/>
                <a:cs typeface="Arial" panose="020B0604020202020204" pitchFamily="34" charset="0"/>
              </a:rPr>
              <a:t>”</a:t>
            </a:r>
          </a:p>
          <a:p>
            <a:pPr marL="311157" indent="-298458">
              <a:spcBef>
                <a:spcPts val="1726"/>
              </a:spcBef>
              <a:buChar char="•"/>
              <a:tabLst>
                <a:tab pos="311157" algn="l"/>
              </a:tabLst>
            </a:pPr>
            <a:r>
              <a:rPr sz="2200" dirty="0">
                <a:solidFill>
                  <a:schemeClr val="tx1"/>
                </a:solidFill>
                <a:latin typeface="+mj-lt"/>
                <a:cs typeface="Arial" panose="020B0604020202020204" pitchFamily="34" charset="0"/>
              </a:rPr>
              <a:t>In</a:t>
            </a:r>
            <a:r>
              <a:rPr sz="2200" spc="-34" dirty="0">
                <a:solidFill>
                  <a:schemeClr val="tx1"/>
                </a:solidFill>
                <a:latin typeface="+mj-lt"/>
                <a:cs typeface="Arial" panose="020B0604020202020204" pitchFamily="34" charset="0"/>
              </a:rPr>
              <a:t> </a:t>
            </a:r>
            <a:r>
              <a:rPr sz="2200" dirty="0">
                <a:solidFill>
                  <a:schemeClr val="tx1"/>
                </a:solidFill>
                <a:latin typeface="+mj-lt"/>
                <a:cs typeface="Arial" panose="020B0604020202020204" pitchFamily="34" charset="0"/>
              </a:rPr>
              <a:t>this</a:t>
            </a:r>
            <a:r>
              <a:rPr sz="2200" spc="-30" dirty="0">
                <a:solidFill>
                  <a:schemeClr val="tx1"/>
                </a:solidFill>
                <a:latin typeface="+mj-lt"/>
                <a:cs typeface="Arial" panose="020B0604020202020204" pitchFamily="34" charset="0"/>
              </a:rPr>
              <a:t> </a:t>
            </a:r>
            <a:r>
              <a:rPr sz="2200" dirty="0">
                <a:solidFill>
                  <a:schemeClr val="tx1"/>
                </a:solidFill>
                <a:latin typeface="+mj-lt"/>
                <a:cs typeface="Arial" panose="020B0604020202020204" pitchFamily="34" charset="0"/>
              </a:rPr>
              <a:t>method,</a:t>
            </a:r>
            <a:r>
              <a:rPr sz="2200" spc="-46" dirty="0">
                <a:solidFill>
                  <a:schemeClr val="tx1"/>
                </a:solidFill>
                <a:latin typeface="+mj-lt"/>
                <a:cs typeface="Arial" panose="020B0604020202020204" pitchFamily="34" charset="0"/>
              </a:rPr>
              <a:t> </a:t>
            </a:r>
            <a:r>
              <a:rPr sz="2200" dirty="0">
                <a:solidFill>
                  <a:schemeClr val="tx1"/>
                </a:solidFill>
                <a:latin typeface="+mj-lt"/>
                <a:cs typeface="Arial" panose="020B0604020202020204" pitchFamily="34" charset="0"/>
              </a:rPr>
              <a:t>a</a:t>
            </a:r>
            <a:r>
              <a:rPr sz="2200" spc="-15" dirty="0">
                <a:solidFill>
                  <a:schemeClr val="tx1"/>
                </a:solidFill>
                <a:latin typeface="+mj-lt"/>
                <a:cs typeface="Arial" panose="020B0604020202020204" pitchFamily="34" charset="0"/>
              </a:rPr>
              <a:t> </a:t>
            </a:r>
            <a:r>
              <a:rPr sz="2200" dirty="0">
                <a:solidFill>
                  <a:schemeClr val="tx1"/>
                </a:solidFill>
                <a:latin typeface="+mj-lt"/>
                <a:cs typeface="Arial" panose="020B0604020202020204" pitchFamily="34" charset="0"/>
              </a:rPr>
              <a:t>known</a:t>
            </a:r>
            <a:r>
              <a:rPr sz="2200" spc="-41" dirty="0">
                <a:solidFill>
                  <a:schemeClr val="tx1"/>
                </a:solidFill>
                <a:latin typeface="+mj-lt"/>
                <a:cs typeface="Arial" panose="020B0604020202020204" pitchFamily="34" charset="0"/>
              </a:rPr>
              <a:t> </a:t>
            </a:r>
            <a:r>
              <a:rPr sz="2200" dirty="0">
                <a:solidFill>
                  <a:schemeClr val="tx1"/>
                </a:solidFill>
                <a:latin typeface="+mj-lt"/>
                <a:cs typeface="Arial" panose="020B0604020202020204" pitchFamily="34" charset="0"/>
              </a:rPr>
              <a:t>volume</a:t>
            </a:r>
            <a:r>
              <a:rPr sz="2200" spc="-34" dirty="0">
                <a:solidFill>
                  <a:schemeClr val="tx1"/>
                </a:solidFill>
                <a:latin typeface="+mj-lt"/>
                <a:cs typeface="Arial" panose="020B0604020202020204" pitchFamily="34" charset="0"/>
              </a:rPr>
              <a:t> </a:t>
            </a:r>
            <a:r>
              <a:rPr sz="2200" dirty="0">
                <a:solidFill>
                  <a:schemeClr val="tx1"/>
                </a:solidFill>
                <a:latin typeface="+mj-lt"/>
                <a:cs typeface="Arial" panose="020B0604020202020204" pitchFamily="34" charset="0"/>
              </a:rPr>
              <a:t>of</a:t>
            </a:r>
            <a:r>
              <a:rPr sz="2200" spc="-25" dirty="0">
                <a:solidFill>
                  <a:schemeClr val="tx1"/>
                </a:solidFill>
                <a:latin typeface="+mj-lt"/>
                <a:cs typeface="Arial" panose="020B0604020202020204" pitchFamily="34" charset="0"/>
              </a:rPr>
              <a:t> </a:t>
            </a:r>
            <a:r>
              <a:rPr sz="2200" dirty="0">
                <a:solidFill>
                  <a:schemeClr val="tx1"/>
                </a:solidFill>
                <a:latin typeface="+mj-lt"/>
                <a:cs typeface="Arial" panose="020B0604020202020204" pitchFamily="34" charset="0"/>
              </a:rPr>
              <a:t>air</a:t>
            </a:r>
            <a:r>
              <a:rPr sz="2200" spc="-25" dirty="0">
                <a:solidFill>
                  <a:schemeClr val="tx1"/>
                </a:solidFill>
                <a:latin typeface="+mj-lt"/>
                <a:cs typeface="Arial" panose="020B0604020202020204" pitchFamily="34" charset="0"/>
              </a:rPr>
              <a:t> </a:t>
            </a:r>
            <a:r>
              <a:rPr sz="2200" dirty="0">
                <a:solidFill>
                  <a:schemeClr val="tx1"/>
                </a:solidFill>
                <a:latin typeface="+mj-lt"/>
                <a:cs typeface="Arial" panose="020B0604020202020204" pitchFamily="34" charset="0"/>
              </a:rPr>
              <a:t>is</a:t>
            </a:r>
            <a:r>
              <a:rPr sz="2200" spc="-15" dirty="0">
                <a:solidFill>
                  <a:schemeClr val="tx1"/>
                </a:solidFill>
                <a:latin typeface="+mj-lt"/>
                <a:cs typeface="Arial" panose="020B0604020202020204" pitchFamily="34" charset="0"/>
              </a:rPr>
              <a:t> </a:t>
            </a:r>
            <a:r>
              <a:rPr sz="2200" dirty="0">
                <a:solidFill>
                  <a:schemeClr val="tx1"/>
                </a:solidFill>
                <a:latin typeface="+mj-lt"/>
                <a:cs typeface="Arial" panose="020B0604020202020204" pitchFamily="34" charset="0"/>
              </a:rPr>
              <a:t>sucked</a:t>
            </a:r>
            <a:r>
              <a:rPr sz="2200" spc="-50" dirty="0">
                <a:solidFill>
                  <a:schemeClr val="tx1"/>
                </a:solidFill>
                <a:latin typeface="+mj-lt"/>
                <a:cs typeface="Arial" panose="020B0604020202020204" pitchFamily="34" charset="0"/>
              </a:rPr>
              <a:t> </a:t>
            </a:r>
            <a:r>
              <a:rPr sz="2200" dirty="0">
                <a:solidFill>
                  <a:schemeClr val="tx1"/>
                </a:solidFill>
                <a:latin typeface="+mj-lt"/>
                <a:cs typeface="Arial" panose="020B0604020202020204" pitchFamily="34" charset="0"/>
              </a:rPr>
              <a:t>by</a:t>
            </a:r>
            <a:r>
              <a:rPr sz="2200" spc="-41" dirty="0">
                <a:solidFill>
                  <a:schemeClr val="tx1"/>
                </a:solidFill>
                <a:latin typeface="+mj-lt"/>
                <a:cs typeface="Arial" panose="020B0604020202020204" pitchFamily="34" charset="0"/>
              </a:rPr>
              <a:t> </a:t>
            </a:r>
            <a:r>
              <a:rPr sz="2200" dirty="0">
                <a:solidFill>
                  <a:schemeClr val="tx1"/>
                </a:solidFill>
                <a:latin typeface="+mj-lt"/>
                <a:cs typeface="Arial" panose="020B0604020202020204" pitchFamily="34" charset="0"/>
              </a:rPr>
              <a:t>a</a:t>
            </a:r>
            <a:r>
              <a:rPr sz="2200" spc="-15" dirty="0">
                <a:solidFill>
                  <a:schemeClr val="tx1"/>
                </a:solidFill>
                <a:latin typeface="+mj-lt"/>
                <a:cs typeface="Arial" panose="020B0604020202020204" pitchFamily="34" charset="0"/>
              </a:rPr>
              <a:t> </a:t>
            </a:r>
            <a:r>
              <a:rPr sz="2200" b="1" dirty="0">
                <a:solidFill>
                  <a:schemeClr val="tx1"/>
                </a:solidFill>
                <a:latin typeface="+mj-lt"/>
                <a:cs typeface="Arial" panose="020B0604020202020204" pitchFamily="34" charset="0"/>
              </a:rPr>
              <a:t>high</a:t>
            </a:r>
            <a:r>
              <a:rPr sz="2200" b="1" spc="-25" dirty="0">
                <a:solidFill>
                  <a:schemeClr val="tx1"/>
                </a:solidFill>
                <a:latin typeface="+mj-lt"/>
                <a:cs typeface="Arial" panose="020B0604020202020204" pitchFamily="34" charset="0"/>
              </a:rPr>
              <a:t> </a:t>
            </a:r>
            <a:r>
              <a:rPr sz="2200" b="1" dirty="0">
                <a:solidFill>
                  <a:schemeClr val="tx1"/>
                </a:solidFill>
                <a:latin typeface="+mj-lt"/>
                <a:cs typeface="Arial" panose="020B0604020202020204" pitchFamily="34" charset="0"/>
              </a:rPr>
              <a:t>speed</a:t>
            </a:r>
            <a:r>
              <a:rPr sz="2200" b="1" spc="-41" dirty="0">
                <a:solidFill>
                  <a:schemeClr val="tx1"/>
                </a:solidFill>
                <a:latin typeface="+mj-lt"/>
                <a:cs typeface="Arial" panose="020B0604020202020204" pitchFamily="34" charset="0"/>
              </a:rPr>
              <a:t> </a:t>
            </a:r>
            <a:r>
              <a:rPr sz="2200" b="1" dirty="0">
                <a:solidFill>
                  <a:schemeClr val="tx1"/>
                </a:solidFill>
                <a:latin typeface="+mj-lt"/>
                <a:cs typeface="Arial" panose="020B0604020202020204" pitchFamily="34" charset="0"/>
              </a:rPr>
              <a:t>blower</a:t>
            </a:r>
            <a:r>
              <a:rPr sz="2200" b="1" spc="-25" dirty="0">
                <a:solidFill>
                  <a:schemeClr val="tx1"/>
                </a:solidFill>
                <a:latin typeface="+mj-lt"/>
                <a:cs typeface="Arial" panose="020B0604020202020204" pitchFamily="34" charset="0"/>
              </a:rPr>
              <a:t> </a:t>
            </a:r>
            <a:r>
              <a:rPr sz="2200" dirty="0">
                <a:solidFill>
                  <a:schemeClr val="tx1"/>
                </a:solidFill>
                <a:latin typeface="+mj-lt"/>
                <a:cs typeface="Arial" panose="020B0604020202020204" pitchFamily="34" charset="0"/>
              </a:rPr>
              <a:t>through</a:t>
            </a:r>
            <a:r>
              <a:rPr sz="2200" spc="-55" dirty="0">
                <a:solidFill>
                  <a:schemeClr val="tx1"/>
                </a:solidFill>
                <a:latin typeface="+mj-lt"/>
                <a:cs typeface="Arial" panose="020B0604020202020204" pitchFamily="34" charset="0"/>
              </a:rPr>
              <a:t> </a:t>
            </a:r>
            <a:r>
              <a:rPr sz="2200" dirty="0">
                <a:solidFill>
                  <a:schemeClr val="tx1"/>
                </a:solidFill>
                <a:latin typeface="+mj-lt"/>
                <a:cs typeface="Arial" panose="020B0604020202020204" pitchFamily="34" charset="0"/>
              </a:rPr>
              <a:t>a</a:t>
            </a:r>
            <a:r>
              <a:rPr sz="2200" spc="-15" dirty="0">
                <a:solidFill>
                  <a:schemeClr val="tx1"/>
                </a:solidFill>
                <a:latin typeface="+mj-lt"/>
                <a:cs typeface="Arial" panose="020B0604020202020204" pitchFamily="34" charset="0"/>
              </a:rPr>
              <a:t> </a:t>
            </a:r>
            <a:r>
              <a:rPr sz="2200" b="1" dirty="0">
                <a:solidFill>
                  <a:schemeClr val="tx1"/>
                </a:solidFill>
                <a:latin typeface="+mj-lt"/>
                <a:cs typeface="Arial" panose="020B0604020202020204" pitchFamily="34" charset="0"/>
              </a:rPr>
              <a:t>fine</a:t>
            </a:r>
            <a:r>
              <a:rPr sz="2200" b="1" spc="-25" dirty="0">
                <a:solidFill>
                  <a:schemeClr val="tx1"/>
                </a:solidFill>
                <a:latin typeface="+mj-lt"/>
                <a:cs typeface="Arial" panose="020B0604020202020204" pitchFamily="34" charset="0"/>
              </a:rPr>
              <a:t> </a:t>
            </a:r>
            <a:r>
              <a:rPr sz="2200" b="1" dirty="0">
                <a:solidFill>
                  <a:schemeClr val="tx1"/>
                </a:solidFill>
                <a:latin typeface="+mj-lt"/>
                <a:cs typeface="Arial" panose="020B0604020202020204" pitchFamily="34" charset="0"/>
              </a:rPr>
              <a:t>filter</a:t>
            </a:r>
            <a:r>
              <a:rPr sz="2200" b="1" spc="-15" dirty="0">
                <a:solidFill>
                  <a:schemeClr val="tx1"/>
                </a:solidFill>
                <a:latin typeface="+mj-lt"/>
                <a:cs typeface="Arial" panose="020B0604020202020204" pitchFamily="34" charset="0"/>
              </a:rPr>
              <a:t> </a:t>
            </a:r>
            <a:r>
              <a:rPr sz="2200" spc="-25" dirty="0">
                <a:solidFill>
                  <a:schemeClr val="tx1"/>
                </a:solidFill>
                <a:latin typeface="+mj-lt"/>
                <a:cs typeface="Arial" panose="020B0604020202020204" pitchFamily="34" charset="0"/>
              </a:rPr>
              <a:t>and</a:t>
            </a:r>
            <a:r>
              <a:rPr lang="en-IN" sz="2200" spc="-25" dirty="0">
                <a:solidFill>
                  <a:schemeClr val="tx1"/>
                </a:solidFill>
                <a:latin typeface="+mj-lt"/>
                <a:cs typeface="Arial" panose="020B0604020202020204" pitchFamily="34" charset="0"/>
              </a:rPr>
              <a:t> </a:t>
            </a:r>
            <a:r>
              <a:rPr sz="2200" dirty="0">
                <a:solidFill>
                  <a:schemeClr val="tx1"/>
                </a:solidFill>
                <a:latin typeface="+mj-lt"/>
                <a:cs typeface="Arial" panose="020B0604020202020204" pitchFamily="34" charset="0"/>
              </a:rPr>
              <a:t>the</a:t>
            </a:r>
            <a:r>
              <a:rPr sz="2200" spc="-41" dirty="0">
                <a:solidFill>
                  <a:schemeClr val="tx1"/>
                </a:solidFill>
                <a:latin typeface="+mj-lt"/>
                <a:cs typeface="Arial" panose="020B0604020202020204" pitchFamily="34" charset="0"/>
              </a:rPr>
              <a:t> </a:t>
            </a:r>
            <a:r>
              <a:rPr sz="2200" b="1" dirty="0">
                <a:solidFill>
                  <a:schemeClr val="tx1"/>
                </a:solidFill>
                <a:latin typeface="+mj-lt"/>
                <a:cs typeface="Arial" panose="020B0604020202020204" pitchFamily="34" charset="0"/>
              </a:rPr>
              <a:t>increase</a:t>
            </a:r>
            <a:r>
              <a:rPr sz="2200" b="1" spc="-50" dirty="0">
                <a:solidFill>
                  <a:schemeClr val="tx1"/>
                </a:solidFill>
                <a:latin typeface="+mj-lt"/>
                <a:cs typeface="Arial" panose="020B0604020202020204" pitchFamily="34" charset="0"/>
              </a:rPr>
              <a:t> </a:t>
            </a:r>
            <a:r>
              <a:rPr sz="2200" b="1" dirty="0">
                <a:solidFill>
                  <a:schemeClr val="tx1"/>
                </a:solidFill>
                <a:latin typeface="+mj-lt"/>
                <a:cs typeface="Arial" panose="020B0604020202020204" pitchFamily="34" charset="0"/>
              </a:rPr>
              <a:t>in</a:t>
            </a:r>
            <a:r>
              <a:rPr sz="2200" b="1" spc="-15" dirty="0">
                <a:solidFill>
                  <a:schemeClr val="tx1"/>
                </a:solidFill>
                <a:latin typeface="+mj-lt"/>
                <a:cs typeface="Arial" panose="020B0604020202020204" pitchFamily="34" charset="0"/>
              </a:rPr>
              <a:t> </a:t>
            </a:r>
            <a:r>
              <a:rPr sz="2200" b="1" dirty="0">
                <a:solidFill>
                  <a:schemeClr val="tx1"/>
                </a:solidFill>
                <a:latin typeface="+mj-lt"/>
                <a:cs typeface="Arial" panose="020B0604020202020204" pitchFamily="34" charset="0"/>
              </a:rPr>
              <a:t>weight</a:t>
            </a:r>
            <a:r>
              <a:rPr sz="2200" b="1" spc="-30" dirty="0">
                <a:solidFill>
                  <a:schemeClr val="tx1"/>
                </a:solidFill>
                <a:latin typeface="+mj-lt"/>
                <a:cs typeface="Arial" panose="020B0604020202020204" pitchFamily="34" charset="0"/>
              </a:rPr>
              <a:t> </a:t>
            </a:r>
            <a:r>
              <a:rPr sz="2200" b="1" dirty="0">
                <a:solidFill>
                  <a:schemeClr val="tx1"/>
                </a:solidFill>
                <a:latin typeface="+mj-lt"/>
                <a:cs typeface="Arial" panose="020B0604020202020204" pitchFamily="34" charset="0"/>
              </a:rPr>
              <a:t>due</a:t>
            </a:r>
            <a:r>
              <a:rPr sz="2200" b="1" spc="-30" dirty="0">
                <a:solidFill>
                  <a:schemeClr val="tx1"/>
                </a:solidFill>
                <a:latin typeface="+mj-lt"/>
                <a:cs typeface="Arial" panose="020B0604020202020204" pitchFamily="34" charset="0"/>
              </a:rPr>
              <a:t> </a:t>
            </a:r>
            <a:r>
              <a:rPr sz="2200" b="1" dirty="0">
                <a:solidFill>
                  <a:schemeClr val="tx1"/>
                </a:solidFill>
                <a:latin typeface="+mj-lt"/>
                <a:cs typeface="Arial" panose="020B0604020202020204" pitchFamily="34" charset="0"/>
              </a:rPr>
              <a:t>to</a:t>
            </a:r>
            <a:r>
              <a:rPr sz="2200" b="1" spc="-25" dirty="0">
                <a:solidFill>
                  <a:schemeClr val="tx1"/>
                </a:solidFill>
                <a:latin typeface="+mj-lt"/>
                <a:cs typeface="Arial" panose="020B0604020202020204" pitchFamily="34" charset="0"/>
              </a:rPr>
              <a:t> </a:t>
            </a:r>
            <a:r>
              <a:rPr sz="2200" b="1" dirty="0">
                <a:solidFill>
                  <a:schemeClr val="tx1"/>
                </a:solidFill>
                <a:latin typeface="+mj-lt"/>
                <a:cs typeface="Arial" panose="020B0604020202020204" pitchFamily="34" charset="0"/>
              </a:rPr>
              <a:t>the</a:t>
            </a:r>
            <a:r>
              <a:rPr sz="2200" b="1" spc="-34" dirty="0">
                <a:solidFill>
                  <a:schemeClr val="tx1"/>
                </a:solidFill>
                <a:latin typeface="+mj-lt"/>
                <a:cs typeface="Arial" panose="020B0604020202020204" pitchFamily="34" charset="0"/>
              </a:rPr>
              <a:t> </a:t>
            </a:r>
            <a:r>
              <a:rPr sz="2200" b="1" dirty="0">
                <a:solidFill>
                  <a:schemeClr val="tx1"/>
                </a:solidFill>
                <a:latin typeface="+mj-lt"/>
                <a:cs typeface="Arial" panose="020B0604020202020204" pitchFamily="34" charset="0"/>
              </a:rPr>
              <a:t>trapped</a:t>
            </a:r>
            <a:r>
              <a:rPr sz="2200" b="1" spc="-55" dirty="0">
                <a:solidFill>
                  <a:schemeClr val="tx1"/>
                </a:solidFill>
                <a:latin typeface="+mj-lt"/>
                <a:cs typeface="Arial" panose="020B0604020202020204" pitchFamily="34" charset="0"/>
              </a:rPr>
              <a:t> </a:t>
            </a:r>
            <a:r>
              <a:rPr sz="2200" b="1" dirty="0">
                <a:solidFill>
                  <a:schemeClr val="tx1"/>
                </a:solidFill>
                <a:latin typeface="+mj-lt"/>
                <a:cs typeface="Arial" panose="020B0604020202020204" pitchFamily="34" charset="0"/>
              </a:rPr>
              <a:t>particles</a:t>
            </a:r>
            <a:r>
              <a:rPr sz="2200" b="1" spc="-34" dirty="0">
                <a:solidFill>
                  <a:schemeClr val="tx1"/>
                </a:solidFill>
                <a:latin typeface="+mj-lt"/>
                <a:cs typeface="Arial" panose="020B0604020202020204" pitchFamily="34" charset="0"/>
              </a:rPr>
              <a:t> </a:t>
            </a:r>
            <a:r>
              <a:rPr sz="2200" b="1" dirty="0">
                <a:solidFill>
                  <a:schemeClr val="tx1"/>
                </a:solidFill>
                <a:latin typeface="+mj-lt"/>
                <a:cs typeface="Arial" panose="020B0604020202020204" pitchFamily="34" charset="0"/>
              </a:rPr>
              <a:t>is</a:t>
            </a:r>
            <a:r>
              <a:rPr sz="2200" b="1" spc="-30" dirty="0">
                <a:solidFill>
                  <a:schemeClr val="tx1"/>
                </a:solidFill>
                <a:latin typeface="+mj-lt"/>
                <a:cs typeface="Arial" panose="020B0604020202020204" pitchFamily="34" charset="0"/>
              </a:rPr>
              <a:t> </a:t>
            </a:r>
            <a:r>
              <a:rPr sz="2200" b="1" spc="-10" dirty="0">
                <a:solidFill>
                  <a:schemeClr val="tx1"/>
                </a:solidFill>
                <a:latin typeface="+mj-lt"/>
                <a:cs typeface="Arial" panose="020B0604020202020204" pitchFamily="34" charset="0"/>
              </a:rPr>
              <a:t>measured.</a:t>
            </a:r>
            <a:endParaRPr sz="2200" b="1" dirty="0">
              <a:solidFill>
                <a:schemeClr val="tx1"/>
              </a:solidFill>
              <a:latin typeface="+mj-lt"/>
              <a:cs typeface="Arial" panose="020B0604020202020204" pitchFamily="34" charset="0"/>
            </a:endParaRPr>
          </a:p>
          <a:p>
            <a:pPr marL="241306" marR="156214" indent="-228606">
              <a:lnSpc>
                <a:spcPct val="130000"/>
              </a:lnSpc>
              <a:spcBef>
                <a:spcPts val="1001"/>
              </a:spcBef>
              <a:buChar char="•"/>
              <a:tabLst>
                <a:tab pos="241306" algn="l"/>
              </a:tabLst>
            </a:pPr>
            <a:r>
              <a:rPr sz="2200" dirty="0">
                <a:solidFill>
                  <a:schemeClr val="tx1"/>
                </a:solidFill>
                <a:latin typeface="+mj-lt"/>
                <a:cs typeface="Arial" panose="020B0604020202020204" pitchFamily="34" charset="0"/>
              </a:rPr>
              <a:t>The</a:t>
            </a:r>
            <a:r>
              <a:rPr sz="2200" spc="-30" dirty="0">
                <a:solidFill>
                  <a:schemeClr val="tx1"/>
                </a:solidFill>
                <a:latin typeface="+mj-lt"/>
                <a:cs typeface="Arial" panose="020B0604020202020204" pitchFamily="34" charset="0"/>
              </a:rPr>
              <a:t> </a:t>
            </a:r>
            <a:r>
              <a:rPr sz="2200" spc="-10" dirty="0">
                <a:solidFill>
                  <a:schemeClr val="tx1"/>
                </a:solidFill>
                <a:latin typeface="+mj-lt"/>
                <a:cs typeface="Arial" panose="020B0604020202020204" pitchFamily="34" charset="0"/>
              </a:rPr>
              <a:t>filter,</a:t>
            </a:r>
            <a:r>
              <a:rPr sz="2200" spc="-34" dirty="0">
                <a:solidFill>
                  <a:schemeClr val="tx1"/>
                </a:solidFill>
                <a:latin typeface="+mj-lt"/>
                <a:cs typeface="Arial" panose="020B0604020202020204" pitchFamily="34" charset="0"/>
              </a:rPr>
              <a:t> </a:t>
            </a:r>
            <a:r>
              <a:rPr sz="2200" dirty="0">
                <a:solidFill>
                  <a:schemeClr val="tx1"/>
                </a:solidFill>
                <a:latin typeface="+mj-lt"/>
                <a:cs typeface="Arial" panose="020B0604020202020204" pitchFamily="34" charset="0"/>
              </a:rPr>
              <a:t>usually</a:t>
            </a:r>
            <a:r>
              <a:rPr sz="2200" spc="-20" dirty="0">
                <a:solidFill>
                  <a:schemeClr val="tx1"/>
                </a:solidFill>
                <a:latin typeface="+mj-lt"/>
                <a:cs typeface="Arial" panose="020B0604020202020204" pitchFamily="34" charset="0"/>
              </a:rPr>
              <a:t> </a:t>
            </a:r>
            <a:r>
              <a:rPr sz="2200" dirty="0">
                <a:solidFill>
                  <a:schemeClr val="tx1"/>
                </a:solidFill>
                <a:latin typeface="+mj-lt"/>
                <a:cs typeface="Arial" panose="020B0604020202020204" pitchFamily="34" charset="0"/>
              </a:rPr>
              <a:t>made</a:t>
            </a:r>
            <a:r>
              <a:rPr sz="2200" spc="-25" dirty="0">
                <a:solidFill>
                  <a:schemeClr val="tx1"/>
                </a:solidFill>
                <a:latin typeface="+mj-lt"/>
                <a:cs typeface="Arial" panose="020B0604020202020204" pitchFamily="34" charset="0"/>
              </a:rPr>
              <a:t> </a:t>
            </a:r>
            <a:r>
              <a:rPr sz="2200" dirty="0">
                <a:solidFill>
                  <a:schemeClr val="tx1"/>
                </a:solidFill>
                <a:latin typeface="+mj-lt"/>
                <a:cs typeface="Arial" panose="020B0604020202020204" pitchFamily="34" charset="0"/>
              </a:rPr>
              <a:t>of</a:t>
            </a:r>
            <a:r>
              <a:rPr sz="2200" spc="-30" dirty="0">
                <a:solidFill>
                  <a:schemeClr val="tx1"/>
                </a:solidFill>
                <a:latin typeface="+mj-lt"/>
                <a:cs typeface="Arial" panose="020B0604020202020204" pitchFamily="34" charset="0"/>
              </a:rPr>
              <a:t> </a:t>
            </a:r>
            <a:r>
              <a:rPr sz="2200" b="1" dirty="0">
                <a:solidFill>
                  <a:schemeClr val="tx1"/>
                </a:solidFill>
                <a:latin typeface="+mj-lt"/>
                <a:cs typeface="Arial" panose="020B0604020202020204" pitchFamily="34" charset="0"/>
              </a:rPr>
              <a:t>fibrous</a:t>
            </a:r>
            <a:r>
              <a:rPr sz="2200" b="1" spc="-41" dirty="0">
                <a:solidFill>
                  <a:schemeClr val="tx1"/>
                </a:solidFill>
                <a:latin typeface="+mj-lt"/>
                <a:cs typeface="Arial" panose="020B0604020202020204" pitchFamily="34" charset="0"/>
              </a:rPr>
              <a:t> </a:t>
            </a:r>
            <a:r>
              <a:rPr sz="2200" b="1" dirty="0">
                <a:solidFill>
                  <a:schemeClr val="tx1"/>
                </a:solidFill>
                <a:latin typeface="+mj-lt"/>
                <a:cs typeface="Arial" panose="020B0604020202020204" pitchFamily="34" charset="0"/>
              </a:rPr>
              <a:t>or</a:t>
            </a:r>
            <a:r>
              <a:rPr sz="2200" b="1" spc="-34" dirty="0">
                <a:solidFill>
                  <a:schemeClr val="tx1"/>
                </a:solidFill>
                <a:latin typeface="+mj-lt"/>
                <a:cs typeface="Arial" panose="020B0604020202020204" pitchFamily="34" charset="0"/>
              </a:rPr>
              <a:t> </a:t>
            </a:r>
            <a:r>
              <a:rPr sz="2200" b="1" dirty="0">
                <a:solidFill>
                  <a:schemeClr val="tx1"/>
                </a:solidFill>
                <a:latin typeface="+mj-lt"/>
                <a:cs typeface="Arial" panose="020B0604020202020204" pitchFamily="34" charset="0"/>
              </a:rPr>
              <a:t>granular</a:t>
            </a:r>
            <a:r>
              <a:rPr sz="2200" b="1" spc="-34" dirty="0">
                <a:solidFill>
                  <a:schemeClr val="tx1"/>
                </a:solidFill>
                <a:latin typeface="+mj-lt"/>
                <a:cs typeface="Arial" panose="020B0604020202020204" pitchFamily="34" charset="0"/>
              </a:rPr>
              <a:t> </a:t>
            </a:r>
            <a:r>
              <a:rPr sz="2200" b="1" dirty="0">
                <a:solidFill>
                  <a:schemeClr val="tx1"/>
                </a:solidFill>
                <a:latin typeface="+mj-lt"/>
                <a:cs typeface="Arial" panose="020B0604020202020204" pitchFamily="34" charset="0"/>
              </a:rPr>
              <a:t>material</a:t>
            </a:r>
            <a:r>
              <a:rPr sz="2200" dirty="0">
                <a:solidFill>
                  <a:schemeClr val="tx1"/>
                </a:solidFill>
                <a:latin typeface="+mj-lt"/>
                <a:cs typeface="Arial" panose="020B0604020202020204" pitchFamily="34" charset="0"/>
              </a:rPr>
              <a:t>,</a:t>
            </a:r>
            <a:r>
              <a:rPr sz="2200" spc="-46" dirty="0">
                <a:solidFill>
                  <a:schemeClr val="tx1"/>
                </a:solidFill>
                <a:latin typeface="+mj-lt"/>
                <a:cs typeface="Arial" panose="020B0604020202020204" pitchFamily="34" charset="0"/>
              </a:rPr>
              <a:t> </a:t>
            </a:r>
            <a:r>
              <a:rPr sz="2200" dirty="0">
                <a:solidFill>
                  <a:schemeClr val="tx1"/>
                </a:solidFill>
                <a:latin typeface="+mj-lt"/>
                <a:cs typeface="Arial" panose="020B0604020202020204" pitchFamily="34" charset="0"/>
              </a:rPr>
              <a:t>provides</a:t>
            </a:r>
            <a:r>
              <a:rPr sz="2200" spc="-34" dirty="0">
                <a:solidFill>
                  <a:schemeClr val="tx1"/>
                </a:solidFill>
                <a:latin typeface="+mj-lt"/>
                <a:cs typeface="Arial" panose="020B0604020202020204" pitchFamily="34" charset="0"/>
              </a:rPr>
              <a:t> </a:t>
            </a:r>
            <a:r>
              <a:rPr sz="2200" dirty="0">
                <a:solidFill>
                  <a:schemeClr val="tx1"/>
                </a:solidFill>
                <a:latin typeface="+mj-lt"/>
                <a:cs typeface="Arial" panose="020B0604020202020204" pitchFamily="34" charset="0"/>
              </a:rPr>
              <a:t>a</a:t>
            </a:r>
            <a:r>
              <a:rPr sz="2200" spc="-10" dirty="0">
                <a:solidFill>
                  <a:schemeClr val="tx1"/>
                </a:solidFill>
                <a:latin typeface="+mj-lt"/>
                <a:cs typeface="Arial" panose="020B0604020202020204" pitchFamily="34" charset="0"/>
              </a:rPr>
              <a:t> </a:t>
            </a:r>
            <a:r>
              <a:rPr sz="2200" dirty="0">
                <a:solidFill>
                  <a:schemeClr val="tx1"/>
                </a:solidFill>
                <a:latin typeface="+mj-lt"/>
                <a:cs typeface="Arial" panose="020B0604020202020204" pitchFamily="34" charset="0"/>
              </a:rPr>
              <a:t>dense</a:t>
            </a:r>
            <a:r>
              <a:rPr sz="2200" spc="-41" dirty="0">
                <a:solidFill>
                  <a:schemeClr val="tx1"/>
                </a:solidFill>
                <a:latin typeface="+mj-lt"/>
                <a:cs typeface="Arial" panose="020B0604020202020204" pitchFamily="34" charset="0"/>
              </a:rPr>
              <a:t> </a:t>
            </a:r>
            <a:r>
              <a:rPr sz="2200" dirty="0">
                <a:solidFill>
                  <a:schemeClr val="tx1"/>
                </a:solidFill>
                <a:latin typeface="+mj-lt"/>
                <a:cs typeface="Arial" panose="020B0604020202020204" pitchFamily="34" charset="0"/>
              </a:rPr>
              <a:t>porous</a:t>
            </a:r>
            <a:r>
              <a:rPr sz="2200" spc="-50" dirty="0">
                <a:solidFill>
                  <a:schemeClr val="tx1"/>
                </a:solidFill>
                <a:latin typeface="+mj-lt"/>
                <a:cs typeface="Arial" panose="020B0604020202020204" pitchFamily="34" charset="0"/>
              </a:rPr>
              <a:t> </a:t>
            </a:r>
            <a:r>
              <a:rPr sz="2200" spc="-10" dirty="0">
                <a:solidFill>
                  <a:schemeClr val="tx1"/>
                </a:solidFill>
                <a:latin typeface="+mj-lt"/>
                <a:cs typeface="Arial" panose="020B0604020202020204" pitchFamily="34" charset="0"/>
              </a:rPr>
              <a:t>medium </a:t>
            </a:r>
            <a:r>
              <a:rPr sz="2200" dirty="0">
                <a:solidFill>
                  <a:schemeClr val="tx1"/>
                </a:solidFill>
                <a:latin typeface="+mj-lt"/>
                <a:cs typeface="Arial" panose="020B0604020202020204" pitchFamily="34" charset="0"/>
              </a:rPr>
              <a:t>through</a:t>
            </a:r>
            <a:r>
              <a:rPr sz="2200" spc="-65" dirty="0">
                <a:solidFill>
                  <a:schemeClr val="tx1"/>
                </a:solidFill>
                <a:latin typeface="+mj-lt"/>
                <a:cs typeface="Arial" panose="020B0604020202020204" pitchFamily="34" charset="0"/>
              </a:rPr>
              <a:t> </a:t>
            </a:r>
            <a:r>
              <a:rPr sz="2200" dirty="0">
                <a:solidFill>
                  <a:schemeClr val="tx1"/>
                </a:solidFill>
                <a:latin typeface="+mj-lt"/>
                <a:cs typeface="Arial" panose="020B0604020202020204" pitchFamily="34" charset="0"/>
              </a:rPr>
              <a:t>which</a:t>
            </a:r>
            <a:r>
              <a:rPr sz="2200" spc="-34" dirty="0">
                <a:solidFill>
                  <a:schemeClr val="tx1"/>
                </a:solidFill>
                <a:latin typeface="+mj-lt"/>
                <a:cs typeface="Arial" panose="020B0604020202020204" pitchFamily="34" charset="0"/>
              </a:rPr>
              <a:t> </a:t>
            </a:r>
            <a:r>
              <a:rPr sz="2200" dirty="0">
                <a:solidFill>
                  <a:schemeClr val="tx1"/>
                </a:solidFill>
                <a:latin typeface="+mj-lt"/>
                <a:cs typeface="Arial" panose="020B0604020202020204" pitchFamily="34" charset="0"/>
              </a:rPr>
              <a:t>an</a:t>
            </a:r>
            <a:r>
              <a:rPr sz="2200" spc="-25" dirty="0">
                <a:solidFill>
                  <a:schemeClr val="tx1"/>
                </a:solidFill>
                <a:latin typeface="+mj-lt"/>
                <a:cs typeface="Arial" panose="020B0604020202020204" pitchFamily="34" charset="0"/>
              </a:rPr>
              <a:t> </a:t>
            </a:r>
            <a:r>
              <a:rPr sz="2200" b="1" dirty="0">
                <a:solidFill>
                  <a:schemeClr val="tx1"/>
                </a:solidFill>
                <a:latin typeface="+mj-lt"/>
                <a:cs typeface="Arial" panose="020B0604020202020204" pitchFamily="34" charset="0"/>
              </a:rPr>
              <a:t>air</a:t>
            </a:r>
            <a:r>
              <a:rPr sz="2200" b="1" spc="-34" dirty="0">
                <a:solidFill>
                  <a:schemeClr val="tx1"/>
                </a:solidFill>
                <a:latin typeface="+mj-lt"/>
                <a:cs typeface="Arial" panose="020B0604020202020204" pitchFamily="34" charset="0"/>
              </a:rPr>
              <a:t> </a:t>
            </a:r>
            <a:r>
              <a:rPr sz="2200" b="1" dirty="0">
                <a:solidFill>
                  <a:schemeClr val="tx1"/>
                </a:solidFill>
                <a:latin typeface="+mj-lt"/>
                <a:cs typeface="Arial" panose="020B0604020202020204" pitchFamily="34" charset="0"/>
              </a:rPr>
              <a:t>stream</a:t>
            </a:r>
            <a:r>
              <a:rPr sz="2200" b="1" spc="-60" dirty="0">
                <a:solidFill>
                  <a:schemeClr val="tx1"/>
                </a:solidFill>
                <a:latin typeface="+mj-lt"/>
                <a:cs typeface="Arial" panose="020B0604020202020204" pitchFamily="34" charset="0"/>
              </a:rPr>
              <a:t> </a:t>
            </a:r>
            <a:r>
              <a:rPr sz="2200" b="1" dirty="0">
                <a:solidFill>
                  <a:schemeClr val="tx1"/>
                </a:solidFill>
                <a:latin typeface="+mj-lt"/>
                <a:cs typeface="Arial" panose="020B0604020202020204" pitchFamily="34" charset="0"/>
              </a:rPr>
              <a:t>must</a:t>
            </a:r>
            <a:r>
              <a:rPr sz="2200" b="1" spc="-55" dirty="0">
                <a:solidFill>
                  <a:schemeClr val="tx1"/>
                </a:solidFill>
                <a:latin typeface="+mj-lt"/>
                <a:cs typeface="Arial" panose="020B0604020202020204" pitchFamily="34" charset="0"/>
              </a:rPr>
              <a:t> </a:t>
            </a:r>
            <a:r>
              <a:rPr sz="2200" b="1" dirty="0">
                <a:solidFill>
                  <a:schemeClr val="tx1"/>
                </a:solidFill>
                <a:latin typeface="+mj-lt"/>
                <a:cs typeface="Arial" panose="020B0604020202020204" pitchFamily="34" charset="0"/>
              </a:rPr>
              <a:t>change</a:t>
            </a:r>
            <a:r>
              <a:rPr sz="2200" b="1" spc="-50" dirty="0">
                <a:solidFill>
                  <a:schemeClr val="tx1"/>
                </a:solidFill>
                <a:latin typeface="+mj-lt"/>
                <a:cs typeface="Arial" panose="020B0604020202020204" pitchFamily="34" charset="0"/>
              </a:rPr>
              <a:t> </a:t>
            </a:r>
            <a:r>
              <a:rPr sz="2200" b="1" dirty="0">
                <a:solidFill>
                  <a:schemeClr val="tx1"/>
                </a:solidFill>
                <a:latin typeface="+mj-lt"/>
                <a:cs typeface="Arial" panose="020B0604020202020204" pitchFamily="34" charset="0"/>
              </a:rPr>
              <a:t>direction</a:t>
            </a:r>
            <a:r>
              <a:rPr sz="2200" b="1" spc="-46" dirty="0">
                <a:solidFill>
                  <a:schemeClr val="tx1"/>
                </a:solidFill>
                <a:latin typeface="+mj-lt"/>
                <a:cs typeface="Arial" panose="020B0604020202020204" pitchFamily="34" charset="0"/>
              </a:rPr>
              <a:t> </a:t>
            </a:r>
            <a:r>
              <a:rPr sz="2200" b="1" dirty="0">
                <a:solidFill>
                  <a:schemeClr val="tx1"/>
                </a:solidFill>
                <a:latin typeface="+mj-lt"/>
                <a:cs typeface="Arial" panose="020B0604020202020204" pitchFamily="34" charset="0"/>
              </a:rPr>
              <a:t>in</a:t>
            </a:r>
            <a:r>
              <a:rPr sz="2200" b="1" spc="-20" dirty="0">
                <a:solidFill>
                  <a:schemeClr val="tx1"/>
                </a:solidFill>
                <a:latin typeface="+mj-lt"/>
                <a:cs typeface="Arial" panose="020B0604020202020204" pitchFamily="34" charset="0"/>
              </a:rPr>
              <a:t> </a:t>
            </a:r>
            <a:r>
              <a:rPr sz="2200" b="1" dirty="0">
                <a:solidFill>
                  <a:schemeClr val="tx1"/>
                </a:solidFill>
                <a:latin typeface="+mj-lt"/>
                <a:cs typeface="Arial" panose="020B0604020202020204" pitchFamily="34" charset="0"/>
              </a:rPr>
              <a:t>a</a:t>
            </a:r>
            <a:r>
              <a:rPr sz="2200" b="1" spc="-34" dirty="0">
                <a:solidFill>
                  <a:schemeClr val="tx1"/>
                </a:solidFill>
                <a:latin typeface="+mj-lt"/>
                <a:cs typeface="Arial" panose="020B0604020202020204" pitchFamily="34" charset="0"/>
              </a:rPr>
              <a:t> </a:t>
            </a:r>
            <a:r>
              <a:rPr sz="2200" b="1" dirty="0">
                <a:solidFill>
                  <a:schemeClr val="tx1"/>
                </a:solidFill>
                <a:latin typeface="+mj-lt"/>
                <a:cs typeface="Arial" panose="020B0604020202020204" pitchFamily="34" charset="0"/>
              </a:rPr>
              <a:t>random</a:t>
            </a:r>
            <a:r>
              <a:rPr sz="2200" b="1" spc="-60" dirty="0">
                <a:solidFill>
                  <a:schemeClr val="tx1"/>
                </a:solidFill>
                <a:latin typeface="+mj-lt"/>
                <a:cs typeface="Arial" panose="020B0604020202020204" pitchFamily="34" charset="0"/>
              </a:rPr>
              <a:t> </a:t>
            </a:r>
            <a:r>
              <a:rPr sz="2200" b="1" dirty="0">
                <a:solidFill>
                  <a:schemeClr val="tx1"/>
                </a:solidFill>
                <a:latin typeface="+mj-lt"/>
                <a:cs typeface="Arial" panose="020B0604020202020204" pitchFamily="34" charset="0"/>
              </a:rPr>
              <a:t>fashion</a:t>
            </a:r>
            <a:r>
              <a:rPr sz="2200" dirty="0">
                <a:solidFill>
                  <a:schemeClr val="tx1"/>
                </a:solidFill>
                <a:latin typeface="+mj-lt"/>
                <a:cs typeface="Arial" panose="020B0604020202020204" pitchFamily="34" charset="0"/>
              </a:rPr>
              <a:t>,</a:t>
            </a:r>
            <a:r>
              <a:rPr sz="2200" spc="-55" dirty="0">
                <a:solidFill>
                  <a:schemeClr val="tx1"/>
                </a:solidFill>
                <a:latin typeface="+mj-lt"/>
                <a:cs typeface="Arial" panose="020B0604020202020204" pitchFamily="34" charset="0"/>
              </a:rPr>
              <a:t> </a:t>
            </a:r>
            <a:r>
              <a:rPr sz="2200" dirty="0">
                <a:solidFill>
                  <a:schemeClr val="tx1"/>
                </a:solidFill>
                <a:latin typeface="+mj-lt"/>
                <a:cs typeface="Arial" panose="020B0604020202020204" pitchFamily="34" charset="0"/>
              </a:rPr>
              <a:t>allowing</a:t>
            </a:r>
            <a:r>
              <a:rPr sz="2200" spc="-25" dirty="0">
                <a:solidFill>
                  <a:schemeClr val="tx1"/>
                </a:solidFill>
                <a:latin typeface="+mj-lt"/>
                <a:cs typeface="Arial" panose="020B0604020202020204" pitchFamily="34" charset="0"/>
              </a:rPr>
              <a:t> </a:t>
            </a:r>
            <a:r>
              <a:rPr sz="2200" dirty="0">
                <a:solidFill>
                  <a:schemeClr val="tx1"/>
                </a:solidFill>
                <a:latin typeface="+mj-lt"/>
                <a:cs typeface="Arial" panose="020B0604020202020204" pitchFamily="34" charset="0"/>
              </a:rPr>
              <a:t>the</a:t>
            </a:r>
            <a:r>
              <a:rPr sz="2200" spc="-34" dirty="0">
                <a:solidFill>
                  <a:schemeClr val="tx1"/>
                </a:solidFill>
                <a:latin typeface="+mj-lt"/>
                <a:cs typeface="Arial" panose="020B0604020202020204" pitchFamily="34" charset="0"/>
              </a:rPr>
              <a:t> </a:t>
            </a:r>
            <a:r>
              <a:rPr sz="2200" spc="-10" dirty="0">
                <a:solidFill>
                  <a:schemeClr val="tx1"/>
                </a:solidFill>
                <a:latin typeface="+mj-lt"/>
                <a:cs typeface="Arial" panose="020B0604020202020204" pitchFamily="34" charset="0"/>
              </a:rPr>
              <a:t>entrained </a:t>
            </a:r>
            <a:r>
              <a:rPr sz="2200" dirty="0">
                <a:solidFill>
                  <a:schemeClr val="tx1"/>
                </a:solidFill>
                <a:latin typeface="+mj-lt"/>
                <a:cs typeface="Arial" panose="020B0604020202020204" pitchFamily="34" charset="0"/>
              </a:rPr>
              <a:t>particles</a:t>
            </a:r>
            <a:r>
              <a:rPr sz="2200" spc="-34" dirty="0">
                <a:solidFill>
                  <a:schemeClr val="tx1"/>
                </a:solidFill>
                <a:latin typeface="+mj-lt"/>
                <a:cs typeface="Arial" panose="020B0604020202020204" pitchFamily="34" charset="0"/>
              </a:rPr>
              <a:t> </a:t>
            </a:r>
            <a:r>
              <a:rPr sz="2200" dirty="0">
                <a:solidFill>
                  <a:schemeClr val="tx1"/>
                </a:solidFill>
                <a:latin typeface="+mj-lt"/>
                <a:cs typeface="Arial" panose="020B0604020202020204" pitchFamily="34" charset="0"/>
              </a:rPr>
              <a:t>to</a:t>
            </a:r>
            <a:r>
              <a:rPr sz="2200" spc="-25" dirty="0">
                <a:solidFill>
                  <a:schemeClr val="tx1"/>
                </a:solidFill>
                <a:latin typeface="+mj-lt"/>
                <a:cs typeface="Arial" panose="020B0604020202020204" pitchFamily="34" charset="0"/>
              </a:rPr>
              <a:t> </a:t>
            </a:r>
            <a:r>
              <a:rPr sz="2200" dirty="0">
                <a:solidFill>
                  <a:schemeClr val="tx1"/>
                </a:solidFill>
                <a:latin typeface="+mj-lt"/>
                <a:cs typeface="Arial" panose="020B0604020202020204" pitchFamily="34" charset="0"/>
              </a:rPr>
              <a:t>impact</a:t>
            </a:r>
            <a:r>
              <a:rPr sz="2200" spc="-30" dirty="0">
                <a:solidFill>
                  <a:schemeClr val="tx1"/>
                </a:solidFill>
                <a:latin typeface="+mj-lt"/>
                <a:cs typeface="Arial" panose="020B0604020202020204" pitchFamily="34" charset="0"/>
              </a:rPr>
              <a:t> </a:t>
            </a:r>
            <a:r>
              <a:rPr sz="2200" dirty="0">
                <a:solidFill>
                  <a:schemeClr val="tx1"/>
                </a:solidFill>
                <a:latin typeface="+mj-lt"/>
                <a:cs typeface="Arial" panose="020B0604020202020204" pitchFamily="34" charset="0"/>
              </a:rPr>
              <a:t>on</a:t>
            </a:r>
            <a:r>
              <a:rPr sz="2200" spc="-25" dirty="0">
                <a:solidFill>
                  <a:schemeClr val="tx1"/>
                </a:solidFill>
                <a:latin typeface="+mj-lt"/>
                <a:cs typeface="Arial" panose="020B0604020202020204" pitchFamily="34" charset="0"/>
              </a:rPr>
              <a:t> </a:t>
            </a:r>
            <a:r>
              <a:rPr sz="2200" dirty="0">
                <a:solidFill>
                  <a:schemeClr val="tx1"/>
                </a:solidFill>
                <a:latin typeface="+mj-lt"/>
                <a:cs typeface="Arial" panose="020B0604020202020204" pitchFamily="34" charset="0"/>
              </a:rPr>
              <a:t>the</a:t>
            </a:r>
            <a:r>
              <a:rPr sz="2200" spc="-25" dirty="0">
                <a:solidFill>
                  <a:schemeClr val="tx1"/>
                </a:solidFill>
                <a:latin typeface="+mj-lt"/>
                <a:cs typeface="Arial" panose="020B0604020202020204" pitchFamily="34" charset="0"/>
              </a:rPr>
              <a:t> </a:t>
            </a:r>
            <a:r>
              <a:rPr sz="2200" dirty="0">
                <a:solidFill>
                  <a:schemeClr val="tx1"/>
                </a:solidFill>
                <a:latin typeface="+mj-lt"/>
                <a:cs typeface="Arial" panose="020B0604020202020204" pitchFamily="34" charset="0"/>
              </a:rPr>
              <a:t>filter</a:t>
            </a:r>
            <a:r>
              <a:rPr sz="2200" spc="-20" dirty="0">
                <a:solidFill>
                  <a:schemeClr val="tx1"/>
                </a:solidFill>
                <a:latin typeface="+mj-lt"/>
                <a:cs typeface="Arial" panose="020B0604020202020204" pitchFamily="34" charset="0"/>
              </a:rPr>
              <a:t> </a:t>
            </a:r>
            <a:r>
              <a:rPr sz="2200" spc="-10" dirty="0">
                <a:solidFill>
                  <a:schemeClr val="tx1"/>
                </a:solidFill>
                <a:latin typeface="+mj-lt"/>
                <a:cs typeface="Arial" panose="020B0604020202020204" pitchFamily="34" charset="0"/>
              </a:rPr>
              <a:t>material.</a:t>
            </a:r>
            <a:endParaRPr sz="2200" dirty="0">
              <a:solidFill>
                <a:schemeClr val="tx1"/>
              </a:solidFill>
              <a:latin typeface="+mj-lt"/>
              <a:cs typeface="Arial" panose="020B0604020202020204" pitchFamily="34" charset="0"/>
            </a:endParaRPr>
          </a:p>
          <a:p>
            <a:pPr marL="241306" marR="314333" indent="-228606">
              <a:lnSpc>
                <a:spcPct val="128000"/>
              </a:lnSpc>
              <a:spcBef>
                <a:spcPts val="1045"/>
              </a:spcBef>
              <a:buChar char="•"/>
              <a:tabLst>
                <a:tab pos="241306" algn="l"/>
                <a:tab pos="297188" algn="l"/>
              </a:tabLst>
            </a:pPr>
            <a:r>
              <a:rPr sz="2200" dirty="0">
                <a:solidFill>
                  <a:schemeClr val="tx1"/>
                </a:solidFill>
                <a:latin typeface="+mj-lt"/>
                <a:cs typeface="Arial" panose="020B0604020202020204" pitchFamily="34" charset="0"/>
              </a:rPr>
              <a:t>	A</a:t>
            </a:r>
            <a:r>
              <a:rPr sz="2200" spc="-126" dirty="0">
                <a:solidFill>
                  <a:schemeClr val="tx1"/>
                </a:solidFill>
                <a:latin typeface="+mj-lt"/>
                <a:cs typeface="Arial" panose="020B0604020202020204" pitchFamily="34" charset="0"/>
              </a:rPr>
              <a:t> </a:t>
            </a:r>
            <a:r>
              <a:rPr sz="2200" dirty="0">
                <a:solidFill>
                  <a:schemeClr val="tx1"/>
                </a:solidFill>
                <a:latin typeface="+mj-lt"/>
                <a:cs typeface="Arial" panose="020B0604020202020204" pitchFamily="34" charset="0"/>
              </a:rPr>
              <a:t>typical</a:t>
            </a:r>
            <a:r>
              <a:rPr sz="2200" spc="-30" dirty="0">
                <a:solidFill>
                  <a:schemeClr val="tx1"/>
                </a:solidFill>
                <a:latin typeface="+mj-lt"/>
                <a:cs typeface="Arial" panose="020B0604020202020204" pitchFamily="34" charset="0"/>
              </a:rPr>
              <a:t> </a:t>
            </a:r>
            <a:r>
              <a:rPr sz="2200" b="1" dirty="0">
                <a:solidFill>
                  <a:schemeClr val="tx1"/>
                </a:solidFill>
                <a:latin typeface="+mj-lt"/>
                <a:cs typeface="Arial" panose="020B0604020202020204" pitchFamily="34" charset="0"/>
              </a:rPr>
              <a:t>glass</a:t>
            </a:r>
            <a:r>
              <a:rPr sz="2200" b="1" spc="-25" dirty="0">
                <a:solidFill>
                  <a:schemeClr val="tx1"/>
                </a:solidFill>
                <a:latin typeface="+mj-lt"/>
                <a:cs typeface="Arial" panose="020B0604020202020204" pitchFamily="34" charset="0"/>
              </a:rPr>
              <a:t> </a:t>
            </a:r>
            <a:r>
              <a:rPr sz="2200" b="1" dirty="0">
                <a:solidFill>
                  <a:schemeClr val="tx1"/>
                </a:solidFill>
                <a:latin typeface="+mj-lt"/>
                <a:cs typeface="Arial" panose="020B0604020202020204" pitchFamily="34" charset="0"/>
              </a:rPr>
              <a:t>fibre</a:t>
            </a:r>
            <a:r>
              <a:rPr sz="2200" b="1" spc="-30" dirty="0">
                <a:solidFill>
                  <a:schemeClr val="tx1"/>
                </a:solidFill>
                <a:latin typeface="+mj-lt"/>
                <a:cs typeface="Arial" panose="020B0604020202020204" pitchFamily="34" charset="0"/>
              </a:rPr>
              <a:t> </a:t>
            </a:r>
            <a:r>
              <a:rPr sz="2200" b="1" dirty="0">
                <a:solidFill>
                  <a:schemeClr val="tx1"/>
                </a:solidFill>
                <a:latin typeface="+mj-lt"/>
                <a:cs typeface="Arial" panose="020B0604020202020204" pitchFamily="34" charset="0"/>
              </a:rPr>
              <a:t>filter</a:t>
            </a:r>
            <a:r>
              <a:rPr sz="2200" b="1" spc="-25" dirty="0">
                <a:solidFill>
                  <a:schemeClr val="tx1"/>
                </a:solidFill>
                <a:latin typeface="+mj-lt"/>
                <a:cs typeface="Arial" panose="020B0604020202020204" pitchFamily="34" charset="0"/>
              </a:rPr>
              <a:t> </a:t>
            </a:r>
            <a:r>
              <a:rPr sz="2200" dirty="0">
                <a:solidFill>
                  <a:schemeClr val="tx1"/>
                </a:solidFill>
                <a:latin typeface="+mj-lt"/>
                <a:cs typeface="Arial" panose="020B0604020202020204" pitchFamily="34" charset="0"/>
              </a:rPr>
              <a:t>used</a:t>
            </a:r>
            <a:r>
              <a:rPr sz="2200" spc="-34" dirty="0">
                <a:solidFill>
                  <a:schemeClr val="tx1"/>
                </a:solidFill>
                <a:latin typeface="+mj-lt"/>
                <a:cs typeface="Arial" panose="020B0604020202020204" pitchFamily="34" charset="0"/>
              </a:rPr>
              <a:t> </a:t>
            </a:r>
            <a:r>
              <a:rPr sz="2200" dirty="0">
                <a:solidFill>
                  <a:schemeClr val="tx1"/>
                </a:solidFill>
                <a:latin typeface="+mj-lt"/>
                <a:cs typeface="Arial" panose="020B0604020202020204" pitchFamily="34" charset="0"/>
              </a:rPr>
              <a:t>in</a:t>
            </a:r>
            <a:r>
              <a:rPr sz="2200" spc="-15" dirty="0">
                <a:solidFill>
                  <a:schemeClr val="tx1"/>
                </a:solidFill>
                <a:latin typeface="+mj-lt"/>
                <a:cs typeface="Arial" panose="020B0604020202020204" pitchFamily="34" charset="0"/>
              </a:rPr>
              <a:t> </a:t>
            </a:r>
            <a:r>
              <a:rPr sz="2200" dirty="0">
                <a:solidFill>
                  <a:schemeClr val="tx1"/>
                </a:solidFill>
                <a:latin typeface="+mj-lt"/>
                <a:cs typeface="Arial" panose="020B0604020202020204" pitchFamily="34" charset="0"/>
              </a:rPr>
              <a:t>the</a:t>
            </a:r>
            <a:r>
              <a:rPr sz="2200" spc="-10" dirty="0">
                <a:solidFill>
                  <a:schemeClr val="tx1"/>
                </a:solidFill>
                <a:latin typeface="+mj-lt"/>
                <a:cs typeface="Arial" panose="020B0604020202020204" pitchFamily="34" charset="0"/>
              </a:rPr>
              <a:t> </a:t>
            </a:r>
            <a:r>
              <a:rPr sz="2200" dirty="0">
                <a:solidFill>
                  <a:schemeClr val="tx1"/>
                </a:solidFill>
                <a:latin typeface="+mj-lt"/>
                <a:cs typeface="Arial" panose="020B0604020202020204" pitchFamily="34" charset="0"/>
              </a:rPr>
              <a:t>air</a:t>
            </a:r>
            <a:r>
              <a:rPr sz="2200" spc="-30" dirty="0">
                <a:solidFill>
                  <a:schemeClr val="tx1"/>
                </a:solidFill>
                <a:latin typeface="+mj-lt"/>
                <a:cs typeface="Arial" panose="020B0604020202020204" pitchFamily="34" charset="0"/>
              </a:rPr>
              <a:t> </a:t>
            </a:r>
            <a:r>
              <a:rPr sz="2200" dirty="0">
                <a:solidFill>
                  <a:schemeClr val="tx1"/>
                </a:solidFill>
                <a:latin typeface="+mj-lt"/>
                <a:cs typeface="Arial" panose="020B0604020202020204" pitchFamily="34" charset="0"/>
              </a:rPr>
              <a:t>samplers</a:t>
            </a:r>
            <a:r>
              <a:rPr sz="2200" spc="-46" dirty="0">
                <a:solidFill>
                  <a:schemeClr val="tx1"/>
                </a:solidFill>
                <a:latin typeface="+mj-lt"/>
                <a:cs typeface="Arial" panose="020B0604020202020204" pitchFamily="34" charset="0"/>
              </a:rPr>
              <a:t> </a:t>
            </a:r>
            <a:r>
              <a:rPr sz="2200" dirty="0">
                <a:solidFill>
                  <a:schemeClr val="tx1"/>
                </a:solidFill>
                <a:latin typeface="+mj-lt"/>
                <a:cs typeface="Arial" panose="020B0604020202020204" pitchFamily="34" charset="0"/>
              </a:rPr>
              <a:t>has</a:t>
            </a:r>
            <a:r>
              <a:rPr sz="2200" spc="-41" dirty="0">
                <a:solidFill>
                  <a:schemeClr val="tx1"/>
                </a:solidFill>
                <a:latin typeface="+mj-lt"/>
                <a:cs typeface="Arial" panose="020B0604020202020204" pitchFamily="34" charset="0"/>
              </a:rPr>
              <a:t> </a:t>
            </a:r>
            <a:r>
              <a:rPr sz="2200" dirty="0">
                <a:solidFill>
                  <a:schemeClr val="tx1"/>
                </a:solidFill>
                <a:latin typeface="+mj-lt"/>
                <a:cs typeface="Arial" panose="020B0604020202020204" pitchFamily="34" charset="0"/>
              </a:rPr>
              <a:t>an</a:t>
            </a:r>
            <a:r>
              <a:rPr sz="2200" spc="-25" dirty="0">
                <a:solidFill>
                  <a:schemeClr val="tx1"/>
                </a:solidFill>
                <a:latin typeface="+mj-lt"/>
                <a:cs typeface="Arial" panose="020B0604020202020204" pitchFamily="34" charset="0"/>
              </a:rPr>
              <a:t> </a:t>
            </a:r>
            <a:r>
              <a:rPr sz="2200" dirty="0">
                <a:solidFill>
                  <a:schemeClr val="tx1"/>
                </a:solidFill>
                <a:latin typeface="+mj-lt"/>
                <a:cs typeface="Arial" panose="020B0604020202020204" pitchFamily="34" charset="0"/>
              </a:rPr>
              <a:t>efficiency</a:t>
            </a:r>
            <a:r>
              <a:rPr sz="2200" spc="-34" dirty="0">
                <a:solidFill>
                  <a:schemeClr val="tx1"/>
                </a:solidFill>
                <a:latin typeface="+mj-lt"/>
                <a:cs typeface="Arial" panose="020B0604020202020204" pitchFamily="34" charset="0"/>
              </a:rPr>
              <a:t> </a:t>
            </a:r>
            <a:r>
              <a:rPr sz="2200" dirty="0">
                <a:solidFill>
                  <a:schemeClr val="tx1"/>
                </a:solidFill>
                <a:latin typeface="+mj-lt"/>
                <a:cs typeface="Arial" panose="020B0604020202020204" pitchFamily="34" charset="0"/>
              </a:rPr>
              <a:t>of</a:t>
            </a:r>
            <a:r>
              <a:rPr sz="2200" spc="-34" dirty="0">
                <a:solidFill>
                  <a:schemeClr val="tx1"/>
                </a:solidFill>
                <a:latin typeface="+mj-lt"/>
                <a:cs typeface="Arial" panose="020B0604020202020204" pitchFamily="34" charset="0"/>
              </a:rPr>
              <a:t> </a:t>
            </a:r>
            <a:r>
              <a:rPr sz="2200" dirty="0">
                <a:solidFill>
                  <a:schemeClr val="tx1"/>
                </a:solidFill>
                <a:latin typeface="+mj-lt"/>
                <a:cs typeface="Arial" panose="020B0604020202020204" pitchFamily="34" charset="0"/>
              </a:rPr>
              <a:t>over</a:t>
            </a:r>
            <a:r>
              <a:rPr sz="2200" spc="-25" dirty="0">
                <a:solidFill>
                  <a:schemeClr val="tx1"/>
                </a:solidFill>
                <a:latin typeface="+mj-lt"/>
                <a:cs typeface="Arial" panose="020B0604020202020204" pitchFamily="34" charset="0"/>
              </a:rPr>
              <a:t> </a:t>
            </a:r>
            <a:r>
              <a:rPr sz="2200" b="1" dirty="0">
                <a:solidFill>
                  <a:schemeClr val="tx1"/>
                </a:solidFill>
                <a:latin typeface="+mj-lt"/>
                <a:cs typeface="Arial" panose="020B0604020202020204" pitchFamily="34" charset="0"/>
              </a:rPr>
              <a:t>99</a:t>
            </a:r>
            <a:r>
              <a:rPr sz="2200" b="1" spc="-15" dirty="0">
                <a:solidFill>
                  <a:schemeClr val="tx1"/>
                </a:solidFill>
                <a:latin typeface="+mj-lt"/>
                <a:cs typeface="Arial" panose="020B0604020202020204" pitchFamily="34" charset="0"/>
              </a:rPr>
              <a:t> </a:t>
            </a:r>
            <a:r>
              <a:rPr sz="2200" b="1" dirty="0">
                <a:solidFill>
                  <a:schemeClr val="tx1"/>
                </a:solidFill>
                <a:latin typeface="+mj-lt"/>
                <a:cs typeface="Arial" panose="020B0604020202020204" pitchFamily="34" charset="0"/>
              </a:rPr>
              <a:t>per</a:t>
            </a:r>
            <a:r>
              <a:rPr sz="2200" b="1" spc="-34" dirty="0">
                <a:solidFill>
                  <a:schemeClr val="tx1"/>
                </a:solidFill>
                <a:latin typeface="+mj-lt"/>
                <a:cs typeface="Arial" panose="020B0604020202020204" pitchFamily="34" charset="0"/>
              </a:rPr>
              <a:t> </a:t>
            </a:r>
            <a:r>
              <a:rPr sz="2200" b="1" dirty="0">
                <a:solidFill>
                  <a:schemeClr val="tx1"/>
                </a:solidFill>
                <a:latin typeface="+mj-lt"/>
                <a:cs typeface="Arial" panose="020B0604020202020204" pitchFamily="34" charset="0"/>
              </a:rPr>
              <a:t>cent</a:t>
            </a:r>
            <a:r>
              <a:rPr sz="2200" b="1" spc="-46" dirty="0">
                <a:solidFill>
                  <a:schemeClr val="tx1"/>
                </a:solidFill>
                <a:latin typeface="+mj-lt"/>
                <a:cs typeface="Arial" panose="020B0604020202020204" pitchFamily="34" charset="0"/>
              </a:rPr>
              <a:t> </a:t>
            </a:r>
            <a:r>
              <a:rPr sz="2200" b="1" spc="-25" dirty="0">
                <a:solidFill>
                  <a:schemeClr val="tx1"/>
                </a:solidFill>
                <a:latin typeface="+mj-lt"/>
                <a:cs typeface="Arial" panose="020B0604020202020204" pitchFamily="34" charset="0"/>
              </a:rPr>
              <a:t>for </a:t>
            </a:r>
            <a:r>
              <a:rPr sz="2200" b="1" dirty="0">
                <a:solidFill>
                  <a:schemeClr val="tx1"/>
                </a:solidFill>
                <a:latin typeface="+mj-lt"/>
                <a:cs typeface="Arial" panose="020B0604020202020204" pitchFamily="34" charset="0"/>
              </a:rPr>
              <a:t>particles</a:t>
            </a:r>
            <a:r>
              <a:rPr sz="2200" b="1" spc="-34" dirty="0">
                <a:solidFill>
                  <a:schemeClr val="tx1"/>
                </a:solidFill>
                <a:latin typeface="+mj-lt"/>
                <a:cs typeface="Arial" panose="020B0604020202020204" pitchFamily="34" charset="0"/>
              </a:rPr>
              <a:t> </a:t>
            </a:r>
            <a:r>
              <a:rPr sz="2200" b="1" dirty="0">
                <a:solidFill>
                  <a:schemeClr val="tx1"/>
                </a:solidFill>
                <a:latin typeface="+mj-lt"/>
                <a:cs typeface="Arial" panose="020B0604020202020204" pitchFamily="34" charset="0"/>
              </a:rPr>
              <a:t>of</a:t>
            </a:r>
            <a:r>
              <a:rPr sz="2200" b="1" spc="-25" dirty="0">
                <a:solidFill>
                  <a:schemeClr val="tx1"/>
                </a:solidFill>
                <a:latin typeface="+mj-lt"/>
                <a:cs typeface="Arial" panose="020B0604020202020204" pitchFamily="34" charset="0"/>
              </a:rPr>
              <a:t> </a:t>
            </a:r>
            <a:r>
              <a:rPr sz="2200" b="1" dirty="0">
                <a:solidFill>
                  <a:schemeClr val="tx1"/>
                </a:solidFill>
                <a:latin typeface="+mj-lt"/>
                <a:cs typeface="Arial" panose="020B0604020202020204" pitchFamily="34" charset="0"/>
              </a:rPr>
              <a:t>size</a:t>
            </a:r>
            <a:r>
              <a:rPr sz="2200" b="1" spc="-20" dirty="0">
                <a:solidFill>
                  <a:schemeClr val="tx1"/>
                </a:solidFill>
                <a:latin typeface="+mj-lt"/>
                <a:cs typeface="Arial" panose="020B0604020202020204" pitchFamily="34" charset="0"/>
              </a:rPr>
              <a:t> </a:t>
            </a:r>
            <a:r>
              <a:rPr sz="2200" b="1" dirty="0">
                <a:solidFill>
                  <a:schemeClr val="tx1"/>
                </a:solidFill>
                <a:latin typeface="+mj-lt"/>
                <a:cs typeface="Arial" panose="020B0604020202020204" pitchFamily="34" charset="0"/>
              </a:rPr>
              <a:t>0.3</a:t>
            </a:r>
            <a:r>
              <a:rPr sz="2200" b="1" spc="-15" dirty="0">
                <a:solidFill>
                  <a:schemeClr val="tx1"/>
                </a:solidFill>
                <a:latin typeface="+mj-lt"/>
                <a:cs typeface="Arial" panose="020B0604020202020204" pitchFamily="34" charset="0"/>
              </a:rPr>
              <a:t> </a:t>
            </a:r>
            <a:r>
              <a:rPr sz="2200" b="1" i="1" dirty="0">
                <a:solidFill>
                  <a:schemeClr val="tx1"/>
                </a:solidFill>
                <a:latin typeface="+mj-lt"/>
                <a:cs typeface="Arial" panose="020B0604020202020204" pitchFamily="34" charset="0"/>
              </a:rPr>
              <a:t>µ</a:t>
            </a:r>
            <a:r>
              <a:rPr sz="2200" b="1" dirty="0">
                <a:solidFill>
                  <a:schemeClr val="tx1"/>
                </a:solidFill>
                <a:latin typeface="+mj-lt"/>
                <a:cs typeface="Arial" panose="020B0604020202020204" pitchFamily="34" charset="0"/>
              </a:rPr>
              <a:t>m</a:t>
            </a:r>
            <a:r>
              <a:rPr sz="2200" b="1" spc="-34" dirty="0">
                <a:solidFill>
                  <a:schemeClr val="tx1"/>
                </a:solidFill>
                <a:latin typeface="+mj-lt"/>
                <a:cs typeface="Arial" panose="020B0604020202020204" pitchFamily="34" charset="0"/>
              </a:rPr>
              <a:t> </a:t>
            </a:r>
            <a:r>
              <a:rPr sz="2200" dirty="0">
                <a:solidFill>
                  <a:schemeClr val="tx1"/>
                </a:solidFill>
                <a:latin typeface="+mj-lt"/>
                <a:cs typeface="Arial" panose="020B0604020202020204" pitchFamily="34" charset="0"/>
              </a:rPr>
              <a:t>and</a:t>
            </a:r>
            <a:r>
              <a:rPr sz="2200" spc="-20" dirty="0">
                <a:solidFill>
                  <a:schemeClr val="tx1"/>
                </a:solidFill>
                <a:latin typeface="+mj-lt"/>
                <a:cs typeface="Arial" panose="020B0604020202020204" pitchFamily="34" charset="0"/>
              </a:rPr>
              <a:t> </a:t>
            </a:r>
            <a:r>
              <a:rPr sz="2200" dirty="0">
                <a:solidFill>
                  <a:schemeClr val="tx1"/>
                </a:solidFill>
                <a:latin typeface="+mj-lt"/>
                <a:cs typeface="Arial" panose="020B0604020202020204" pitchFamily="34" charset="0"/>
              </a:rPr>
              <a:t>it</a:t>
            </a:r>
            <a:r>
              <a:rPr sz="2200" spc="-20" dirty="0">
                <a:solidFill>
                  <a:schemeClr val="tx1"/>
                </a:solidFill>
                <a:latin typeface="+mj-lt"/>
                <a:cs typeface="Arial" panose="020B0604020202020204" pitchFamily="34" charset="0"/>
              </a:rPr>
              <a:t> </a:t>
            </a:r>
            <a:r>
              <a:rPr sz="2200" dirty="0">
                <a:solidFill>
                  <a:schemeClr val="tx1"/>
                </a:solidFill>
                <a:latin typeface="+mj-lt"/>
                <a:cs typeface="Arial" panose="020B0604020202020204" pitchFamily="34" charset="0"/>
              </a:rPr>
              <a:t>is</a:t>
            </a:r>
            <a:r>
              <a:rPr sz="2200" spc="-5" dirty="0">
                <a:solidFill>
                  <a:schemeClr val="tx1"/>
                </a:solidFill>
                <a:latin typeface="+mj-lt"/>
                <a:cs typeface="Arial" panose="020B0604020202020204" pitchFamily="34" charset="0"/>
              </a:rPr>
              <a:t> </a:t>
            </a:r>
            <a:r>
              <a:rPr sz="2200" b="1" dirty="0">
                <a:solidFill>
                  <a:schemeClr val="tx1"/>
                </a:solidFill>
                <a:latin typeface="+mj-lt"/>
                <a:cs typeface="Arial" panose="020B0604020202020204" pitchFamily="34" charset="0"/>
              </a:rPr>
              <a:t>moderately</a:t>
            </a:r>
            <a:r>
              <a:rPr sz="2200" b="1" spc="-46" dirty="0">
                <a:solidFill>
                  <a:schemeClr val="tx1"/>
                </a:solidFill>
                <a:latin typeface="+mj-lt"/>
                <a:cs typeface="Arial" panose="020B0604020202020204" pitchFamily="34" charset="0"/>
              </a:rPr>
              <a:t> </a:t>
            </a:r>
            <a:r>
              <a:rPr sz="2200" b="1" dirty="0">
                <a:solidFill>
                  <a:schemeClr val="tx1"/>
                </a:solidFill>
                <a:latin typeface="+mj-lt"/>
                <a:cs typeface="Arial" panose="020B0604020202020204" pitchFamily="34" charset="0"/>
              </a:rPr>
              <a:t>effective</a:t>
            </a:r>
            <a:r>
              <a:rPr sz="2200" b="1" spc="-41" dirty="0">
                <a:solidFill>
                  <a:schemeClr val="tx1"/>
                </a:solidFill>
                <a:latin typeface="+mj-lt"/>
                <a:cs typeface="Arial" panose="020B0604020202020204" pitchFamily="34" charset="0"/>
              </a:rPr>
              <a:t> </a:t>
            </a:r>
            <a:r>
              <a:rPr sz="2200" b="1" dirty="0">
                <a:solidFill>
                  <a:schemeClr val="tx1"/>
                </a:solidFill>
                <a:latin typeface="+mj-lt"/>
                <a:cs typeface="Arial" panose="020B0604020202020204" pitchFamily="34" charset="0"/>
              </a:rPr>
              <a:t>for</a:t>
            </a:r>
            <a:r>
              <a:rPr sz="2200" b="1" spc="-20" dirty="0">
                <a:solidFill>
                  <a:schemeClr val="tx1"/>
                </a:solidFill>
                <a:latin typeface="+mj-lt"/>
                <a:cs typeface="Arial" panose="020B0604020202020204" pitchFamily="34" charset="0"/>
              </a:rPr>
              <a:t> </a:t>
            </a:r>
            <a:r>
              <a:rPr sz="2200" b="1" dirty="0">
                <a:solidFill>
                  <a:schemeClr val="tx1"/>
                </a:solidFill>
                <a:latin typeface="+mj-lt"/>
                <a:cs typeface="Arial" panose="020B0604020202020204" pitchFamily="34" charset="0"/>
              </a:rPr>
              <a:t>trapping</a:t>
            </a:r>
            <a:r>
              <a:rPr sz="2200" b="1" spc="-30" dirty="0">
                <a:solidFill>
                  <a:schemeClr val="tx1"/>
                </a:solidFill>
                <a:latin typeface="+mj-lt"/>
                <a:cs typeface="Arial" panose="020B0604020202020204" pitchFamily="34" charset="0"/>
              </a:rPr>
              <a:t> </a:t>
            </a:r>
            <a:r>
              <a:rPr sz="2200" b="1" dirty="0">
                <a:solidFill>
                  <a:schemeClr val="tx1"/>
                </a:solidFill>
                <a:latin typeface="+mj-lt"/>
                <a:cs typeface="Arial" panose="020B0604020202020204" pitchFamily="34" charset="0"/>
              </a:rPr>
              <a:t>particles</a:t>
            </a:r>
            <a:r>
              <a:rPr sz="2200" b="1" spc="-30" dirty="0">
                <a:solidFill>
                  <a:schemeClr val="tx1"/>
                </a:solidFill>
                <a:latin typeface="+mj-lt"/>
                <a:cs typeface="Arial" panose="020B0604020202020204" pitchFamily="34" charset="0"/>
              </a:rPr>
              <a:t> </a:t>
            </a:r>
            <a:r>
              <a:rPr sz="2200" b="1" dirty="0">
                <a:solidFill>
                  <a:schemeClr val="tx1"/>
                </a:solidFill>
                <a:latin typeface="+mj-lt"/>
                <a:cs typeface="Arial" panose="020B0604020202020204" pitchFamily="34" charset="0"/>
              </a:rPr>
              <a:t>of</a:t>
            </a:r>
            <a:r>
              <a:rPr sz="2200" b="1" spc="-25" dirty="0">
                <a:solidFill>
                  <a:schemeClr val="tx1"/>
                </a:solidFill>
                <a:latin typeface="+mj-lt"/>
                <a:cs typeface="Arial" panose="020B0604020202020204" pitchFamily="34" charset="0"/>
              </a:rPr>
              <a:t> </a:t>
            </a:r>
            <a:r>
              <a:rPr sz="2200" b="1" dirty="0">
                <a:solidFill>
                  <a:schemeClr val="tx1"/>
                </a:solidFill>
                <a:latin typeface="+mj-lt"/>
                <a:cs typeface="Arial" panose="020B0604020202020204" pitchFamily="34" charset="0"/>
              </a:rPr>
              <a:t>as</a:t>
            </a:r>
            <a:r>
              <a:rPr sz="2200" b="1" spc="-20" dirty="0">
                <a:solidFill>
                  <a:schemeClr val="tx1"/>
                </a:solidFill>
                <a:latin typeface="+mj-lt"/>
                <a:cs typeface="Arial" panose="020B0604020202020204" pitchFamily="34" charset="0"/>
              </a:rPr>
              <a:t> </a:t>
            </a:r>
            <a:r>
              <a:rPr sz="2200" b="1" dirty="0">
                <a:solidFill>
                  <a:schemeClr val="tx1"/>
                </a:solidFill>
                <a:latin typeface="+mj-lt"/>
                <a:cs typeface="Arial" panose="020B0604020202020204" pitchFamily="34" charset="0"/>
              </a:rPr>
              <a:t>small</a:t>
            </a:r>
            <a:r>
              <a:rPr sz="2200" b="1" spc="-25" dirty="0">
                <a:solidFill>
                  <a:schemeClr val="tx1"/>
                </a:solidFill>
                <a:latin typeface="+mj-lt"/>
                <a:cs typeface="Arial" panose="020B0604020202020204" pitchFamily="34" charset="0"/>
              </a:rPr>
              <a:t> </a:t>
            </a:r>
            <a:r>
              <a:rPr sz="2200" b="1" dirty="0">
                <a:solidFill>
                  <a:schemeClr val="tx1"/>
                </a:solidFill>
                <a:latin typeface="+mj-lt"/>
                <a:cs typeface="Arial" panose="020B0604020202020204" pitchFamily="34" charset="0"/>
              </a:rPr>
              <a:t>size</a:t>
            </a:r>
            <a:r>
              <a:rPr sz="2200" b="1" spc="-20" dirty="0">
                <a:solidFill>
                  <a:schemeClr val="tx1"/>
                </a:solidFill>
                <a:latin typeface="+mj-lt"/>
                <a:cs typeface="Arial" panose="020B0604020202020204" pitchFamily="34" charset="0"/>
              </a:rPr>
              <a:t> </a:t>
            </a:r>
            <a:r>
              <a:rPr sz="2200" b="1" spc="-25" dirty="0">
                <a:solidFill>
                  <a:schemeClr val="tx1"/>
                </a:solidFill>
                <a:latin typeface="+mj-lt"/>
                <a:cs typeface="Arial" panose="020B0604020202020204" pitchFamily="34" charset="0"/>
              </a:rPr>
              <a:t>as</a:t>
            </a:r>
            <a:r>
              <a:rPr lang="en-IN" sz="2200" b="1" spc="-25" dirty="0">
                <a:solidFill>
                  <a:schemeClr val="tx1"/>
                </a:solidFill>
                <a:latin typeface="+mj-lt"/>
                <a:cs typeface="Arial" panose="020B0604020202020204" pitchFamily="34" charset="0"/>
              </a:rPr>
              <a:t> </a:t>
            </a:r>
            <a:r>
              <a:rPr sz="2200" b="1" dirty="0">
                <a:solidFill>
                  <a:schemeClr val="tx1"/>
                </a:solidFill>
                <a:latin typeface="+mj-lt"/>
                <a:cs typeface="Arial" panose="020B0604020202020204" pitchFamily="34" charset="0"/>
              </a:rPr>
              <a:t>0.05</a:t>
            </a:r>
            <a:r>
              <a:rPr sz="2200" b="1" spc="15" dirty="0">
                <a:solidFill>
                  <a:schemeClr val="tx1"/>
                </a:solidFill>
                <a:latin typeface="+mj-lt"/>
                <a:cs typeface="Arial" panose="020B0604020202020204" pitchFamily="34" charset="0"/>
              </a:rPr>
              <a:t> </a:t>
            </a:r>
            <a:r>
              <a:rPr sz="2200" b="1" i="1" dirty="0">
                <a:solidFill>
                  <a:schemeClr val="tx1"/>
                </a:solidFill>
                <a:latin typeface="+mj-lt"/>
                <a:cs typeface="Arial" panose="020B0604020202020204" pitchFamily="34" charset="0"/>
              </a:rPr>
              <a:t>µ</a:t>
            </a:r>
            <a:r>
              <a:rPr sz="2200" b="1" dirty="0">
                <a:solidFill>
                  <a:schemeClr val="tx1"/>
                </a:solidFill>
                <a:latin typeface="+mj-lt"/>
                <a:cs typeface="Arial" panose="020B0604020202020204" pitchFamily="34" charset="0"/>
              </a:rPr>
              <a:t>m.</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70371" y="133352"/>
            <a:ext cx="7600956" cy="1384865"/>
          </a:xfrm>
          <a:prstGeom prst="rect">
            <a:avLst/>
          </a:prstGeom>
        </p:spPr>
        <p:txBody>
          <a:bodyPr vert="horz" wrap="square" lIns="0" tIns="396112" rIns="0" bIns="0" rtlCol="0">
            <a:spAutoFit/>
          </a:bodyPr>
          <a:lstStyle/>
          <a:p>
            <a:pPr marL="131448">
              <a:spcBef>
                <a:spcPts val="105"/>
              </a:spcBef>
            </a:pPr>
            <a:r>
              <a:rPr spc="-10" dirty="0"/>
              <a:t>High-</a:t>
            </a:r>
            <a:r>
              <a:rPr dirty="0"/>
              <a:t>volume</a:t>
            </a:r>
            <a:r>
              <a:rPr spc="-55" dirty="0"/>
              <a:t> </a:t>
            </a:r>
            <a:r>
              <a:rPr dirty="0"/>
              <a:t>Filtration</a:t>
            </a:r>
            <a:r>
              <a:rPr spc="-25" dirty="0"/>
              <a:t> </a:t>
            </a:r>
            <a:r>
              <a:rPr dirty="0"/>
              <a:t>(The</a:t>
            </a:r>
            <a:r>
              <a:rPr spc="-15" dirty="0"/>
              <a:t> </a:t>
            </a:r>
            <a:r>
              <a:rPr spc="-20" dirty="0"/>
              <a:t>hi-</a:t>
            </a:r>
            <a:r>
              <a:rPr dirty="0"/>
              <a:t>vol.</a:t>
            </a:r>
            <a:r>
              <a:rPr spc="-15" dirty="0"/>
              <a:t> </a:t>
            </a:r>
            <a:r>
              <a:rPr spc="-10" dirty="0"/>
              <a:t>sampler)</a:t>
            </a:r>
          </a:p>
        </p:txBody>
      </p:sp>
      <p:pic>
        <p:nvPicPr>
          <p:cNvPr id="3" name="object 3"/>
          <p:cNvPicPr/>
          <p:nvPr/>
        </p:nvPicPr>
        <p:blipFill>
          <a:blip r:embed="rId3" cstate="print"/>
          <a:stretch>
            <a:fillRect/>
          </a:stretch>
        </p:blipFill>
        <p:spPr>
          <a:xfrm>
            <a:off x="1066927" y="1447630"/>
            <a:ext cx="4193209" cy="4059090"/>
          </a:xfrm>
          <a:prstGeom prst="rect">
            <a:avLst/>
          </a:prstGeom>
        </p:spPr>
      </p:pic>
      <p:sp>
        <p:nvSpPr>
          <p:cNvPr id="6" name="Content Placeholder 5"/>
          <p:cNvSpPr>
            <a:spLocks noGrp="1"/>
          </p:cNvSpPr>
          <p:nvPr>
            <p:ph sz="half" idx="3"/>
          </p:nvPr>
        </p:nvSpPr>
        <p:spPr/>
        <p:txBody>
          <a:bodyPr/>
          <a:lstStyle/>
          <a:p>
            <a:endParaRPr lang="en-US"/>
          </a:p>
        </p:txBody>
      </p:sp>
      <p:sp>
        <p:nvSpPr>
          <p:cNvPr id="4" name="object 4"/>
          <p:cNvSpPr txBox="1">
            <a:spLocks noGrp="1"/>
          </p:cNvSpPr>
          <p:nvPr>
            <p:ph type="sldNum" sz="quarter" idx="7"/>
          </p:nvPr>
        </p:nvSpPr>
        <p:spPr>
          <a:xfrm>
            <a:off x="8993409" y="6464911"/>
            <a:ext cx="198636" cy="156068"/>
          </a:xfrm>
          <a:prstGeom prst="rect">
            <a:avLst/>
          </a:prstGeom>
        </p:spPr>
        <p:txBody>
          <a:bodyPr vert="horz" wrap="square" lIns="0" tIns="0" rIns="0" bIns="0" rtlCol="0">
            <a:spAutoFit/>
          </a:bodyPr>
          <a:lstStyle/>
          <a:p>
            <a:pPr marL="38101">
              <a:lnSpc>
                <a:spcPts val="1239"/>
              </a:lnSpc>
            </a:pPr>
            <a:fld id="{81D60167-4931-47E6-BA6A-407CBD079E47}" type="slidenum">
              <a:rPr spc="-25" dirty="0"/>
              <a:pPr marL="38101">
                <a:lnSpc>
                  <a:spcPts val="1239"/>
                </a:lnSpc>
              </a:pPr>
              <a:t>33</a:t>
            </a:fld>
            <a:endParaRPr spc="-25" dirty="0"/>
          </a:p>
        </p:txBody>
      </p:sp>
      <p:pic>
        <p:nvPicPr>
          <p:cNvPr id="5" name="Content Placeholder 4"/>
          <p:cNvPicPr>
            <a:picLocks noGrp="1" noChangeAspect="1"/>
          </p:cNvPicPr>
          <p:nvPr>
            <p:ph sz="half" idx="2"/>
          </p:nvPr>
        </p:nvPicPr>
        <p:blipFill>
          <a:blip r:embed="rId4"/>
          <a:stretch>
            <a:fillRect/>
          </a:stretch>
        </p:blipFill>
        <p:spPr>
          <a:xfrm>
            <a:off x="6172200" y="2409190"/>
            <a:ext cx="5234940" cy="274320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xfrm>
            <a:off x="8993409" y="6464911"/>
            <a:ext cx="198636" cy="156068"/>
          </a:xfrm>
          <a:prstGeom prst="rect">
            <a:avLst/>
          </a:prstGeom>
        </p:spPr>
        <p:txBody>
          <a:bodyPr vert="horz" wrap="square" lIns="0" tIns="0" rIns="0" bIns="0" rtlCol="0">
            <a:spAutoFit/>
          </a:bodyPr>
          <a:lstStyle/>
          <a:p>
            <a:pPr marL="38101">
              <a:lnSpc>
                <a:spcPts val="1239"/>
              </a:lnSpc>
            </a:pPr>
            <a:fld id="{81D60167-4931-47E6-BA6A-407CBD079E47}" type="slidenum">
              <a:rPr spc="-25" dirty="0"/>
              <a:pPr marL="38101">
                <a:lnSpc>
                  <a:spcPts val="1239"/>
                </a:lnSpc>
              </a:pPr>
              <a:t>34</a:t>
            </a:fld>
            <a:endParaRPr spc="-25" dirty="0"/>
          </a:p>
        </p:txBody>
      </p:sp>
      <p:sp>
        <p:nvSpPr>
          <p:cNvPr id="2" name="object 2"/>
          <p:cNvSpPr txBox="1">
            <a:spLocks noGrp="1"/>
          </p:cNvSpPr>
          <p:nvPr>
            <p:ph type="title"/>
          </p:nvPr>
        </p:nvSpPr>
        <p:spPr>
          <a:xfrm>
            <a:off x="470370" y="133352"/>
            <a:ext cx="9740429" cy="892423"/>
          </a:xfrm>
          <a:prstGeom prst="rect">
            <a:avLst/>
          </a:prstGeom>
        </p:spPr>
        <p:txBody>
          <a:bodyPr vert="horz" wrap="square" lIns="0" tIns="396112" rIns="0" bIns="0" rtlCol="0">
            <a:spAutoFit/>
          </a:bodyPr>
          <a:lstStyle/>
          <a:p>
            <a:pPr marL="131448">
              <a:spcBef>
                <a:spcPts val="105"/>
              </a:spcBef>
            </a:pPr>
            <a:r>
              <a:rPr spc="-10" dirty="0"/>
              <a:t>High-</a:t>
            </a:r>
            <a:r>
              <a:rPr dirty="0"/>
              <a:t>volume</a:t>
            </a:r>
            <a:r>
              <a:rPr spc="-55" dirty="0"/>
              <a:t> </a:t>
            </a:r>
            <a:r>
              <a:rPr dirty="0"/>
              <a:t>Filtration</a:t>
            </a:r>
            <a:r>
              <a:rPr spc="-25" dirty="0"/>
              <a:t> </a:t>
            </a:r>
            <a:r>
              <a:rPr dirty="0"/>
              <a:t>(The</a:t>
            </a:r>
            <a:r>
              <a:rPr spc="-15" dirty="0"/>
              <a:t> </a:t>
            </a:r>
            <a:r>
              <a:rPr spc="-20" dirty="0"/>
              <a:t>hi-</a:t>
            </a:r>
            <a:r>
              <a:rPr dirty="0"/>
              <a:t>vol.</a:t>
            </a:r>
            <a:r>
              <a:rPr spc="-15" dirty="0"/>
              <a:t> </a:t>
            </a:r>
            <a:r>
              <a:rPr spc="-10" dirty="0"/>
              <a:t>sampler)</a:t>
            </a:r>
          </a:p>
        </p:txBody>
      </p:sp>
      <p:sp>
        <p:nvSpPr>
          <p:cNvPr id="3" name="object 3"/>
          <p:cNvSpPr txBox="1"/>
          <p:nvPr/>
        </p:nvSpPr>
        <p:spPr>
          <a:xfrm>
            <a:off x="517348" y="1590315"/>
            <a:ext cx="10735310" cy="3710118"/>
          </a:xfrm>
          <a:prstGeom prst="rect">
            <a:avLst/>
          </a:prstGeom>
        </p:spPr>
        <p:txBody>
          <a:bodyPr vert="horz" wrap="square" lIns="0" tIns="196215" rIns="0" bIns="0" rtlCol="0">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mj-lt"/>
              </a:rPr>
              <a:t>The </a:t>
            </a:r>
            <a:r>
              <a:rPr kumimoji="0" lang="en-US" altLang="en-US" sz="2400" b="1" i="0" u="none" strike="noStrike" cap="none" normalizeH="0" baseline="0" dirty="0">
                <a:ln>
                  <a:noFill/>
                </a:ln>
                <a:solidFill>
                  <a:schemeClr val="tx1"/>
                </a:solidFill>
                <a:effectLst/>
                <a:latin typeface="+mj-lt"/>
              </a:rPr>
              <a:t>sampling time</a:t>
            </a:r>
            <a:r>
              <a:rPr kumimoji="0" lang="en-US" altLang="en-US" sz="2400" b="0" i="0" u="none" strike="noStrike" cap="none" normalizeH="0" baseline="0" dirty="0">
                <a:ln>
                  <a:noFill/>
                </a:ln>
                <a:solidFill>
                  <a:schemeClr val="tx1"/>
                </a:solidFill>
                <a:effectLst/>
                <a:latin typeface="+mj-lt"/>
              </a:rPr>
              <a:t> is generally </a:t>
            </a:r>
            <a:r>
              <a:rPr kumimoji="0" lang="en-US" altLang="en-US" sz="2400" b="1" i="0" u="none" strike="noStrike" cap="none" normalizeH="0" baseline="0" dirty="0">
                <a:ln>
                  <a:noFill/>
                </a:ln>
                <a:solidFill>
                  <a:schemeClr val="tx1"/>
                </a:solidFill>
                <a:effectLst/>
                <a:latin typeface="+mj-lt"/>
              </a:rPr>
              <a:t>24 hours</a:t>
            </a:r>
            <a:r>
              <a:rPr kumimoji="0" lang="en-US" altLang="en-US" sz="2400" b="0" i="0" u="none" strike="noStrike" cap="none" normalizeH="0" baseline="0" dirty="0">
                <a:ln>
                  <a:noFill/>
                </a:ln>
                <a:solidFill>
                  <a:schemeClr val="tx1"/>
                </a:solidFill>
                <a:effectLst/>
                <a:latin typeface="+mj-lt"/>
              </a:rPr>
              <a: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mj-lt"/>
              </a:rPr>
              <a:t>During this period, over </a:t>
            </a:r>
            <a:r>
              <a:rPr kumimoji="0" lang="en-US" altLang="en-US" sz="2400" b="1" i="0" u="none" strike="noStrike" cap="none" normalizeH="0" baseline="0" dirty="0">
                <a:ln>
                  <a:noFill/>
                </a:ln>
                <a:solidFill>
                  <a:schemeClr val="tx1"/>
                </a:solidFill>
                <a:effectLst/>
                <a:latin typeface="+mj-lt"/>
              </a:rPr>
              <a:t>2000 m³</a:t>
            </a:r>
            <a:r>
              <a:rPr kumimoji="0" lang="en-US" altLang="en-US" sz="2400" b="0" i="0" u="none" strike="noStrike" cap="none" normalizeH="0" baseline="0" dirty="0">
                <a:ln>
                  <a:noFill/>
                </a:ln>
                <a:solidFill>
                  <a:schemeClr val="tx1"/>
                </a:solidFill>
                <a:effectLst/>
                <a:latin typeface="+mj-lt"/>
              </a:rPr>
              <a:t> of air is sucked through the filter.</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mj-lt"/>
              </a:rPr>
              <a:t>The analysis is </a:t>
            </a:r>
            <a:r>
              <a:rPr kumimoji="0" lang="en-US" altLang="en-US" sz="2400" b="1" i="0" u="none" strike="noStrike" cap="none" normalizeH="0" baseline="0" dirty="0">
                <a:ln>
                  <a:noFill/>
                </a:ln>
                <a:solidFill>
                  <a:schemeClr val="tx1"/>
                </a:solidFill>
                <a:effectLst/>
                <a:latin typeface="+mj-lt"/>
              </a:rPr>
              <a:t>gravimetric</a:t>
            </a:r>
            <a:r>
              <a:rPr kumimoji="0" lang="en-US" altLang="en-US" sz="2400" b="0" i="0" u="none" strike="noStrike" cap="none" normalizeH="0" baseline="0" dirty="0">
                <a:ln>
                  <a:noFill/>
                </a:ln>
                <a:solidFill>
                  <a:schemeClr val="tx1"/>
                </a:solidFill>
                <a:effectLst/>
                <a:latin typeface="+mj-lt"/>
              </a:rPr>
              <a:t> (based on weight).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mj-lt"/>
              </a:rPr>
              <a:t>The particulate level is generally expressed in terms of </a:t>
            </a:r>
            <a:r>
              <a:rPr kumimoji="0" lang="en-US" altLang="en-US" sz="2400" b="1" i="0" u="none" strike="noStrike" cap="none" normalizeH="0" baseline="0" dirty="0">
                <a:ln>
                  <a:noFill/>
                </a:ln>
                <a:solidFill>
                  <a:schemeClr val="tx1"/>
                </a:solidFill>
                <a:effectLst/>
                <a:latin typeface="+mj-lt"/>
              </a:rPr>
              <a:t>µg/m³</a:t>
            </a:r>
            <a:r>
              <a:rPr kumimoji="0" lang="en-US" altLang="en-US" sz="2400" b="0" i="0" u="none" strike="noStrike" cap="none" normalizeH="0" baseline="0" dirty="0">
                <a:ln>
                  <a:noFill/>
                </a:ln>
                <a:solidFill>
                  <a:schemeClr val="tx1"/>
                </a:solidFill>
                <a:effectLst/>
                <a:latin typeface="+mj-lt"/>
              </a:rPr>
              <a:t> of air.</a:t>
            </a:r>
          </a:p>
          <a:p>
            <a:pPr marL="278137" marR="107317" indent="-227336">
              <a:lnSpc>
                <a:spcPct val="150000"/>
              </a:lnSpc>
              <a:spcBef>
                <a:spcPts val="950"/>
              </a:spcBef>
              <a:buChar char="•"/>
              <a:tabLst>
                <a:tab pos="279408" algn="l"/>
              </a:tabLst>
            </a:pPr>
            <a:endParaRPr lang="en-IN" sz="2400" spc="-20" dirty="0">
              <a:solidFill>
                <a:srgbClr val="FF0000"/>
              </a:solidFill>
              <a:latin typeface="+mj-lt"/>
              <a:cs typeface="Arial MT"/>
            </a:endParaRPr>
          </a:p>
          <a:p>
            <a:pPr marL="278137" marR="107317" indent="-227336">
              <a:lnSpc>
                <a:spcPct val="150000"/>
              </a:lnSpc>
              <a:spcBef>
                <a:spcPts val="950"/>
              </a:spcBef>
              <a:buChar char="•"/>
              <a:tabLst>
                <a:tab pos="279408" algn="l"/>
              </a:tabLst>
            </a:pPr>
            <a:endParaRPr sz="2400" dirty="0">
              <a:latin typeface="+mj-lt"/>
              <a:cs typeface="Arial MT"/>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70370" y="133352"/>
            <a:ext cx="10770869" cy="892423"/>
          </a:xfrm>
          <a:prstGeom prst="rect">
            <a:avLst/>
          </a:prstGeom>
        </p:spPr>
        <p:txBody>
          <a:bodyPr vert="horz" wrap="square" lIns="0" tIns="396112" rIns="0" bIns="0" rtlCol="0">
            <a:spAutoFit/>
          </a:bodyPr>
          <a:lstStyle/>
          <a:p>
            <a:pPr marL="131448">
              <a:spcBef>
                <a:spcPts val="105"/>
              </a:spcBef>
            </a:pPr>
            <a:r>
              <a:rPr spc="-10" dirty="0"/>
              <a:t>High-</a:t>
            </a:r>
            <a:r>
              <a:rPr dirty="0"/>
              <a:t>volume</a:t>
            </a:r>
            <a:r>
              <a:rPr spc="-55" dirty="0"/>
              <a:t> </a:t>
            </a:r>
            <a:r>
              <a:rPr dirty="0"/>
              <a:t>Filtration</a:t>
            </a:r>
            <a:r>
              <a:rPr spc="-25" dirty="0"/>
              <a:t> </a:t>
            </a:r>
            <a:r>
              <a:rPr dirty="0"/>
              <a:t>(The</a:t>
            </a:r>
            <a:r>
              <a:rPr spc="-15" dirty="0"/>
              <a:t> </a:t>
            </a:r>
            <a:r>
              <a:rPr spc="-20" dirty="0"/>
              <a:t>hi-</a:t>
            </a:r>
            <a:r>
              <a:rPr dirty="0"/>
              <a:t>vol.</a:t>
            </a:r>
            <a:r>
              <a:rPr spc="-15" dirty="0"/>
              <a:t> </a:t>
            </a:r>
            <a:r>
              <a:rPr spc="-10" dirty="0"/>
              <a:t>sampler)</a:t>
            </a:r>
          </a:p>
        </p:txBody>
      </p:sp>
      <p:sp>
        <p:nvSpPr>
          <p:cNvPr id="3" name="object 3"/>
          <p:cNvSpPr txBox="1"/>
          <p:nvPr/>
        </p:nvSpPr>
        <p:spPr>
          <a:xfrm>
            <a:off x="517347" y="1361948"/>
            <a:ext cx="10770870" cy="3877343"/>
          </a:xfrm>
          <a:prstGeom prst="rect">
            <a:avLst/>
          </a:prstGeom>
        </p:spPr>
        <p:txBody>
          <a:bodyPr vert="horz" wrap="square" lIns="0" tIns="12065" rIns="0" bIns="0" rtlCol="0">
            <a:spAutoFit/>
          </a:bodyPr>
          <a:lstStyle/>
          <a:p>
            <a:pPr marL="278773" indent="-227971">
              <a:spcBef>
                <a:spcPts val="95"/>
              </a:spcBef>
              <a:buChar char="•"/>
              <a:tabLst>
                <a:tab pos="278773" algn="l"/>
              </a:tabLst>
            </a:pPr>
            <a:r>
              <a:rPr sz="1900" dirty="0">
                <a:latin typeface="Arial MT"/>
                <a:cs typeface="Arial MT"/>
              </a:rPr>
              <a:t>Based</a:t>
            </a:r>
            <a:r>
              <a:rPr sz="1900" spc="-46" dirty="0">
                <a:latin typeface="Arial MT"/>
                <a:cs typeface="Arial MT"/>
              </a:rPr>
              <a:t> </a:t>
            </a:r>
            <a:r>
              <a:rPr sz="1900" dirty="0">
                <a:latin typeface="Arial MT"/>
                <a:cs typeface="Arial MT"/>
              </a:rPr>
              <a:t>on</a:t>
            </a:r>
            <a:r>
              <a:rPr sz="1900" spc="-50" dirty="0">
                <a:latin typeface="Arial MT"/>
                <a:cs typeface="Arial MT"/>
              </a:rPr>
              <a:t> </a:t>
            </a:r>
            <a:r>
              <a:rPr sz="1900" dirty="0">
                <a:latin typeface="Arial MT"/>
                <a:cs typeface="Arial MT"/>
              </a:rPr>
              <a:t>typical</a:t>
            </a:r>
            <a:r>
              <a:rPr sz="1900" spc="-55" dirty="0">
                <a:latin typeface="Arial MT"/>
                <a:cs typeface="Arial MT"/>
              </a:rPr>
              <a:t> </a:t>
            </a:r>
            <a:r>
              <a:rPr sz="1900" dirty="0">
                <a:latin typeface="Arial MT"/>
                <a:cs typeface="Arial MT"/>
              </a:rPr>
              <a:t>results</a:t>
            </a:r>
            <a:r>
              <a:rPr sz="1900" spc="-41" dirty="0">
                <a:latin typeface="Arial MT"/>
                <a:cs typeface="Arial MT"/>
              </a:rPr>
              <a:t> </a:t>
            </a:r>
            <a:r>
              <a:rPr sz="1900" dirty="0">
                <a:latin typeface="Arial MT"/>
                <a:cs typeface="Arial MT"/>
              </a:rPr>
              <a:t>of</a:t>
            </a:r>
            <a:r>
              <a:rPr sz="1900" spc="-65" dirty="0">
                <a:latin typeface="Arial MT"/>
                <a:cs typeface="Arial MT"/>
              </a:rPr>
              <a:t> </a:t>
            </a:r>
            <a:r>
              <a:rPr sz="1900" dirty="0">
                <a:latin typeface="Arial MT"/>
                <a:cs typeface="Arial MT"/>
              </a:rPr>
              <a:t>such</a:t>
            </a:r>
            <a:r>
              <a:rPr sz="1900" spc="-50" dirty="0">
                <a:latin typeface="Arial MT"/>
                <a:cs typeface="Arial MT"/>
              </a:rPr>
              <a:t> </a:t>
            </a:r>
            <a:r>
              <a:rPr sz="1900" dirty="0">
                <a:latin typeface="Arial MT"/>
                <a:cs typeface="Arial MT"/>
              </a:rPr>
              <a:t>a</a:t>
            </a:r>
            <a:r>
              <a:rPr sz="1900" spc="-65" dirty="0">
                <a:latin typeface="Arial MT"/>
                <a:cs typeface="Arial MT"/>
              </a:rPr>
              <a:t> </a:t>
            </a:r>
            <a:r>
              <a:rPr sz="1900" dirty="0">
                <a:latin typeface="Arial MT"/>
                <a:cs typeface="Arial MT"/>
              </a:rPr>
              <a:t>sampling,</a:t>
            </a:r>
            <a:r>
              <a:rPr sz="1900" spc="-25" dirty="0">
                <a:latin typeface="Arial MT"/>
                <a:cs typeface="Arial MT"/>
              </a:rPr>
              <a:t> </a:t>
            </a:r>
            <a:r>
              <a:rPr sz="1900" dirty="0">
                <a:latin typeface="Arial MT"/>
                <a:cs typeface="Arial MT"/>
              </a:rPr>
              <a:t>the</a:t>
            </a:r>
            <a:r>
              <a:rPr sz="1900" spc="-55" dirty="0">
                <a:latin typeface="Arial MT"/>
                <a:cs typeface="Arial MT"/>
              </a:rPr>
              <a:t> </a:t>
            </a:r>
            <a:r>
              <a:rPr sz="1900" dirty="0">
                <a:latin typeface="Arial MT"/>
                <a:cs typeface="Arial MT"/>
              </a:rPr>
              <a:t>following</a:t>
            </a:r>
            <a:r>
              <a:rPr sz="1900" spc="-20" dirty="0">
                <a:latin typeface="Arial MT"/>
                <a:cs typeface="Arial MT"/>
              </a:rPr>
              <a:t> </a:t>
            </a:r>
            <a:r>
              <a:rPr sz="1900" dirty="0">
                <a:latin typeface="Arial MT"/>
                <a:cs typeface="Arial MT"/>
              </a:rPr>
              <a:t>example</a:t>
            </a:r>
            <a:r>
              <a:rPr sz="1900" spc="-20" dirty="0">
                <a:latin typeface="Arial MT"/>
                <a:cs typeface="Arial MT"/>
              </a:rPr>
              <a:t> </a:t>
            </a:r>
            <a:r>
              <a:rPr sz="1900" dirty="0">
                <a:latin typeface="Arial MT"/>
                <a:cs typeface="Arial MT"/>
              </a:rPr>
              <a:t>would</a:t>
            </a:r>
            <a:r>
              <a:rPr sz="1900" spc="-15" dirty="0">
                <a:latin typeface="Arial MT"/>
                <a:cs typeface="Arial MT"/>
              </a:rPr>
              <a:t> </a:t>
            </a:r>
            <a:r>
              <a:rPr sz="1900" dirty="0">
                <a:latin typeface="Arial MT"/>
                <a:cs typeface="Arial MT"/>
              </a:rPr>
              <a:t>illustrate</a:t>
            </a:r>
            <a:r>
              <a:rPr sz="1900" spc="-41" dirty="0">
                <a:latin typeface="Arial MT"/>
                <a:cs typeface="Arial MT"/>
              </a:rPr>
              <a:t> </a:t>
            </a:r>
            <a:r>
              <a:rPr sz="1900" dirty="0">
                <a:latin typeface="Arial MT"/>
                <a:cs typeface="Arial MT"/>
              </a:rPr>
              <a:t>the</a:t>
            </a:r>
            <a:r>
              <a:rPr sz="1900" spc="-50" dirty="0">
                <a:latin typeface="Arial MT"/>
                <a:cs typeface="Arial MT"/>
              </a:rPr>
              <a:t> </a:t>
            </a:r>
            <a:r>
              <a:rPr sz="1900" spc="-10" dirty="0">
                <a:latin typeface="Arial MT"/>
                <a:cs typeface="Arial MT"/>
              </a:rPr>
              <a:t>calculation:</a:t>
            </a:r>
            <a:endParaRPr sz="1900">
              <a:latin typeface="Arial MT"/>
              <a:cs typeface="Arial MT"/>
            </a:endParaRPr>
          </a:p>
          <a:p>
            <a:pPr marL="278773" indent="-227971">
              <a:spcBef>
                <a:spcPts val="1695"/>
              </a:spcBef>
              <a:buChar char="•"/>
              <a:tabLst>
                <a:tab pos="278773" algn="l"/>
              </a:tabLst>
            </a:pPr>
            <a:r>
              <a:rPr sz="1900" dirty="0">
                <a:latin typeface="Arial MT"/>
                <a:cs typeface="Arial MT"/>
              </a:rPr>
              <a:t>Air</a:t>
            </a:r>
            <a:r>
              <a:rPr sz="1900" spc="-46" dirty="0">
                <a:latin typeface="Arial MT"/>
                <a:cs typeface="Arial MT"/>
              </a:rPr>
              <a:t> </a:t>
            </a:r>
            <a:r>
              <a:rPr sz="1900" dirty="0">
                <a:latin typeface="Arial MT"/>
                <a:cs typeface="Arial MT"/>
              </a:rPr>
              <a:t>flow</a:t>
            </a:r>
            <a:r>
              <a:rPr sz="1900" spc="-15" dirty="0">
                <a:latin typeface="Arial MT"/>
                <a:cs typeface="Arial MT"/>
              </a:rPr>
              <a:t> </a:t>
            </a:r>
            <a:r>
              <a:rPr sz="1900" dirty="0">
                <a:latin typeface="Arial MT"/>
                <a:cs typeface="Arial MT"/>
              </a:rPr>
              <a:t>through</a:t>
            </a:r>
            <a:r>
              <a:rPr sz="1900" spc="-10" dirty="0">
                <a:latin typeface="Arial MT"/>
                <a:cs typeface="Arial MT"/>
              </a:rPr>
              <a:t> </a:t>
            </a:r>
            <a:r>
              <a:rPr sz="1900" dirty="0">
                <a:latin typeface="Arial MT"/>
                <a:cs typeface="Arial MT"/>
              </a:rPr>
              <a:t>clean</a:t>
            </a:r>
            <a:r>
              <a:rPr sz="1900" spc="-15" dirty="0">
                <a:latin typeface="Arial MT"/>
                <a:cs typeface="Arial MT"/>
              </a:rPr>
              <a:t> </a:t>
            </a:r>
            <a:r>
              <a:rPr sz="1900" dirty="0">
                <a:latin typeface="Arial MT"/>
                <a:cs typeface="Arial MT"/>
              </a:rPr>
              <a:t>filter</a:t>
            </a:r>
            <a:r>
              <a:rPr sz="1900" spc="-25" dirty="0">
                <a:latin typeface="Arial MT"/>
                <a:cs typeface="Arial MT"/>
              </a:rPr>
              <a:t> </a:t>
            </a:r>
            <a:r>
              <a:rPr sz="1900" dirty="0">
                <a:latin typeface="Arial MT"/>
                <a:cs typeface="Arial MT"/>
              </a:rPr>
              <a:t>=</a:t>
            </a:r>
            <a:r>
              <a:rPr sz="1900" spc="-41" dirty="0">
                <a:latin typeface="Arial MT"/>
                <a:cs typeface="Arial MT"/>
              </a:rPr>
              <a:t> </a:t>
            </a:r>
            <a:r>
              <a:rPr sz="1900" dirty="0">
                <a:latin typeface="Arial MT"/>
                <a:cs typeface="Arial MT"/>
              </a:rPr>
              <a:t>1.7</a:t>
            </a:r>
            <a:r>
              <a:rPr sz="1900" spc="-10" dirty="0">
                <a:latin typeface="Arial MT"/>
                <a:cs typeface="Arial MT"/>
              </a:rPr>
              <a:t> </a:t>
            </a:r>
            <a:r>
              <a:rPr sz="1900" dirty="0">
                <a:latin typeface="Cambria Math" panose="02040503050406030204"/>
                <a:cs typeface="Cambria Math" panose="02040503050406030204"/>
              </a:rPr>
              <a:t>𝑚 </a:t>
            </a:r>
            <a:r>
              <a:rPr sz="2025" spc="-15" baseline="29000" dirty="0">
                <a:latin typeface="Cambria Math" panose="02040503050406030204"/>
                <a:cs typeface="Cambria Math" panose="02040503050406030204"/>
              </a:rPr>
              <a:t>3</a:t>
            </a:r>
            <a:r>
              <a:rPr lang="en-US" altLang="en-US" sz="2025" spc="-15" baseline="29000" dirty="0">
                <a:latin typeface="Cambria Math" panose="02040503050406030204"/>
                <a:cs typeface="Cambria Math" panose="02040503050406030204"/>
              </a:rPr>
              <a:t>/</a:t>
            </a:r>
            <a:r>
              <a:rPr sz="1900" spc="-10" dirty="0">
                <a:latin typeface="Cambria Math" panose="02040503050406030204"/>
                <a:cs typeface="Cambria Math" panose="02040503050406030204"/>
              </a:rPr>
              <a:t>𝑚𝑖𝑛</a:t>
            </a:r>
            <a:endParaRPr sz="1900">
              <a:latin typeface="Cambria Math" panose="02040503050406030204"/>
              <a:cs typeface="Cambria Math" panose="02040503050406030204"/>
            </a:endParaRPr>
          </a:p>
          <a:p>
            <a:pPr marL="278773" indent="-227971">
              <a:spcBef>
                <a:spcPts val="1680"/>
              </a:spcBef>
              <a:buChar char="•"/>
              <a:tabLst>
                <a:tab pos="278773" algn="l"/>
              </a:tabLst>
            </a:pPr>
            <a:r>
              <a:rPr sz="1900" dirty="0">
                <a:latin typeface="Arial MT"/>
                <a:cs typeface="Arial MT"/>
              </a:rPr>
              <a:t>Air</a:t>
            </a:r>
            <a:r>
              <a:rPr sz="1900" spc="-34" dirty="0">
                <a:latin typeface="Arial MT"/>
                <a:cs typeface="Arial MT"/>
              </a:rPr>
              <a:t> </a:t>
            </a:r>
            <a:r>
              <a:rPr sz="1900" dirty="0">
                <a:latin typeface="Arial MT"/>
                <a:cs typeface="Arial MT"/>
              </a:rPr>
              <a:t>flow</a:t>
            </a:r>
            <a:r>
              <a:rPr sz="1900" spc="-15" dirty="0">
                <a:latin typeface="Arial MT"/>
                <a:cs typeface="Arial MT"/>
              </a:rPr>
              <a:t> </a:t>
            </a:r>
            <a:r>
              <a:rPr sz="1900" dirty="0">
                <a:latin typeface="Arial MT"/>
                <a:cs typeface="Arial MT"/>
              </a:rPr>
              <a:t>through</a:t>
            </a:r>
            <a:r>
              <a:rPr sz="1900" spc="-5" dirty="0">
                <a:latin typeface="Arial MT"/>
                <a:cs typeface="Arial MT"/>
              </a:rPr>
              <a:t> </a:t>
            </a:r>
            <a:r>
              <a:rPr sz="1900" dirty="0">
                <a:latin typeface="Arial MT"/>
                <a:cs typeface="Arial MT"/>
              </a:rPr>
              <a:t>the</a:t>
            </a:r>
            <a:r>
              <a:rPr sz="1900" spc="-34" dirty="0">
                <a:latin typeface="Arial MT"/>
                <a:cs typeface="Arial MT"/>
              </a:rPr>
              <a:t> </a:t>
            </a:r>
            <a:r>
              <a:rPr sz="1900" dirty="0">
                <a:latin typeface="Arial MT"/>
                <a:cs typeface="Arial MT"/>
              </a:rPr>
              <a:t>filter</a:t>
            </a:r>
            <a:r>
              <a:rPr sz="1900" spc="-15" dirty="0">
                <a:latin typeface="Arial MT"/>
                <a:cs typeface="Arial MT"/>
              </a:rPr>
              <a:t> </a:t>
            </a:r>
            <a:r>
              <a:rPr sz="1900" dirty="0">
                <a:latin typeface="Arial MT"/>
                <a:cs typeface="Arial MT"/>
              </a:rPr>
              <a:t>at</a:t>
            </a:r>
            <a:r>
              <a:rPr sz="1900" spc="-34" dirty="0">
                <a:latin typeface="Arial MT"/>
                <a:cs typeface="Arial MT"/>
              </a:rPr>
              <a:t> </a:t>
            </a:r>
            <a:r>
              <a:rPr sz="1900" dirty="0">
                <a:latin typeface="Arial MT"/>
                <a:cs typeface="Arial MT"/>
              </a:rPr>
              <a:t>the</a:t>
            </a:r>
            <a:r>
              <a:rPr sz="1900" spc="-20" dirty="0">
                <a:latin typeface="Arial MT"/>
                <a:cs typeface="Arial MT"/>
              </a:rPr>
              <a:t> </a:t>
            </a:r>
            <a:r>
              <a:rPr sz="1900" dirty="0">
                <a:latin typeface="Arial MT"/>
                <a:cs typeface="Arial MT"/>
              </a:rPr>
              <a:t>end</a:t>
            </a:r>
            <a:r>
              <a:rPr sz="1900" spc="-15" dirty="0">
                <a:latin typeface="Arial MT"/>
                <a:cs typeface="Arial MT"/>
              </a:rPr>
              <a:t> </a:t>
            </a:r>
            <a:r>
              <a:rPr sz="1900" dirty="0">
                <a:latin typeface="Arial MT"/>
                <a:cs typeface="Arial MT"/>
              </a:rPr>
              <a:t>of</a:t>
            </a:r>
            <a:r>
              <a:rPr sz="1900" spc="-34" dirty="0">
                <a:latin typeface="Arial MT"/>
                <a:cs typeface="Arial MT"/>
              </a:rPr>
              <a:t> </a:t>
            </a:r>
            <a:r>
              <a:rPr sz="1900" dirty="0">
                <a:latin typeface="Arial MT"/>
                <a:cs typeface="Arial MT"/>
              </a:rPr>
              <a:t>the</a:t>
            </a:r>
            <a:r>
              <a:rPr sz="1900" spc="-20" dirty="0">
                <a:latin typeface="Arial MT"/>
                <a:cs typeface="Arial MT"/>
              </a:rPr>
              <a:t> </a:t>
            </a:r>
            <a:r>
              <a:rPr sz="1900" dirty="0">
                <a:latin typeface="Arial MT"/>
                <a:cs typeface="Arial MT"/>
              </a:rPr>
              <a:t>test</a:t>
            </a:r>
            <a:r>
              <a:rPr sz="1900" spc="-34" dirty="0">
                <a:latin typeface="Arial MT"/>
                <a:cs typeface="Arial MT"/>
              </a:rPr>
              <a:t> </a:t>
            </a:r>
            <a:r>
              <a:rPr sz="1900" dirty="0">
                <a:latin typeface="Arial MT"/>
                <a:cs typeface="Arial MT"/>
              </a:rPr>
              <a:t>=</a:t>
            </a:r>
            <a:r>
              <a:rPr sz="1900" spc="-34" dirty="0">
                <a:latin typeface="Arial MT"/>
                <a:cs typeface="Arial MT"/>
              </a:rPr>
              <a:t> </a:t>
            </a:r>
            <a:r>
              <a:rPr sz="1900" dirty="0">
                <a:latin typeface="Arial MT"/>
                <a:cs typeface="Arial MT"/>
              </a:rPr>
              <a:t>1.4</a:t>
            </a:r>
            <a:r>
              <a:rPr sz="1900" spc="10" dirty="0">
                <a:latin typeface="Arial MT"/>
                <a:cs typeface="Arial MT"/>
              </a:rPr>
              <a:t> </a:t>
            </a:r>
            <a:r>
              <a:rPr sz="1900" dirty="0">
                <a:latin typeface="Cambria Math" panose="02040503050406030204"/>
                <a:cs typeface="Cambria Math" panose="02040503050406030204"/>
              </a:rPr>
              <a:t>𝑚</a:t>
            </a:r>
            <a:r>
              <a:rPr sz="1900" spc="5" dirty="0">
                <a:latin typeface="Cambria Math" panose="02040503050406030204"/>
                <a:cs typeface="Cambria Math" panose="02040503050406030204"/>
              </a:rPr>
              <a:t> </a:t>
            </a:r>
            <a:r>
              <a:rPr sz="2025" spc="-15" baseline="29000" dirty="0">
                <a:latin typeface="Cambria Math" panose="02040503050406030204"/>
                <a:cs typeface="Cambria Math" panose="02040503050406030204"/>
              </a:rPr>
              <a:t>3</a:t>
            </a:r>
            <a:r>
              <a:rPr lang="en-US" altLang="en-US" sz="2025" spc="-15" baseline="29000" dirty="0">
                <a:latin typeface="Cambria Math" panose="02040503050406030204"/>
                <a:cs typeface="Cambria Math" panose="02040503050406030204"/>
              </a:rPr>
              <a:t>/</a:t>
            </a:r>
            <a:r>
              <a:rPr sz="1900" spc="-10" dirty="0">
                <a:latin typeface="Cambria Math" panose="02040503050406030204"/>
                <a:cs typeface="Cambria Math" panose="02040503050406030204"/>
              </a:rPr>
              <a:t>𝑚𝑖𝑛</a:t>
            </a:r>
            <a:endParaRPr sz="1900">
              <a:latin typeface="Cambria Math" panose="02040503050406030204"/>
              <a:cs typeface="Cambria Math" panose="02040503050406030204"/>
            </a:endParaRPr>
          </a:p>
          <a:p>
            <a:pPr marL="278773" indent="-227971">
              <a:spcBef>
                <a:spcPts val="1680"/>
              </a:spcBef>
              <a:buChar char="•"/>
              <a:tabLst>
                <a:tab pos="278773" algn="l"/>
              </a:tabLst>
            </a:pPr>
            <a:r>
              <a:rPr sz="1900" dirty="0">
                <a:latin typeface="Arial MT"/>
                <a:cs typeface="Arial MT"/>
              </a:rPr>
              <a:t>Average</a:t>
            </a:r>
            <a:r>
              <a:rPr sz="1900" spc="10" dirty="0">
                <a:latin typeface="Arial MT"/>
                <a:cs typeface="Arial MT"/>
              </a:rPr>
              <a:t> </a:t>
            </a:r>
            <a:r>
              <a:rPr sz="1900" dirty="0">
                <a:latin typeface="Arial MT"/>
                <a:cs typeface="Arial MT"/>
              </a:rPr>
              <a:t>air</a:t>
            </a:r>
            <a:r>
              <a:rPr sz="1900" spc="-20" dirty="0">
                <a:latin typeface="Arial MT"/>
                <a:cs typeface="Arial MT"/>
              </a:rPr>
              <a:t> </a:t>
            </a:r>
            <a:r>
              <a:rPr sz="1900" dirty="0">
                <a:latin typeface="Arial MT"/>
                <a:cs typeface="Arial MT"/>
              </a:rPr>
              <a:t>flow</a:t>
            </a:r>
            <a:r>
              <a:rPr sz="1900" spc="-5" dirty="0">
                <a:latin typeface="Arial MT"/>
                <a:cs typeface="Arial MT"/>
              </a:rPr>
              <a:t> </a:t>
            </a:r>
            <a:r>
              <a:rPr sz="1900" dirty="0">
                <a:latin typeface="Arial MT"/>
                <a:cs typeface="Arial MT"/>
              </a:rPr>
              <a:t>=</a:t>
            </a:r>
            <a:r>
              <a:rPr sz="1900" spc="-15" dirty="0">
                <a:latin typeface="Arial MT"/>
                <a:cs typeface="Arial MT"/>
              </a:rPr>
              <a:t> </a:t>
            </a:r>
            <a:r>
              <a:rPr sz="1900" dirty="0">
                <a:latin typeface="Arial MT"/>
                <a:cs typeface="Arial MT"/>
              </a:rPr>
              <a:t>1.55</a:t>
            </a:r>
            <a:r>
              <a:rPr sz="1900" spc="5" dirty="0">
                <a:latin typeface="Arial MT"/>
                <a:cs typeface="Arial MT"/>
              </a:rPr>
              <a:t> </a:t>
            </a:r>
            <a:r>
              <a:rPr sz="1900" dirty="0">
                <a:latin typeface="Cambria Math" panose="02040503050406030204"/>
                <a:cs typeface="Cambria Math" panose="02040503050406030204"/>
              </a:rPr>
              <a:t>𝑚</a:t>
            </a:r>
            <a:r>
              <a:rPr sz="1900" spc="15" dirty="0">
                <a:latin typeface="Cambria Math" panose="02040503050406030204"/>
                <a:cs typeface="Cambria Math" panose="02040503050406030204"/>
              </a:rPr>
              <a:t> </a:t>
            </a:r>
            <a:r>
              <a:rPr sz="2025" baseline="29000" dirty="0">
                <a:latin typeface="Cambria Math" panose="02040503050406030204"/>
                <a:cs typeface="Cambria Math" panose="02040503050406030204"/>
              </a:rPr>
              <a:t>3</a:t>
            </a:r>
            <a:r>
              <a:rPr lang="en-US" altLang="en-US" sz="2025" baseline="29000" dirty="0">
                <a:latin typeface="Cambria Math" panose="02040503050406030204"/>
                <a:cs typeface="Cambria Math" panose="02040503050406030204"/>
              </a:rPr>
              <a:t>/</a:t>
            </a:r>
            <a:r>
              <a:rPr sz="1900" dirty="0">
                <a:latin typeface="Cambria Math" panose="02040503050406030204"/>
                <a:cs typeface="Cambria Math" panose="02040503050406030204"/>
              </a:rPr>
              <a:t>𝑚𝑖𝑛</a:t>
            </a:r>
            <a:r>
              <a:rPr sz="1900" spc="126" dirty="0">
                <a:latin typeface="Cambria Math" panose="02040503050406030204"/>
                <a:cs typeface="Cambria Math" panose="02040503050406030204"/>
              </a:rPr>
              <a:t> </a:t>
            </a:r>
            <a:r>
              <a:rPr sz="1900" dirty="0">
                <a:latin typeface="Arial MT"/>
                <a:cs typeface="Arial MT"/>
              </a:rPr>
              <a:t>=</a:t>
            </a:r>
            <a:r>
              <a:rPr sz="1900" spc="-25" dirty="0">
                <a:latin typeface="Arial MT"/>
                <a:cs typeface="Arial MT"/>
              </a:rPr>
              <a:t> </a:t>
            </a:r>
            <a:r>
              <a:rPr sz="1900" dirty="0">
                <a:latin typeface="Arial MT"/>
                <a:cs typeface="Arial MT"/>
              </a:rPr>
              <a:t>2232</a:t>
            </a:r>
            <a:r>
              <a:rPr sz="1900" spc="10" dirty="0">
                <a:latin typeface="Arial MT"/>
                <a:cs typeface="Arial MT"/>
              </a:rPr>
              <a:t> </a:t>
            </a:r>
            <a:r>
              <a:rPr sz="1900" dirty="0">
                <a:latin typeface="Cambria Math" panose="02040503050406030204"/>
                <a:cs typeface="Cambria Math" panose="02040503050406030204"/>
              </a:rPr>
              <a:t>𝑚</a:t>
            </a:r>
            <a:r>
              <a:rPr sz="1900" spc="15" dirty="0">
                <a:latin typeface="Cambria Math" panose="02040503050406030204"/>
                <a:cs typeface="Cambria Math" panose="02040503050406030204"/>
              </a:rPr>
              <a:t> </a:t>
            </a:r>
            <a:r>
              <a:rPr sz="2025" baseline="29000" dirty="0">
                <a:latin typeface="Cambria Math" panose="02040503050406030204"/>
                <a:cs typeface="Cambria Math" panose="02040503050406030204"/>
              </a:rPr>
              <a:t>3</a:t>
            </a:r>
            <a:r>
              <a:rPr sz="2025" spc="427" baseline="29000" dirty="0">
                <a:latin typeface="Cambria Math" panose="02040503050406030204"/>
                <a:cs typeface="Cambria Math" panose="02040503050406030204"/>
              </a:rPr>
              <a:t> </a:t>
            </a:r>
            <a:r>
              <a:rPr sz="1900" dirty="0">
                <a:latin typeface="Arial MT"/>
                <a:cs typeface="Arial MT"/>
              </a:rPr>
              <a:t>in</a:t>
            </a:r>
            <a:r>
              <a:rPr sz="1900" spc="-10" dirty="0">
                <a:latin typeface="Arial MT"/>
                <a:cs typeface="Arial MT"/>
              </a:rPr>
              <a:t> </a:t>
            </a:r>
            <a:r>
              <a:rPr sz="1900" dirty="0">
                <a:latin typeface="Arial MT"/>
                <a:cs typeface="Arial MT"/>
              </a:rPr>
              <a:t>24</a:t>
            </a:r>
            <a:r>
              <a:rPr sz="1900" spc="-25" dirty="0">
                <a:latin typeface="Arial MT"/>
                <a:cs typeface="Arial MT"/>
              </a:rPr>
              <a:t> hrs</a:t>
            </a:r>
            <a:endParaRPr sz="1900">
              <a:latin typeface="Arial MT"/>
              <a:cs typeface="Arial MT"/>
            </a:endParaRPr>
          </a:p>
          <a:p>
            <a:pPr marL="278773" indent="-227971">
              <a:spcBef>
                <a:spcPts val="1695"/>
              </a:spcBef>
              <a:buChar char="•"/>
              <a:tabLst>
                <a:tab pos="278773" algn="l"/>
              </a:tabLst>
            </a:pPr>
            <a:r>
              <a:rPr sz="1900" dirty="0">
                <a:latin typeface="Arial MT"/>
                <a:cs typeface="Arial MT"/>
              </a:rPr>
              <a:t>Weight</a:t>
            </a:r>
            <a:r>
              <a:rPr sz="1900" spc="-20" dirty="0">
                <a:latin typeface="Arial MT"/>
                <a:cs typeface="Arial MT"/>
              </a:rPr>
              <a:t> </a:t>
            </a:r>
            <a:r>
              <a:rPr sz="1900" dirty="0">
                <a:latin typeface="Arial MT"/>
                <a:cs typeface="Arial MT"/>
              </a:rPr>
              <a:t>of</a:t>
            </a:r>
            <a:r>
              <a:rPr sz="1900" spc="-46" dirty="0">
                <a:latin typeface="Arial MT"/>
                <a:cs typeface="Arial MT"/>
              </a:rPr>
              <a:t> </a:t>
            </a:r>
            <a:r>
              <a:rPr sz="1900" dirty="0">
                <a:latin typeface="Arial MT"/>
                <a:cs typeface="Arial MT"/>
              </a:rPr>
              <a:t>the</a:t>
            </a:r>
            <a:r>
              <a:rPr sz="1900" spc="-46" dirty="0">
                <a:latin typeface="Arial MT"/>
                <a:cs typeface="Arial MT"/>
              </a:rPr>
              <a:t> </a:t>
            </a:r>
            <a:r>
              <a:rPr sz="1900" dirty="0">
                <a:latin typeface="Arial MT"/>
                <a:cs typeface="Arial MT"/>
              </a:rPr>
              <a:t>clean</a:t>
            </a:r>
            <a:r>
              <a:rPr sz="1900" spc="-20" dirty="0">
                <a:latin typeface="Arial MT"/>
                <a:cs typeface="Arial MT"/>
              </a:rPr>
              <a:t> </a:t>
            </a:r>
            <a:r>
              <a:rPr sz="1900" dirty="0">
                <a:latin typeface="Arial MT"/>
                <a:cs typeface="Arial MT"/>
              </a:rPr>
              <a:t>filter</a:t>
            </a:r>
            <a:r>
              <a:rPr sz="1900" spc="-30" dirty="0">
                <a:latin typeface="Arial MT"/>
                <a:cs typeface="Arial MT"/>
              </a:rPr>
              <a:t> </a:t>
            </a:r>
            <a:r>
              <a:rPr sz="1900" dirty="0">
                <a:latin typeface="Arial MT"/>
                <a:cs typeface="Arial MT"/>
              </a:rPr>
              <a:t>=</a:t>
            </a:r>
            <a:r>
              <a:rPr sz="1900" spc="-46" dirty="0">
                <a:latin typeface="Arial MT"/>
                <a:cs typeface="Arial MT"/>
              </a:rPr>
              <a:t> </a:t>
            </a:r>
            <a:r>
              <a:rPr sz="1900" dirty="0">
                <a:latin typeface="Arial MT"/>
                <a:cs typeface="Arial MT"/>
              </a:rPr>
              <a:t>5.000</a:t>
            </a:r>
            <a:r>
              <a:rPr sz="1900" spc="-15" dirty="0">
                <a:latin typeface="Arial MT"/>
                <a:cs typeface="Arial MT"/>
              </a:rPr>
              <a:t> </a:t>
            </a:r>
            <a:r>
              <a:rPr sz="1900" spc="-50" dirty="0">
                <a:latin typeface="Arial MT"/>
                <a:cs typeface="Arial MT"/>
              </a:rPr>
              <a:t>g</a:t>
            </a:r>
            <a:endParaRPr sz="1900">
              <a:latin typeface="Arial MT"/>
              <a:cs typeface="Arial MT"/>
            </a:endParaRPr>
          </a:p>
          <a:p>
            <a:pPr marL="278773" indent="-227971">
              <a:spcBef>
                <a:spcPts val="1680"/>
              </a:spcBef>
              <a:buChar char="•"/>
              <a:tabLst>
                <a:tab pos="278773" algn="l"/>
              </a:tabLst>
            </a:pPr>
            <a:r>
              <a:rPr sz="1900" dirty="0">
                <a:latin typeface="Arial MT"/>
                <a:cs typeface="Arial MT"/>
              </a:rPr>
              <a:t>Weight</a:t>
            </a:r>
            <a:r>
              <a:rPr sz="1900" spc="-20" dirty="0">
                <a:latin typeface="Arial MT"/>
                <a:cs typeface="Arial MT"/>
              </a:rPr>
              <a:t> </a:t>
            </a:r>
            <a:r>
              <a:rPr sz="1900" dirty="0">
                <a:latin typeface="Arial MT"/>
                <a:cs typeface="Arial MT"/>
              </a:rPr>
              <a:t>of</a:t>
            </a:r>
            <a:r>
              <a:rPr sz="1900" spc="-50" dirty="0">
                <a:latin typeface="Arial MT"/>
                <a:cs typeface="Arial MT"/>
              </a:rPr>
              <a:t> </a:t>
            </a:r>
            <a:r>
              <a:rPr sz="1900" dirty="0">
                <a:latin typeface="Arial MT"/>
                <a:cs typeface="Arial MT"/>
              </a:rPr>
              <a:t>the</a:t>
            </a:r>
            <a:r>
              <a:rPr sz="1900" spc="-46" dirty="0">
                <a:latin typeface="Arial MT"/>
                <a:cs typeface="Arial MT"/>
              </a:rPr>
              <a:t> </a:t>
            </a:r>
            <a:r>
              <a:rPr sz="1900" dirty="0">
                <a:latin typeface="Arial MT"/>
                <a:cs typeface="Arial MT"/>
              </a:rPr>
              <a:t>filter</a:t>
            </a:r>
            <a:r>
              <a:rPr sz="1900" spc="-30" dirty="0">
                <a:latin typeface="Arial MT"/>
                <a:cs typeface="Arial MT"/>
              </a:rPr>
              <a:t> </a:t>
            </a:r>
            <a:r>
              <a:rPr sz="1900" dirty="0">
                <a:latin typeface="Arial MT"/>
                <a:cs typeface="Arial MT"/>
              </a:rPr>
              <a:t>after</a:t>
            </a:r>
            <a:r>
              <a:rPr sz="1900" spc="-34" dirty="0">
                <a:latin typeface="Arial MT"/>
                <a:cs typeface="Arial MT"/>
              </a:rPr>
              <a:t> </a:t>
            </a:r>
            <a:r>
              <a:rPr sz="1900" dirty="0">
                <a:latin typeface="Arial MT"/>
                <a:cs typeface="Arial MT"/>
              </a:rPr>
              <a:t>exposure =</a:t>
            </a:r>
            <a:r>
              <a:rPr sz="1900" spc="-41" dirty="0">
                <a:latin typeface="Arial MT"/>
                <a:cs typeface="Arial MT"/>
              </a:rPr>
              <a:t> </a:t>
            </a:r>
            <a:r>
              <a:rPr sz="1900" dirty="0">
                <a:latin typeface="Arial MT"/>
                <a:cs typeface="Arial MT"/>
              </a:rPr>
              <a:t>5.348</a:t>
            </a:r>
            <a:r>
              <a:rPr sz="1900" spc="-25" dirty="0">
                <a:latin typeface="Arial MT"/>
                <a:cs typeface="Arial MT"/>
              </a:rPr>
              <a:t> </a:t>
            </a:r>
            <a:r>
              <a:rPr sz="1900" spc="-50" dirty="0">
                <a:latin typeface="Arial MT"/>
                <a:cs typeface="Arial MT"/>
              </a:rPr>
              <a:t>g</a:t>
            </a:r>
            <a:endParaRPr sz="1900">
              <a:latin typeface="Arial MT"/>
              <a:cs typeface="Arial MT"/>
            </a:endParaRPr>
          </a:p>
          <a:p>
            <a:pPr marL="278773" indent="-227971">
              <a:spcBef>
                <a:spcPts val="1680"/>
              </a:spcBef>
              <a:buChar char="•"/>
              <a:tabLst>
                <a:tab pos="278773" algn="l"/>
              </a:tabLst>
            </a:pPr>
            <a:r>
              <a:rPr sz="1900" dirty="0">
                <a:latin typeface="Arial MT"/>
                <a:cs typeface="Arial MT"/>
              </a:rPr>
              <a:t>Weight</a:t>
            </a:r>
            <a:r>
              <a:rPr sz="1900" spc="-15" dirty="0">
                <a:latin typeface="Arial MT"/>
                <a:cs typeface="Arial MT"/>
              </a:rPr>
              <a:t> </a:t>
            </a:r>
            <a:r>
              <a:rPr sz="1900" dirty="0">
                <a:latin typeface="Arial MT"/>
                <a:cs typeface="Arial MT"/>
              </a:rPr>
              <a:t>of</a:t>
            </a:r>
            <a:r>
              <a:rPr sz="1900" spc="-46" dirty="0">
                <a:latin typeface="Arial MT"/>
                <a:cs typeface="Arial MT"/>
              </a:rPr>
              <a:t> </a:t>
            </a:r>
            <a:r>
              <a:rPr sz="1900" dirty="0">
                <a:latin typeface="Arial MT"/>
                <a:cs typeface="Arial MT"/>
              </a:rPr>
              <a:t>the</a:t>
            </a:r>
            <a:r>
              <a:rPr sz="1900" spc="-41" dirty="0">
                <a:latin typeface="Arial MT"/>
                <a:cs typeface="Arial MT"/>
              </a:rPr>
              <a:t> </a:t>
            </a:r>
            <a:r>
              <a:rPr sz="1900" dirty="0">
                <a:latin typeface="Arial MT"/>
                <a:cs typeface="Arial MT"/>
              </a:rPr>
              <a:t>particulate</a:t>
            </a:r>
            <a:r>
              <a:rPr sz="1900" spc="-5" dirty="0">
                <a:latin typeface="Arial MT"/>
                <a:cs typeface="Arial MT"/>
              </a:rPr>
              <a:t> </a:t>
            </a:r>
            <a:r>
              <a:rPr sz="1900" dirty="0">
                <a:latin typeface="Arial MT"/>
                <a:cs typeface="Arial MT"/>
              </a:rPr>
              <a:t>dust</a:t>
            </a:r>
            <a:r>
              <a:rPr sz="1900" spc="-30" dirty="0">
                <a:latin typeface="Arial MT"/>
                <a:cs typeface="Arial MT"/>
              </a:rPr>
              <a:t> </a:t>
            </a:r>
            <a:r>
              <a:rPr sz="1900" dirty="0">
                <a:latin typeface="Arial MT"/>
                <a:cs typeface="Arial MT"/>
              </a:rPr>
              <a:t>=</a:t>
            </a:r>
            <a:r>
              <a:rPr sz="1900" spc="-30" dirty="0">
                <a:latin typeface="Arial MT"/>
                <a:cs typeface="Arial MT"/>
              </a:rPr>
              <a:t> </a:t>
            </a:r>
            <a:r>
              <a:rPr sz="1900" dirty="0">
                <a:latin typeface="Arial MT"/>
                <a:cs typeface="Arial MT"/>
              </a:rPr>
              <a:t>0.348</a:t>
            </a:r>
            <a:r>
              <a:rPr sz="1900" spc="-30" dirty="0">
                <a:latin typeface="Arial MT"/>
                <a:cs typeface="Arial MT"/>
              </a:rPr>
              <a:t> </a:t>
            </a:r>
            <a:r>
              <a:rPr sz="1900" dirty="0">
                <a:latin typeface="Arial MT"/>
                <a:cs typeface="Arial MT"/>
              </a:rPr>
              <a:t>g=</a:t>
            </a:r>
            <a:r>
              <a:rPr sz="1900" spc="-30" dirty="0">
                <a:latin typeface="Arial MT"/>
                <a:cs typeface="Arial MT"/>
              </a:rPr>
              <a:t> </a:t>
            </a:r>
            <a:r>
              <a:rPr sz="1900" dirty="0">
                <a:latin typeface="Arial MT"/>
                <a:cs typeface="Arial MT"/>
              </a:rPr>
              <a:t>0.348</a:t>
            </a:r>
            <a:r>
              <a:rPr sz="1900" spc="-20" dirty="0">
                <a:latin typeface="Arial MT"/>
                <a:cs typeface="Arial MT"/>
              </a:rPr>
              <a:t> </a:t>
            </a:r>
            <a:r>
              <a:rPr sz="1900" dirty="0">
                <a:latin typeface="Arial MT"/>
                <a:cs typeface="Arial MT"/>
              </a:rPr>
              <a:t>x</a:t>
            </a:r>
            <a:r>
              <a:rPr sz="1900" spc="-15" dirty="0">
                <a:latin typeface="Arial MT"/>
                <a:cs typeface="Arial MT"/>
              </a:rPr>
              <a:t> </a:t>
            </a:r>
            <a:r>
              <a:rPr sz="1900" dirty="0">
                <a:latin typeface="Cambria Math" panose="02040503050406030204"/>
                <a:cs typeface="Cambria Math" panose="02040503050406030204"/>
              </a:rPr>
              <a:t>10</a:t>
            </a:r>
            <a:r>
              <a:rPr sz="2025" baseline="29000" dirty="0">
                <a:latin typeface="Cambria Math" panose="02040503050406030204"/>
                <a:cs typeface="Cambria Math" panose="02040503050406030204"/>
              </a:rPr>
              <a:t>6</a:t>
            </a:r>
            <a:r>
              <a:rPr sz="2025" spc="412" baseline="29000" dirty="0">
                <a:latin typeface="Cambria Math" panose="02040503050406030204"/>
                <a:cs typeface="Cambria Math" panose="02040503050406030204"/>
              </a:rPr>
              <a:t> </a:t>
            </a:r>
            <a:r>
              <a:rPr sz="1900" b="1" i="1" spc="-25" dirty="0">
                <a:latin typeface="Verdana" panose="020B0604030504040204"/>
                <a:cs typeface="Verdana" panose="020B0604030504040204"/>
              </a:rPr>
              <a:t>µ</a:t>
            </a:r>
            <a:r>
              <a:rPr sz="1900" i="1" spc="-25" dirty="0">
                <a:latin typeface="Arial" panose="020B0604020202020204"/>
                <a:cs typeface="Arial" panose="020B0604020202020204"/>
              </a:rPr>
              <a:t>g</a:t>
            </a:r>
            <a:endParaRPr sz="1900">
              <a:latin typeface="Arial" panose="020B0604020202020204"/>
              <a:cs typeface="Arial" panose="020B0604020202020204"/>
            </a:endParaRPr>
          </a:p>
          <a:p>
            <a:pPr marL="278773" indent="-227971">
              <a:spcBef>
                <a:spcPts val="1690"/>
              </a:spcBef>
              <a:buChar char="•"/>
              <a:tabLst>
                <a:tab pos="278773" algn="l"/>
              </a:tabLst>
            </a:pPr>
            <a:r>
              <a:rPr sz="1900" dirty="0">
                <a:latin typeface="Arial MT"/>
                <a:cs typeface="Arial MT"/>
              </a:rPr>
              <a:t>Suspended</a:t>
            </a:r>
            <a:r>
              <a:rPr sz="1900" spc="-85" dirty="0">
                <a:latin typeface="Arial MT"/>
                <a:cs typeface="Arial MT"/>
              </a:rPr>
              <a:t> </a:t>
            </a:r>
            <a:r>
              <a:rPr sz="1900" dirty="0">
                <a:latin typeface="Arial MT"/>
                <a:cs typeface="Arial MT"/>
              </a:rPr>
              <a:t>particulate</a:t>
            </a:r>
            <a:r>
              <a:rPr sz="1900" spc="-85" dirty="0">
                <a:latin typeface="Arial MT"/>
                <a:cs typeface="Arial MT"/>
              </a:rPr>
              <a:t> </a:t>
            </a:r>
            <a:r>
              <a:rPr sz="1900" spc="-10" dirty="0">
                <a:latin typeface="Arial MT"/>
                <a:cs typeface="Arial MT"/>
              </a:rPr>
              <a:t>concentration</a:t>
            </a:r>
            <a:endParaRPr sz="1900">
              <a:latin typeface="Arial MT"/>
              <a:cs typeface="Arial MT"/>
            </a:endParaRPr>
          </a:p>
        </p:txBody>
      </p:sp>
      <p:sp>
        <p:nvSpPr>
          <p:cNvPr id="4" name="object 4"/>
          <p:cNvSpPr txBox="1"/>
          <p:nvPr/>
        </p:nvSpPr>
        <p:spPr>
          <a:xfrm>
            <a:off x="3810000" y="5639029"/>
            <a:ext cx="166370" cy="304571"/>
          </a:xfrm>
          <a:prstGeom prst="rect">
            <a:avLst/>
          </a:prstGeom>
        </p:spPr>
        <p:txBody>
          <a:bodyPr vert="horz" wrap="square" lIns="0" tIns="12065" rIns="0" bIns="0" rtlCol="0">
            <a:spAutoFit/>
          </a:bodyPr>
          <a:lstStyle/>
          <a:p>
            <a:pPr marL="12701">
              <a:spcBef>
                <a:spcPts val="95"/>
              </a:spcBef>
            </a:pPr>
            <a:r>
              <a:rPr sz="1900" spc="-50" dirty="0">
                <a:latin typeface="Arial MT"/>
                <a:cs typeface="Arial MT"/>
              </a:rPr>
              <a:t>=</a:t>
            </a:r>
            <a:endParaRPr sz="1900" dirty="0">
              <a:latin typeface="Arial MT"/>
              <a:cs typeface="Arial MT"/>
            </a:endParaRPr>
          </a:p>
        </p:txBody>
      </p:sp>
      <p:sp>
        <p:nvSpPr>
          <p:cNvPr id="5" name="object 5"/>
          <p:cNvSpPr/>
          <p:nvPr/>
        </p:nvSpPr>
        <p:spPr>
          <a:xfrm>
            <a:off x="4042666" y="5775959"/>
            <a:ext cx="1539241" cy="15241"/>
          </a:xfrm>
          <a:custGeom>
            <a:avLst/>
            <a:gdLst/>
            <a:ahLst/>
            <a:cxnLst/>
            <a:rect l="l" t="t" r="r" b="b"/>
            <a:pathLst>
              <a:path w="1539239" h="15239">
                <a:moveTo>
                  <a:pt x="1539239" y="0"/>
                </a:moveTo>
                <a:lnTo>
                  <a:pt x="0" y="0"/>
                </a:lnTo>
                <a:lnTo>
                  <a:pt x="0" y="15239"/>
                </a:lnTo>
                <a:lnTo>
                  <a:pt x="1539239" y="15239"/>
                </a:lnTo>
                <a:lnTo>
                  <a:pt x="1539239" y="0"/>
                </a:lnTo>
                <a:close/>
              </a:path>
            </a:pathLst>
          </a:custGeom>
          <a:solidFill>
            <a:srgbClr val="000000"/>
          </a:solidFill>
        </p:spPr>
        <p:txBody>
          <a:bodyPr wrap="square" lIns="0" tIns="0" rIns="0" bIns="0" rtlCol="0"/>
          <a:lstStyle/>
          <a:p>
            <a:endParaRPr/>
          </a:p>
        </p:txBody>
      </p:sp>
      <p:sp>
        <p:nvSpPr>
          <p:cNvPr id="6" name="object 6"/>
          <p:cNvSpPr txBox="1"/>
          <p:nvPr/>
        </p:nvSpPr>
        <p:spPr>
          <a:xfrm>
            <a:off x="4005075" y="5428896"/>
            <a:ext cx="1617345" cy="304571"/>
          </a:xfrm>
          <a:prstGeom prst="rect">
            <a:avLst/>
          </a:prstGeom>
        </p:spPr>
        <p:txBody>
          <a:bodyPr vert="horz" wrap="square" lIns="0" tIns="12065" rIns="0" bIns="0" rtlCol="0">
            <a:spAutoFit/>
          </a:bodyPr>
          <a:lstStyle/>
          <a:p>
            <a:pPr marL="38101">
              <a:spcBef>
                <a:spcPts val="95"/>
              </a:spcBef>
            </a:pPr>
            <a:r>
              <a:rPr sz="1900" dirty="0">
                <a:latin typeface="Arial MT"/>
                <a:cs typeface="Arial MT"/>
              </a:rPr>
              <a:t>0.348</a:t>
            </a:r>
            <a:r>
              <a:rPr sz="1900" spc="41" dirty="0">
                <a:latin typeface="Arial MT"/>
                <a:cs typeface="Arial MT"/>
              </a:rPr>
              <a:t> </a:t>
            </a:r>
            <a:r>
              <a:rPr sz="1900" dirty="0">
                <a:latin typeface="Arial MT"/>
                <a:cs typeface="Arial MT"/>
              </a:rPr>
              <a:t>x</a:t>
            </a:r>
            <a:r>
              <a:rPr sz="1900" spc="25" dirty="0">
                <a:latin typeface="Arial MT"/>
                <a:cs typeface="Arial MT"/>
              </a:rPr>
              <a:t> </a:t>
            </a:r>
            <a:r>
              <a:rPr sz="1350" dirty="0">
                <a:latin typeface="Cambria Math" panose="02040503050406030204"/>
                <a:cs typeface="Cambria Math" panose="02040503050406030204"/>
              </a:rPr>
              <a:t>10</a:t>
            </a:r>
            <a:r>
              <a:rPr sz="1726" baseline="24000" dirty="0">
                <a:latin typeface="Cambria Math" panose="02040503050406030204"/>
                <a:cs typeface="Cambria Math" panose="02040503050406030204"/>
              </a:rPr>
              <a:t>6</a:t>
            </a:r>
            <a:r>
              <a:rPr sz="1726" spc="532" baseline="24000" dirty="0">
                <a:latin typeface="Cambria Math" panose="02040503050406030204"/>
                <a:cs typeface="Cambria Math" panose="02040503050406030204"/>
              </a:rPr>
              <a:t> </a:t>
            </a:r>
            <a:r>
              <a:rPr sz="1900" b="1" i="1" spc="-25" dirty="0">
                <a:latin typeface="Verdana" panose="020B0604030504040204"/>
                <a:cs typeface="Verdana" panose="020B0604030504040204"/>
              </a:rPr>
              <a:t>µ</a:t>
            </a:r>
            <a:r>
              <a:rPr sz="1900" i="1" spc="-25" dirty="0">
                <a:latin typeface="Arial" panose="020B0604020202020204"/>
                <a:cs typeface="Arial" panose="020B0604020202020204"/>
              </a:rPr>
              <a:t>g</a:t>
            </a:r>
            <a:endParaRPr sz="1900">
              <a:latin typeface="Arial" panose="020B0604020202020204"/>
              <a:cs typeface="Arial" panose="020B0604020202020204"/>
            </a:endParaRPr>
          </a:p>
        </p:txBody>
      </p:sp>
      <p:sp>
        <p:nvSpPr>
          <p:cNvPr id="10" name="object 10"/>
          <p:cNvSpPr txBox="1">
            <a:spLocks noGrp="1"/>
          </p:cNvSpPr>
          <p:nvPr>
            <p:ph type="sldNum" sz="quarter" idx="7"/>
          </p:nvPr>
        </p:nvSpPr>
        <p:spPr>
          <a:xfrm>
            <a:off x="8993409" y="6464911"/>
            <a:ext cx="198636" cy="156068"/>
          </a:xfrm>
          <a:prstGeom prst="rect">
            <a:avLst/>
          </a:prstGeom>
        </p:spPr>
        <p:txBody>
          <a:bodyPr vert="horz" wrap="square" lIns="0" tIns="0" rIns="0" bIns="0" rtlCol="0">
            <a:spAutoFit/>
          </a:bodyPr>
          <a:lstStyle/>
          <a:p>
            <a:pPr marL="38101">
              <a:lnSpc>
                <a:spcPts val="1239"/>
              </a:lnSpc>
            </a:pPr>
            <a:fld id="{81D60167-4931-47E6-BA6A-407CBD079E47}" type="slidenum">
              <a:rPr spc="-25" dirty="0"/>
              <a:pPr marL="38101">
                <a:lnSpc>
                  <a:spcPts val="1239"/>
                </a:lnSpc>
              </a:pPr>
              <a:t>35</a:t>
            </a:fld>
            <a:endParaRPr spc="-25" dirty="0"/>
          </a:p>
        </p:txBody>
      </p:sp>
      <p:sp>
        <p:nvSpPr>
          <p:cNvPr id="7" name="object 7"/>
          <p:cNvSpPr txBox="1"/>
          <p:nvPr/>
        </p:nvSpPr>
        <p:spPr>
          <a:xfrm>
            <a:off x="4267200" y="5791429"/>
            <a:ext cx="975360" cy="304571"/>
          </a:xfrm>
          <a:prstGeom prst="rect">
            <a:avLst/>
          </a:prstGeom>
        </p:spPr>
        <p:txBody>
          <a:bodyPr vert="horz" wrap="square" lIns="0" tIns="12065" rIns="0" bIns="0" rtlCol="0">
            <a:spAutoFit/>
          </a:bodyPr>
          <a:lstStyle/>
          <a:p>
            <a:pPr marL="38101">
              <a:spcBef>
                <a:spcPts val="95"/>
              </a:spcBef>
            </a:pPr>
            <a:r>
              <a:rPr sz="1900" dirty="0">
                <a:latin typeface="Arial MT"/>
                <a:cs typeface="Arial MT"/>
              </a:rPr>
              <a:t>2232</a:t>
            </a:r>
            <a:r>
              <a:rPr sz="1900" spc="-10" dirty="0">
                <a:latin typeface="Arial MT"/>
                <a:cs typeface="Arial MT"/>
              </a:rPr>
              <a:t> </a:t>
            </a:r>
            <a:r>
              <a:rPr sz="1350" spc="145" dirty="0">
                <a:latin typeface="Cambria Math" panose="02040503050406030204"/>
                <a:cs typeface="Cambria Math" panose="02040503050406030204"/>
              </a:rPr>
              <a:t>𝑚</a:t>
            </a:r>
            <a:r>
              <a:rPr sz="1350" spc="15" dirty="0">
                <a:latin typeface="Cambria Math" panose="02040503050406030204"/>
                <a:cs typeface="Cambria Math" panose="02040503050406030204"/>
              </a:rPr>
              <a:t> </a:t>
            </a:r>
            <a:r>
              <a:rPr sz="1726" spc="-75" baseline="19000" dirty="0">
                <a:latin typeface="Cambria Math" panose="02040503050406030204"/>
                <a:cs typeface="Cambria Math" panose="02040503050406030204"/>
              </a:rPr>
              <a:t>3</a:t>
            </a:r>
            <a:endParaRPr sz="1726" baseline="19000">
              <a:latin typeface="Cambria Math" panose="02040503050406030204"/>
              <a:cs typeface="Cambria Math" panose="02040503050406030204"/>
            </a:endParaRPr>
          </a:p>
        </p:txBody>
      </p:sp>
      <p:sp>
        <p:nvSpPr>
          <p:cNvPr id="8" name="object 8"/>
          <p:cNvSpPr txBox="1"/>
          <p:nvPr/>
        </p:nvSpPr>
        <p:spPr>
          <a:xfrm>
            <a:off x="5637022" y="5639029"/>
            <a:ext cx="1356994" cy="304571"/>
          </a:xfrm>
          <a:prstGeom prst="rect">
            <a:avLst/>
          </a:prstGeom>
        </p:spPr>
        <p:txBody>
          <a:bodyPr vert="horz" wrap="square" lIns="0" tIns="12065" rIns="0" bIns="0" rtlCol="0">
            <a:spAutoFit/>
          </a:bodyPr>
          <a:lstStyle/>
          <a:p>
            <a:pPr marL="12701">
              <a:spcBef>
                <a:spcPts val="95"/>
              </a:spcBef>
            </a:pPr>
            <a:r>
              <a:rPr sz="1900" dirty="0">
                <a:latin typeface="Arial MT"/>
                <a:cs typeface="Arial MT"/>
              </a:rPr>
              <a:t>=</a:t>
            </a:r>
            <a:r>
              <a:rPr sz="1900" spc="-30" dirty="0">
                <a:latin typeface="Arial MT"/>
                <a:cs typeface="Arial MT"/>
              </a:rPr>
              <a:t> </a:t>
            </a:r>
            <a:r>
              <a:rPr sz="1900" dirty="0">
                <a:latin typeface="Arial MT"/>
                <a:cs typeface="Arial MT"/>
              </a:rPr>
              <a:t>156</a:t>
            </a:r>
            <a:r>
              <a:rPr sz="1900" spc="5" dirty="0">
                <a:latin typeface="Arial MT"/>
                <a:cs typeface="Arial MT"/>
              </a:rPr>
              <a:t> </a:t>
            </a:r>
            <a:r>
              <a:rPr sz="1900" b="1" i="1" spc="-20" dirty="0">
                <a:latin typeface="Verdana" panose="020B0604030504040204"/>
                <a:cs typeface="Verdana" panose="020B0604030504040204"/>
              </a:rPr>
              <a:t>µ</a:t>
            </a:r>
            <a:r>
              <a:rPr sz="1900" i="1" spc="-20" dirty="0">
                <a:latin typeface="Arial" panose="020B0604020202020204"/>
                <a:cs typeface="Arial" panose="020B0604020202020204"/>
              </a:rPr>
              <a:t>g</a:t>
            </a:r>
            <a:r>
              <a:rPr lang="en-US" altLang="en-US" sz="1900" i="1" spc="-20" dirty="0">
                <a:latin typeface="Arial" panose="020B0604020202020204"/>
                <a:cs typeface="Arial" panose="020B0604020202020204"/>
              </a:rPr>
              <a:t>/</a:t>
            </a:r>
            <a:r>
              <a:rPr sz="1900" spc="-20" dirty="0">
                <a:latin typeface="Cambria Math" panose="02040503050406030204"/>
                <a:cs typeface="Cambria Math" panose="02040503050406030204"/>
              </a:rPr>
              <a:t>𝑚</a:t>
            </a:r>
            <a:endParaRPr sz="1900" dirty="0">
              <a:latin typeface="Cambria Math" panose="02040503050406030204"/>
              <a:cs typeface="Cambria Math" panose="02040503050406030204"/>
            </a:endParaRPr>
          </a:p>
        </p:txBody>
      </p:sp>
      <p:sp>
        <p:nvSpPr>
          <p:cNvPr id="9" name="object 9"/>
          <p:cNvSpPr txBox="1"/>
          <p:nvPr/>
        </p:nvSpPr>
        <p:spPr>
          <a:xfrm>
            <a:off x="6972046" y="5555386"/>
            <a:ext cx="127001" cy="224420"/>
          </a:xfrm>
          <a:prstGeom prst="rect">
            <a:avLst/>
          </a:prstGeom>
        </p:spPr>
        <p:txBody>
          <a:bodyPr vert="horz" wrap="square" lIns="0" tIns="16510" rIns="0" bIns="0" rtlCol="0">
            <a:spAutoFit/>
          </a:bodyPr>
          <a:lstStyle/>
          <a:p>
            <a:pPr marL="12701">
              <a:spcBef>
                <a:spcPts val="130"/>
              </a:spcBef>
            </a:pPr>
            <a:r>
              <a:rPr sz="1350" spc="-50" dirty="0">
                <a:latin typeface="Cambria Math" panose="02040503050406030204"/>
                <a:cs typeface="Cambria Math" panose="02040503050406030204"/>
              </a:rPr>
              <a:t>3</a:t>
            </a:r>
            <a:endParaRPr sz="1350">
              <a:latin typeface="Cambria Math" panose="02040503050406030204"/>
              <a:cs typeface="Cambria Math" panose="02040503050406030204"/>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xfrm>
            <a:off x="8993409" y="6464911"/>
            <a:ext cx="198636" cy="156068"/>
          </a:xfrm>
          <a:prstGeom prst="rect">
            <a:avLst/>
          </a:prstGeom>
        </p:spPr>
        <p:txBody>
          <a:bodyPr vert="horz" wrap="square" lIns="0" tIns="0" rIns="0" bIns="0" rtlCol="0">
            <a:spAutoFit/>
          </a:bodyPr>
          <a:lstStyle/>
          <a:p>
            <a:pPr marL="38101">
              <a:lnSpc>
                <a:spcPts val="1239"/>
              </a:lnSpc>
            </a:pPr>
            <a:fld id="{81D60167-4931-47E6-BA6A-407CBD079E47}" type="slidenum">
              <a:rPr spc="-25" dirty="0"/>
              <a:pPr marL="38101">
                <a:lnSpc>
                  <a:spcPts val="1239"/>
                </a:lnSpc>
              </a:pPr>
              <a:t>36</a:t>
            </a:fld>
            <a:endParaRPr spc="-25" dirty="0"/>
          </a:p>
        </p:txBody>
      </p:sp>
      <p:sp>
        <p:nvSpPr>
          <p:cNvPr id="2" name="object 2"/>
          <p:cNvSpPr txBox="1">
            <a:spLocks noGrp="1"/>
          </p:cNvSpPr>
          <p:nvPr>
            <p:ph type="title"/>
          </p:nvPr>
        </p:nvSpPr>
        <p:spPr>
          <a:xfrm>
            <a:off x="578917" y="209550"/>
            <a:ext cx="9355023" cy="892423"/>
          </a:xfrm>
          <a:prstGeom prst="rect">
            <a:avLst/>
          </a:prstGeom>
        </p:spPr>
        <p:txBody>
          <a:bodyPr vert="horz" wrap="square" lIns="0" tIns="396112" rIns="0" bIns="0" rtlCol="0">
            <a:spAutoFit/>
          </a:bodyPr>
          <a:lstStyle/>
          <a:p>
            <a:pPr marL="131448">
              <a:spcBef>
                <a:spcPts val="105"/>
              </a:spcBef>
            </a:pPr>
            <a:r>
              <a:rPr spc="-25" dirty="0"/>
              <a:t>Tape</a:t>
            </a:r>
            <a:r>
              <a:rPr spc="-185" dirty="0"/>
              <a:t> </a:t>
            </a:r>
            <a:r>
              <a:rPr spc="-10" dirty="0"/>
              <a:t>Sampler</a:t>
            </a:r>
          </a:p>
        </p:txBody>
      </p:sp>
      <p:sp>
        <p:nvSpPr>
          <p:cNvPr id="3" name="object 3"/>
          <p:cNvSpPr txBox="1"/>
          <p:nvPr/>
        </p:nvSpPr>
        <p:spPr>
          <a:xfrm>
            <a:off x="651967" y="1371554"/>
            <a:ext cx="10845166" cy="4074320"/>
          </a:xfrm>
          <a:prstGeom prst="rect">
            <a:avLst/>
          </a:prstGeom>
        </p:spPr>
        <p:txBody>
          <a:bodyPr vert="horz" wrap="square" lIns="0" tIns="196215" rIns="0" bIns="0" rtlCol="0">
            <a:spAutoFit/>
          </a:bodyPr>
          <a:lstStyle/>
          <a:p>
            <a:pPr marL="240036" indent="-227336">
              <a:spcBef>
                <a:spcPts val="1545"/>
              </a:spcBef>
              <a:buChar char="•"/>
              <a:tabLst>
                <a:tab pos="239400" algn="l"/>
              </a:tabLst>
            </a:pPr>
            <a:r>
              <a:rPr sz="2400" dirty="0">
                <a:latin typeface="Arial MT"/>
                <a:cs typeface="Arial MT"/>
              </a:rPr>
              <a:t>Another</a:t>
            </a:r>
            <a:r>
              <a:rPr sz="2400" spc="-60" dirty="0">
                <a:latin typeface="Arial MT"/>
                <a:cs typeface="Arial MT"/>
              </a:rPr>
              <a:t> </a:t>
            </a:r>
            <a:r>
              <a:rPr sz="2400" dirty="0">
                <a:latin typeface="Arial MT"/>
                <a:cs typeface="Arial MT"/>
              </a:rPr>
              <a:t>popular</a:t>
            </a:r>
            <a:r>
              <a:rPr sz="2400" spc="-30" dirty="0">
                <a:latin typeface="Arial MT"/>
                <a:cs typeface="Arial MT"/>
              </a:rPr>
              <a:t> </a:t>
            </a:r>
            <a:r>
              <a:rPr sz="2400" dirty="0">
                <a:latin typeface="Arial MT"/>
                <a:cs typeface="Arial MT"/>
              </a:rPr>
              <a:t>method</a:t>
            </a:r>
            <a:r>
              <a:rPr sz="2400" spc="-65" dirty="0">
                <a:latin typeface="Arial MT"/>
                <a:cs typeface="Arial MT"/>
              </a:rPr>
              <a:t> </a:t>
            </a:r>
            <a:r>
              <a:rPr sz="2400" dirty="0">
                <a:latin typeface="Arial MT"/>
                <a:cs typeface="Arial MT"/>
              </a:rPr>
              <a:t>of</a:t>
            </a:r>
            <a:r>
              <a:rPr sz="2400" spc="-55" dirty="0">
                <a:latin typeface="Arial MT"/>
                <a:cs typeface="Arial MT"/>
              </a:rPr>
              <a:t> </a:t>
            </a:r>
            <a:r>
              <a:rPr sz="2400" dirty="0">
                <a:solidFill>
                  <a:srgbClr val="FF0000"/>
                </a:solidFill>
                <a:latin typeface="Arial MT"/>
                <a:cs typeface="Arial MT"/>
              </a:rPr>
              <a:t>sampling</a:t>
            </a:r>
            <a:r>
              <a:rPr sz="2400" spc="-34" dirty="0">
                <a:solidFill>
                  <a:srgbClr val="FF0000"/>
                </a:solidFill>
                <a:latin typeface="Arial MT"/>
                <a:cs typeface="Arial MT"/>
              </a:rPr>
              <a:t> </a:t>
            </a:r>
            <a:r>
              <a:rPr sz="2400" dirty="0">
                <a:solidFill>
                  <a:srgbClr val="FF0000"/>
                </a:solidFill>
                <a:latin typeface="Arial MT"/>
                <a:cs typeface="Arial MT"/>
              </a:rPr>
              <a:t>particulate</a:t>
            </a:r>
            <a:r>
              <a:rPr sz="2400" spc="-46" dirty="0">
                <a:solidFill>
                  <a:srgbClr val="FF0000"/>
                </a:solidFill>
                <a:latin typeface="Arial MT"/>
                <a:cs typeface="Arial MT"/>
              </a:rPr>
              <a:t> </a:t>
            </a:r>
            <a:r>
              <a:rPr sz="2400" dirty="0">
                <a:solidFill>
                  <a:srgbClr val="FF0000"/>
                </a:solidFill>
                <a:latin typeface="Arial MT"/>
                <a:cs typeface="Arial MT"/>
              </a:rPr>
              <a:t>level</a:t>
            </a:r>
            <a:r>
              <a:rPr sz="2400" spc="-41" dirty="0">
                <a:solidFill>
                  <a:srgbClr val="FF0000"/>
                </a:solidFill>
                <a:latin typeface="Arial MT"/>
                <a:cs typeface="Arial MT"/>
              </a:rPr>
              <a:t> </a:t>
            </a:r>
            <a:r>
              <a:rPr sz="2400" dirty="0">
                <a:solidFill>
                  <a:srgbClr val="FF0000"/>
                </a:solidFill>
                <a:latin typeface="Arial MT"/>
                <a:cs typeface="Arial MT"/>
              </a:rPr>
              <a:t>of</a:t>
            </a:r>
            <a:r>
              <a:rPr sz="2400" spc="-65" dirty="0">
                <a:solidFill>
                  <a:srgbClr val="FF0000"/>
                </a:solidFill>
                <a:latin typeface="Arial MT"/>
                <a:cs typeface="Arial MT"/>
              </a:rPr>
              <a:t> </a:t>
            </a:r>
            <a:r>
              <a:rPr sz="2400" dirty="0">
                <a:solidFill>
                  <a:srgbClr val="FF0000"/>
                </a:solidFill>
                <a:latin typeface="Arial MT"/>
                <a:cs typeface="Arial MT"/>
              </a:rPr>
              <a:t>the</a:t>
            </a:r>
            <a:r>
              <a:rPr sz="2400" spc="-70" dirty="0">
                <a:solidFill>
                  <a:srgbClr val="FF0000"/>
                </a:solidFill>
                <a:latin typeface="Arial MT"/>
                <a:cs typeface="Arial MT"/>
              </a:rPr>
              <a:t> </a:t>
            </a:r>
            <a:r>
              <a:rPr sz="2400" dirty="0">
                <a:solidFill>
                  <a:srgbClr val="FF0000"/>
                </a:solidFill>
                <a:latin typeface="Arial MT"/>
                <a:cs typeface="Arial MT"/>
              </a:rPr>
              <a:t>atmosphere</a:t>
            </a:r>
            <a:r>
              <a:rPr sz="2400" spc="-20" dirty="0">
                <a:solidFill>
                  <a:srgbClr val="FF0000"/>
                </a:solidFill>
                <a:latin typeface="Arial MT"/>
                <a:cs typeface="Arial MT"/>
              </a:rPr>
              <a:t> </a:t>
            </a:r>
            <a:r>
              <a:rPr sz="2400" dirty="0">
                <a:latin typeface="Arial MT"/>
                <a:cs typeface="Arial MT"/>
              </a:rPr>
              <a:t>is</a:t>
            </a:r>
            <a:r>
              <a:rPr sz="2400" spc="-55" dirty="0">
                <a:latin typeface="Arial MT"/>
                <a:cs typeface="Arial MT"/>
              </a:rPr>
              <a:t> </a:t>
            </a:r>
            <a:r>
              <a:rPr sz="2400" spc="-25" dirty="0">
                <a:latin typeface="Arial MT"/>
                <a:cs typeface="Arial MT"/>
              </a:rPr>
              <a:t>the</a:t>
            </a:r>
            <a:endParaRPr sz="2400" dirty="0">
              <a:latin typeface="Arial MT"/>
              <a:cs typeface="Arial MT"/>
            </a:endParaRPr>
          </a:p>
          <a:p>
            <a:pPr marL="241306">
              <a:spcBef>
                <a:spcPts val="1440"/>
              </a:spcBef>
            </a:pPr>
            <a:r>
              <a:rPr sz="2400" spc="-20" dirty="0">
                <a:solidFill>
                  <a:srgbClr val="FF0000"/>
                </a:solidFill>
                <a:latin typeface="Arial MT"/>
                <a:cs typeface="Arial MT"/>
              </a:rPr>
              <a:t>soil-</a:t>
            </a:r>
            <a:r>
              <a:rPr sz="2400" dirty="0">
                <a:solidFill>
                  <a:srgbClr val="FF0000"/>
                </a:solidFill>
                <a:latin typeface="Arial MT"/>
                <a:cs typeface="Arial MT"/>
              </a:rPr>
              <a:t>haze</a:t>
            </a:r>
            <a:r>
              <a:rPr sz="2400" spc="-60" dirty="0">
                <a:solidFill>
                  <a:srgbClr val="FF0000"/>
                </a:solidFill>
                <a:latin typeface="Arial MT"/>
                <a:cs typeface="Arial MT"/>
              </a:rPr>
              <a:t> </a:t>
            </a:r>
            <a:r>
              <a:rPr sz="2400" dirty="0">
                <a:solidFill>
                  <a:srgbClr val="FF0000"/>
                </a:solidFill>
                <a:latin typeface="Arial MT"/>
                <a:cs typeface="Arial MT"/>
              </a:rPr>
              <a:t>particle</a:t>
            </a:r>
            <a:r>
              <a:rPr sz="2400" spc="-70" dirty="0">
                <a:solidFill>
                  <a:srgbClr val="FF0000"/>
                </a:solidFill>
                <a:latin typeface="Arial MT"/>
                <a:cs typeface="Arial MT"/>
              </a:rPr>
              <a:t> </a:t>
            </a:r>
            <a:r>
              <a:rPr sz="2400" spc="-10" dirty="0">
                <a:solidFill>
                  <a:srgbClr val="FF0000"/>
                </a:solidFill>
                <a:latin typeface="Arial MT"/>
                <a:cs typeface="Arial MT"/>
              </a:rPr>
              <a:t>sampler</a:t>
            </a:r>
            <a:r>
              <a:rPr sz="2400" spc="-10" dirty="0">
                <a:latin typeface="Arial MT"/>
                <a:cs typeface="Arial MT"/>
              </a:rPr>
              <a:t>.</a:t>
            </a:r>
            <a:endParaRPr sz="2400" dirty="0">
              <a:latin typeface="Arial MT"/>
              <a:cs typeface="Arial MT"/>
            </a:endParaRPr>
          </a:p>
          <a:p>
            <a:pPr marL="241306" marR="5081" indent="-228606">
              <a:lnSpc>
                <a:spcPct val="150000"/>
              </a:lnSpc>
              <a:spcBef>
                <a:spcPts val="994"/>
              </a:spcBef>
              <a:buChar char="•"/>
              <a:tabLst>
                <a:tab pos="241306" algn="l"/>
                <a:tab pos="324493" algn="l"/>
              </a:tabLst>
            </a:pPr>
            <a:r>
              <a:rPr sz="2400" dirty="0">
                <a:latin typeface="Arial MT"/>
                <a:cs typeface="Arial MT"/>
              </a:rPr>
              <a:t>	In</a:t>
            </a:r>
            <a:r>
              <a:rPr sz="2400" spc="-55" dirty="0">
                <a:latin typeface="Arial MT"/>
                <a:cs typeface="Arial MT"/>
              </a:rPr>
              <a:t> </a:t>
            </a:r>
            <a:r>
              <a:rPr sz="2400" dirty="0">
                <a:latin typeface="Arial MT"/>
                <a:cs typeface="Arial MT"/>
              </a:rPr>
              <a:t>this</a:t>
            </a:r>
            <a:r>
              <a:rPr sz="2400" spc="-55" dirty="0">
                <a:latin typeface="Arial MT"/>
                <a:cs typeface="Arial MT"/>
              </a:rPr>
              <a:t> </a:t>
            </a:r>
            <a:r>
              <a:rPr sz="2400" dirty="0">
                <a:latin typeface="Arial MT"/>
                <a:cs typeface="Arial MT"/>
              </a:rPr>
              <a:t>method,</a:t>
            </a:r>
            <a:r>
              <a:rPr sz="2400" spc="-55" dirty="0">
                <a:latin typeface="Arial MT"/>
                <a:cs typeface="Arial MT"/>
              </a:rPr>
              <a:t> </a:t>
            </a:r>
            <a:r>
              <a:rPr sz="2400" dirty="0">
                <a:solidFill>
                  <a:srgbClr val="FF0000"/>
                </a:solidFill>
                <a:latin typeface="Arial MT"/>
                <a:cs typeface="Arial MT"/>
              </a:rPr>
              <a:t>a</a:t>
            </a:r>
            <a:r>
              <a:rPr sz="2400" spc="-55" dirty="0">
                <a:solidFill>
                  <a:srgbClr val="FF0000"/>
                </a:solidFill>
                <a:latin typeface="Arial MT"/>
                <a:cs typeface="Arial MT"/>
              </a:rPr>
              <a:t> </a:t>
            </a:r>
            <a:r>
              <a:rPr sz="2400" dirty="0">
                <a:solidFill>
                  <a:srgbClr val="FF0000"/>
                </a:solidFill>
                <a:latin typeface="Arial MT"/>
                <a:cs typeface="Arial MT"/>
              </a:rPr>
              <a:t>known</a:t>
            </a:r>
            <a:r>
              <a:rPr sz="2400" spc="-46" dirty="0">
                <a:solidFill>
                  <a:srgbClr val="FF0000"/>
                </a:solidFill>
                <a:latin typeface="Arial MT"/>
                <a:cs typeface="Arial MT"/>
              </a:rPr>
              <a:t> </a:t>
            </a:r>
            <a:r>
              <a:rPr sz="2400" dirty="0">
                <a:solidFill>
                  <a:srgbClr val="FF0000"/>
                </a:solidFill>
                <a:latin typeface="Arial MT"/>
                <a:cs typeface="Arial MT"/>
              </a:rPr>
              <a:t>volume</a:t>
            </a:r>
            <a:r>
              <a:rPr sz="2400" spc="-41" dirty="0">
                <a:solidFill>
                  <a:srgbClr val="FF0000"/>
                </a:solidFill>
                <a:latin typeface="Arial MT"/>
                <a:cs typeface="Arial MT"/>
              </a:rPr>
              <a:t> </a:t>
            </a:r>
            <a:r>
              <a:rPr sz="2400" dirty="0">
                <a:solidFill>
                  <a:srgbClr val="FF0000"/>
                </a:solidFill>
                <a:latin typeface="Arial MT"/>
                <a:cs typeface="Arial MT"/>
              </a:rPr>
              <a:t>of</a:t>
            </a:r>
            <a:r>
              <a:rPr sz="2400" spc="-50" dirty="0">
                <a:solidFill>
                  <a:srgbClr val="FF0000"/>
                </a:solidFill>
                <a:latin typeface="Arial MT"/>
                <a:cs typeface="Arial MT"/>
              </a:rPr>
              <a:t> </a:t>
            </a:r>
            <a:r>
              <a:rPr sz="2400" dirty="0">
                <a:solidFill>
                  <a:srgbClr val="FF0000"/>
                </a:solidFill>
                <a:latin typeface="Arial MT"/>
                <a:cs typeface="Arial MT"/>
              </a:rPr>
              <a:t>air</a:t>
            </a:r>
            <a:r>
              <a:rPr sz="2400" spc="-55" dirty="0">
                <a:solidFill>
                  <a:srgbClr val="FF0000"/>
                </a:solidFill>
                <a:latin typeface="Arial MT"/>
                <a:cs typeface="Arial MT"/>
              </a:rPr>
              <a:t> </a:t>
            </a:r>
            <a:r>
              <a:rPr sz="2400" dirty="0">
                <a:solidFill>
                  <a:srgbClr val="FF0000"/>
                </a:solidFill>
                <a:latin typeface="Arial MT"/>
                <a:cs typeface="Arial MT"/>
              </a:rPr>
              <a:t>is</a:t>
            </a:r>
            <a:r>
              <a:rPr sz="2400" spc="-50" dirty="0">
                <a:solidFill>
                  <a:srgbClr val="FF0000"/>
                </a:solidFill>
                <a:latin typeface="Arial MT"/>
                <a:cs typeface="Arial MT"/>
              </a:rPr>
              <a:t> </a:t>
            </a:r>
            <a:r>
              <a:rPr sz="2400" dirty="0">
                <a:solidFill>
                  <a:srgbClr val="FF0000"/>
                </a:solidFill>
                <a:latin typeface="Arial MT"/>
                <a:cs typeface="Arial MT"/>
              </a:rPr>
              <a:t>passed</a:t>
            </a:r>
            <a:r>
              <a:rPr sz="2400" spc="-50" dirty="0">
                <a:solidFill>
                  <a:srgbClr val="FF0000"/>
                </a:solidFill>
                <a:latin typeface="Arial MT"/>
                <a:cs typeface="Arial MT"/>
              </a:rPr>
              <a:t> </a:t>
            </a:r>
            <a:r>
              <a:rPr sz="2400" dirty="0">
                <a:solidFill>
                  <a:srgbClr val="FF0000"/>
                </a:solidFill>
                <a:latin typeface="Arial MT"/>
                <a:cs typeface="Arial MT"/>
              </a:rPr>
              <a:t>through</a:t>
            </a:r>
            <a:r>
              <a:rPr sz="2400" spc="-55" dirty="0">
                <a:solidFill>
                  <a:srgbClr val="FF0000"/>
                </a:solidFill>
                <a:latin typeface="Arial MT"/>
                <a:cs typeface="Arial MT"/>
              </a:rPr>
              <a:t> </a:t>
            </a:r>
            <a:r>
              <a:rPr sz="2400" dirty="0">
                <a:solidFill>
                  <a:srgbClr val="FF0000"/>
                </a:solidFill>
                <a:latin typeface="Arial MT"/>
                <a:cs typeface="Arial MT"/>
              </a:rPr>
              <a:t>a</a:t>
            </a:r>
            <a:r>
              <a:rPr sz="2400" spc="-50" dirty="0">
                <a:solidFill>
                  <a:srgbClr val="FF0000"/>
                </a:solidFill>
                <a:latin typeface="Arial MT"/>
                <a:cs typeface="Arial MT"/>
              </a:rPr>
              <a:t> </a:t>
            </a:r>
            <a:r>
              <a:rPr sz="2400" dirty="0">
                <a:solidFill>
                  <a:srgbClr val="FF0000"/>
                </a:solidFill>
                <a:latin typeface="Arial MT"/>
                <a:cs typeface="Arial MT"/>
              </a:rPr>
              <a:t>paper</a:t>
            </a:r>
            <a:r>
              <a:rPr sz="2400" spc="-46" dirty="0">
                <a:solidFill>
                  <a:srgbClr val="FF0000"/>
                </a:solidFill>
                <a:latin typeface="Arial MT"/>
                <a:cs typeface="Arial MT"/>
              </a:rPr>
              <a:t> </a:t>
            </a:r>
            <a:r>
              <a:rPr sz="2400" dirty="0">
                <a:solidFill>
                  <a:srgbClr val="FF0000"/>
                </a:solidFill>
                <a:latin typeface="Arial MT"/>
                <a:cs typeface="Arial MT"/>
              </a:rPr>
              <a:t>tape</a:t>
            </a:r>
            <a:r>
              <a:rPr sz="2400" spc="-55" dirty="0">
                <a:solidFill>
                  <a:srgbClr val="FF0000"/>
                </a:solidFill>
                <a:latin typeface="Arial MT"/>
                <a:cs typeface="Arial MT"/>
              </a:rPr>
              <a:t> </a:t>
            </a:r>
            <a:r>
              <a:rPr sz="2400" dirty="0">
                <a:solidFill>
                  <a:srgbClr val="FF0000"/>
                </a:solidFill>
                <a:latin typeface="Arial MT"/>
                <a:cs typeface="Arial MT"/>
              </a:rPr>
              <a:t>which</a:t>
            </a:r>
            <a:r>
              <a:rPr sz="2400" spc="-46" dirty="0">
                <a:solidFill>
                  <a:srgbClr val="FF0000"/>
                </a:solidFill>
                <a:latin typeface="Arial MT"/>
                <a:cs typeface="Arial MT"/>
              </a:rPr>
              <a:t> </a:t>
            </a:r>
            <a:r>
              <a:rPr sz="2400" spc="-25" dirty="0">
                <a:solidFill>
                  <a:srgbClr val="FF0000"/>
                </a:solidFill>
                <a:latin typeface="Arial MT"/>
                <a:cs typeface="Arial MT"/>
              </a:rPr>
              <a:t>is </a:t>
            </a:r>
            <a:r>
              <a:rPr sz="2400" dirty="0">
                <a:solidFill>
                  <a:srgbClr val="FF0000"/>
                </a:solidFill>
                <a:latin typeface="Arial MT"/>
                <a:cs typeface="Arial MT"/>
              </a:rPr>
              <a:t>advanced</a:t>
            </a:r>
            <a:r>
              <a:rPr sz="2400" spc="-30" dirty="0">
                <a:solidFill>
                  <a:srgbClr val="FF0000"/>
                </a:solidFill>
                <a:latin typeface="Arial MT"/>
                <a:cs typeface="Arial MT"/>
              </a:rPr>
              <a:t> </a:t>
            </a:r>
            <a:r>
              <a:rPr sz="2400" dirty="0">
                <a:solidFill>
                  <a:srgbClr val="FF0000"/>
                </a:solidFill>
                <a:latin typeface="Arial MT"/>
                <a:cs typeface="Arial MT"/>
              </a:rPr>
              <a:t>in</a:t>
            </a:r>
            <a:r>
              <a:rPr sz="2400" spc="-55" dirty="0">
                <a:solidFill>
                  <a:srgbClr val="FF0000"/>
                </a:solidFill>
                <a:latin typeface="Arial MT"/>
                <a:cs typeface="Arial MT"/>
              </a:rPr>
              <a:t> </a:t>
            </a:r>
            <a:r>
              <a:rPr sz="2400" dirty="0">
                <a:solidFill>
                  <a:srgbClr val="FF0000"/>
                </a:solidFill>
                <a:latin typeface="Arial MT"/>
                <a:cs typeface="Arial MT"/>
              </a:rPr>
              <a:t>discrete</a:t>
            </a:r>
            <a:r>
              <a:rPr sz="2400" spc="-30" dirty="0">
                <a:solidFill>
                  <a:srgbClr val="FF0000"/>
                </a:solidFill>
                <a:latin typeface="Arial MT"/>
                <a:cs typeface="Arial MT"/>
              </a:rPr>
              <a:t> </a:t>
            </a:r>
            <a:r>
              <a:rPr sz="2400" dirty="0">
                <a:solidFill>
                  <a:srgbClr val="FF0000"/>
                </a:solidFill>
                <a:latin typeface="Arial MT"/>
                <a:cs typeface="Arial MT"/>
              </a:rPr>
              <a:t>time</a:t>
            </a:r>
            <a:r>
              <a:rPr sz="2400" spc="-55" dirty="0">
                <a:solidFill>
                  <a:srgbClr val="FF0000"/>
                </a:solidFill>
                <a:latin typeface="Arial MT"/>
                <a:cs typeface="Arial MT"/>
              </a:rPr>
              <a:t> </a:t>
            </a:r>
            <a:r>
              <a:rPr sz="2400" dirty="0">
                <a:solidFill>
                  <a:srgbClr val="FF0000"/>
                </a:solidFill>
                <a:latin typeface="Arial MT"/>
                <a:cs typeface="Arial MT"/>
              </a:rPr>
              <a:t>intervals</a:t>
            </a:r>
            <a:r>
              <a:rPr sz="2400" spc="-41" dirty="0">
                <a:solidFill>
                  <a:srgbClr val="FF0000"/>
                </a:solidFill>
                <a:latin typeface="Arial MT"/>
                <a:cs typeface="Arial MT"/>
              </a:rPr>
              <a:t> </a:t>
            </a:r>
            <a:r>
              <a:rPr sz="2400" dirty="0">
                <a:solidFill>
                  <a:srgbClr val="FF0000"/>
                </a:solidFill>
                <a:latin typeface="Arial MT"/>
                <a:cs typeface="Arial MT"/>
              </a:rPr>
              <a:t>from</a:t>
            </a:r>
            <a:r>
              <a:rPr sz="2400" spc="-75" dirty="0">
                <a:solidFill>
                  <a:srgbClr val="FF0000"/>
                </a:solidFill>
                <a:latin typeface="Arial MT"/>
                <a:cs typeface="Arial MT"/>
              </a:rPr>
              <a:t> </a:t>
            </a:r>
            <a:r>
              <a:rPr sz="2400" dirty="0">
                <a:solidFill>
                  <a:srgbClr val="FF0000"/>
                </a:solidFill>
                <a:latin typeface="Arial MT"/>
                <a:cs typeface="Arial MT"/>
              </a:rPr>
              <a:t>a</a:t>
            </a:r>
            <a:r>
              <a:rPr sz="2400" spc="-46" dirty="0">
                <a:solidFill>
                  <a:srgbClr val="FF0000"/>
                </a:solidFill>
                <a:latin typeface="Arial MT"/>
                <a:cs typeface="Arial MT"/>
              </a:rPr>
              <a:t> </a:t>
            </a:r>
            <a:r>
              <a:rPr sz="2400" dirty="0">
                <a:solidFill>
                  <a:srgbClr val="FF0000"/>
                </a:solidFill>
                <a:latin typeface="Arial MT"/>
                <a:cs typeface="Arial MT"/>
              </a:rPr>
              <a:t>supply</a:t>
            </a:r>
            <a:r>
              <a:rPr sz="2400" spc="-34" dirty="0">
                <a:solidFill>
                  <a:srgbClr val="FF0000"/>
                </a:solidFill>
                <a:latin typeface="Arial MT"/>
                <a:cs typeface="Arial MT"/>
              </a:rPr>
              <a:t> </a:t>
            </a:r>
            <a:r>
              <a:rPr sz="2400" dirty="0">
                <a:solidFill>
                  <a:srgbClr val="FF0000"/>
                </a:solidFill>
                <a:latin typeface="Arial MT"/>
                <a:cs typeface="Arial MT"/>
              </a:rPr>
              <a:t>reel</a:t>
            </a:r>
            <a:r>
              <a:rPr sz="2400" spc="-41" dirty="0">
                <a:solidFill>
                  <a:srgbClr val="FF0000"/>
                </a:solidFill>
                <a:latin typeface="Arial MT"/>
                <a:cs typeface="Arial MT"/>
              </a:rPr>
              <a:t> </a:t>
            </a:r>
            <a:r>
              <a:rPr sz="2400" dirty="0">
                <a:solidFill>
                  <a:srgbClr val="FF0000"/>
                </a:solidFill>
                <a:latin typeface="Arial MT"/>
                <a:cs typeface="Arial MT"/>
              </a:rPr>
              <a:t>to</a:t>
            </a:r>
            <a:r>
              <a:rPr sz="2400" spc="-50" dirty="0">
                <a:solidFill>
                  <a:srgbClr val="FF0000"/>
                </a:solidFill>
                <a:latin typeface="Arial MT"/>
                <a:cs typeface="Arial MT"/>
              </a:rPr>
              <a:t> </a:t>
            </a:r>
            <a:r>
              <a:rPr sz="2400" dirty="0">
                <a:solidFill>
                  <a:srgbClr val="FF0000"/>
                </a:solidFill>
                <a:latin typeface="Arial MT"/>
                <a:cs typeface="Arial MT"/>
              </a:rPr>
              <a:t>a</a:t>
            </a:r>
            <a:r>
              <a:rPr sz="2400" spc="-60" dirty="0">
                <a:solidFill>
                  <a:srgbClr val="FF0000"/>
                </a:solidFill>
                <a:latin typeface="Arial MT"/>
                <a:cs typeface="Arial MT"/>
              </a:rPr>
              <a:t> </a:t>
            </a:r>
            <a:r>
              <a:rPr sz="2400" dirty="0">
                <a:solidFill>
                  <a:srgbClr val="FF0000"/>
                </a:solidFill>
                <a:latin typeface="Arial MT"/>
                <a:cs typeface="Arial MT"/>
              </a:rPr>
              <a:t>take-up</a:t>
            </a:r>
            <a:r>
              <a:rPr sz="2400" spc="-55" dirty="0">
                <a:solidFill>
                  <a:srgbClr val="FF0000"/>
                </a:solidFill>
                <a:latin typeface="Arial MT"/>
                <a:cs typeface="Arial MT"/>
              </a:rPr>
              <a:t> </a:t>
            </a:r>
            <a:r>
              <a:rPr sz="2400" spc="-10" dirty="0">
                <a:solidFill>
                  <a:srgbClr val="FF0000"/>
                </a:solidFill>
                <a:latin typeface="Arial MT"/>
                <a:cs typeface="Arial MT"/>
              </a:rPr>
              <a:t>reel</a:t>
            </a:r>
            <a:r>
              <a:rPr sz="2400" spc="-10" dirty="0">
                <a:latin typeface="Arial MT"/>
                <a:cs typeface="Arial MT"/>
              </a:rPr>
              <a:t>.</a:t>
            </a:r>
            <a:endParaRPr sz="2400" dirty="0">
              <a:latin typeface="Arial MT"/>
              <a:cs typeface="Arial MT"/>
            </a:endParaRPr>
          </a:p>
          <a:p>
            <a:pPr marL="241306" marR="192410" indent="-228606">
              <a:lnSpc>
                <a:spcPct val="150000"/>
              </a:lnSpc>
              <a:spcBef>
                <a:spcPts val="1015"/>
              </a:spcBef>
              <a:buChar char="•"/>
              <a:tabLst>
                <a:tab pos="241306" algn="l"/>
                <a:tab pos="324493" algn="l"/>
              </a:tabLst>
            </a:pPr>
            <a:r>
              <a:rPr sz="2400" dirty="0">
                <a:latin typeface="Arial MT"/>
                <a:cs typeface="Arial MT"/>
              </a:rPr>
              <a:t>	</a:t>
            </a:r>
            <a:r>
              <a:rPr sz="2400" dirty="0">
                <a:solidFill>
                  <a:srgbClr val="FF0000"/>
                </a:solidFill>
                <a:latin typeface="Arial MT"/>
                <a:cs typeface="Arial MT"/>
              </a:rPr>
              <a:t>During</a:t>
            </a:r>
            <a:r>
              <a:rPr sz="2400" spc="-60" dirty="0">
                <a:solidFill>
                  <a:srgbClr val="FF0000"/>
                </a:solidFill>
                <a:latin typeface="Arial MT"/>
                <a:cs typeface="Arial MT"/>
              </a:rPr>
              <a:t> </a:t>
            </a:r>
            <a:r>
              <a:rPr sz="2400" dirty="0">
                <a:solidFill>
                  <a:srgbClr val="FF0000"/>
                </a:solidFill>
                <a:latin typeface="Arial MT"/>
                <a:cs typeface="Arial MT"/>
              </a:rPr>
              <a:t>the</a:t>
            </a:r>
            <a:r>
              <a:rPr sz="2400" spc="-75" dirty="0">
                <a:solidFill>
                  <a:srgbClr val="FF0000"/>
                </a:solidFill>
                <a:latin typeface="Arial MT"/>
                <a:cs typeface="Arial MT"/>
              </a:rPr>
              <a:t> </a:t>
            </a:r>
            <a:r>
              <a:rPr sz="2400" dirty="0">
                <a:solidFill>
                  <a:srgbClr val="FF0000"/>
                </a:solidFill>
                <a:latin typeface="Arial MT"/>
                <a:cs typeface="Arial MT"/>
              </a:rPr>
              <a:t>sampling</a:t>
            </a:r>
            <a:r>
              <a:rPr sz="2400" spc="-50" dirty="0">
                <a:solidFill>
                  <a:srgbClr val="FF0000"/>
                </a:solidFill>
                <a:latin typeface="Arial MT"/>
                <a:cs typeface="Arial MT"/>
              </a:rPr>
              <a:t> </a:t>
            </a:r>
            <a:r>
              <a:rPr sz="2400" dirty="0">
                <a:solidFill>
                  <a:srgbClr val="FF0000"/>
                </a:solidFill>
                <a:latin typeface="Arial MT"/>
                <a:cs typeface="Arial MT"/>
              </a:rPr>
              <a:t>period,</a:t>
            </a:r>
            <a:r>
              <a:rPr sz="2400" spc="-70" dirty="0">
                <a:solidFill>
                  <a:srgbClr val="FF0000"/>
                </a:solidFill>
                <a:latin typeface="Arial MT"/>
                <a:cs typeface="Arial MT"/>
              </a:rPr>
              <a:t> </a:t>
            </a:r>
            <a:r>
              <a:rPr sz="2400" dirty="0">
                <a:solidFill>
                  <a:srgbClr val="FF0000"/>
                </a:solidFill>
                <a:latin typeface="Arial MT"/>
                <a:cs typeface="Arial MT"/>
              </a:rPr>
              <a:t>the</a:t>
            </a:r>
            <a:r>
              <a:rPr sz="2400" spc="-75" dirty="0">
                <a:solidFill>
                  <a:srgbClr val="FF0000"/>
                </a:solidFill>
                <a:latin typeface="Arial MT"/>
                <a:cs typeface="Arial MT"/>
              </a:rPr>
              <a:t> </a:t>
            </a:r>
            <a:r>
              <a:rPr sz="2400" dirty="0">
                <a:solidFill>
                  <a:srgbClr val="FF0000"/>
                </a:solidFill>
                <a:latin typeface="Arial MT"/>
                <a:cs typeface="Arial MT"/>
              </a:rPr>
              <a:t>tape</a:t>
            </a:r>
            <a:r>
              <a:rPr sz="2400" spc="-85" dirty="0">
                <a:solidFill>
                  <a:srgbClr val="FF0000"/>
                </a:solidFill>
                <a:latin typeface="Arial MT"/>
                <a:cs typeface="Arial MT"/>
              </a:rPr>
              <a:t> </a:t>
            </a:r>
            <a:r>
              <a:rPr sz="2400" dirty="0">
                <a:solidFill>
                  <a:srgbClr val="FF0000"/>
                </a:solidFill>
                <a:latin typeface="Arial MT"/>
                <a:cs typeface="Arial MT"/>
              </a:rPr>
              <a:t>is</a:t>
            </a:r>
            <a:r>
              <a:rPr sz="2400" spc="-75" dirty="0">
                <a:solidFill>
                  <a:srgbClr val="FF0000"/>
                </a:solidFill>
                <a:latin typeface="Arial MT"/>
                <a:cs typeface="Arial MT"/>
              </a:rPr>
              <a:t> </a:t>
            </a:r>
            <a:r>
              <a:rPr sz="2400" dirty="0">
                <a:solidFill>
                  <a:srgbClr val="FF0000"/>
                </a:solidFill>
                <a:latin typeface="Arial MT"/>
                <a:cs typeface="Arial MT"/>
              </a:rPr>
              <a:t>held</a:t>
            </a:r>
            <a:r>
              <a:rPr sz="2400" spc="-70" dirty="0">
                <a:solidFill>
                  <a:srgbClr val="FF0000"/>
                </a:solidFill>
                <a:latin typeface="Arial MT"/>
                <a:cs typeface="Arial MT"/>
              </a:rPr>
              <a:t> </a:t>
            </a:r>
            <a:r>
              <a:rPr sz="2400" spc="-10" dirty="0">
                <a:solidFill>
                  <a:srgbClr val="FF0000"/>
                </a:solidFill>
                <a:latin typeface="Arial MT"/>
                <a:cs typeface="Arial MT"/>
              </a:rPr>
              <a:t>stationary.</a:t>
            </a:r>
            <a:r>
              <a:rPr sz="2400" spc="-95" dirty="0">
                <a:solidFill>
                  <a:srgbClr val="FF0000"/>
                </a:solidFill>
                <a:latin typeface="Arial MT"/>
                <a:cs typeface="Arial MT"/>
              </a:rPr>
              <a:t> </a:t>
            </a:r>
            <a:r>
              <a:rPr sz="2400" dirty="0">
                <a:latin typeface="Arial MT"/>
                <a:cs typeface="Arial MT"/>
              </a:rPr>
              <a:t>The</a:t>
            </a:r>
            <a:r>
              <a:rPr sz="2400" spc="-85" dirty="0">
                <a:latin typeface="Arial MT"/>
                <a:cs typeface="Arial MT"/>
              </a:rPr>
              <a:t> </a:t>
            </a:r>
            <a:r>
              <a:rPr sz="2400" dirty="0">
                <a:latin typeface="Arial MT"/>
                <a:cs typeface="Arial MT"/>
              </a:rPr>
              <a:t>sampling</a:t>
            </a:r>
            <a:r>
              <a:rPr sz="2400" spc="-55" dirty="0">
                <a:latin typeface="Arial MT"/>
                <a:cs typeface="Arial MT"/>
              </a:rPr>
              <a:t> </a:t>
            </a:r>
            <a:r>
              <a:rPr sz="2400" spc="-20" dirty="0">
                <a:latin typeface="Arial MT"/>
                <a:cs typeface="Arial MT"/>
              </a:rPr>
              <a:t>time </a:t>
            </a:r>
            <a:r>
              <a:rPr sz="2400" dirty="0">
                <a:latin typeface="Arial MT"/>
                <a:cs typeface="Arial MT"/>
              </a:rPr>
              <a:t>could</a:t>
            </a:r>
            <a:r>
              <a:rPr sz="2400" spc="-41" dirty="0">
                <a:latin typeface="Arial MT"/>
                <a:cs typeface="Arial MT"/>
              </a:rPr>
              <a:t> </a:t>
            </a:r>
            <a:r>
              <a:rPr sz="2400" dirty="0">
                <a:latin typeface="Arial MT"/>
                <a:cs typeface="Arial MT"/>
              </a:rPr>
              <a:t>be</a:t>
            </a:r>
            <a:r>
              <a:rPr sz="2400" spc="-50" dirty="0">
                <a:latin typeface="Arial MT"/>
                <a:cs typeface="Arial MT"/>
              </a:rPr>
              <a:t> </a:t>
            </a:r>
            <a:r>
              <a:rPr sz="2400" dirty="0">
                <a:latin typeface="Arial MT"/>
                <a:cs typeface="Arial MT"/>
              </a:rPr>
              <a:t>varied</a:t>
            </a:r>
            <a:r>
              <a:rPr sz="2400" spc="-34" dirty="0">
                <a:latin typeface="Arial MT"/>
                <a:cs typeface="Arial MT"/>
              </a:rPr>
              <a:t> </a:t>
            </a:r>
            <a:r>
              <a:rPr sz="2400" dirty="0">
                <a:latin typeface="Arial MT"/>
                <a:cs typeface="Arial MT"/>
              </a:rPr>
              <a:t>from</a:t>
            </a:r>
            <a:r>
              <a:rPr sz="2400" spc="-65" dirty="0">
                <a:latin typeface="Arial MT"/>
                <a:cs typeface="Arial MT"/>
              </a:rPr>
              <a:t> </a:t>
            </a:r>
            <a:r>
              <a:rPr sz="2400" dirty="0">
                <a:latin typeface="Arial MT"/>
                <a:cs typeface="Arial MT"/>
              </a:rPr>
              <a:t>as</a:t>
            </a:r>
            <a:r>
              <a:rPr sz="2400" spc="-55" dirty="0">
                <a:latin typeface="Arial MT"/>
                <a:cs typeface="Arial MT"/>
              </a:rPr>
              <a:t> </a:t>
            </a:r>
            <a:r>
              <a:rPr sz="2400" dirty="0">
                <a:latin typeface="Arial MT"/>
                <a:cs typeface="Arial MT"/>
              </a:rPr>
              <a:t>little</a:t>
            </a:r>
            <a:r>
              <a:rPr sz="2400" spc="-46" dirty="0">
                <a:latin typeface="Arial MT"/>
                <a:cs typeface="Arial MT"/>
              </a:rPr>
              <a:t> </a:t>
            </a:r>
            <a:r>
              <a:rPr sz="2400" dirty="0">
                <a:latin typeface="Arial MT"/>
                <a:cs typeface="Arial MT"/>
              </a:rPr>
              <a:t>as</a:t>
            </a:r>
            <a:r>
              <a:rPr sz="2400" spc="-34" dirty="0">
                <a:latin typeface="Arial MT"/>
                <a:cs typeface="Arial MT"/>
              </a:rPr>
              <a:t> </a:t>
            </a:r>
            <a:r>
              <a:rPr sz="2400" dirty="0">
                <a:solidFill>
                  <a:srgbClr val="FF0000"/>
                </a:solidFill>
                <a:latin typeface="Arial MT"/>
                <a:cs typeface="Arial MT"/>
              </a:rPr>
              <a:t>10</a:t>
            </a:r>
            <a:r>
              <a:rPr sz="2400" spc="-46" dirty="0">
                <a:solidFill>
                  <a:srgbClr val="FF0000"/>
                </a:solidFill>
                <a:latin typeface="Arial MT"/>
                <a:cs typeface="Arial MT"/>
              </a:rPr>
              <a:t> </a:t>
            </a:r>
            <a:r>
              <a:rPr sz="2400" dirty="0">
                <a:solidFill>
                  <a:srgbClr val="FF0000"/>
                </a:solidFill>
                <a:latin typeface="Arial MT"/>
                <a:cs typeface="Arial MT"/>
              </a:rPr>
              <a:t>minutes</a:t>
            </a:r>
            <a:r>
              <a:rPr sz="2400" spc="-50" dirty="0">
                <a:solidFill>
                  <a:srgbClr val="FF0000"/>
                </a:solidFill>
                <a:latin typeface="Arial MT"/>
                <a:cs typeface="Arial MT"/>
              </a:rPr>
              <a:t> </a:t>
            </a:r>
            <a:r>
              <a:rPr sz="2400" dirty="0">
                <a:solidFill>
                  <a:srgbClr val="FF0000"/>
                </a:solidFill>
                <a:latin typeface="Arial MT"/>
                <a:cs typeface="Arial MT"/>
              </a:rPr>
              <a:t>per</a:t>
            </a:r>
            <a:r>
              <a:rPr sz="2400" spc="-46" dirty="0">
                <a:solidFill>
                  <a:srgbClr val="FF0000"/>
                </a:solidFill>
                <a:latin typeface="Arial MT"/>
                <a:cs typeface="Arial MT"/>
              </a:rPr>
              <a:t> </a:t>
            </a:r>
            <a:r>
              <a:rPr sz="2400" dirty="0">
                <a:solidFill>
                  <a:srgbClr val="FF0000"/>
                </a:solidFill>
                <a:latin typeface="Arial MT"/>
                <a:cs typeface="Arial MT"/>
              </a:rPr>
              <a:t>sample</a:t>
            </a:r>
            <a:r>
              <a:rPr sz="2400" spc="-41" dirty="0">
                <a:solidFill>
                  <a:srgbClr val="FF0000"/>
                </a:solidFill>
                <a:latin typeface="Arial MT"/>
                <a:cs typeface="Arial MT"/>
              </a:rPr>
              <a:t> </a:t>
            </a:r>
            <a:r>
              <a:rPr sz="2400" dirty="0">
                <a:solidFill>
                  <a:srgbClr val="FF0000"/>
                </a:solidFill>
                <a:latin typeface="Arial MT"/>
                <a:cs typeface="Arial MT"/>
              </a:rPr>
              <a:t>to</a:t>
            </a:r>
            <a:r>
              <a:rPr sz="2400" spc="-50" dirty="0">
                <a:solidFill>
                  <a:srgbClr val="FF0000"/>
                </a:solidFill>
                <a:latin typeface="Arial MT"/>
                <a:cs typeface="Arial MT"/>
              </a:rPr>
              <a:t> </a:t>
            </a:r>
            <a:r>
              <a:rPr sz="2400" dirty="0">
                <a:solidFill>
                  <a:srgbClr val="FF0000"/>
                </a:solidFill>
                <a:latin typeface="Arial MT"/>
                <a:cs typeface="Arial MT"/>
              </a:rPr>
              <a:t>2</a:t>
            </a:r>
            <a:r>
              <a:rPr sz="2400" spc="-55" dirty="0">
                <a:solidFill>
                  <a:srgbClr val="FF0000"/>
                </a:solidFill>
                <a:latin typeface="Arial MT"/>
                <a:cs typeface="Arial MT"/>
              </a:rPr>
              <a:t> </a:t>
            </a:r>
            <a:r>
              <a:rPr sz="2400" dirty="0">
                <a:solidFill>
                  <a:srgbClr val="FF0000"/>
                </a:solidFill>
                <a:latin typeface="Arial MT"/>
                <a:cs typeface="Arial MT"/>
              </a:rPr>
              <a:t>hours,</a:t>
            </a:r>
            <a:r>
              <a:rPr sz="2400" spc="-46" dirty="0">
                <a:solidFill>
                  <a:srgbClr val="FF0000"/>
                </a:solidFill>
                <a:latin typeface="Arial MT"/>
                <a:cs typeface="Arial MT"/>
              </a:rPr>
              <a:t> </a:t>
            </a:r>
            <a:r>
              <a:rPr sz="2400" spc="-10" dirty="0">
                <a:solidFill>
                  <a:srgbClr val="FF0000"/>
                </a:solidFill>
                <a:latin typeface="Arial MT"/>
                <a:cs typeface="Arial MT"/>
              </a:rPr>
              <a:t>depending </a:t>
            </a:r>
            <a:r>
              <a:rPr sz="2400" dirty="0">
                <a:solidFill>
                  <a:srgbClr val="FF0000"/>
                </a:solidFill>
                <a:latin typeface="Arial MT"/>
                <a:cs typeface="Arial MT"/>
              </a:rPr>
              <a:t>upon</a:t>
            </a:r>
            <a:r>
              <a:rPr sz="2400" spc="-46" dirty="0">
                <a:solidFill>
                  <a:srgbClr val="FF0000"/>
                </a:solidFill>
                <a:latin typeface="Arial MT"/>
                <a:cs typeface="Arial MT"/>
              </a:rPr>
              <a:t> </a:t>
            </a:r>
            <a:r>
              <a:rPr sz="2400" dirty="0">
                <a:solidFill>
                  <a:srgbClr val="FF0000"/>
                </a:solidFill>
                <a:latin typeface="Arial MT"/>
                <a:cs typeface="Arial MT"/>
              </a:rPr>
              <a:t>the</a:t>
            </a:r>
            <a:r>
              <a:rPr sz="2400" spc="-50" dirty="0">
                <a:solidFill>
                  <a:srgbClr val="FF0000"/>
                </a:solidFill>
                <a:latin typeface="Arial MT"/>
                <a:cs typeface="Arial MT"/>
              </a:rPr>
              <a:t> </a:t>
            </a:r>
            <a:r>
              <a:rPr sz="2400" dirty="0">
                <a:solidFill>
                  <a:srgbClr val="FF0000"/>
                </a:solidFill>
                <a:latin typeface="Arial MT"/>
                <a:cs typeface="Arial MT"/>
              </a:rPr>
              <a:t>amount</a:t>
            </a:r>
            <a:r>
              <a:rPr sz="2400" spc="-50" dirty="0">
                <a:solidFill>
                  <a:srgbClr val="FF0000"/>
                </a:solidFill>
                <a:latin typeface="Arial MT"/>
                <a:cs typeface="Arial MT"/>
              </a:rPr>
              <a:t> </a:t>
            </a:r>
            <a:r>
              <a:rPr sz="2400" dirty="0">
                <a:solidFill>
                  <a:srgbClr val="FF0000"/>
                </a:solidFill>
                <a:latin typeface="Arial MT"/>
                <a:cs typeface="Arial MT"/>
              </a:rPr>
              <a:t>of</a:t>
            </a:r>
            <a:r>
              <a:rPr sz="2400" spc="-50" dirty="0">
                <a:solidFill>
                  <a:srgbClr val="FF0000"/>
                </a:solidFill>
                <a:latin typeface="Arial MT"/>
                <a:cs typeface="Arial MT"/>
              </a:rPr>
              <a:t> </a:t>
            </a:r>
            <a:r>
              <a:rPr sz="2400" spc="-10" dirty="0">
                <a:solidFill>
                  <a:srgbClr val="FF0000"/>
                </a:solidFill>
                <a:latin typeface="Arial MT"/>
                <a:cs typeface="Arial MT"/>
              </a:rPr>
              <a:t>particulates.</a:t>
            </a:r>
            <a:endParaRPr sz="2400" dirty="0">
              <a:latin typeface="Arial MT"/>
              <a:cs typeface="Arial MT"/>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70371" y="133351"/>
            <a:ext cx="7600956" cy="892423"/>
          </a:xfrm>
          <a:prstGeom prst="rect">
            <a:avLst/>
          </a:prstGeom>
        </p:spPr>
        <p:txBody>
          <a:bodyPr vert="horz" wrap="square" lIns="0" tIns="396112" rIns="0" bIns="0" rtlCol="0">
            <a:spAutoFit/>
          </a:bodyPr>
          <a:lstStyle/>
          <a:p>
            <a:pPr marL="131448">
              <a:spcBef>
                <a:spcPts val="105"/>
              </a:spcBef>
            </a:pPr>
            <a:r>
              <a:rPr spc="-25" dirty="0"/>
              <a:t>Tape</a:t>
            </a:r>
            <a:r>
              <a:rPr spc="-185" dirty="0"/>
              <a:t> </a:t>
            </a:r>
            <a:r>
              <a:rPr spc="-10" dirty="0"/>
              <a:t>Sampler</a:t>
            </a:r>
          </a:p>
        </p:txBody>
      </p:sp>
      <p:pic>
        <p:nvPicPr>
          <p:cNvPr id="3" name="object 3"/>
          <p:cNvPicPr/>
          <p:nvPr/>
        </p:nvPicPr>
        <p:blipFill>
          <a:blip r:embed="rId3" cstate="print"/>
          <a:stretch>
            <a:fillRect/>
          </a:stretch>
        </p:blipFill>
        <p:spPr>
          <a:xfrm>
            <a:off x="2166353" y="1395984"/>
            <a:ext cx="8266770" cy="5271516"/>
          </a:xfrm>
          <a:prstGeom prst="rect">
            <a:avLst/>
          </a:prstGeom>
        </p:spPr>
      </p:pic>
      <p:sp>
        <p:nvSpPr>
          <p:cNvPr id="4" name="object 4"/>
          <p:cNvSpPr txBox="1">
            <a:spLocks noGrp="1"/>
          </p:cNvSpPr>
          <p:nvPr>
            <p:ph type="sldNum" sz="quarter" idx="7"/>
          </p:nvPr>
        </p:nvSpPr>
        <p:spPr>
          <a:xfrm>
            <a:off x="8993409" y="6464911"/>
            <a:ext cx="198636" cy="156068"/>
          </a:xfrm>
          <a:prstGeom prst="rect">
            <a:avLst/>
          </a:prstGeom>
        </p:spPr>
        <p:txBody>
          <a:bodyPr vert="horz" wrap="square" lIns="0" tIns="0" rIns="0" bIns="0" rtlCol="0">
            <a:spAutoFit/>
          </a:bodyPr>
          <a:lstStyle/>
          <a:p>
            <a:pPr marL="38101">
              <a:lnSpc>
                <a:spcPts val="1239"/>
              </a:lnSpc>
            </a:pPr>
            <a:fld id="{81D60167-4931-47E6-BA6A-407CBD079E47}" type="slidenum">
              <a:rPr spc="-25" dirty="0"/>
              <a:pPr marL="38101">
                <a:lnSpc>
                  <a:spcPts val="1239"/>
                </a:lnSpc>
              </a:pPr>
              <a:t>37</a:t>
            </a:fld>
            <a:endParaRPr spc="-25"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70371" y="133351"/>
            <a:ext cx="7600956" cy="892423"/>
          </a:xfrm>
          <a:prstGeom prst="rect">
            <a:avLst/>
          </a:prstGeom>
        </p:spPr>
        <p:txBody>
          <a:bodyPr vert="horz" wrap="square" lIns="0" tIns="396112" rIns="0" bIns="0" rtlCol="0">
            <a:spAutoFit/>
          </a:bodyPr>
          <a:lstStyle/>
          <a:p>
            <a:pPr marL="131448">
              <a:spcBef>
                <a:spcPts val="105"/>
              </a:spcBef>
            </a:pPr>
            <a:r>
              <a:rPr spc="-25" dirty="0"/>
              <a:t>Tape</a:t>
            </a:r>
            <a:r>
              <a:rPr spc="-185" dirty="0"/>
              <a:t> </a:t>
            </a:r>
            <a:r>
              <a:rPr spc="-10" dirty="0"/>
              <a:t>Sampler</a:t>
            </a:r>
          </a:p>
        </p:txBody>
      </p:sp>
      <p:pic>
        <p:nvPicPr>
          <p:cNvPr id="3" name="object 3"/>
          <p:cNvPicPr/>
          <p:nvPr/>
        </p:nvPicPr>
        <p:blipFill>
          <a:blip r:embed="rId3" cstate="print"/>
          <a:stretch>
            <a:fillRect/>
          </a:stretch>
        </p:blipFill>
        <p:spPr>
          <a:xfrm>
            <a:off x="2463381" y="1066800"/>
            <a:ext cx="7518818" cy="5509260"/>
          </a:xfrm>
          <a:prstGeom prst="rect">
            <a:avLst/>
          </a:prstGeom>
        </p:spPr>
      </p:pic>
      <p:sp>
        <p:nvSpPr>
          <p:cNvPr id="4" name="object 4"/>
          <p:cNvSpPr txBox="1">
            <a:spLocks noGrp="1"/>
          </p:cNvSpPr>
          <p:nvPr>
            <p:ph type="sldNum" sz="quarter" idx="7"/>
          </p:nvPr>
        </p:nvSpPr>
        <p:spPr>
          <a:xfrm>
            <a:off x="8993409" y="6464911"/>
            <a:ext cx="198636" cy="156068"/>
          </a:xfrm>
          <a:prstGeom prst="rect">
            <a:avLst/>
          </a:prstGeom>
        </p:spPr>
        <p:txBody>
          <a:bodyPr vert="horz" wrap="square" lIns="0" tIns="0" rIns="0" bIns="0" rtlCol="0">
            <a:spAutoFit/>
          </a:bodyPr>
          <a:lstStyle/>
          <a:p>
            <a:pPr marL="38101">
              <a:lnSpc>
                <a:spcPts val="1239"/>
              </a:lnSpc>
            </a:pPr>
            <a:fld id="{81D60167-4931-47E6-BA6A-407CBD079E47}" type="slidenum">
              <a:rPr spc="-25" dirty="0"/>
              <a:pPr marL="38101">
                <a:lnSpc>
                  <a:spcPts val="1239"/>
                </a:lnSpc>
              </a:pPr>
              <a:t>38</a:t>
            </a:fld>
            <a:endParaRPr spc="-25"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70371" y="133351"/>
            <a:ext cx="7600956" cy="892423"/>
          </a:xfrm>
          <a:prstGeom prst="rect">
            <a:avLst/>
          </a:prstGeom>
        </p:spPr>
        <p:txBody>
          <a:bodyPr vert="horz" wrap="square" lIns="0" tIns="396112" rIns="0" bIns="0" rtlCol="0">
            <a:spAutoFit/>
          </a:bodyPr>
          <a:lstStyle/>
          <a:p>
            <a:pPr marL="131448">
              <a:spcBef>
                <a:spcPts val="105"/>
              </a:spcBef>
            </a:pPr>
            <a:r>
              <a:rPr spc="-25" dirty="0"/>
              <a:t>Tape</a:t>
            </a:r>
            <a:r>
              <a:rPr spc="-185" dirty="0"/>
              <a:t> </a:t>
            </a:r>
            <a:r>
              <a:rPr spc="-10" dirty="0"/>
              <a:t>Sampler</a:t>
            </a:r>
          </a:p>
        </p:txBody>
      </p:sp>
      <p:sp>
        <p:nvSpPr>
          <p:cNvPr id="3" name="object 3"/>
          <p:cNvSpPr txBox="1"/>
          <p:nvPr/>
        </p:nvSpPr>
        <p:spPr>
          <a:xfrm>
            <a:off x="578943" y="1295355"/>
            <a:ext cx="10593070" cy="3520323"/>
          </a:xfrm>
          <a:prstGeom prst="rect">
            <a:avLst/>
          </a:prstGeom>
        </p:spPr>
        <p:txBody>
          <a:bodyPr vert="horz" wrap="square" lIns="0" tIns="196215" rIns="0" bIns="0" rtlCol="0">
            <a:spAutoFit/>
          </a:bodyPr>
          <a:lstStyle/>
          <a:p>
            <a:pPr marL="240036" indent="-227336">
              <a:spcBef>
                <a:spcPts val="1545"/>
              </a:spcBef>
              <a:buChar char="•"/>
              <a:tabLst>
                <a:tab pos="239400" algn="l"/>
              </a:tabLst>
            </a:pPr>
            <a:r>
              <a:rPr sz="2400" dirty="0">
                <a:latin typeface="Arial MT"/>
                <a:cs typeface="Arial MT"/>
              </a:rPr>
              <a:t>The</a:t>
            </a:r>
            <a:r>
              <a:rPr sz="2400" spc="-60" dirty="0">
                <a:latin typeface="Arial MT"/>
                <a:cs typeface="Arial MT"/>
              </a:rPr>
              <a:t> </a:t>
            </a:r>
            <a:r>
              <a:rPr sz="2400" dirty="0">
                <a:solidFill>
                  <a:srgbClr val="FF0000"/>
                </a:solidFill>
                <a:latin typeface="Arial MT"/>
                <a:cs typeface="Arial MT"/>
              </a:rPr>
              <a:t>air</a:t>
            </a:r>
            <a:r>
              <a:rPr sz="2400" spc="-60" dirty="0">
                <a:solidFill>
                  <a:srgbClr val="FF0000"/>
                </a:solidFill>
                <a:latin typeface="Arial MT"/>
                <a:cs typeface="Arial MT"/>
              </a:rPr>
              <a:t> </a:t>
            </a:r>
            <a:r>
              <a:rPr sz="2400" dirty="0">
                <a:solidFill>
                  <a:srgbClr val="FF0000"/>
                </a:solidFill>
                <a:latin typeface="Arial MT"/>
                <a:cs typeface="Arial MT"/>
              </a:rPr>
              <a:t>is</a:t>
            </a:r>
            <a:r>
              <a:rPr sz="2400" spc="-60" dirty="0">
                <a:solidFill>
                  <a:srgbClr val="FF0000"/>
                </a:solidFill>
                <a:latin typeface="Arial MT"/>
                <a:cs typeface="Arial MT"/>
              </a:rPr>
              <a:t> </a:t>
            </a:r>
            <a:r>
              <a:rPr sz="2400" dirty="0">
                <a:solidFill>
                  <a:srgbClr val="FF0000"/>
                </a:solidFill>
                <a:latin typeface="Arial MT"/>
                <a:cs typeface="Arial MT"/>
              </a:rPr>
              <a:t>passed</a:t>
            </a:r>
            <a:r>
              <a:rPr sz="2400" spc="-65" dirty="0">
                <a:solidFill>
                  <a:srgbClr val="FF0000"/>
                </a:solidFill>
                <a:latin typeface="Arial MT"/>
                <a:cs typeface="Arial MT"/>
              </a:rPr>
              <a:t> </a:t>
            </a:r>
            <a:r>
              <a:rPr sz="2400" dirty="0">
                <a:solidFill>
                  <a:srgbClr val="FF0000"/>
                </a:solidFill>
                <a:latin typeface="Arial MT"/>
                <a:cs typeface="Arial MT"/>
              </a:rPr>
              <a:t>through</a:t>
            </a:r>
            <a:r>
              <a:rPr sz="2400" spc="-55" dirty="0">
                <a:solidFill>
                  <a:srgbClr val="FF0000"/>
                </a:solidFill>
                <a:latin typeface="Arial MT"/>
                <a:cs typeface="Arial MT"/>
              </a:rPr>
              <a:t> </a:t>
            </a:r>
            <a:r>
              <a:rPr sz="2400" dirty="0">
                <a:solidFill>
                  <a:srgbClr val="FF0000"/>
                </a:solidFill>
                <a:latin typeface="Arial MT"/>
                <a:cs typeface="Arial MT"/>
              </a:rPr>
              <a:t>a</a:t>
            </a:r>
            <a:r>
              <a:rPr sz="2400" spc="-70" dirty="0">
                <a:solidFill>
                  <a:srgbClr val="FF0000"/>
                </a:solidFill>
                <a:latin typeface="Arial MT"/>
                <a:cs typeface="Arial MT"/>
              </a:rPr>
              <a:t> </a:t>
            </a:r>
            <a:r>
              <a:rPr sz="2400" dirty="0">
                <a:solidFill>
                  <a:srgbClr val="FF0000"/>
                </a:solidFill>
                <a:latin typeface="Arial MT"/>
                <a:cs typeface="Arial MT"/>
              </a:rPr>
              <a:t>nozzle</a:t>
            </a:r>
            <a:r>
              <a:rPr sz="2400" spc="-46" dirty="0">
                <a:solidFill>
                  <a:srgbClr val="FF0000"/>
                </a:solidFill>
                <a:latin typeface="Arial MT"/>
                <a:cs typeface="Arial MT"/>
              </a:rPr>
              <a:t> </a:t>
            </a:r>
            <a:r>
              <a:rPr sz="2400" dirty="0">
                <a:solidFill>
                  <a:srgbClr val="FF0000"/>
                </a:solidFill>
                <a:latin typeface="Arial MT"/>
                <a:cs typeface="Arial MT"/>
              </a:rPr>
              <a:t>and</a:t>
            </a:r>
            <a:r>
              <a:rPr sz="2400" spc="-60" dirty="0">
                <a:solidFill>
                  <a:srgbClr val="FF0000"/>
                </a:solidFill>
                <a:latin typeface="Arial MT"/>
                <a:cs typeface="Arial MT"/>
              </a:rPr>
              <a:t> </a:t>
            </a:r>
            <a:r>
              <a:rPr sz="2400" dirty="0">
                <a:solidFill>
                  <a:srgbClr val="FF0000"/>
                </a:solidFill>
                <a:latin typeface="Arial MT"/>
                <a:cs typeface="Arial MT"/>
              </a:rPr>
              <a:t>the</a:t>
            </a:r>
            <a:r>
              <a:rPr sz="2400" spc="-60" dirty="0">
                <a:solidFill>
                  <a:srgbClr val="FF0000"/>
                </a:solidFill>
                <a:latin typeface="Arial MT"/>
                <a:cs typeface="Arial MT"/>
              </a:rPr>
              <a:t> </a:t>
            </a:r>
            <a:r>
              <a:rPr sz="2400" dirty="0">
                <a:solidFill>
                  <a:srgbClr val="FF0000"/>
                </a:solidFill>
                <a:latin typeface="Arial MT"/>
                <a:cs typeface="Arial MT"/>
              </a:rPr>
              <a:t>particulates</a:t>
            </a:r>
            <a:r>
              <a:rPr sz="2400" spc="-50" dirty="0">
                <a:solidFill>
                  <a:srgbClr val="FF0000"/>
                </a:solidFill>
                <a:latin typeface="Arial MT"/>
                <a:cs typeface="Arial MT"/>
              </a:rPr>
              <a:t> </a:t>
            </a:r>
            <a:r>
              <a:rPr sz="2400" dirty="0">
                <a:solidFill>
                  <a:srgbClr val="FF0000"/>
                </a:solidFill>
                <a:latin typeface="Arial MT"/>
                <a:cs typeface="Arial MT"/>
              </a:rPr>
              <a:t>are</a:t>
            </a:r>
            <a:r>
              <a:rPr sz="2400" spc="-75" dirty="0">
                <a:solidFill>
                  <a:srgbClr val="FF0000"/>
                </a:solidFill>
                <a:latin typeface="Arial MT"/>
                <a:cs typeface="Arial MT"/>
              </a:rPr>
              <a:t> </a:t>
            </a:r>
            <a:r>
              <a:rPr sz="2400" dirty="0">
                <a:solidFill>
                  <a:srgbClr val="FF0000"/>
                </a:solidFill>
                <a:latin typeface="Arial MT"/>
                <a:cs typeface="Arial MT"/>
              </a:rPr>
              <a:t>collected</a:t>
            </a:r>
            <a:r>
              <a:rPr sz="2400" spc="-41" dirty="0">
                <a:solidFill>
                  <a:srgbClr val="FF0000"/>
                </a:solidFill>
                <a:latin typeface="Arial MT"/>
                <a:cs typeface="Arial MT"/>
              </a:rPr>
              <a:t> </a:t>
            </a:r>
            <a:r>
              <a:rPr sz="2400" dirty="0">
                <a:solidFill>
                  <a:srgbClr val="FF0000"/>
                </a:solidFill>
                <a:latin typeface="Arial MT"/>
                <a:cs typeface="Arial MT"/>
              </a:rPr>
              <a:t>on</a:t>
            </a:r>
            <a:r>
              <a:rPr sz="2400" spc="-70" dirty="0">
                <a:solidFill>
                  <a:srgbClr val="FF0000"/>
                </a:solidFill>
                <a:latin typeface="Arial MT"/>
                <a:cs typeface="Arial MT"/>
              </a:rPr>
              <a:t> </a:t>
            </a:r>
            <a:r>
              <a:rPr sz="2400" spc="-25" dirty="0">
                <a:solidFill>
                  <a:srgbClr val="FF0000"/>
                </a:solidFill>
                <a:latin typeface="Arial MT"/>
                <a:cs typeface="Arial MT"/>
              </a:rPr>
              <a:t>the</a:t>
            </a:r>
            <a:endParaRPr sz="2400" dirty="0">
              <a:latin typeface="Arial MT"/>
              <a:cs typeface="Arial MT"/>
            </a:endParaRPr>
          </a:p>
          <a:p>
            <a:pPr marL="241306">
              <a:spcBef>
                <a:spcPts val="1440"/>
              </a:spcBef>
            </a:pPr>
            <a:r>
              <a:rPr sz="2400" dirty="0">
                <a:solidFill>
                  <a:srgbClr val="FF0000"/>
                </a:solidFill>
                <a:latin typeface="Arial MT"/>
                <a:cs typeface="Arial MT"/>
              </a:rPr>
              <a:t>paper</a:t>
            </a:r>
            <a:r>
              <a:rPr sz="2400" spc="-46" dirty="0">
                <a:solidFill>
                  <a:srgbClr val="FF0000"/>
                </a:solidFill>
                <a:latin typeface="Arial MT"/>
                <a:cs typeface="Arial MT"/>
              </a:rPr>
              <a:t> </a:t>
            </a:r>
            <a:r>
              <a:rPr sz="2400" dirty="0">
                <a:solidFill>
                  <a:srgbClr val="FF0000"/>
                </a:solidFill>
                <a:latin typeface="Arial MT"/>
                <a:cs typeface="Arial MT"/>
              </a:rPr>
              <a:t>tape</a:t>
            </a:r>
            <a:r>
              <a:rPr sz="2400" spc="-65" dirty="0">
                <a:solidFill>
                  <a:srgbClr val="FF0000"/>
                </a:solidFill>
                <a:latin typeface="Arial MT"/>
                <a:cs typeface="Arial MT"/>
              </a:rPr>
              <a:t> </a:t>
            </a:r>
            <a:r>
              <a:rPr sz="2400" dirty="0">
                <a:solidFill>
                  <a:srgbClr val="FF0000"/>
                </a:solidFill>
                <a:latin typeface="Arial MT"/>
                <a:cs typeface="Arial MT"/>
              </a:rPr>
              <a:t>forming</a:t>
            </a:r>
            <a:r>
              <a:rPr sz="2400" spc="-55" dirty="0">
                <a:solidFill>
                  <a:srgbClr val="FF0000"/>
                </a:solidFill>
                <a:latin typeface="Arial MT"/>
                <a:cs typeface="Arial MT"/>
              </a:rPr>
              <a:t> </a:t>
            </a:r>
            <a:r>
              <a:rPr sz="2400" dirty="0">
                <a:solidFill>
                  <a:srgbClr val="FF0000"/>
                </a:solidFill>
                <a:latin typeface="Arial MT"/>
                <a:cs typeface="Arial MT"/>
              </a:rPr>
              <a:t>a</a:t>
            </a:r>
            <a:r>
              <a:rPr sz="2400" spc="-55" dirty="0">
                <a:solidFill>
                  <a:srgbClr val="FF0000"/>
                </a:solidFill>
                <a:latin typeface="Arial MT"/>
                <a:cs typeface="Arial MT"/>
              </a:rPr>
              <a:t> </a:t>
            </a:r>
            <a:r>
              <a:rPr sz="2400" spc="-10" dirty="0">
                <a:solidFill>
                  <a:srgbClr val="FF0000"/>
                </a:solidFill>
                <a:latin typeface="Arial MT"/>
                <a:cs typeface="Arial MT"/>
              </a:rPr>
              <a:t>spot</a:t>
            </a:r>
            <a:r>
              <a:rPr sz="2400" spc="-10" dirty="0">
                <a:latin typeface="Arial MT"/>
                <a:cs typeface="Arial MT"/>
              </a:rPr>
              <a:t>.</a:t>
            </a:r>
            <a:endParaRPr sz="2400" dirty="0">
              <a:latin typeface="Arial MT"/>
              <a:cs typeface="Arial MT"/>
            </a:endParaRPr>
          </a:p>
          <a:p>
            <a:pPr marL="240036" marR="5081" indent="-227336">
              <a:lnSpc>
                <a:spcPct val="150000"/>
              </a:lnSpc>
              <a:spcBef>
                <a:spcPts val="994"/>
              </a:spcBef>
              <a:buChar char="•"/>
              <a:tabLst>
                <a:tab pos="241306" algn="l"/>
              </a:tabLst>
            </a:pPr>
            <a:r>
              <a:rPr sz="2400" dirty="0">
                <a:solidFill>
                  <a:srgbClr val="FF0000"/>
                </a:solidFill>
                <a:latin typeface="Arial MT"/>
                <a:cs typeface="Arial MT"/>
              </a:rPr>
              <a:t>Spots</a:t>
            </a:r>
            <a:r>
              <a:rPr sz="2400" spc="-60" dirty="0">
                <a:solidFill>
                  <a:srgbClr val="FF0000"/>
                </a:solidFill>
                <a:latin typeface="Arial MT"/>
                <a:cs typeface="Arial MT"/>
              </a:rPr>
              <a:t> </a:t>
            </a:r>
            <a:r>
              <a:rPr sz="2400" dirty="0">
                <a:solidFill>
                  <a:srgbClr val="FF0000"/>
                </a:solidFill>
                <a:latin typeface="Arial MT"/>
                <a:cs typeface="Arial MT"/>
              </a:rPr>
              <a:t>so</a:t>
            </a:r>
            <a:r>
              <a:rPr sz="2400" spc="-70" dirty="0">
                <a:solidFill>
                  <a:srgbClr val="FF0000"/>
                </a:solidFill>
                <a:latin typeface="Arial MT"/>
                <a:cs typeface="Arial MT"/>
              </a:rPr>
              <a:t> </a:t>
            </a:r>
            <a:r>
              <a:rPr sz="2400" dirty="0">
                <a:solidFill>
                  <a:srgbClr val="FF0000"/>
                </a:solidFill>
                <a:latin typeface="Arial MT"/>
                <a:cs typeface="Arial MT"/>
              </a:rPr>
              <a:t>obtained</a:t>
            </a:r>
            <a:r>
              <a:rPr sz="2400" spc="-50" dirty="0">
                <a:solidFill>
                  <a:srgbClr val="FF0000"/>
                </a:solidFill>
                <a:latin typeface="Arial MT"/>
                <a:cs typeface="Arial MT"/>
              </a:rPr>
              <a:t> </a:t>
            </a:r>
            <a:r>
              <a:rPr sz="2400" dirty="0">
                <a:solidFill>
                  <a:srgbClr val="FF0000"/>
                </a:solidFill>
                <a:latin typeface="Arial MT"/>
                <a:cs typeface="Arial MT"/>
              </a:rPr>
              <a:t>are</a:t>
            </a:r>
            <a:r>
              <a:rPr sz="2400" spc="-60" dirty="0">
                <a:solidFill>
                  <a:srgbClr val="FF0000"/>
                </a:solidFill>
                <a:latin typeface="Arial MT"/>
                <a:cs typeface="Arial MT"/>
              </a:rPr>
              <a:t> </a:t>
            </a:r>
            <a:r>
              <a:rPr sz="2400" dirty="0">
                <a:solidFill>
                  <a:srgbClr val="FF0000"/>
                </a:solidFill>
                <a:latin typeface="Arial MT"/>
                <a:cs typeface="Arial MT"/>
              </a:rPr>
              <a:t>evaluated</a:t>
            </a:r>
            <a:r>
              <a:rPr sz="2400" spc="-41" dirty="0">
                <a:solidFill>
                  <a:srgbClr val="FF0000"/>
                </a:solidFill>
                <a:latin typeface="Arial MT"/>
                <a:cs typeface="Arial MT"/>
              </a:rPr>
              <a:t> </a:t>
            </a:r>
            <a:r>
              <a:rPr sz="2400" dirty="0">
                <a:solidFill>
                  <a:srgbClr val="FF0000"/>
                </a:solidFill>
                <a:latin typeface="Arial MT"/>
                <a:cs typeface="Arial MT"/>
              </a:rPr>
              <a:t>by</a:t>
            </a:r>
            <a:r>
              <a:rPr sz="2400" spc="-60" dirty="0">
                <a:solidFill>
                  <a:srgbClr val="FF0000"/>
                </a:solidFill>
                <a:latin typeface="Arial MT"/>
                <a:cs typeface="Arial MT"/>
              </a:rPr>
              <a:t> </a:t>
            </a:r>
            <a:r>
              <a:rPr sz="2400" dirty="0" err="1">
                <a:solidFill>
                  <a:srgbClr val="FF0000"/>
                </a:solidFill>
                <a:latin typeface="Arial MT"/>
                <a:cs typeface="Arial MT"/>
              </a:rPr>
              <a:t>analysing</a:t>
            </a:r>
            <a:r>
              <a:rPr sz="2400" spc="-41" dirty="0">
                <a:solidFill>
                  <a:srgbClr val="FF0000"/>
                </a:solidFill>
                <a:latin typeface="Arial MT"/>
                <a:cs typeface="Arial MT"/>
              </a:rPr>
              <a:t> </a:t>
            </a:r>
            <a:r>
              <a:rPr sz="2400" dirty="0">
                <a:solidFill>
                  <a:srgbClr val="FF0000"/>
                </a:solidFill>
                <a:latin typeface="Arial MT"/>
                <a:cs typeface="Arial MT"/>
              </a:rPr>
              <a:t>the</a:t>
            </a:r>
            <a:r>
              <a:rPr sz="2400" spc="-60" dirty="0">
                <a:solidFill>
                  <a:srgbClr val="FF0000"/>
                </a:solidFill>
                <a:latin typeface="Arial MT"/>
                <a:cs typeface="Arial MT"/>
              </a:rPr>
              <a:t> </a:t>
            </a:r>
            <a:r>
              <a:rPr sz="2400" dirty="0">
                <a:solidFill>
                  <a:srgbClr val="FF0000"/>
                </a:solidFill>
                <a:latin typeface="Arial MT"/>
                <a:cs typeface="Arial MT"/>
              </a:rPr>
              <a:t>amount</a:t>
            </a:r>
            <a:r>
              <a:rPr sz="2400" spc="-55" dirty="0">
                <a:solidFill>
                  <a:srgbClr val="FF0000"/>
                </a:solidFill>
                <a:latin typeface="Arial MT"/>
                <a:cs typeface="Arial MT"/>
              </a:rPr>
              <a:t> </a:t>
            </a:r>
            <a:r>
              <a:rPr sz="2400" dirty="0">
                <a:solidFill>
                  <a:srgbClr val="FF0000"/>
                </a:solidFill>
                <a:latin typeface="Arial MT"/>
                <a:cs typeface="Arial MT"/>
              </a:rPr>
              <a:t>of</a:t>
            </a:r>
            <a:r>
              <a:rPr sz="2400" spc="-60" dirty="0">
                <a:solidFill>
                  <a:srgbClr val="FF0000"/>
                </a:solidFill>
                <a:latin typeface="Arial MT"/>
                <a:cs typeface="Arial MT"/>
              </a:rPr>
              <a:t> </a:t>
            </a:r>
            <a:r>
              <a:rPr sz="2400" dirty="0">
                <a:solidFill>
                  <a:srgbClr val="FF0000"/>
                </a:solidFill>
                <a:latin typeface="Arial MT"/>
                <a:cs typeface="Arial MT"/>
              </a:rPr>
              <a:t>light</a:t>
            </a:r>
            <a:r>
              <a:rPr sz="2400" spc="-50" dirty="0">
                <a:solidFill>
                  <a:srgbClr val="FF0000"/>
                </a:solidFill>
                <a:latin typeface="Arial MT"/>
                <a:cs typeface="Arial MT"/>
              </a:rPr>
              <a:t> </a:t>
            </a:r>
            <a:r>
              <a:rPr sz="2400" dirty="0">
                <a:solidFill>
                  <a:srgbClr val="FF0000"/>
                </a:solidFill>
                <a:latin typeface="Arial MT"/>
                <a:cs typeface="Arial MT"/>
              </a:rPr>
              <a:t>that</a:t>
            </a:r>
            <a:r>
              <a:rPr sz="2400" spc="-75" dirty="0">
                <a:solidFill>
                  <a:srgbClr val="FF0000"/>
                </a:solidFill>
                <a:latin typeface="Arial MT"/>
                <a:cs typeface="Arial MT"/>
              </a:rPr>
              <a:t> </a:t>
            </a:r>
            <a:r>
              <a:rPr sz="2400" dirty="0">
                <a:solidFill>
                  <a:srgbClr val="FF0000"/>
                </a:solidFill>
                <a:latin typeface="Arial MT"/>
                <a:cs typeface="Arial MT"/>
              </a:rPr>
              <a:t>can</a:t>
            </a:r>
            <a:r>
              <a:rPr sz="2400" spc="-55" dirty="0">
                <a:solidFill>
                  <a:srgbClr val="FF0000"/>
                </a:solidFill>
                <a:latin typeface="Arial MT"/>
                <a:cs typeface="Arial MT"/>
              </a:rPr>
              <a:t> </a:t>
            </a:r>
            <a:r>
              <a:rPr sz="2400" spc="-25" dirty="0">
                <a:solidFill>
                  <a:srgbClr val="FF0000"/>
                </a:solidFill>
                <a:latin typeface="Arial MT"/>
                <a:cs typeface="Arial MT"/>
              </a:rPr>
              <a:t>be 	</a:t>
            </a:r>
            <a:r>
              <a:rPr sz="2400" dirty="0">
                <a:solidFill>
                  <a:srgbClr val="FF0000"/>
                </a:solidFill>
                <a:latin typeface="Arial MT"/>
                <a:cs typeface="Arial MT"/>
              </a:rPr>
              <a:t>transmitted</a:t>
            </a:r>
            <a:r>
              <a:rPr sz="2400" spc="-80" dirty="0">
                <a:solidFill>
                  <a:srgbClr val="FF0000"/>
                </a:solidFill>
                <a:latin typeface="Arial MT"/>
                <a:cs typeface="Arial MT"/>
              </a:rPr>
              <a:t> </a:t>
            </a:r>
            <a:r>
              <a:rPr sz="2400" dirty="0">
                <a:solidFill>
                  <a:srgbClr val="FF0000"/>
                </a:solidFill>
                <a:latin typeface="Arial MT"/>
                <a:cs typeface="Arial MT"/>
              </a:rPr>
              <a:t>through</a:t>
            </a:r>
            <a:r>
              <a:rPr sz="2400" spc="-80" dirty="0">
                <a:solidFill>
                  <a:srgbClr val="FF0000"/>
                </a:solidFill>
                <a:latin typeface="Arial MT"/>
                <a:cs typeface="Arial MT"/>
              </a:rPr>
              <a:t> </a:t>
            </a:r>
            <a:r>
              <a:rPr sz="2400" dirty="0">
                <a:solidFill>
                  <a:srgbClr val="FF0000"/>
                </a:solidFill>
                <a:latin typeface="Arial MT"/>
                <a:cs typeface="Arial MT"/>
              </a:rPr>
              <a:t>the</a:t>
            </a:r>
            <a:r>
              <a:rPr sz="2400" spc="-80" dirty="0">
                <a:solidFill>
                  <a:srgbClr val="FF0000"/>
                </a:solidFill>
                <a:latin typeface="Arial MT"/>
                <a:cs typeface="Arial MT"/>
              </a:rPr>
              <a:t> </a:t>
            </a:r>
            <a:r>
              <a:rPr sz="2400" spc="-10" dirty="0">
                <a:solidFill>
                  <a:srgbClr val="FF0000"/>
                </a:solidFill>
                <a:latin typeface="Arial MT"/>
                <a:cs typeface="Arial MT"/>
              </a:rPr>
              <a:t>spot.</a:t>
            </a:r>
            <a:endParaRPr sz="2400" dirty="0">
              <a:latin typeface="Arial MT"/>
              <a:cs typeface="Arial MT"/>
            </a:endParaRPr>
          </a:p>
          <a:p>
            <a:pPr marL="240036" marR="81917" indent="-227336">
              <a:lnSpc>
                <a:spcPct val="150000"/>
              </a:lnSpc>
              <a:spcBef>
                <a:spcPts val="1015"/>
              </a:spcBef>
              <a:buChar char="•"/>
              <a:tabLst>
                <a:tab pos="241306" algn="l"/>
              </a:tabLst>
            </a:pPr>
            <a:r>
              <a:rPr sz="2400" dirty="0">
                <a:latin typeface="Arial MT"/>
                <a:cs typeface="Arial MT"/>
              </a:rPr>
              <a:t>The</a:t>
            </a:r>
            <a:r>
              <a:rPr sz="2400" spc="-65" dirty="0">
                <a:latin typeface="Arial MT"/>
                <a:cs typeface="Arial MT"/>
              </a:rPr>
              <a:t> </a:t>
            </a:r>
            <a:r>
              <a:rPr sz="2400" spc="-10" dirty="0">
                <a:latin typeface="Arial MT"/>
                <a:cs typeface="Arial MT"/>
              </a:rPr>
              <a:t>measurement</a:t>
            </a:r>
            <a:r>
              <a:rPr sz="2400" spc="-55" dirty="0">
                <a:latin typeface="Arial MT"/>
                <a:cs typeface="Arial MT"/>
              </a:rPr>
              <a:t> </a:t>
            </a:r>
            <a:r>
              <a:rPr sz="2400" dirty="0">
                <a:latin typeface="Arial MT"/>
                <a:cs typeface="Arial MT"/>
              </a:rPr>
              <a:t>is</a:t>
            </a:r>
            <a:r>
              <a:rPr sz="2400" spc="-50" dirty="0">
                <a:latin typeface="Arial MT"/>
                <a:cs typeface="Arial MT"/>
              </a:rPr>
              <a:t> </a:t>
            </a:r>
            <a:r>
              <a:rPr sz="2400" dirty="0">
                <a:latin typeface="Arial MT"/>
                <a:cs typeface="Arial MT"/>
              </a:rPr>
              <a:t>reported</a:t>
            </a:r>
            <a:r>
              <a:rPr sz="2400" spc="-55" dirty="0">
                <a:latin typeface="Arial MT"/>
                <a:cs typeface="Arial MT"/>
              </a:rPr>
              <a:t> </a:t>
            </a:r>
            <a:r>
              <a:rPr sz="2400" dirty="0">
                <a:latin typeface="Arial MT"/>
                <a:cs typeface="Arial MT"/>
              </a:rPr>
              <a:t>as</a:t>
            </a:r>
            <a:r>
              <a:rPr sz="2400" spc="-55" dirty="0">
                <a:latin typeface="Arial MT"/>
                <a:cs typeface="Arial MT"/>
              </a:rPr>
              <a:t> </a:t>
            </a:r>
            <a:r>
              <a:rPr sz="2400" dirty="0">
                <a:latin typeface="Arial MT"/>
                <a:cs typeface="Arial MT"/>
              </a:rPr>
              <a:t>"COH/1000</a:t>
            </a:r>
            <a:r>
              <a:rPr sz="2400" spc="-46" dirty="0">
                <a:latin typeface="Arial MT"/>
                <a:cs typeface="Arial MT"/>
              </a:rPr>
              <a:t> </a:t>
            </a:r>
            <a:r>
              <a:rPr sz="2400" dirty="0">
                <a:latin typeface="Arial MT"/>
                <a:cs typeface="Arial MT"/>
              </a:rPr>
              <a:t>ft"</a:t>
            </a:r>
            <a:r>
              <a:rPr sz="2400" spc="-90" dirty="0">
                <a:latin typeface="Arial MT"/>
                <a:cs typeface="Arial MT"/>
              </a:rPr>
              <a:t> </a:t>
            </a:r>
            <a:r>
              <a:rPr sz="2400" dirty="0">
                <a:latin typeface="Arial MT"/>
                <a:cs typeface="Arial MT"/>
              </a:rPr>
              <a:t>where</a:t>
            </a:r>
            <a:r>
              <a:rPr sz="2400" spc="-41" dirty="0">
                <a:latin typeface="Arial MT"/>
                <a:cs typeface="Arial MT"/>
              </a:rPr>
              <a:t> </a:t>
            </a:r>
            <a:r>
              <a:rPr sz="2400" dirty="0">
                <a:latin typeface="Arial MT"/>
                <a:cs typeface="Arial MT"/>
              </a:rPr>
              <a:t>COH</a:t>
            </a:r>
            <a:r>
              <a:rPr sz="2400" spc="-55" dirty="0">
                <a:latin typeface="Arial MT"/>
                <a:cs typeface="Arial MT"/>
              </a:rPr>
              <a:t> </a:t>
            </a:r>
            <a:r>
              <a:rPr sz="2400" dirty="0">
                <a:latin typeface="Arial MT"/>
                <a:cs typeface="Arial MT"/>
              </a:rPr>
              <a:t>is</a:t>
            </a:r>
            <a:r>
              <a:rPr sz="2400" spc="-55" dirty="0">
                <a:latin typeface="Arial MT"/>
                <a:cs typeface="Arial MT"/>
              </a:rPr>
              <a:t> </a:t>
            </a:r>
            <a:r>
              <a:rPr sz="2400" dirty="0">
                <a:latin typeface="Arial MT"/>
                <a:cs typeface="Arial MT"/>
              </a:rPr>
              <a:t>known</a:t>
            </a:r>
            <a:r>
              <a:rPr sz="2400" spc="-34" dirty="0">
                <a:latin typeface="Arial MT"/>
                <a:cs typeface="Arial MT"/>
              </a:rPr>
              <a:t> </a:t>
            </a:r>
            <a:r>
              <a:rPr sz="2400" dirty="0">
                <a:latin typeface="Arial MT"/>
                <a:cs typeface="Arial MT"/>
              </a:rPr>
              <a:t>as</a:t>
            </a:r>
            <a:r>
              <a:rPr sz="2400" spc="-60" dirty="0">
                <a:latin typeface="Arial MT"/>
                <a:cs typeface="Arial MT"/>
              </a:rPr>
              <a:t> </a:t>
            </a:r>
            <a:r>
              <a:rPr sz="2400" spc="-25" dirty="0">
                <a:latin typeface="Arial MT"/>
                <a:cs typeface="Arial MT"/>
              </a:rPr>
              <a:t>the 	</a:t>
            </a:r>
            <a:r>
              <a:rPr sz="2400" b="1" spc="-10" dirty="0">
                <a:latin typeface="Arial MT"/>
                <a:cs typeface="Arial MT"/>
              </a:rPr>
              <a:t>coefficient</a:t>
            </a:r>
            <a:r>
              <a:rPr sz="2400" b="1" spc="-70" dirty="0">
                <a:latin typeface="Arial MT"/>
                <a:cs typeface="Arial MT"/>
              </a:rPr>
              <a:t> </a:t>
            </a:r>
            <a:r>
              <a:rPr sz="2400" b="1" dirty="0">
                <a:latin typeface="Arial MT"/>
                <a:cs typeface="Arial MT"/>
              </a:rPr>
              <a:t>of</a:t>
            </a:r>
            <a:r>
              <a:rPr sz="2400" b="1" spc="-80" dirty="0">
                <a:latin typeface="Arial MT"/>
                <a:cs typeface="Arial MT"/>
              </a:rPr>
              <a:t> </a:t>
            </a:r>
            <a:r>
              <a:rPr sz="2400" b="1" dirty="0">
                <a:latin typeface="Arial MT"/>
                <a:cs typeface="Arial MT"/>
              </a:rPr>
              <a:t>optical</a:t>
            </a:r>
            <a:r>
              <a:rPr sz="2400" b="1" spc="-85" dirty="0">
                <a:latin typeface="Arial MT"/>
                <a:cs typeface="Arial MT"/>
              </a:rPr>
              <a:t> </a:t>
            </a:r>
            <a:r>
              <a:rPr sz="2400" b="1" dirty="0">
                <a:latin typeface="Arial MT"/>
                <a:cs typeface="Arial MT"/>
              </a:rPr>
              <a:t>haze</a:t>
            </a:r>
            <a:r>
              <a:rPr sz="2400" dirty="0">
                <a:latin typeface="Arial MT"/>
                <a:cs typeface="Arial MT"/>
              </a:rPr>
              <a:t>,</a:t>
            </a:r>
            <a:r>
              <a:rPr sz="2400" spc="-80" dirty="0">
                <a:latin typeface="Arial MT"/>
                <a:cs typeface="Arial MT"/>
              </a:rPr>
              <a:t> </a:t>
            </a:r>
            <a:r>
              <a:rPr sz="2400" dirty="0">
                <a:latin typeface="Arial MT"/>
                <a:cs typeface="Arial MT"/>
              </a:rPr>
              <a:t>calculated</a:t>
            </a:r>
            <a:r>
              <a:rPr sz="2400" spc="-60" dirty="0">
                <a:latin typeface="Arial MT"/>
                <a:cs typeface="Arial MT"/>
              </a:rPr>
              <a:t> </a:t>
            </a:r>
            <a:r>
              <a:rPr sz="2400" spc="-25" dirty="0">
                <a:latin typeface="Arial MT"/>
                <a:cs typeface="Arial MT"/>
              </a:rPr>
              <a:t>as:</a:t>
            </a:r>
            <a:endParaRPr sz="2400" dirty="0">
              <a:latin typeface="Arial MT"/>
              <a:cs typeface="Arial MT"/>
            </a:endParaRPr>
          </a:p>
        </p:txBody>
      </p:sp>
      <p:sp>
        <p:nvSpPr>
          <p:cNvPr id="4" name="object 4"/>
          <p:cNvSpPr/>
          <p:nvPr/>
        </p:nvSpPr>
        <p:spPr>
          <a:xfrm>
            <a:off x="4390135" y="5510529"/>
            <a:ext cx="753110" cy="20320"/>
          </a:xfrm>
          <a:custGeom>
            <a:avLst/>
            <a:gdLst/>
            <a:ahLst/>
            <a:cxnLst/>
            <a:rect l="l" t="t" r="r" b="b"/>
            <a:pathLst>
              <a:path w="753110" h="20320">
                <a:moveTo>
                  <a:pt x="752856" y="0"/>
                </a:moveTo>
                <a:lnTo>
                  <a:pt x="0" y="0"/>
                </a:lnTo>
                <a:lnTo>
                  <a:pt x="0" y="19812"/>
                </a:lnTo>
                <a:lnTo>
                  <a:pt x="752856" y="19812"/>
                </a:lnTo>
                <a:lnTo>
                  <a:pt x="752856" y="0"/>
                </a:lnTo>
                <a:close/>
              </a:path>
            </a:pathLst>
          </a:custGeom>
          <a:solidFill>
            <a:srgbClr val="000000"/>
          </a:solidFill>
        </p:spPr>
        <p:txBody>
          <a:bodyPr wrap="square" lIns="0" tIns="0" rIns="0" bIns="0" rtlCol="0"/>
          <a:lstStyle/>
          <a:p>
            <a:endParaRPr/>
          </a:p>
        </p:txBody>
      </p:sp>
      <p:sp>
        <p:nvSpPr>
          <p:cNvPr id="5" name="object 5"/>
          <p:cNvSpPr txBox="1"/>
          <p:nvPr/>
        </p:nvSpPr>
        <p:spPr>
          <a:xfrm>
            <a:off x="4522723" y="5194174"/>
            <a:ext cx="483234" cy="282129"/>
          </a:xfrm>
          <a:prstGeom prst="rect">
            <a:avLst/>
          </a:prstGeom>
        </p:spPr>
        <p:txBody>
          <a:bodyPr vert="horz" wrap="square" lIns="0" tIns="12700" rIns="0" bIns="0" rtlCol="0">
            <a:spAutoFit/>
          </a:bodyPr>
          <a:lstStyle/>
          <a:p>
            <a:pPr marL="12701">
              <a:spcBef>
                <a:spcPts val="100"/>
              </a:spcBef>
            </a:pPr>
            <a:r>
              <a:rPr sz="1750" spc="-25" dirty="0">
                <a:latin typeface="Cambria Math" panose="02040503050406030204"/>
                <a:cs typeface="Cambria Math" panose="02040503050406030204"/>
              </a:rPr>
              <a:t>𝐶𝑂𝐻</a:t>
            </a:r>
            <a:endParaRPr sz="1750">
              <a:latin typeface="Cambria Math" panose="02040503050406030204"/>
              <a:cs typeface="Cambria Math" panose="02040503050406030204"/>
            </a:endParaRPr>
          </a:p>
        </p:txBody>
      </p:sp>
      <p:sp>
        <p:nvSpPr>
          <p:cNvPr id="6" name="object 6"/>
          <p:cNvSpPr txBox="1"/>
          <p:nvPr/>
        </p:nvSpPr>
        <p:spPr>
          <a:xfrm>
            <a:off x="4377947" y="5526433"/>
            <a:ext cx="770255" cy="282129"/>
          </a:xfrm>
          <a:prstGeom prst="rect">
            <a:avLst/>
          </a:prstGeom>
        </p:spPr>
        <p:txBody>
          <a:bodyPr vert="horz" wrap="square" lIns="0" tIns="12700" rIns="0" bIns="0" rtlCol="0">
            <a:spAutoFit/>
          </a:bodyPr>
          <a:lstStyle/>
          <a:p>
            <a:pPr marL="12701">
              <a:spcBef>
                <a:spcPts val="100"/>
              </a:spcBef>
            </a:pPr>
            <a:r>
              <a:rPr sz="1750" spc="-10" dirty="0">
                <a:latin typeface="Cambria Math" panose="02040503050406030204"/>
                <a:cs typeface="Cambria Math" panose="02040503050406030204"/>
              </a:rPr>
              <a:t>1000𝑓𝑡</a:t>
            </a:r>
            <a:endParaRPr sz="1750">
              <a:latin typeface="Cambria Math" panose="02040503050406030204"/>
              <a:cs typeface="Cambria Math" panose="02040503050406030204"/>
            </a:endParaRPr>
          </a:p>
        </p:txBody>
      </p:sp>
      <p:sp>
        <p:nvSpPr>
          <p:cNvPr id="7" name="object 7"/>
          <p:cNvSpPr/>
          <p:nvPr/>
        </p:nvSpPr>
        <p:spPr>
          <a:xfrm>
            <a:off x="6039103" y="5510529"/>
            <a:ext cx="224154" cy="20320"/>
          </a:xfrm>
          <a:custGeom>
            <a:avLst/>
            <a:gdLst/>
            <a:ahLst/>
            <a:cxnLst/>
            <a:rect l="l" t="t" r="r" b="b"/>
            <a:pathLst>
              <a:path w="224154" h="20320">
                <a:moveTo>
                  <a:pt x="224027" y="0"/>
                </a:moveTo>
                <a:lnTo>
                  <a:pt x="0" y="0"/>
                </a:lnTo>
                <a:lnTo>
                  <a:pt x="0" y="19812"/>
                </a:lnTo>
                <a:lnTo>
                  <a:pt x="224027" y="19812"/>
                </a:lnTo>
                <a:lnTo>
                  <a:pt x="224027" y="0"/>
                </a:lnTo>
                <a:close/>
              </a:path>
            </a:pathLst>
          </a:custGeom>
          <a:solidFill>
            <a:srgbClr val="000000"/>
          </a:solidFill>
        </p:spPr>
        <p:txBody>
          <a:bodyPr wrap="square" lIns="0" tIns="0" rIns="0" bIns="0" rtlCol="0"/>
          <a:lstStyle/>
          <a:p>
            <a:endParaRPr/>
          </a:p>
        </p:txBody>
      </p:sp>
      <p:sp>
        <p:nvSpPr>
          <p:cNvPr id="8" name="object 8"/>
          <p:cNvSpPr txBox="1"/>
          <p:nvPr/>
        </p:nvSpPr>
        <p:spPr>
          <a:xfrm>
            <a:off x="5189474" y="5290210"/>
            <a:ext cx="1102994" cy="382156"/>
          </a:xfrm>
          <a:prstGeom prst="rect">
            <a:avLst/>
          </a:prstGeom>
        </p:spPr>
        <p:txBody>
          <a:bodyPr vert="horz" wrap="square" lIns="0" tIns="12700" rIns="0" bIns="0" rtlCol="0">
            <a:spAutoFit/>
          </a:bodyPr>
          <a:lstStyle/>
          <a:p>
            <a:pPr marL="38101">
              <a:spcBef>
                <a:spcPts val="100"/>
              </a:spcBef>
            </a:pPr>
            <a:r>
              <a:rPr sz="2400" dirty="0">
                <a:latin typeface="Cambria Math" panose="02040503050406030204"/>
                <a:cs typeface="Cambria Math" panose="02040503050406030204"/>
              </a:rPr>
              <a:t>=</a:t>
            </a:r>
            <a:r>
              <a:rPr sz="2400" spc="135" dirty="0">
                <a:latin typeface="Cambria Math" panose="02040503050406030204"/>
                <a:cs typeface="Cambria Math" panose="02040503050406030204"/>
              </a:rPr>
              <a:t> </a:t>
            </a:r>
            <a:r>
              <a:rPr sz="2400" dirty="0">
                <a:latin typeface="Cambria Math" panose="02040503050406030204"/>
                <a:cs typeface="Cambria Math" panose="02040503050406030204"/>
              </a:rPr>
              <a:t>𝑙𝑜𝑔</a:t>
            </a:r>
            <a:r>
              <a:rPr sz="2400" spc="-100" dirty="0">
                <a:latin typeface="Cambria Math" panose="02040503050406030204"/>
                <a:cs typeface="Cambria Math" panose="02040503050406030204"/>
              </a:rPr>
              <a:t> </a:t>
            </a:r>
            <a:r>
              <a:rPr sz="2625" spc="-37" baseline="44000" dirty="0">
                <a:latin typeface="Cambria Math" panose="02040503050406030204"/>
                <a:cs typeface="Cambria Math" panose="02040503050406030204"/>
              </a:rPr>
              <a:t>𝑇</a:t>
            </a:r>
            <a:r>
              <a:rPr sz="2175" spc="-37" baseline="40000" dirty="0">
                <a:latin typeface="Cambria Math" panose="02040503050406030204"/>
                <a:cs typeface="Cambria Math" panose="02040503050406030204"/>
              </a:rPr>
              <a:t>0</a:t>
            </a:r>
            <a:endParaRPr sz="2175" baseline="40000">
              <a:latin typeface="Cambria Math" panose="02040503050406030204"/>
              <a:cs typeface="Cambria Math" panose="02040503050406030204"/>
            </a:endParaRPr>
          </a:p>
        </p:txBody>
      </p:sp>
      <p:sp>
        <p:nvSpPr>
          <p:cNvPr id="9" name="object 9"/>
          <p:cNvSpPr/>
          <p:nvPr/>
        </p:nvSpPr>
        <p:spPr>
          <a:xfrm>
            <a:off x="6339587" y="5267961"/>
            <a:ext cx="398780" cy="502921"/>
          </a:xfrm>
          <a:custGeom>
            <a:avLst/>
            <a:gdLst/>
            <a:ahLst/>
            <a:cxnLst/>
            <a:rect l="l" t="t" r="r" b="b"/>
            <a:pathLst>
              <a:path w="398779" h="502920">
                <a:moveTo>
                  <a:pt x="113411" y="11938"/>
                </a:moveTo>
                <a:lnTo>
                  <a:pt x="63919" y="35902"/>
                </a:lnTo>
                <a:lnTo>
                  <a:pt x="29464" y="92837"/>
                </a:lnTo>
                <a:lnTo>
                  <a:pt x="7391" y="166268"/>
                </a:lnTo>
                <a:lnTo>
                  <a:pt x="1841" y="207302"/>
                </a:lnTo>
                <a:lnTo>
                  <a:pt x="0" y="251206"/>
                </a:lnTo>
                <a:lnTo>
                  <a:pt x="1790" y="293585"/>
                </a:lnTo>
                <a:lnTo>
                  <a:pt x="1841" y="294957"/>
                </a:lnTo>
                <a:lnTo>
                  <a:pt x="7391" y="335927"/>
                </a:lnTo>
                <a:lnTo>
                  <a:pt x="16598" y="374129"/>
                </a:lnTo>
                <a:lnTo>
                  <a:pt x="45415" y="440969"/>
                </a:lnTo>
                <a:lnTo>
                  <a:pt x="84988" y="487540"/>
                </a:lnTo>
                <a:lnTo>
                  <a:pt x="108585" y="502742"/>
                </a:lnTo>
                <a:lnTo>
                  <a:pt x="113411" y="490829"/>
                </a:lnTo>
                <a:lnTo>
                  <a:pt x="94500" y="475564"/>
                </a:lnTo>
                <a:lnTo>
                  <a:pt x="77787" y="455637"/>
                </a:lnTo>
                <a:lnTo>
                  <a:pt x="50927" y="401828"/>
                </a:lnTo>
                <a:lnTo>
                  <a:pt x="34061" y="332689"/>
                </a:lnTo>
                <a:lnTo>
                  <a:pt x="29845" y="293585"/>
                </a:lnTo>
                <a:lnTo>
                  <a:pt x="28448" y="251460"/>
                </a:lnTo>
                <a:lnTo>
                  <a:pt x="29870" y="208724"/>
                </a:lnTo>
                <a:lnTo>
                  <a:pt x="34137" y="169265"/>
                </a:lnTo>
                <a:lnTo>
                  <a:pt x="51181" y="100203"/>
                </a:lnTo>
                <a:lnTo>
                  <a:pt x="78105" y="46926"/>
                </a:lnTo>
                <a:lnTo>
                  <a:pt x="94716" y="27165"/>
                </a:lnTo>
                <a:lnTo>
                  <a:pt x="113411" y="11938"/>
                </a:lnTo>
                <a:close/>
              </a:path>
              <a:path w="398779" h="502920">
                <a:moveTo>
                  <a:pt x="275590" y="242570"/>
                </a:moveTo>
                <a:lnTo>
                  <a:pt x="124714" y="242570"/>
                </a:lnTo>
                <a:lnTo>
                  <a:pt x="124714" y="262382"/>
                </a:lnTo>
                <a:lnTo>
                  <a:pt x="275590" y="262382"/>
                </a:lnTo>
                <a:lnTo>
                  <a:pt x="275590" y="242570"/>
                </a:lnTo>
                <a:close/>
              </a:path>
              <a:path w="398779" h="502920">
                <a:moveTo>
                  <a:pt x="398780" y="251206"/>
                </a:moveTo>
                <a:lnTo>
                  <a:pt x="397002" y="208724"/>
                </a:lnTo>
                <a:lnTo>
                  <a:pt x="391439" y="166268"/>
                </a:lnTo>
                <a:lnTo>
                  <a:pt x="382270" y="128104"/>
                </a:lnTo>
                <a:lnTo>
                  <a:pt x="353479" y="61747"/>
                </a:lnTo>
                <a:lnTo>
                  <a:pt x="313855" y="15316"/>
                </a:lnTo>
                <a:lnTo>
                  <a:pt x="290195" y="0"/>
                </a:lnTo>
                <a:lnTo>
                  <a:pt x="285369" y="11938"/>
                </a:lnTo>
                <a:lnTo>
                  <a:pt x="304126" y="27165"/>
                </a:lnTo>
                <a:lnTo>
                  <a:pt x="320776" y="46926"/>
                </a:lnTo>
                <a:lnTo>
                  <a:pt x="347726" y="100203"/>
                </a:lnTo>
                <a:lnTo>
                  <a:pt x="364756" y="169265"/>
                </a:lnTo>
                <a:lnTo>
                  <a:pt x="369023" y="208724"/>
                </a:lnTo>
                <a:lnTo>
                  <a:pt x="370446" y="251206"/>
                </a:lnTo>
                <a:lnTo>
                  <a:pt x="370459" y="251460"/>
                </a:lnTo>
                <a:lnTo>
                  <a:pt x="369023" y="293585"/>
                </a:lnTo>
                <a:lnTo>
                  <a:pt x="364769" y="332689"/>
                </a:lnTo>
                <a:lnTo>
                  <a:pt x="347853" y="401828"/>
                </a:lnTo>
                <a:lnTo>
                  <a:pt x="320979" y="455637"/>
                </a:lnTo>
                <a:lnTo>
                  <a:pt x="285369" y="490829"/>
                </a:lnTo>
                <a:lnTo>
                  <a:pt x="290195" y="502742"/>
                </a:lnTo>
                <a:lnTo>
                  <a:pt x="334962" y="466953"/>
                </a:lnTo>
                <a:lnTo>
                  <a:pt x="369443" y="409575"/>
                </a:lnTo>
                <a:lnTo>
                  <a:pt x="391439" y="335927"/>
                </a:lnTo>
                <a:lnTo>
                  <a:pt x="396938" y="294957"/>
                </a:lnTo>
                <a:lnTo>
                  <a:pt x="398767" y="251460"/>
                </a:lnTo>
                <a:lnTo>
                  <a:pt x="398780" y="251206"/>
                </a:lnTo>
                <a:close/>
              </a:path>
            </a:pathLst>
          </a:custGeom>
          <a:solidFill>
            <a:srgbClr val="000000"/>
          </a:solidFill>
        </p:spPr>
        <p:txBody>
          <a:bodyPr wrap="square" lIns="0" tIns="0" rIns="0" bIns="0" rtlCol="0"/>
          <a:lstStyle/>
          <a:p>
            <a:endParaRPr/>
          </a:p>
        </p:txBody>
      </p:sp>
      <p:sp>
        <p:nvSpPr>
          <p:cNvPr id="10" name="object 10"/>
          <p:cNvSpPr txBox="1"/>
          <p:nvPr/>
        </p:nvSpPr>
        <p:spPr>
          <a:xfrm>
            <a:off x="6066791" y="5128922"/>
            <a:ext cx="558800" cy="681597"/>
          </a:xfrm>
          <a:prstGeom prst="rect">
            <a:avLst/>
          </a:prstGeom>
        </p:spPr>
        <p:txBody>
          <a:bodyPr vert="horz" wrap="square" lIns="0" tIns="78105" rIns="0" bIns="0" rtlCol="0">
            <a:spAutoFit/>
          </a:bodyPr>
          <a:lstStyle/>
          <a:p>
            <a:pPr marR="5081" algn="r">
              <a:spcBef>
                <a:spcPts val="615"/>
              </a:spcBef>
            </a:pPr>
            <a:r>
              <a:rPr sz="1750" spc="-50" dirty="0">
                <a:latin typeface="Cambria Math" panose="02040503050406030204"/>
                <a:cs typeface="Cambria Math" panose="02040503050406030204"/>
              </a:rPr>
              <a:t>𝐴</a:t>
            </a:r>
            <a:endParaRPr sz="1750">
              <a:latin typeface="Cambria Math" panose="02040503050406030204"/>
              <a:cs typeface="Cambria Math" panose="02040503050406030204"/>
            </a:endParaRPr>
          </a:p>
          <a:p>
            <a:pPr marR="6985" algn="r">
              <a:spcBef>
                <a:spcPts val="514"/>
              </a:spcBef>
              <a:tabLst>
                <a:tab pos="385455" algn="l"/>
              </a:tabLst>
            </a:pPr>
            <a:r>
              <a:rPr sz="1750" spc="-50" dirty="0">
                <a:latin typeface="Cambria Math" panose="02040503050406030204"/>
                <a:cs typeface="Cambria Math" panose="02040503050406030204"/>
              </a:rPr>
              <a:t>𝑇</a:t>
            </a:r>
            <a:r>
              <a:rPr sz="1750" dirty="0">
                <a:latin typeface="Cambria Math" panose="02040503050406030204"/>
                <a:cs typeface="Cambria Math" panose="02040503050406030204"/>
              </a:rPr>
              <a:t>	</a:t>
            </a:r>
            <a:r>
              <a:rPr sz="1750" spc="-50" dirty="0">
                <a:latin typeface="Cambria Math" panose="02040503050406030204"/>
                <a:cs typeface="Cambria Math" panose="02040503050406030204"/>
              </a:rPr>
              <a:t>𝑉</a:t>
            </a:r>
            <a:endParaRPr sz="1750">
              <a:latin typeface="Cambria Math" panose="02040503050406030204"/>
              <a:cs typeface="Cambria Math" panose="02040503050406030204"/>
            </a:endParaRPr>
          </a:p>
        </p:txBody>
      </p:sp>
      <p:sp>
        <p:nvSpPr>
          <p:cNvPr id="12" name="object 12"/>
          <p:cNvSpPr txBox="1">
            <a:spLocks noGrp="1"/>
          </p:cNvSpPr>
          <p:nvPr>
            <p:ph type="sldNum" sz="quarter" idx="7"/>
          </p:nvPr>
        </p:nvSpPr>
        <p:spPr>
          <a:xfrm>
            <a:off x="8993409" y="6464911"/>
            <a:ext cx="198636" cy="156068"/>
          </a:xfrm>
          <a:prstGeom prst="rect">
            <a:avLst/>
          </a:prstGeom>
        </p:spPr>
        <p:txBody>
          <a:bodyPr vert="horz" wrap="square" lIns="0" tIns="0" rIns="0" bIns="0" rtlCol="0">
            <a:spAutoFit/>
          </a:bodyPr>
          <a:lstStyle/>
          <a:p>
            <a:pPr marL="38101">
              <a:lnSpc>
                <a:spcPts val="1239"/>
              </a:lnSpc>
            </a:pPr>
            <a:fld id="{81D60167-4931-47E6-BA6A-407CBD079E47}" type="slidenum">
              <a:rPr spc="-25" dirty="0"/>
              <a:pPr marL="38101">
                <a:lnSpc>
                  <a:spcPts val="1239"/>
                </a:lnSpc>
              </a:pPr>
              <a:t>39</a:t>
            </a:fld>
            <a:endParaRPr spc="-25" dirty="0"/>
          </a:p>
        </p:txBody>
      </p:sp>
      <p:sp>
        <p:nvSpPr>
          <p:cNvPr id="11" name="object 11"/>
          <p:cNvSpPr txBox="1"/>
          <p:nvPr/>
        </p:nvSpPr>
        <p:spPr>
          <a:xfrm>
            <a:off x="6764784" y="5290210"/>
            <a:ext cx="2034539" cy="382156"/>
          </a:xfrm>
          <a:prstGeom prst="rect">
            <a:avLst/>
          </a:prstGeom>
        </p:spPr>
        <p:txBody>
          <a:bodyPr vert="horz" wrap="square" lIns="0" tIns="12700" rIns="0" bIns="0" rtlCol="0">
            <a:spAutoFit/>
          </a:bodyPr>
          <a:lstStyle/>
          <a:p>
            <a:pPr marL="50801">
              <a:spcBef>
                <a:spcPts val="100"/>
              </a:spcBef>
              <a:tabLst>
                <a:tab pos="1623735" algn="l"/>
              </a:tabLst>
            </a:pPr>
            <a:r>
              <a:rPr sz="2400" spc="-25" dirty="0">
                <a:latin typeface="Cambria Math" panose="02040503050406030204"/>
                <a:cs typeface="Cambria Math" panose="02040503050406030204"/>
              </a:rPr>
              <a:t>10</a:t>
            </a:r>
            <a:r>
              <a:rPr sz="2625" spc="-37" baseline="29000" dirty="0">
                <a:latin typeface="Cambria Math" panose="02040503050406030204"/>
                <a:cs typeface="Cambria Math" panose="02040503050406030204"/>
              </a:rPr>
              <a:t>5</a:t>
            </a:r>
            <a:r>
              <a:rPr sz="2625" baseline="29000" dirty="0">
                <a:latin typeface="Cambria Math" panose="02040503050406030204"/>
                <a:cs typeface="Cambria Math" panose="02040503050406030204"/>
              </a:rPr>
              <a:t>	</a:t>
            </a:r>
            <a:r>
              <a:rPr sz="2400" spc="-25" dirty="0">
                <a:latin typeface="Arial MT"/>
                <a:cs typeface="Arial MT"/>
              </a:rPr>
              <a:t>(1)</a:t>
            </a:r>
            <a:endParaRPr sz="2400">
              <a:latin typeface="Arial MT"/>
              <a:cs typeface="Arial MT"/>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xfrm>
            <a:off x="8993409" y="6464911"/>
            <a:ext cx="198636" cy="156068"/>
          </a:xfrm>
          <a:prstGeom prst="rect">
            <a:avLst/>
          </a:prstGeom>
        </p:spPr>
        <p:txBody>
          <a:bodyPr vert="horz" wrap="square" lIns="0" tIns="0" rIns="0" bIns="0" rtlCol="0">
            <a:spAutoFit/>
          </a:bodyPr>
          <a:lstStyle/>
          <a:p>
            <a:pPr marL="38101">
              <a:lnSpc>
                <a:spcPts val="1239"/>
              </a:lnSpc>
            </a:pPr>
            <a:fld id="{81D60167-4931-47E6-BA6A-407CBD079E47}" type="slidenum">
              <a:rPr spc="-25" dirty="0"/>
              <a:pPr marL="38101">
                <a:lnSpc>
                  <a:spcPts val="1239"/>
                </a:lnSpc>
              </a:pPr>
              <a:t>40</a:t>
            </a:fld>
            <a:endParaRPr spc="-25" dirty="0"/>
          </a:p>
        </p:txBody>
      </p:sp>
      <p:sp>
        <p:nvSpPr>
          <p:cNvPr id="2" name="object 2"/>
          <p:cNvSpPr txBox="1">
            <a:spLocks noGrp="1"/>
          </p:cNvSpPr>
          <p:nvPr>
            <p:ph type="title"/>
          </p:nvPr>
        </p:nvSpPr>
        <p:spPr>
          <a:xfrm>
            <a:off x="470371" y="133351"/>
            <a:ext cx="7600956" cy="892423"/>
          </a:xfrm>
          <a:prstGeom prst="rect">
            <a:avLst/>
          </a:prstGeom>
        </p:spPr>
        <p:txBody>
          <a:bodyPr vert="horz" wrap="square" lIns="0" tIns="396112" rIns="0" bIns="0" rtlCol="0">
            <a:spAutoFit/>
          </a:bodyPr>
          <a:lstStyle/>
          <a:p>
            <a:pPr marL="131448">
              <a:spcBef>
                <a:spcPts val="105"/>
              </a:spcBef>
            </a:pPr>
            <a:r>
              <a:rPr spc="-25" dirty="0"/>
              <a:t>Tape</a:t>
            </a:r>
            <a:r>
              <a:rPr spc="-185" dirty="0"/>
              <a:t> </a:t>
            </a:r>
            <a:r>
              <a:rPr spc="-10" dirty="0"/>
              <a:t>Sampler</a:t>
            </a:r>
          </a:p>
        </p:txBody>
      </p:sp>
      <p:sp>
        <p:nvSpPr>
          <p:cNvPr id="3" name="object 3"/>
          <p:cNvSpPr txBox="1"/>
          <p:nvPr/>
        </p:nvSpPr>
        <p:spPr>
          <a:xfrm>
            <a:off x="479248" y="1219200"/>
            <a:ext cx="11484151" cy="5434245"/>
          </a:xfrm>
          <a:prstGeom prst="rect">
            <a:avLst/>
          </a:prstGeom>
        </p:spPr>
        <p:txBody>
          <a:bodyPr vert="horz" wrap="square" lIns="0" tIns="12065" rIns="0" bIns="0" rtlCol="0">
            <a:spAutoFit/>
          </a:bodyPr>
          <a:lstStyle/>
          <a:p>
            <a:pPr marL="316873" indent="-227971" algn="just">
              <a:spcBef>
                <a:spcPts val="95"/>
              </a:spcBef>
              <a:buFont typeface="Arial MT"/>
              <a:buChar char="•"/>
              <a:tabLst>
                <a:tab pos="316873" algn="l"/>
              </a:tabLst>
            </a:pPr>
            <a:r>
              <a:rPr sz="2201" dirty="0">
                <a:latin typeface="Cambria Math" panose="02040503050406030204"/>
                <a:cs typeface="Cambria Math" panose="02040503050406030204"/>
              </a:rPr>
              <a:t>𝑇</a:t>
            </a:r>
            <a:r>
              <a:rPr sz="2400" baseline="-16000" dirty="0">
                <a:latin typeface="Cambria Math" panose="02040503050406030204"/>
                <a:cs typeface="Cambria Math" panose="02040503050406030204"/>
              </a:rPr>
              <a:t>0</a:t>
            </a:r>
            <a:r>
              <a:rPr sz="2201" dirty="0">
                <a:latin typeface="Arial MT"/>
                <a:cs typeface="Arial MT"/>
              </a:rPr>
              <a:t>=</a:t>
            </a:r>
            <a:r>
              <a:rPr sz="2201" spc="-85" dirty="0">
                <a:latin typeface="Arial MT"/>
                <a:cs typeface="Arial MT"/>
              </a:rPr>
              <a:t> </a:t>
            </a:r>
            <a:r>
              <a:rPr sz="2201" dirty="0">
                <a:latin typeface="Arial MT"/>
                <a:cs typeface="Arial MT"/>
              </a:rPr>
              <a:t>the</a:t>
            </a:r>
            <a:r>
              <a:rPr sz="2201" spc="-70" dirty="0">
                <a:latin typeface="Arial MT"/>
                <a:cs typeface="Arial MT"/>
              </a:rPr>
              <a:t> </a:t>
            </a:r>
            <a:r>
              <a:rPr sz="2201" dirty="0">
                <a:latin typeface="Arial MT"/>
                <a:cs typeface="Arial MT"/>
              </a:rPr>
              <a:t>transmittance</a:t>
            </a:r>
            <a:r>
              <a:rPr sz="2201" spc="-65" dirty="0">
                <a:latin typeface="Arial MT"/>
                <a:cs typeface="Arial MT"/>
              </a:rPr>
              <a:t> </a:t>
            </a:r>
            <a:r>
              <a:rPr sz="2201" dirty="0">
                <a:latin typeface="Arial MT"/>
                <a:cs typeface="Arial MT"/>
              </a:rPr>
              <a:t>of</a:t>
            </a:r>
            <a:r>
              <a:rPr sz="2201" spc="-80" dirty="0">
                <a:latin typeface="Arial MT"/>
                <a:cs typeface="Arial MT"/>
              </a:rPr>
              <a:t> </a:t>
            </a:r>
            <a:r>
              <a:rPr sz="2201" dirty="0">
                <a:latin typeface="Arial MT"/>
                <a:cs typeface="Arial MT"/>
              </a:rPr>
              <a:t>clean</a:t>
            </a:r>
            <a:r>
              <a:rPr sz="2201" spc="-85" dirty="0">
                <a:latin typeface="Arial MT"/>
                <a:cs typeface="Arial MT"/>
              </a:rPr>
              <a:t> </a:t>
            </a:r>
            <a:r>
              <a:rPr sz="2201" dirty="0">
                <a:latin typeface="Arial MT"/>
                <a:cs typeface="Arial MT"/>
              </a:rPr>
              <a:t>tape</a:t>
            </a:r>
            <a:r>
              <a:rPr sz="2201" spc="-65" dirty="0">
                <a:latin typeface="Arial MT"/>
                <a:cs typeface="Arial MT"/>
              </a:rPr>
              <a:t> </a:t>
            </a:r>
            <a:r>
              <a:rPr sz="2201" spc="-10" dirty="0">
                <a:latin typeface="Arial MT"/>
                <a:cs typeface="Arial MT"/>
              </a:rPr>
              <a:t>(100%)</a:t>
            </a:r>
            <a:r>
              <a:rPr lang="en-IN" sz="2201" spc="-10" dirty="0">
                <a:latin typeface="Arial MT"/>
                <a:cs typeface="Arial MT"/>
              </a:rPr>
              <a:t> (</a:t>
            </a:r>
            <a:r>
              <a:rPr lang="en-US" sz="2400" dirty="0"/>
              <a:t>amount of light transmitted through </a:t>
            </a:r>
            <a:r>
              <a:rPr lang="en-US" sz="2400" b="1" dirty="0"/>
              <a:t>clean</a:t>
            </a:r>
            <a:r>
              <a:rPr lang="en-US" sz="2400" dirty="0"/>
              <a:t> filter tape)</a:t>
            </a:r>
            <a:endParaRPr sz="2201" dirty="0">
              <a:latin typeface="Arial MT"/>
              <a:cs typeface="Arial MT"/>
            </a:endParaRPr>
          </a:p>
          <a:p>
            <a:pPr marL="316873" indent="-227971" algn="just">
              <a:spcBef>
                <a:spcPts val="2315"/>
              </a:spcBef>
              <a:buChar char="•"/>
              <a:tabLst>
                <a:tab pos="316873" algn="l"/>
              </a:tabLst>
            </a:pPr>
            <a:r>
              <a:rPr sz="2201" dirty="0">
                <a:latin typeface="Arial MT"/>
                <a:cs typeface="Arial MT"/>
              </a:rPr>
              <a:t>T</a:t>
            </a:r>
            <a:r>
              <a:rPr sz="2201" spc="-90" dirty="0">
                <a:latin typeface="Arial MT"/>
                <a:cs typeface="Arial MT"/>
              </a:rPr>
              <a:t> </a:t>
            </a:r>
            <a:r>
              <a:rPr sz="2201" dirty="0">
                <a:latin typeface="Arial MT"/>
                <a:cs typeface="Arial MT"/>
              </a:rPr>
              <a:t>=</a:t>
            </a:r>
            <a:r>
              <a:rPr sz="2201" spc="-50" dirty="0">
                <a:latin typeface="Arial MT"/>
                <a:cs typeface="Arial MT"/>
              </a:rPr>
              <a:t> </a:t>
            </a:r>
            <a:r>
              <a:rPr sz="2201" dirty="0">
                <a:latin typeface="Arial MT"/>
                <a:cs typeface="Arial MT"/>
              </a:rPr>
              <a:t>the</a:t>
            </a:r>
            <a:r>
              <a:rPr sz="2201" spc="-55" dirty="0">
                <a:latin typeface="Arial MT"/>
                <a:cs typeface="Arial MT"/>
              </a:rPr>
              <a:t> </a:t>
            </a:r>
            <a:r>
              <a:rPr sz="2201" dirty="0">
                <a:latin typeface="Arial MT"/>
                <a:cs typeface="Arial MT"/>
              </a:rPr>
              <a:t>percentage</a:t>
            </a:r>
            <a:r>
              <a:rPr sz="2201" spc="-46" dirty="0">
                <a:latin typeface="Arial MT"/>
                <a:cs typeface="Arial MT"/>
              </a:rPr>
              <a:t> </a:t>
            </a:r>
            <a:r>
              <a:rPr sz="2201" dirty="0">
                <a:latin typeface="Arial MT"/>
                <a:cs typeface="Arial MT"/>
              </a:rPr>
              <a:t>of</a:t>
            </a:r>
            <a:r>
              <a:rPr sz="2201" spc="-60" dirty="0">
                <a:latin typeface="Arial MT"/>
                <a:cs typeface="Arial MT"/>
              </a:rPr>
              <a:t> </a:t>
            </a:r>
            <a:r>
              <a:rPr sz="2201" dirty="0">
                <a:latin typeface="Arial MT"/>
                <a:cs typeface="Arial MT"/>
              </a:rPr>
              <a:t>light</a:t>
            </a:r>
            <a:r>
              <a:rPr sz="2201" spc="-60" dirty="0">
                <a:latin typeface="Arial MT"/>
                <a:cs typeface="Arial MT"/>
              </a:rPr>
              <a:t> </a:t>
            </a:r>
            <a:r>
              <a:rPr sz="2201" dirty="0">
                <a:latin typeface="Arial MT"/>
                <a:cs typeface="Arial MT"/>
              </a:rPr>
              <a:t>transmitted</a:t>
            </a:r>
            <a:r>
              <a:rPr sz="2201" spc="-34" dirty="0">
                <a:latin typeface="Arial MT"/>
                <a:cs typeface="Arial MT"/>
              </a:rPr>
              <a:t> </a:t>
            </a:r>
            <a:r>
              <a:rPr sz="2201" dirty="0">
                <a:latin typeface="Arial MT"/>
                <a:cs typeface="Arial MT"/>
              </a:rPr>
              <a:t>through</a:t>
            </a:r>
            <a:r>
              <a:rPr sz="2201" spc="-41" dirty="0">
                <a:latin typeface="Arial MT"/>
                <a:cs typeface="Arial MT"/>
              </a:rPr>
              <a:t> </a:t>
            </a:r>
            <a:r>
              <a:rPr sz="2201" dirty="0">
                <a:latin typeface="Arial MT"/>
                <a:cs typeface="Arial MT"/>
              </a:rPr>
              <a:t>the</a:t>
            </a:r>
            <a:r>
              <a:rPr sz="2201" spc="-60" dirty="0">
                <a:latin typeface="Arial MT"/>
                <a:cs typeface="Arial MT"/>
              </a:rPr>
              <a:t> </a:t>
            </a:r>
            <a:r>
              <a:rPr sz="2201" spc="-10" dirty="0">
                <a:latin typeface="Arial MT"/>
                <a:cs typeface="Arial MT"/>
              </a:rPr>
              <a:t>spot,</a:t>
            </a:r>
            <a:endParaRPr sz="2201" dirty="0">
              <a:latin typeface="Arial MT"/>
              <a:cs typeface="Arial MT"/>
            </a:endParaRPr>
          </a:p>
          <a:p>
            <a:pPr marL="316873" indent="-227971" algn="just">
              <a:spcBef>
                <a:spcPts val="2320"/>
              </a:spcBef>
              <a:buChar char="•"/>
              <a:tabLst>
                <a:tab pos="316873" algn="l"/>
              </a:tabLst>
            </a:pPr>
            <a:r>
              <a:rPr sz="2201" dirty="0">
                <a:latin typeface="Arial MT"/>
                <a:cs typeface="Arial MT"/>
              </a:rPr>
              <a:t>A</a:t>
            </a:r>
            <a:r>
              <a:rPr sz="2201" spc="-150" dirty="0">
                <a:latin typeface="Arial MT"/>
                <a:cs typeface="Arial MT"/>
              </a:rPr>
              <a:t> </a:t>
            </a:r>
            <a:r>
              <a:rPr sz="2201" dirty="0">
                <a:latin typeface="Arial MT"/>
                <a:cs typeface="Arial MT"/>
              </a:rPr>
              <a:t>=</a:t>
            </a:r>
            <a:r>
              <a:rPr sz="2201" spc="-41" dirty="0">
                <a:latin typeface="Arial MT"/>
                <a:cs typeface="Arial MT"/>
              </a:rPr>
              <a:t> </a:t>
            </a:r>
            <a:r>
              <a:rPr sz="2201" dirty="0">
                <a:latin typeface="Arial MT"/>
                <a:cs typeface="Arial MT"/>
              </a:rPr>
              <a:t>area</a:t>
            </a:r>
            <a:r>
              <a:rPr sz="2201" spc="-20" dirty="0">
                <a:latin typeface="Arial MT"/>
                <a:cs typeface="Arial MT"/>
              </a:rPr>
              <a:t> </a:t>
            </a:r>
            <a:r>
              <a:rPr sz="2201" dirty="0">
                <a:latin typeface="Arial MT"/>
                <a:cs typeface="Arial MT"/>
              </a:rPr>
              <a:t>of</a:t>
            </a:r>
            <a:r>
              <a:rPr sz="2201" spc="-34" dirty="0">
                <a:latin typeface="Arial MT"/>
                <a:cs typeface="Arial MT"/>
              </a:rPr>
              <a:t> </a:t>
            </a:r>
            <a:r>
              <a:rPr sz="2201" dirty="0">
                <a:latin typeface="Arial MT"/>
                <a:cs typeface="Arial MT"/>
              </a:rPr>
              <a:t>the</a:t>
            </a:r>
            <a:r>
              <a:rPr sz="2201" spc="-30" dirty="0">
                <a:latin typeface="Arial MT"/>
                <a:cs typeface="Arial MT"/>
              </a:rPr>
              <a:t> </a:t>
            </a:r>
            <a:r>
              <a:rPr sz="2201" dirty="0">
                <a:latin typeface="Arial MT"/>
                <a:cs typeface="Arial MT"/>
              </a:rPr>
              <a:t>spot</a:t>
            </a:r>
            <a:r>
              <a:rPr sz="2201" spc="-41" dirty="0">
                <a:latin typeface="Arial MT"/>
                <a:cs typeface="Arial MT"/>
              </a:rPr>
              <a:t> </a:t>
            </a:r>
            <a:r>
              <a:rPr sz="2201" dirty="0">
                <a:latin typeface="Arial MT"/>
                <a:cs typeface="Arial MT"/>
              </a:rPr>
              <a:t>in</a:t>
            </a:r>
            <a:r>
              <a:rPr sz="2201" spc="-34" dirty="0">
                <a:latin typeface="Arial MT"/>
                <a:cs typeface="Arial MT"/>
              </a:rPr>
              <a:t> </a:t>
            </a:r>
            <a:r>
              <a:rPr sz="2201" dirty="0">
                <a:latin typeface="Arial MT"/>
                <a:cs typeface="Arial MT"/>
              </a:rPr>
              <a:t>square</a:t>
            </a:r>
            <a:r>
              <a:rPr sz="2201" spc="-34" dirty="0">
                <a:latin typeface="Arial MT"/>
                <a:cs typeface="Arial MT"/>
              </a:rPr>
              <a:t> </a:t>
            </a:r>
            <a:r>
              <a:rPr sz="2201" spc="-10" dirty="0">
                <a:latin typeface="Arial MT"/>
                <a:cs typeface="Arial MT"/>
              </a:rPr>
              <a:t>feet,</a:t>
            </a:r>
            <a:endParaRPr sz="2201" dirty="0">
              <a:latin typeface="Arial MT"/>
              <a:cs typeface="Arial MT"/>
            </a:endParaRPr>
          </a:p>
          <a:p>
            <a:pPr marL="317508" marR="241306" indent="-228606" algn="just">
              <a:lnSpc>
                <a:spcPct val="150000"/>
              </a:lnSpc>
              <a:spcBef>
                <a:spcPts val="1010"/>
              </a:spcBef>
              <a:buChar char="•"/>
              <a:tabLst>
                <a:tab pos="317508" algn="l"/>
                <a:tab pos="394980" algn="l"/>
              </a:tabLst>
            </a:pPr>
            <a:r>
              <a:rPr sz="2201" dirty="0">
                <a:latin typeface="Arial MT"/>
                <a:cs typeface="Arial MT"/>
              </a:rPr>
              <a:t>	V</a:t>
            </a:r>
            <a:r>
              <a:rPr sz="2201" spc="-50" dirty="0">
                <a:latin typeface="Arial MT"/>
                <a:cs typeface="Arial MT"/>
              </a:rPr>
              <a:t> </a:t>
            </a:r>
            <a:r>
              <a:rPr sz="2201" dirty="0">
                <a:latin typeface="Arial MT"/>
                <a:cs typeface="Arial MT"/>
              </a:rPr>
              <a:t>=</a:t>
            </a:r>
            <a:r>
              <a:rPr sz="2201" spc="-50" dirty="0">
                <a:latin typeface="Arial MT"/>
                <a:cs typeface="Arial MT"/>
              </a:rPr>
              <a:t> </a:t>
            </a:r>
            <a:r>
              <a:rPr sz="2201" dirty="0">
                <a:latin typeface="Arial MT"/>
                <a:cs typeface="Arial MT"/>
              </a:rPr>
              <a:t>volume</a:t>
            </a:r>
            <a:r>
              <a:rPr sz="2201" spc="-30" dirty="0">
                <a:latin typeface="Arial MT"/>
                <a:cs typeface="Arial MT"/>
              </a:rPr>
              <a:t> </a:t>
            </a:r>
            <a:r>
              <a:rPr sz="2201" dirty="0">
                <a:latin typeface="Arial MT"/>
                <a:cs typeface="Arial MT"/>
              </a:rPr>
              <a:t>of</a:t>
            </a:r>
            <a:r>
              <a:rPr sz="2201" spc="-50" dirty="0">
                <a:latin typeface="Arial MT"/>
                <a:cs typeface="Arial MT"/>
              </a:rPr>
              <a:t> </a:t>
            </a:r>
            <a:r>
              <a:rPr sz="2201" dirty="0">
                <a:latin typeface="Arial MT"/>
                <a:cs typeface="Arial MT"/>
              </a:rPr>
              <a:t>the</a:t>
            </a:r>
            <a:r>
              <a:rPr sz="2201" spc="-46" dirty="0">
                <a:latin typeface="Arial MT"/>
                <a:cs typeface="Arial MT"/>
              </a:rPr>
              <a:t> </a:t>
            </a:r>
            <a:r>
              <a:rPr sz="2201" dirty="0">
                <a:latin typeface="Arial MT"/>
                <a:cs typeface="Arial MT"/>
              </a:rPr>
              <a:t>sample</a:t>
            </a:r>
            <a:r>
              <a:rPr sz="2201" spc="-30" dirty="0">
                <a:latin typeface="Arial MT"/>
                <a:cs typeface="Arial MT"/>
              </a:rPr>
              <a:t> </a:t>
            </a:r>
            <a:r>
              <a:rPr sz="2201" dirty="0">
                <a:latin typeface="Arial MT"/>
                <a:cs typeface="Arial MT"/>
              </a:rPr>
              <a:t>in</a:t>
            </a:r>
            <a:r>
              <a:rPr sz="2201" spc="-46" dirty="0">
                <a:latin typeface="Arial MT"/>
                <a:cs typeface="Arial MT"/>
              </a:rPr>
              <a:t> </a:t>
            </a:r>
            <a:r>
              <a:rPr sz="2201" dirty="0">
                <a:latin typeface="Arial MT"/>
                <a:cs typeface="Arial MT"/>
              </a:rPr>
              <a:t>cubic</a:t>
            </a:r>
            <a:r>
              <a:rPr sz="2201" spc="-50" dirty="0">
                <a:latin typeface="Arial MT"/>
                <a:cs typeface="Arial MT"/>
              </a:rPr>
              <a:t> </a:t>
            </a:r>
            <a:r>
              <a:rPr sz="2201" dirty="0">
                <a:latin typeface="Arial MT"/>
                <a:cs typeface="Arial MT"/>
              </a:rPr>
              <a:t>feet</a:t>
            </a:r>
            <a:r>
              <a:rPr sz="2201" spc="-50" dirty="0">
                <a:latin typeface="Arial MT"/>
                <a:cs typeface="Arial MT"/>
              </a:rPr>
              <a:t> </a:t>
            </a:r>
            <a:r>
              <a:rPr sz="2201" dirty="0">
                <a:latin typeface="Arial MT"/>
                <a:cs typeface="Arial MT"/>
              </a:rPr>
              <a:t>or</a:t>
            </a:r>
            <a:r>
              <a:rPr sz="2201" spc="-34" dirty="0">
                <a:latin typeface="Arial MT"/>
                <a:cs typeface="Arial MT"/>
              </a:rPr>
              <a:t> </a:t>
            </a:r>
            <a:r>
              <a:rPr sz="2201" dirty="0">
                <a:latin typeface="Arial MT"/>
                <a:cs typeface="Arial MT"/>
              </a:rPr>
              <a:t>the</a:t>
            </a:r>
            <a:r>
              <a:rPr sz="2201" spc="-46" dirty="0">
                <a:latin typeface="Arial MT"/>
                <a:cs typeface="Arial MT"/>
              </a:rPr>
              <a:t> </a:t>
            </a:r>
            <a:r>
              <a:rPr sz="2201" dirty="0">
                <a:latin typeface="Arial MT"/>
                <a:cs typeface="Arial MT"/>
              </a:rPr>
              <a:t>product</a:t>
            </a:r>
            <a:r>
              <a:rPr sz="2201" spc="-34" dirty="0">
                <a:latin typeface="Arial MT"/>
                <a:cs typeface="Arial MT"/>
              </a:rPr>
              <a:t> </a:t>
            </a:r>
            <a:r>
              <a:rPr sz="2201" dirty="0">
                <a:latin typeface="Arial MT"/>
                <a:cs typeface="Arial MT"/>
              </a:rPr>
              <a:t>of</a:t>
            </a:r>
            <a:r>
              <a:rPr sz="2201" spc="-50" dirty="0">
                <a:latin typeface="Arial MT"/>
                <a:cs typeface="Arial MT"/>
              </a:rPr>
              <a:t> </a:t>
            </a:r>
            <a:r>
              <a:rPr sz="2201" dirty="0">
                <a:latin typeface="Arial MT"/>
                <a:cs typeface="Arial MT"/>
              </a:rPr>
              <a:t>the</a:t>
            </a:r>
            <a:r>
              <a:rPr sz="2201" spc="-46" dirty="0">
                <a:latin typeface="Arial MT"/>
                <a:cs typeface="Arial MT"/>
              </a:rPr>
              <a:t> </a:t>
            </a:r>
            <a:r>
              <a:rPr sz="2201" dirty="0">
                <a:latin typeface="Arial MT"/>
                <a:cs typeface="Arial MT"/>
              </a:rPr>
              <a:t>average</a:t>
            </a:r>
            <a:r>
              <a:rPr sz="2201" spc="-25" dirty="0">
                <a:latin typeface="Arial MT"/>
                <a:cs typeface="Arial MT"/>
              </a:rPr>
              <a:t> </a:t>
            </a:r>
            <a:r>
              <a:rPr sz="2201" dirty="0">
                <a:latin typeface="Arial MT"/>
                <a:cs typeface="Arial MT"/>
              </a:rPr>
              <a:t>sample</a:t>
            </a:r>
            <a:r>
              <a:rPr sz="2201" spc="-46" dirty="0">
                <a:latin typeface="Arial MT"/>
                <a:cs typeface="Arial MT"/>
              </a:rPr>
              <a:t> </a:t>
            </a:r>
            <a:r>
              <a:rPr sz="2201" dirty="0">
                <a:latin typeface="Arial MT"/>
                <a:cs typeface="Arial MT"/>
              </a:rPr>
              <a:t>flow</a:t>
            </a:r>
            <a:r>
              <a:rPr sz="2201" spc="-41" dirty="0">
                <a:latin typeface="Arial MT"/>
                <a:cs typeface="Arial MT"/>
              </a:rPr>
              <a:t> </a:t>
            </a:r>
            <a:r>
              <a:rPr sz="2201" spc="-25" dirty="0">
                <a:latin typeface="Arial MT"/>
                <a:cs typeface="Arial MT"/>
              </a:rPr>
              <a:t>and </a:t>
            </a:r>
            <a:r>
              <a:rPr sz="2201" dirty="0">
                <a:latin typeface="Arial MT"/>
                <a:cs typeface="Arial MT"/>
              </a:rPr>
              <a:t>the</a:t>
            </a:r>
            <a:r>
              <a:rPr sz="2201" spc="-75" dirty="0">
                <a:latin typeface="Arial MT"/>
                <a:cs typeface="Arial MT"/>
              </a:rPr>
              <a:t> </a:t>
            </a:r>
            <a:r>
              <a:rPr sz="2201" dirty="0">
                <a:latin typeface="Arial MT"/>
                <a:cs typeface="Arial MT"/>
              </a:rPr>
              <a:t>sampling</a:t>
            </a:r>
            <a:r>
              <a:rPr sz="2201" spc="-60" dirty="0">
                <a:latin typeface="Arial MT"/>
                <a:cs typeface="Arial MT"/>
              </a:rPr>
              <a:t> </a:t>
            </a:r>
            <a:r>
              <a:rPr sz="2201" spc="-10" dirty="0">
                <a:latin typeface="Arial MT"/>
                <a:cs typeface="Arial MT"/>
              </a:rPr>
              <a:t>time.</a:t>
            </a:r>
            <a:r>
              <a:rPr lang="en-IN" sz="2201" spc="-10" dirty="0">
                <a:latin typeface="Arial MT"/>
                <a:cs typeface="Arial MT"/>
              </a:rPr>
              <a:t>(</a:t>
            </a:r>
            <a:r>
              <a:rPr lang="en-US" sz="2400" dirty="0"/>
              <a:t>total </a:t>
            </a:r>
            <a:r>
              <a:rPr lang="en-US" sz="2400" b="1" dirty="0"/>
              <a:t>volume</a:t>
            </a:r>
            <a:r>
              <a:rPr lang="en-US" sz="2400" dirty="0"/>
              <a:t> of air that was sucked through that specific spot)</a:t>
            </a:r>
            <a:endParaRPr sz="2201" dirty="0">
              <a:latin typeface="Arial MT"/>
              <a:cs typeface="Arial MT"/>
            </a:endParaRPr>
          </a:p>
          <a:p>
            <a:pPr marL="317508" marR="30481" indent="-228606" algn="just">
              <a:lnSpc>
                <a:spcPct val="150000"/>
              </a:lnSpc>
              <a:spcBef>
                <a:spcPts val="994"/>
              </a:spcBef>
              <a:buChar char="•"/>
              <a:tabLst>
                <a:tab pos="317508" algn="l"/>
              </a:tabLst>
            </a:pPr>
            <a:r>
              <a:rPr sz="2201" dirty="0">
                <a:latin typeface="Arial MT"/>
                <a:cs typeface="Arial MT"/>
              </a:rPr>
              <a:t>The</a:t>
            </a:r>
            <a:r>
              <a:rPr sz="2201" spc="-41" dirty="0">
                <a:latin typeface="Arial MT"/>
                <a:cs typeface="Arial MT"/>
              </a:rPr>
              <a:t> </a:t>
            </a:r>
            <a:r>
              <a:rPr sz="2201" dirty="0">
                <a:solidFill>
                  <a:srgbClr val="FF0000"/>
                </a:solidFill>
                <a:latin typeface="Arial MT"/>
                <a:cs typeface="Arial MT"/>
              </a:rPr>
              <a:t>coefficient</a:t>
            </a:r>
            <a:r>
              <a:rPr sz="2201" spc="-60" dirty="0">
                <a:solidFill>
                  <a:srgbClr val="FF0000"/>
                </a:solidFill>
                <a:latin typeface="Arial MT"/>
                <a:cs typeface="Arial MT"/>
              </a:rPr>
              <a:t> </a:t>
            </a:r>
            <a:r>
              <a:rPr sz="2201" dirty="0">
                <a:solidFill>
                  <a:srgbClr val="FF0000"/>
                </a:solidFill>
                <a:latin typeface="Arial MT"/>
                <a:cs typeface="Arial MT"/>
              </a:rPr>
              <a:t>of</a:t>
            </a:r>
            <a:r>
              <a:rPr sz="2201" spc="-55" dirty="0">
                <a:solidFill>
                  <a:srgbClr val="FF0000"/>
                </a:solidFill>
                <a:latin typeface="Arial MT"/>
                <a:cs typeface="Arial MT"/>
              </a:rPr>
              <a:t> </a:t>
            </a:r>
            <a:r>
              <a:rPr sz="2201" dirty="0">
                <a:solidFill>
                  <a:srgbClr val="FF0000"/>
                </a:solidFill>
                <a:latin typeface="Arial MT"/>
                <a:cs typeface="Arial MT"/>
              </a:rPr>
              <a:t>haze</a:t>
            </a:r>
            <a:r>
              <a:rPr sz="2201" spc="-60" dirty="0">
                <a:solidFill>
                  <a:srgbClr val="FF0000"/>
                </a:solidFill>
                <a:latin typeface="Arial MT"/>
                <a:cs typeface="Arial MT"/>
              </a:rPr>
              <a:t> </a:t>
            </a:r>
            <a:r>
              <a:rPr sz="2201" dirty="0">
                <a:solidFill>
                  <a:srgbClr val="FF0000"/>
                </a:solidFill>
                <a:latin typeface="Arial MT"/>
                <a:cs typeface="Arial MT"/>
              </a:rPr>
              <a:t>index</a:t>
            </a:r>
            <a:r>
              <a:rPr sz="2201" spc="-55" dirty="0">
                <a:solidFill>
                  <a:srgbClr val="FF0000"/>
                </a:solidFill>
                <a:latin typeface="Arial MT"/>
                <a:cs typeface="Arial MT"/>
              </a:rPr>
              <a:t> </a:t>
            </a:r>
            <a:r>
              <a:rPr sz="2201" dirty="0">
                <a:solidFill>
                  <a:srgbClr val="FF0000"/>
                </a:solidFill>
                <a:latin typeface="Arial MT"/>
                <a:cs typeface="Arial MT"/>
              </a:rPr>
              <a:t>is</a:t>
            </a:r>
            <a:r>
              <a:rPr sz="2201" spc="-55" dirty="0">
                <a:solidFill>
                  <a:srgbClr val="FF0000"/>
                </a:solidFill>
                <a:latin typeface="Arial MT"/>
                <a:cs typeface="Arial MT"/>
              </a:rPr>
              <a:t> </a:t>
            </a:r>
            <a:r>
              <a:rPr sz="2201" dirty="0">
                <a:solidFill>
                  <a:srgbClr val="FF0000"/>
                </a:solidFill>
                <a:latin typeface="Arial MT"/>
                <a:cs typeface="Arial MT"/>
              </a:rPr>
              <a:t>based</a:t>
            </a:r>
            <a:r>
              <a:rPr sz="2201" spc="-50" dirty="0">
                <a:solidFill>
                  <a:srgbClr val="FF0000"/>
                </a:solidFill>
                <a:latin typeface="Arial MT"/>
                <a:cs typeface="Arial MT"/>
              </a:rPr>
              <a:t> </a:t>
            </a:r>
            <a:r>
              <a:rPr sz="2201" dirty="0">
                <a:solidFill>
                  <a:srgbClr val="FF0000"/>
                </a:solidFill>
                <a:latin typeface="Arial MT"/>
                <a:cs typeface="Arial MT"/>
              </a:rPr>
              <a:t>upon</a:t>
            </a:r>
            <a:r>
              <a:rPr sz="2201" spc="-55" dirty="0">
                <a:solidFill>
                  <a:srgbClr val="FF0000"/>
                </a:solidFill>
                <a:latin typeface="Arial MT"/>
                <a:cs typeface="Arial MT"/>
              </a:rPr>
              <a:t> </a:t>
            </a:r>
            <a:r>
              <a:rPr sz="2201" dirty="0">
                <a:solidFill>
                  <a:srgbClr val="FF0000"/>
                </a:solidFill>
                <a:latin typeface="Arial MT"/>
                <a:cs typeface="Arial MT"/>
              </a:rPr>
              <a:t>an</a:t>
            </a:r>
            <a:r>
              <a:rPr sz="2201" spc="-60" dirty="0">
                <a:solidFill>
                  <a:srgbClr val="FF0000"/>
                </a:solidFill>
                <a:latin typeface="Arial MT"/>
                <a:cs typeface="Arial MT"/>
              </a:rPr>
              <a:t> </a:t>
            </a:r>
            <a:r>
              <a:rPr sz="2201" dirty="0">
                <a:solidFill>
                  <a:srgbClr val="FF0000"/>
                </a:solidFill>
                <a:latin typeface="Arial MT"/>
                <a:cs typeface="Arial MT"/>
              </a:rPr>
              <a:t>optical</a:t>
            </a:r>
            <a:r>
              <a:rPr sz="2201" spc="-55" dirty="0">
                <a:solidFill>
                  <a:srgbClr val="FF0000"/>
                </a:solidFill>
                <a:latin typeface="Arial MT"/>
                <a:cs typeface="Arial MT"/>
              </a:rPr>
              <a:t> </a:t>
            </a:r>
            <a:r>
              <a:rPr sz="2201" dirty="0">
                <a:solidFill>
                  <a:srgbClr val="FF0000"/>
                </a:solidFill>
                <a:latin typeface="Arial MT"/>
                <a:cs typeface="Arial MT"/>
              </a:rPr>
              <a:t>property</a:t>
            </a:r>
            <a:r>
              <a:rPr sz="2201" spc="5" dirty="0">
                <a:solidFill>
                  <a:srgbClr val="FF0000"/>
                </a:solidFill>
                <a:latin typeface="Arial MT"/>
                <a:cs typeface="Arial MT"/>
              </a:rPr>
              <a:t> </a:t>
            </a:r>
            <a:r>
              <a:rPr sz="2201" dirty="0">
                <a:latin typeface="Arial MT"/>
                <a:cs typeface="Arial MT"/>
              </a:rPr>
              <a:t>and</a:t>
            </a:r>
            <a:r>
              <a:rPr sz="2201" spc="-41" dirty="0">
                <a:latin typeface="Arial MT"/>
                <a:cs typeface="Arial MT"/>
              </a:rPr>
              <a:t> </a:t>
            </a:r>
            <a:r>
              <a:rPr sz="2201" dirty="0">
                <a:latin typeface="Arial MT"/>
                <a:cs typeface="Arial MT"/>
              </a:rPr>
              <a:t>this</a:t>
            </a:r>
            <a:r>
              <a:rPr sz="2201" spc="-55" dirty="0">
                <a:latin typeface="Arial MT"/>
                <a:cs typeface="Arial MT"/>
              </a:rPr>
              <a:t> </a:t>
            </a:r>
            <a:r>
              <a:rPr sz="2201" dirty="0">
                <a:latin typeface="Arial MT"/>
                <a:cs typeface="Arial MT"/>
              </a:rPr>
              <a:t>method</a:t>
            </a:r>
            <a:r>
              <a:rPr sz="2201" spc="-30" dirty="0">
                <a:latin typeface="Arial MT"/>
                <a:cs typeface="Arial MT"/>
              </a:rPr>
              <a:t> </a:t>
            </a:r>
            <a:r>
              <a:rPr sz="2201" dirty="0">
                <a:latin typeface="Arial MT"/>
                <a:cs typeface="Arial MT"/>
              </a:rPr>
              <a:t>is</a:t>
            </a:r>
            <a:r>
              <a:rPr sz="2201" spc="-60" dirty="0">
                <a:latin typeface="Arial MT"/>
                <a:cs typeface="Arial MT"/>
              </a:rPr>
              <a:t> </a:t>
            </a:r>
            <a:r>
              <a:rPr sz="2201" spc="-10" dirty="0">
                <a:latin typeface="Arial MT"/>
                <a:cs typeface="Arial MT"/>
              </a:rPr>
              <a:t>quite </a:t>
            </a:r>
            <a:r>
              <a:rPr sz="2201" dirty="0">
                <a:latin typeface="Arial MT"/>
                <a:cs typeface="Arial MT"/>
              </a:rPr>
              <a:t>different</a:t>
            </a:r>
            <a:r>
              <a:rPr sz="2201" spc="-85" dirty="0">
                <a:latin typeface="Arial MT"/>
                <a:cs typeface="Arial MT"/>
              </a:rPr>
              <a:t> </a:t>
            </a:r>
            <a:r>
              <a:rPr sz="2201" dirty="0">
                <a:latin typeface="Arial MT"/>
                <a:cs typeface="Arial MT"/>
              </a:rPr>
              <a:t>from</a:t>
            </a:r>
            <a:r>
              <a:rPr sz="2201" spc="-55" dirty="0">
                <a:latin typeface="Arial MT"/>
                <a:cs typeface="Arial MT"/>
              </a:rPr>
              <a:t> </a:t>
            </a:r>
            <a:r>
              <a:rPr sz="2201" dirty="0">
                <a:latin typeface="Arial MT"/>
                <a:cs typeface="Arial MT"/>
              </a:rPr>
              <a:t>the</a:t>
            </a:r>
            <a:r>
              <a:rPr sz="2201" spc="-80" dirty="0">
                <a:latin typeface="Arial MT"/>
                <a:cs typeface="Arial MT"/>
              </a:rPr>
              <a:t> </a:t>
            </a:r>
            <a:r>
              <a:rPr sz="2201" dirty="0">
                <a:latin typeface="Arial MT"/>
                <a:cs typeface="Arial MT"/>
              </a:rPr>
              <a:t>standard</a:t>
            </a:r>
            <a:r>
              <a:rPr sz="2201" spc="-65" dirty="0">
                <a:latin typeface="Arial MT"/>
                <a:cs typeface="Arial MT"/>
              </a:rPr>
              <a:t> </a:t>
            </a:r>
            <a:r>
              <a:rPr sz="2201" dirty="0">
                <a:latin typeface="Arial MT"/>
                <a:cs typeface="Arial MT"/>
              </a:rPr>
              <a:t>methods</a:t>
            </a:r>
            <a:r>
              <a:rPr sz="2201" spc="-65" dirty="0">
                <a:latin typeface="Arial MT"/>
                <a:cs typeface="Arial MT"/>
              </a:rPr>
              <a:t> </a:t>
            </a:r>
            <a:r>
              <a:rPr sz="2201" dirty="0">
                <a:latin typeface="Arial MT"/>
                <a:cs typeface="Arial MT"/>
              </a:rPr>
              <a:t>of</a:t>
            </a:r>
            <a:r>
              <a:rPr sz="2201" spc="-80" dirty="0">
                <a:latin typeface="Arial MT"/>
                <a:cs typeface="Arial MT"/>
              </a:rPr>
              <a:t> </a:t>
            </a:r>
            <a:r>
              <a:rPr sz="2201" dirty="0">
                <a:latin typeface="Arial MT"/>
                <a:cs typeface="Arial MT"/>
              </a:rPr>
              <a:t>representing</a:t>
            </a:r>
            <a:r>
              <a:rPr sz="2201" spc="-70" dirty="0">
                <a:latin typeface="Arial MT"/>
                <a:cs typeface="Arial MT"/>
              </a:rPr>
              <a:t> </a:t>
            </a:r>
            <a:r>
              <a:rPr sz="2201" dirty="0">
                <a:latin typeface="Arial MT"/>
                <a:cs typeface="Arial MT"/>
              </a:rPr>
              <a:t>the</a:t>
            </a:r>
            <a:r>
              <a:rPr sz="2201" spc="-75" dirty="0">
                <a:latin typeface="Arial MT"/>
                <a:cs typeface="Arial MT"/>
              </a:rPr>
              <a:t> </a:t>
            </a:r>
            <a:r>
              <a:rPr sz="2201" dirty="0">
                <a:latin typeface="Arial MT"/>
                <a:cs typeface="Arial MT"/>
              </a:rPr>
              <a:t>particulate</a:t>
            </a:r>
            <a:r>
              <a:rPr sz="2201" spc="-80" dirty="0">
                <a:latin typeface="Arial MT"/>
                <a:cs typeface="Arial MT"/>
              </a:rPr>
              <a:t> </a:t>
            </a:r>
            <a:r>
              <a:rPr sz="2201" dirty="0">
                <a:latin typeface="Arial MT"/>
                <a:cs typeface="Arial MT"/>
              </a:rPr>
              <a:t>mass</a:t>
            </a:r>
            <a:r>
              <a:rPr sz="2201" spc="-65" dirty="0">
                <a:latin typeface="Arial MT"/>
                <a:cs typeface="Arial MT"/>
              </a:rPr>
              <a:t> </a:t>
            </a:r>
            <a:r>
              <a:rPr sz="2201" spc="-10" dirty="0">
                <a:latin typeface="Arial MT"/>
                <a:cs typeface="Arial MT"/>
              </a:rPr>
              <a:t>concentration.</a:t>
            </a:r>
            <a:endParaRPr sz="2201" dirty="0">
              <a:latin typeface="Arial MT"/>
              <a:cs typeface="Arial MT"/>
            </a:endParaRPr>
          </a:p>
          <a:p>
            <a:pPr marL="317508" marR="468007" indent="-228606" algn="just">
              <a:lnSpc>
                <a:spcPct val="150000"/>
              </a:lnSpc>
              <a:spcBef>
                <a:spcPts val="994"/>
              </a:spcBef>
              <a:buChar char="•"/>
              <a:tabLst>
                <a:tab pos="317508" algn="l"/>
              </a:tabLst>
            </a:pPr>
            <a:r>
              <a:rPr sz="2201" dirty="0">
                <a:latin typeface="Arial MT"/>
                <a:cs typeface="Arial MT"/>
              </a:rPr>
              <a:t>Hence,</a:t>
            </a:r>
            <a:r>
              <a:rPr sz="2201" spc="-70" dirty="0">
                <a:latin typeface="Arial MT"/>
                <a:cs typeface="Arial MT"/>
              </a:rPr>
              <a:t> </a:t>
            </a:r>
            <a:r>
              <a:rPr sz="2201" dirty="0">
                <a:latin typeface="Arial MT"/>
                <a:cs typeface="Arial MT"/>
              </a:rPr>
              <a:t>some</a:t>
            </a:r>
            <a:r>
              <a:rPr sz="2201" spc="-55" dirty="0">
                <a:latin typeface="Arial MT"/>
                <a:cs typeface="Arial MT"/>
              </a:rPr>
              <a:t> </a:t>
            </a:r>
            <a:r>
              <a:rPr sz="2201" dirty="0">
                <a:latin typeface="Arial MT"/>
                <a:cs typeface="Arial MT"/>
              </a:rPr>
              <a:t>guidelines</a:t>
            </a:r>
            <a:r>
              <a:rPr sz="2201" spc="-70" dirty="0">
                <a:latin typeface="Arial MT"/>
                <a:cs typeface="Arial MT"/>
              </a:rPr>
              <a:t> </a:t>
            </a:r>
            <a:r>
              <a:rPr sz="2201" dirty="0">
                <a:latin typeface="Arial MT"/>
                <a:cs typeface="Arial MT"/>
              </a:rPr>
              <a:t>are</a:t>
            </a:r>
            <a:r>
              <a:rPr sz="2201" spc="-55" dirty="0">
                <a:latin typeface="Arial MT"/>
                <a:cs typeface="Arial MT"/>
              </a:rPr>
              <a:t> </a:t>
            </a:r>
            <a:r>
              <a:rPr sz="2201" dirty="0">
                <a:latin typeface="Arial MT"/>
                <a:cs typeface="Arial MT"/>
              </a:rPr>
              <a:t>required</a:t>
            </a:r>
            <a:r>
              <a:rPr sz="2201" spc="-50" dirty="0">
                <a:latin typeface="Arial MT"/>
                <a:cs typeface="Arial MT"/>
              </a:rPr>
              <a:t> </a:t>
            </a:r>
            <a:r>
              <a:rPr sz="2201" dirty="0">
                <a:latin typeface="Arial MT"/>
                <a:cs typeface="Arial MT"/>
              </a:rPr>
              <a:t>for</a:t>
            </a:r>
            <a:r>
              <a:rPr sz="2201" spc="-50" dirty="0">
                <a:latin typeface="Arial MT"/>
                <a:cs typeface="Arial MT"/>
              </a:rPr>
              <a:t> </a:t>
            </a:r>
            <a:r>
              <a:rPr sz="2201" dirty="0">
                <a:latin typeface="Arial MT"/>
                <a:cs typeface="Arial MT"/>
              </a:rPr>
              <a:t>interpreting</a:t>
            </a:r>
            <a:r>
              <a:rPr sz="2201" spc="-65" dirty="0">
                <a:latin typeface="Arial MT"/>
                <a:cs typeface="Arial MT"/>
              </a:rPr>
              <a:t> </a:t>
            </a:r>
            <a:r>
              <a:rPr sz="2201" dirty="0">
                <a:latin typeface="Arial MT"/>
                <a:cs typeface="Arial MT"/>
              </a:rPr>
              <a:t>the</a:t>
            </a:r>
            <a:r>
              <a:rPr sz="2201" spc="-50" dirty="0">
                <a:latin typeface="Arial MT"/>
                <a:cs typeface="Arial MT"/>
              </a:rPr>
              <a:t> </a:t>
            </a:r>
            <a:r>
              <a:rPr sz="2201" b="1" dirty="0">
                <a:latin typeface="Arial MT"/>
                <a:cs typeface="Arial MT"/>
              </a:rPr>
              <a:t>COH</a:t>
            </a:r>
            <a:r>
              <a:rPr sz="2201" b="1" spc="-65" dirty="0">
                <a:latin typeface="Arial MT"/>
                <a:cs typeface="Arial MT"/>
              </a:rPr>
              <a:t> </a:t>
            </a:r>
            <a:r>
              <a:rPr sz="2201" b="1" dirty="0">
                <a:latin typeface="Arial MT"/>
                <a:cs typeface="Arial MT"/>
              </a:rPr>
              <a:t>values</a:t>
            </a:r>
            <a:r>
              <a:rPr sz="2201" b="1" spc="-60" dirty="0">
                <a:latin typeface="Arial MT"/>
                <a:cs typeface="Arial MT"/>
              </a:rPr>
              <a:t> </a:t>
            </a:r>
            <a:r>
              <a:rPr sz="2201" dirty="0">
                <a:latin typeface="Arial MT"/>
                <a:cs typeface="Arial MT"/>
              </a:rPr>
              <a:t>in</a:t>
            </a:r>
            <a:r>
              <a:rPr sz="2201" spc="-65" dirty="0">
                <a:latin typeface="Arial MT"/>
                <a:cs typeface="Arial MT"/>
              </a:rPr>
              <a:t> </a:t>
            </a:r>
            <a:r>
              <a:rPr sz="2201" dirty="0">
                <a:latin typeface="Arial MT"/>
                <a:cs typeface="Arial MT"/>
              </a:rPr>
              <a:t>terms</a:t>
            </a:r>
            <a:r>
              <a:rPr sz="2201" spc="-55" dirty="0">
                <a:latin typeface="Arial MT"/>
                <a:cs typeface="Arial MT"/>
              </a:rPr>
              <a:t> </a:t>
            </a:r>
            <a:r>
              <a:rPr sz="2201" dirty="0">
                <a:latin typeface="Arial MT"/>
                <a:cs typeface="Arial MT"/>
              </a:rPr>
              <a:t>of</a:t>
            </a:r>
            <a:r>
              <a:rPr sz="2201" spc="-50" dirty="0">
                <a:latin typeface="Arial MT"/>
                <a:cs typeface="Arial MT"/>
              </a:rPr>
              <a:t> </a:t>
            </a:r>
            <a:r>
              <a:rPr sz="2201" spc="-25" dirty="0">
                <a:latin typeface="Arial MT"/>
                <a:cs typeface="Arial MT"/>
              </a:rPr>
              <a:t>the </a:t>
            </a:r>
            <a:r>
              <a:rPr sz="2201" b="1" dirty="0">
                <a:latin typeface="Arial MT"/>
                <a:cs typeface="Arial MT"/>
              </a:rPr>
              <a:t>degree</a:t>
            </a:r>
            <a:r>
              <a:rPr sz="2201" b="1" spc="-46" dirty="0">
                <a:latin typeface="Arial MT"/>
                <a:cs typeface="Arial MT"/>
              </a:rPr>
              <a:t> </a:t>
            </a:r>
            <a:r>
              <a:rPr sz="2201" b="1" dirty="0">
                <a:latin typeface="Arial MT"/>
                <a:cs typeface="Arial MT"/>
              </a:rPr>
              <a:t>of</a:t>
            </a:r>
            <a:r>
              <a:rPr sz="2201" b="1" spc="-55" dirty="0">
                <a:latin typeface="Arial MT"/>
                <a:cs typeface="Arial MT"/>
              </a:rPr>
              <a:t> </a:t>
            </a:r>
            <a:r>
              <a:rPr sz="2201" b="1" spc="-10" dirty="0">
                <a:latin typeface="Arial MT"/>
                <a:cs typeface="Arial MT"/>
              </a:rPr>
              <a:t>pollution</a:t>
            </a:r>
            <a:r>
              <a:rPr sz="2201" spc="-10" dirty="0">
                <a:latin typeface="Arial MT"/>
                <a:cs typeface="Arial MT"/>
              </a:rPr>
              <a:t>.</a:t>
            </a:r>
            <a:endParaRPr sz="2201" dirty="0">
              <a:latin typeface="Arial MT"/>
              <a:cs typeface="Arial MT"/>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55421" y="228600"/>
            <a:ext cx="9355023" cy="892423"/>
          </a:xfrm>
          <a:prstGeom prst="rect">
            <a:avLst/>
          </a:prstGeom>
        </p:spPr>
        <p:txBody>
          <a:bodyPr vert="horz" wrap="square" lIns="0" tIns="396112" rIns="0" bIns="0" rtlCol="0">
            <a:spAutoFit/>
          </a:bodyPr>
          <a:lstStyle/>
          <a:p>
            <a:pPr marL="131448">
              <a:spcBef>
                <a:spcPts val="105"/>
              </a:spcBef>
            </a:pPr>
            <a:r>
              <a:rPr spc="-25" dirty="0"/>
              <a:t>Tape</a:t>
            </a:r>
            <a:r>
              <a:rPr spc="-185" dirty="0"/>
              <a:t> </a:t>
            </a:r>
            <a:r>
              <a:rPr spc="-10" dirty="0"/>
              <a:t>Sampler</a:t>
            </a:r>
          </a:p>
        </p:txBody>
      </p:sp>
      <p:graphicFrame>
        <p:nvGraphicFramePr>
          <p:cNvPr id="3" name="object 3"/>
          <p:cNvGraphicFramePr>
            <a:graphicFrameLocks noGrp="1"/>
          </p:cNvGraphicFramePr>
          <p:nvPr/>
        </p:nvGraphicFramePr>
        <p:xfrm>
          <a:off x="2637027" y="1783714"/>
          <a:ext cx="5431791" cy="2222506"/>
        </p:xfrm>
        <a:graphic>
          <a:graphicData uri="http://schemas.openxmlformats.org/drawingml/2006/table">
            <a:tbl>
              <a:tblPr firstRow="1" bandRow="1">
                <a:tableStyleId>{2D5ABB26-0587-4C30-8999-92F81FD0307C}</a:tableStyleId>
              </a:tblPr>
              <a:tblGrid>
                <a:gridCol w="2896870">
                  <a:extLst>
                    <a:ext uri="{9D8B030D-6E8A-4147-A177-3AD203B41FA5}">
                      <a16:colId xmlns:a16="http://schemas.microsoft.com/office/drawing/2014/main" val="20000"/>
                    </a:ext>
                  </a:extLst>
                </a:gridCol>
                <a:gridCol w="2534921">
                  <a:extLst>
                    <a:ext uri="{9D8B030D-6E8A-4147-A177-3AD203B41FA5}">
                      <a16:colId xmlns:a16="http://schemas.microsoft.com/office/drawing/2014/main" val="20001"/>
                    </a:ext>
                  </a:extLst>
                </a:gridCol>
              </a:tblGrid>
              <a:tr h="370206">
                <a:tc>
                  <a:txBody>
                    <a:bodyPr/>
                    <a:lstStyle/>
                    <a:p>
                      <a:pPr algn="ctr">
                        <a:lnSpc>
                          <a:spcPct val="100000"/>
                        </a:lnSpc>
                        <a:spcBef>
                          <a:spcPts val="315"/>
                        </a:spcBef>
                      </a:pPr>
                      <a:r>
                        <a:rPr sz="1800" b="1" spc="-25" dirty="0">
                          <a:solidFill>
                            <a:srgbClr val="FFFFFF"/>
                          </a:solidFill>
                          <a:latin typeface="Arial" panose="020B0604020202020204"/>
                          <a:cs typeface="Arial" panose="020B0604020202020204"/>
                        </a:rPr>
                        <a:t>COH</a:t>
                      </a:r>
                      <a:endParaRPr sz="1800">
                        <a:latin typeface="Arial" panose="020B0604020202020204"/>
                        <a:cs typeface="Arial" panose="020B0604020202020204"/>
                      </a:endParaRPr>
                    </a:p>
                  </a:txBody>
                  <a:tcPr marL="0" marR="0" marT="4000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219075">
                        <a:lnSpc>
                          <a:spcPct val="100000"/>
                        </a:lnSpc>
                        <a:spcBef>
                          <a:spcPts val="315"/>
                        </a:spcBef>
                      </a:pPr>
                      <a:r>
                        <a:rPr sz="1800" b="1" dirty="0">
                          <a:solidFill>
                            <a:srgbClr val="FFFFFF"/>
                          </a:solidFill>
                          <a:latin typeface="Arial" panose="020B0604020202020204"/>
                          <a:cs typeface="Arial" panose="020B0604020202020204"/>
                        </a:rPr>
                        <a:t>Degree</a:t>
                      </a:r>
                      <a:r>
                        <a:rPr sz="1800" b="1" spc="-20" dirty="0">
                          <a:solidFill>
                            <a:srgbClr val="FFFFFF"/>
                          </a:solidFill>
                          <a:latin typeface="Arial" panose="020B0604020202020204"/>
                          <a:cs typeface="Arial" panose="020B0604020202020204"/>
                        </a:rPr>
                        <a:t> </a:t>
                      </a:r>
                      <a:r>
                        <a:rPr sz="1800" b="1" dirty="0">
                          <a:solidFill>
                            <a:srgbClr val="FFFFFF"/>
                          </a:solidFill>
                          <a:latin typeface="Arial" panose="020B0604020202020204"/>
                          <a:cs typeface="Arial" panose="020B0604020202020204"/>
                        </a:rPr>
                        <a:t>of</a:t>
                      </a:r>
                      <a:r>
                        <a:rPr sz="1800" b="1" spc="-25" dirty="0">
                          <a:solidFill>
                            <a:srgbClr val="FFFFFF"/>
                          </a:solidFill>
                          <a:latin typeface="Arial" panose="020B0604020202020204"/>
                          <a:cs typeface="Arial" panose="020B0604020202020204"/>
                        </a:rPr>
                        <a:t> </a:t>
                      </a:r>
                      <a:r>
                        <a:rPr sz="1800" b="1" spc="-10" dirty="0">
                          <a:solidFill>
                            <a:srgbClr val="FFFFFF"/>
                          </a:solidFill>
                          <a:latin typeface="Arial" panose="020B0604020202020204"/>
                          <a:cs typeface="Arial" panose="020B0604020202020204"/>
                        </a:rPr>
                        <a:t>Pollution</a:t>
                      </a:r>
                      <a:endParaRPr sz="1800">
                        <a:latin typeface="Arial" panose="020B0604020202020204"/>
                        <a:cs typeface="Arial" panose="020B0604020202020204"/>
                      </a:endParaRPr>
                    </a:p>
                  </a:txBody>
                  <a:tcPr marL="0" marR="0" marT="4000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extLst>
                  <a:ext uri="{0D108BD9-81ED-4DB2-BD59-A6C34878D82A}">
                    <a16:rowId xmlns:a16="http://schemas.microsoft.com/office/drawing/2014/main" val="10000"/>
                  </a:ext>
                </a:extLst>
              </a:tr>
              <a:tr h="370841">
                <a:tc>
                  <a:txBody>
                    <a:bodyPr/>
                    <a:lstStyle/>
                    <a:p>
                      <a:pPr algn="ctr">
                        <a:lnSpc>
                          <a:spcPct val="100000"/>
                        </a:lnSpc>
                        <a:spcBef>
                          <a:spcPts val="315"/>
                        </a:spcBef>
                      </a:pPr>
                      <a:r>
                        <a:rPr sz="1800" spc="-10" dirty="0">
                          <a:latin typeface="Arial MT"/>
                          <a:cs typeface="Arial MT"/>
                        </a:rPr>
                        <a:t>0-</a:t>
                      </a:r>
                      <a:r>
                        <a:rPr sz="1800" spc="-25" dirty="0">
                          <a:latin typeface="Arial MT"/>
                          <a:cs typeface="Arial MT"/>
                        </a:rPr>
                        <a:t>0.9</a:t>
                      </a:r>
                      <a:endParaRPr sz="1800">
                        <a:latin typeface="Arial MT"/>
                        <a:cs typeface="Arial MT"/>
                      </a:endParaRPr>
                    </a:p>
                  </a:txBody>
                  <a:tcPr marL="0" marR="0" marT="4000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marL="91440">
                        <a:lnSpc>
                          <a:spcPct val="100000"/>
                        </a:lnSpc>
                        <a:spcBef>
                          <a:spcPts val="315"/>
                        </a:spcBef>
                      </a:pPr>
                      <a:r>
                        <a:rPr sz="1800" spc="-10" dirty="0">
                          <a:latin typeface="Arial MT"/>
                          <a:cs typeface="Arial MT"/>
                        </a:rPr>
                        <a:t>Light</a:t>
                      </a:r>
                      <a:endParaRPr sz="1800">
                        <a:latin typeface="Arial MT"/>
                        <a:cs typeface="Arial MT"/>
                      </a:endParaRPr>
                    </a:p>
                  </a:txBody>
                  <a:tcPr marL="0" marR="0" marT="4000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1"/>
                  </a:ext>
                </a:extLst>
              </a:tr>
              <a:tr h="370206">
                <a:tc>
                  <a:txBody>
                    <a:bodyPr/>
                    <a:lstStyle/>
                    <a:p>
                      <a:pPr algn="ctr">
                        <a:lnSpc>
                          <a:spcPct val="100000"/>
                        </a:lnSpc>
                        <a:spcBef>
                          <a:spcPts val="315"/>
                        </a:spcBef>
                      </a:pPr>
                      <a:r>
                        <a:rPr sz="1800" spc="-10" dirty="0">
                          <a:latin typeface="Arial MT"/>
                          <a:cs typeface="Arial MT"/>
                        </a:rPr>
                        <a:t>1-</a:t>
                      </a:r>
                      <a:r>
                        <a:rPr sz="1800" spc="-25" dirty="0">
                          <a:latin typeface="Arial MT"/>
                          <a:cs typeface="Arial MT"/>
                        </a:rPr>
                        <a:t>1.9</a:t>
                      </a:r>
                      <a:endParaRPr sz="1800">
                        <a:latin typeface="Arial MT"/>
                        <a:cs typeface="Arial MT"/>
                      </a:endParaRPr>
                    </a:p>
                  </a:txBody>
                  <a:tcPr marL="0" marR="0" marT="4000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91440">
                        <a:lnSpc>
                          <a:spcPct val="100000"/>
                        </a:lnSpc>
                        <a:spcBef>
                          <a:spcPts val="315"/>
                        </a:spcBef>
                      </a:pPr>
                      <a:r>
                        <a:rPr sz="1800" spc="-10" dirty="0">
                          <a:latin typeface="Arial MT"/>
                          <a:cs typeface="Arial MT"/>
                        </a:rPr>
                        <a:t>Medium</a:t>
                      </a:r>
                      <a:endParaRPr sz="1800">
                        <a:latin typeface="Arial MT"/>
                        <a:cs typeface="Arial MT"/>
                      </a:endParaRPr>
                    </a:p>
                  </a:txBody>
                  <a:tcPr marL="0" marR="0" marT="4000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2"/>
                  </a:ext>
                </a:extLst>
              </a:tr>
              <a:tr h="370206">
                <a:tc>
                  <a:txBody>
                    <a:bodyPr/>
                    <a:lstStyle/>
                    <a:p>
                      <a:pPr algn="ctr">
                        <a:lnSpc>
                          <a:spcPct val="100000"/>
                        </a:lnSpc>
                        <a:spcBef>
                          <a:spcPts val="315"/>
                        </a:spcBef>
                      </a:pPr>
                      <a:r>
                        <a:rPr sz="1800" spc="-10" dirty="0">
                          <a:latin typeface="Arial MT"/>
                          <a:cs typeface="Arial MT"/>
                        </a:rPr>
                        <a:t>2-</a:t>
                      </a:r>
                      <a:r>
                        <a:rPr sz="1800" spc="-25" dirty="0">
                          <a:latin typeface="Arial MT"/>
                          <a:cs typeface="Arial MT"/>
                        </a:rPr>
                        <a:t>2.9</a:t>
                      </a:r>
                      <a:endParaRPr sz="1800">
                        <a:latin typeface="Arial MT"/>
                        <a:cs typeface="Arial MT"/>
                      </a:endParaRPr>
                    </a:p>
                  </a:txBody>
                  <a:tcPr marL="0" marR="0" marT="4000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91440">
                        <a:lnSpc>
                          <a:spcPct val="100000"/>
                        </a:lnSpc>
                        <a:spcBef>
                          <a:spcPts val="315"/>
                        </a:spcBef>
                      </a:pPr>
                      <a:r>
                        <a:rPr sz="1800" spc="-10" dirty="0">
                          <a:latin typeface="Arial MT"/>
                          <a:cs typeface="Arial MT"/>
                        </a:rPr>
                        <a:t>Heavy</a:t>
                      </a:r>
                      <a:endParaRPr sz="1800">
                        <a:latin typeface="Arial MT"/>
                        <a:cs typeface="Arial MT"/>
                      </a:endParaRPr>
                    </a:p>
                  </a:txBody>
                  <a:tcPr marL="0" marR="0" marT="4000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3"/>
                  </a:ext>
                </a:extLst>
              </a:tr>
              <a:tr h="370206">
                <a:tc>
                  <a:txBody>
                    <a:bodyPr/>
                    <a:lstStyle/>
                    <a:p>
                      <a:pPr algn="ctr">
                        <a:lnSpc>
                          <a:spcPct val="100000"/>
                        </a:lnSpc>
                        <a:spcBef>
                          <a:spcPts val="315"/>
                        </a:spcBef>
                      </a:pPr>
                      <a:r>
                        <a:rPr sz="1800" spc="-10" dirty="0">
                          <a:latin typeface="Arial MT"/>
                          <a:cs typeface="Arial MT"/>
                        </a:rPr>
                        <a:t>3-</a:t>
                      </a:r>
                      <a:r>
                        <a:rPr sz="1800" spc="-25" dirty="0">
                          <a:latin typeface="Arial MT"/>
                          <a:cs typeface="Arial MT"/>
                        </a:rPr>
                        <a:t>3.9</a:t>
                      </a:r>
                      <a:endParaRPr sz="1800">
                        <a:latin typeface="Arial MT"/>
                        <a:cs typeface="Arial MT"/>
                      </a:endParaRPr>
                    </a:p>
                  </a:txBody>
                  <a:tcPr marL="0" marR="0" marT="4000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91440">
                        <a:lnSpc>
                          <a:spcPct val="100000"/>
                        </a:lnSpc>
                        <a:spcBef>
                          <a:spcPts val="315"/>
                        </a:spcBef>
                      </a:pPr>
                      <a:r>
                        <a:rPr sz="1800" dirty="0">
                          <a:latin typeface="Arial MT"/>
                          <a:cs typeface="Arial MT"/>
                        </a:rPr>
                        <a:t>Very</a:t>
                      </a:r>
                      <a:r>
                        <a:rPr sz="1800" spc="-105" dirty="0">
                          <a:latin typeface="Arial MT"/>
                          <a:cs typeface="Arial MT"/>
                        </a:rPr>
                        <a:t> </a:t>
                      </a:r>
                      <a:r>
                        <a:rPr sz="1800" spc="-10" dirty="0">
                          <a:latin typeface="Arial MT"/>
                          <a:cs typeface="Arial MT"/>
                        </a:rPr>
                        <a:t>heavy</a:t>
                      </a:r>
                      <a:endParaRPr sz="1800">
                        <a:latin typeface="Arial MT"/>
                        <a:cs typeface="Arial MT"/>
                      </a:endParaRPr>
                    </a:p>
                  </a:txBody>
                  <a:tcPr marL="0" marR="0" marT="4000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4"/>
                  </a:ext>
                </a:extLst>
              </a:tr>
              <a:tr h="370841">
                <a:tc>
                  <a:txBody>
                    <a:bodyPr/>
                    <a:lstStyle/>
                    <a:p>
                      <a:pPr algn="ctr">
                        <a:lnSpc>
                          <a:spcPct val="100000"/>
                        </a:lnSpc>
                        <a:spcBef>
                          <a:spcPts val="315"/>
                        </a:spcBef>
                      </a:pPr>
                      <a:r>
                        <a:rPr sz="1800" spc="-10" dirty="0">
                          <a:latin typeface="Arial MT"/>
                          <a:cs typeface="Arial MT"/>
                        </a:rPr>
                        <a:t>4-</a:t>
                      </a:r>
                      <a:r>
                        <a:rPr sz="1800" spc="-25" dirty="0">
                          <a:latin typeface="Arial MT"/>
                          <a:cs typeface="Arial MT"/>
                        </a:rPr>
                        <a:t>4.9</a:t>
                      </a:r>
                      <a:endParaRPr sz="1800">
                        <a:latin typeface="Arial MT"/>
                        <a:cs typeface="Arial MT"/>
                      </a:endParaRPr>
                    </a:p>
                  </a:txBody>
                  <a:tcPr marL="0" marR="0" marT="4000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91440">
                        <a:lnSpc>
                          <a:spcPct val="100000"/>
                        </a:lnSpc>
                        <a:spcBef>
                          <a:spcPts val="315"/>
                        </a:spcBef>
                      </a:pPr>
                      <a:r>
                        <a:rPr sz="1800" dirty="0">
                          <a:latin typeface="Arial MT"/>
                          <a:cs typeface="Arial MT"/>
                        </a:rPr>
                        <a:t>Extreme</a:t>
                      </a:r>
                      <a:r>
                        <a:rPr sz="1800" spc="-25" dirty="0">
                          <a:latin typeface="Arial MT"/>
                          <a:cs typeface="Arial MT"/>
                        </a:rPr>
                        <a:t> </a:t>
                      </a:r>
                      <a:r>
                        <a:rPr sz="1800" spc="-20" dirty="0">
                          <a:latin typeface="Arial MT"/>
                          <a:cs typeface="Arial MT"/>
                        </a:rPr>
                        <a:t>heavy</a:t>
                      </a:r>
                      <a:endParaRPr sz="1800">
                        <a:latin typeface="Arial MT"/>
                        <a:cs typeface="Arial MT"/>
                      </a:endParaRPr>
                    </a:p>
                  </a:txBody>
                  <a:tcPr marL="0" marR="0" marT="4000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5"/>
                  </a:ext>
                </a:extLst>
              </a:tr>
            </a:tbl>
          </a:graphicData>
        </a:graphic>
      </p:graphicFrame>
      <p:sp>
        <p:nvSpPr>
          <p:cNvPr id="4" name="object 4"/>
          <p:cNvSpPr txBox="1"/>
          <p:nvPr/>
        </p:nvSpPr>
        <p:spPr>
          <a:xfrm>
            <a:off x="11094212" y="6426809"/>
            <a:ext cx="180975" cy="197490"/>
          </a:xfrm>
          <a:prstGeom prst="rect">
            <a:avLst/>
          </a:prstGeom>
        </p:spPr>
        <p:txBody>
          <a:bodyPr vert="horz" wrap="square" lIns="0" tIns="12700" rIns="0" bIns="0" rtlCol="0">
            <a:spAutoFit/>
          </a:bodyPr>
          <a:lstStyle/>
          <a:p>
            <a:pPr marL="12701">
              <a:spcBef>
                <a:spcPts val="100"/>
              </a:spcBef>
            </a:pPr>
            <a:r>
              <a:rPr sz="1200" spc="-25" dirty="0">
                <a:solidFill>
                  <a:srgbClr val="888888"/>
                </a:solidFill>
                <a:latin typeface="Calibri" panose="020F0502020204030204"/>
                <a:cs typeface="Calibri" panose="020F0502020204030204"/>
              </a:rPr>
              <a:t>39</a:t>
            </a:r>
            <a:endParaRPr sz="1200">
              <a:latin typeface="Calibri" panose="020F0502020204030204"/>
              <a:cs typeface="Calibri" panose="020F0502020204030204"/>
            </a:endParaRPr>
          </a:p>
        </p:txBody>
      </p:sp>
      <p:sp>
        <p:nvSpPr>
          <p:cNvPr id="5" name="object 5"/>
          <p:cNvSpPr txBox="1"/>
          <p:nvPr/>
        </p:nvSpPr>
        <p:spPr>
          <a:xfrm>
            <a:off x="2722626" y="1301625"/>
            <a:ext cx="3844926" cy="289951"/>
          </a:xfrm>
          <a:prstGeom prst="rect">
            <a:avLst/>
          </a:prstGeom>
        </p:spPr>
        <p:txBody>
          <a:bodyPr vert="horz" wrap="square" lIns="0" tIns="12700" rIns="0" bIns="0" rtlCol="0">
            <a:spAutoFit/>
          </a:bodyPr>
          <a:lstStyle/>
          <a:p>
            <a:pPr marL="12701">
              <a:spcBef>
                <a:spcPts val="100"/>
              </a:spcBef>
            </a:pPr>
            <a:r>
              <a:rPr sz="1801" b="1" spc="-20" dirty="0">
                <a:latin typeface="Arial" panose="020B0604020202020204"/>
                <a:cs typeface="Arial" panose="020B0604020202020204"/>
              </a:rPr>
              <a:t>Table</a:t>
            </a:r>
            <a:r>
              <a:rPr sz="1801" b="1" spc="-50" dirty="0">
                <a:latin typeface="Arial" panose="020B0604020202020204"/>
                <a:cs typeface="Arial" panose="020B0604020202020204"/>
              </a:rPr>
              <a:t> </a:t>
            </a:r>
            <a:r>
              <a:rPr sz="1801" b="1" dirty="0">
                <a:latin typeface="Arial" panose="020B0604020202020204"/>
                <a:cs typeface="Arial" panose="020B0604020202020204"/>
              </a:rPr>
              <a:t>2</a:t>
            </a:r>
            <a:r>
              <a:rPr sz="1801" b="1" spc="-34" dirty="0">
                <a:latin typeface="Arial" panose="020B0604020202020204"/>
                <a:cs typeface="Arial" panose="020B0604020202020204"/>
              </a:rPr>
              <a:t> </a:t>
            </a:r>
            <a:r>
              <a:rPr sz="1801" b="1" dirty="0">
                <a:latin typeface="Arial" panose="020B0604020202020204"/>
                <a:cs typeface="Arial" panose="020B0604020202020204"/>
              </a:rPr>
              <a:t>Interpretation</a:t>
            </a:r>
            <a:r>
              <a:rPr sz="1801" b="1" spc="-30" dirty="0">
                <a:latin typeface="Arial" panose="020B0604020202020204"/>
                <a:cs typeface="Arial" panose="020B0604020202020204"/>
              </a:rPr>
              <a:t> </a:t>
            </a:r>
            <a:r>
              <a:rPr sz="1801" b="1" dirty="0">
                <a:latin typeface="Arial" panose="020B0604020202020204"/>
                <a:cs typeface="Arial" panose="020B0604020202020204"/>
              </a:rPr>
              <a:t>of</a:t>
            </a:r>
            <a:r>
              <a:rPr sz="1801" b="1" spc="-34" dirty="0">
                <a:latin typeface="Arial" panose="020B0604020202020204"/>
                <a:cs typeface="Arial" panose="020B0604020202020204"/>
              </a:rPr>
              <a:t> </a:t>
            </a:r>
            <a:r>
              <a:rPr sz="1801" b="1" dirty="0">
                <a:latin typeface="Arial" panose="020B0604020202020204"/>
                <a:cs typeface="Arial" panose="020B0604020202020204"/>
              </a:rPr>
              <a:t>COH</a:t>
            </a:r>
            <a:r>
              <a:rPr sz="1801" b="1" spc="-30" dirty="0">
                <a:latin typeface="Arial" panose="020B0604020202020204"/>
                <a:cs typeface="Arial" panose="020B0604020202020204"/>
              </a:rPr>
              <a:t> </a:t>
            </a:r>
            <a:r>
              <a:rPr sz="1801" b="1" spc="-10" dirty="0">
                <a:latin typeface="Arial" panose="020B0604020202020204"/>
                <a:cs typeface="Arial" panose="020B0604020202020204"/>
              </a:rPr>
              <a:t>index</a:t>
            </a:r>
            <a:endParaRPr sz="1801">
              <a:latin typeface="Arial" panose="020B0604020202020204"/>
              <a:cs typeface="Arial" panose="020B0604020202020204"/>
            </a:endParaRPr>
          </a:p>
        </p:txBody>
      </p:sp>
      <p:sp>
        <p:nvSpPr>
          <p:cNvPr id="6" name="object 6"/>
          <p:cNvSpPr txBox="1"/>
          <p:nvPr/>
        </p:nvSpPr>
        <p:spPr>
          <a:xfrm>
            <a:off x="672694" y="4191000"/>
            <a:ext cx="10724514" cy="2352054"/>
          </a:xfrm>
          <a:prstGeom prst="rect">
            <a:avLst/>
          </a:prstGeom>
        </p:spPr>
        <p:txBody>
          <a:bodyPr vert="horz" wrap="square" lIns="0" tIns="19685" rIns="0" bIns="0" rtlCol="0">
            <a:spAutoFit/>
          </a:bodyPr>
          <a:lstStyle/>
          <a:p>
            <a:pPr marL="324493" marR="30481" indent="-287027" algn="just">
              <a:lnSpc>
                <a:spcPct val="150000"/>
              </a:lnSpc>
              <a:spcBef>
                <a:spcPts val="155"/>
              </a:spcBef>
              <a:buFontTx/>
              <a:buChar char="•"/>
              <a:tabLst>
                <a:tab pos="324493" algn="l"/>
              </a:tabLst>
            </a:pPr>
            <a:r>
              <a:rPr sz="2400" dirty="0">
                <a:latin typeface="Arial MT"/>
                <a:cs typeface="Arial MT"/>
              </a:rPr>
              <a:t>A</a:t>
            </a:r>
            <a:r>
              <a:rPr sz="2400" spc="-170" dirty="0">
                <a:latin typeface="Arial MT"/>
                <a:cs typeface="Arial MT"/>
              </a:rPr>
              <a:t> </a:t>
            </a:r>
            <a:r>
              <a:rPr sz="2400" dirty="0">
                <a:latin typeface="Arial MT"/>
                <a:cs typeface="Arial MT"/>
              </a:rPr>
              <a:t>more</a:t>
            </a:r>
            <a:r>
              <a:rPr sz="2400" spc="-80" dirty="0">
                <a:latin typeface="Arial MT"/>
                <a:cs typeface="Arial MT"/>
              </a:rPr>
              <a:t> </a:t>
            </a:r>
            <a:r>
              <a:rPr sz="2400" dirty="0">
                <a:latin typeface="Arial MT"/>
                <a:cs typeface="Arial MT"/>
              </a:rPr>
              <a:t>realistic</a:t>
            </a:r>
            <a:r>
              <a:rPr sz="2400" spc="-55" dirty="0">
                <a:latin typeface="Arial MT"/>
                <a:cs typeface="Arial MT"/>
              </a:rPr>
              <a:t> </a:t>
            </a:r>
            <a:r>
              <a:rPr sz="2400" dirty="0">
                <a:latin typeface="Arial MT"/>
                <a:cs typeface="Arial MT"/>
              </a:rPr>
              <a:t>analysis</a:t>
            </a:r>
            <a:r>
              <a:rPr sz="2400" spc="-30" dirty="0">
                <a:latin typeface="Arial MT"/>
                <a:cs typeface="Arial MT"/>
              </a:rPr>
              <a:t> </a:t>
            </a:r>
            <a:r>
              <a:rPr sz="2400" dirty="0">
                <a:latin typeface="Arial MT"/>
                <a:cs typeface="Arial MT"/>
              </a:rPr>
              <a:t>of</a:t>
            </a:r>
            <a:r>
              <a:rPr sz="2400" spc="-80" dirty="0">
                <a:latin typeface="Arial MT"/>
                <a:cs typeface="Arial MT"/>
              </a:rPr>
              <a:t> </a:t>
            </a:r>
            <a:r>
              <a:rPr sz="2400" dirty="0">
                <a:latin typeface="Arial MT"/>
                <a:cs typeface="Arial MT"/>
              </a:rPr>
              <a:t>the</a:t>
            </a:r>
            <a:r>
              <a:rPr sz="2400" spc="-60" dirty="0">
                <a:latin typeface="Arial MT"/>
                <a:cs typeface="Arial MT"/>
              </a:rPr>
              <a:t> </a:t>
            </a:r>
            <a:r>
              <a:rPr sz="2400" dirty="0">
                <a:latin typeface="Arial MT"/>
                <a:cs typeface="Arial MT"/>
              </a:rPr>
              <a:t>spot</a:t>
            </a:r>
            <a:r>
              <a:rPr sz="2400" spc="-60" dirty="0">
                <a:latin typeface="Arial MT"/>
                <a:cs typeface="Arial MT"/>
              </a:rPr>
              <a:t> </a:t>
            </a:r>
            <a:r>
              <a:rPr sz="2400" dirty="0">
                <a:latin typeface="Arial MT"/>
                <a:cs typeface="Arial MT"/>
              </a:rPr>
              <a:t>is</a:t>
            </a:r>
            <a:r>
              <a:rPr sz="2400" spc="-60" dirty="0">
                <a:latin typeface="Arial MT"/>
                <a:cs typeface="Arial MT"/>
              </a:rPr>
              <a:t> </a:t>
            </a:r>
            <a:r>
              <a:rPr sz="2400" dirty="0">
                <a:latin typeface="Arial MT"/>
                <a:cs typeface="Arial MT"/>
              </a:rPr>
              <a:t>based</a:t>
            </a:r>
            <a:r>
              <a:rPr sz="2400" spc="-55" dirty="0">
                <a:latin typeface="Arial MT"/>
                <a:cs typeface="Arial MT"/>
              </a:rPr>
              <a:t> </a:t>
            </a:r>
            <a:r>
              <a:rPr sz="2400" dirty="0">
                <a:latin typeface="Arial MT"/>
                <a:cs typeface="Arial MT"/>
              </a:rPr>
              <a:t>upon</a:t>
            </a:r>
            <a:r>
              <a:rPr sz="2400" spc="-34" dirty="0">
                <a:latin typeface="Arial MT"/>
                <a:cs typeface="Arial MT"/>
              </a:rPr>
              <a:t> </a:t>
            </a:r>
            <a:r>
              <a:rPr sz="3200" spc="-34" dirty="0">
                <a:solidFill>
                  <a:srgbClr val="FF0000"/>
                </a:solidFill>
                <a:latin typeface="Arial" panose="020B0604020202020204" pitchFamily="34" charset="0"/>
                <a:cs typeface="Arial" panose="020B0604020202020204" pitchFamily="34" charset="0"/>
              </a:rPr>
              <a:t>ᵦ</a:t>
            </a:r>
            <a:r>
              <a:rPr sz="2400" spc="-34" dirty="0">
                <a:solidFill>
                  <a:srgbClr val="FF0000"/>
                </a:solidFill>
                <a:latin typeface="Arial MT"/>
                <a:cs typeface="Arial MT"/>
              </a:rPr>
              <a:t>-</a:t>
            </a:r>
            <a:r>
              <a:rPr sz="2400" dirty="0">
                <a:solidFill>
                  <a:srgbClr val="FF0000"/>
                </a:solidFill>
                <a:latin typeface="Arial MT"/>
                <a:cs typeface="Arial MT"/>
              </a:rPr>
              <a:t>ray</a:t>
            </a:r>
            <a:r>
              <a:rPr sz="2400" spc="-60" dirty="0">
                <a:solidFill>
                  <a:srgbClr val="FF0000"/>
                </a:solidFill>
                <a:latin typeface="Arial MT"/>
                <a:cs typeface="Arial MT"/>
              </a:rPr>
              <a:t> </a:t>
            </a:r>
            <a:r>
              <a:rPr sz="2400" dirty="0">
                <a:solidFill>
                  <a:srgbClr val="FF0000"/>
                </a:solidFill>
                <a:latin typeface="Arial MT"/>
                <a:cs typeface="Arial MT"/>
              </a:rPr>
              <a:t>attenuation</a:t>
            </a:r>
            <a:r>
              <a:rPr sz="2400" spc="-60" dirty="0">
                <a:solidFill>
                  <a:srgbClr val="FF0000"/>
                </a:solidFill>
                <a:latin typeface="Arial MT"/>
                <a:cs typeface="Arial MT"/>
              </a:rPr>
              <a:t> </a:t>
            </a:r>
            <a:r>
              <a:rPr sz="2400" spc="-20" dirty="0">
                <a:latin typeface="Arial MT"/>
                <a:cs typeface="Arial MT"/>
              </a:rPr>
              <a:t>from </a:t>
            </a:r>
            <a:r>
              <a:rPr sz="2400" dirty="0">
                <a:latin typeface="Arial MT"/>
                <a:cs typeface="Arial MT"/>
              </a:rPr>
              <a:t>which</a:t>
            </a:r>
            <a:r>
              <a:rPr sz="2400" spc="-34" dirty="0">
                <a:latin typeface="Arial MT"/>
                <a:cs typeface="Arial MT"/>
              </a:rPr>
              <a:t> </a:t>
            </a:r>
            <a:r>
              <a:rPr sz="2400" dirty="0">
                <a:latin typeface="Arial MT"/>
                <a:cs typeface="Arial MT"/>
              </a:rPr>
              <a:t>the</a:t>
            </a:r>
            <a:r>
              <a:rPr sz="2400" spc="-60" dirty="0">
                <a:latin typeface="Arial MT"/>
                <a:cs typeface="Arial MT"/>
              </a:rPr>
              <a:t> </a:t>
            </a:r>
            <a:r>
              <a:rPr sz="2400" dirty="0">
                <a:latin typeface="Arial MT"/>
                <a:cs typeface="Arial MT"/>
              </a:rPr>
              <a:t>mass</a:t>
            </a:r>
            <a:r>
              <a:rPr sz="2400" spc="-55" dirty="0">
                <a:latin typeface="Arial MT"/>
                <a:cs typeface="Arial MT"/>
              </a:rPr>
              <a:t> </a:t>
            </a:r>
            <a:r>
              <a:rPr sz="2400" spc="-10" dirty="0">
                <a:latin typeface="Arial MT"/>
                <a:cs typeface="Arial MT"/>
              </a:rPr>
              <a:t>concentration</a:t>
            </a:r>
            <a:r>
              <a:rPr sz="2400" spc="-30" dirty="0">
                <a:latin typeface="Arial MT"/>
                <a:cs typeface="Arial MT"/>
              </a:rPr>
              <a:t> </a:t>
            </a:r>
            <a:r>
              <a:rPr sz="2400" dirty="0">
                <a:latin typeface="Arial MT"/>
                <a:cs typeface="Arial MT"/>
              </a:rPr>
              <a:t>of</a:t>
            </a:r>
            <a:r>
              <a:rPr sz="2400" spc="-50" dirty="0">
                <a:latin typeface="Arial MT"/>
                <a:cs typeface="Arial MT"/>
              </a:rPr>
              <a:t> </a:t>
            </a:r>
            <a:r>
              <a:rPr sz="2400" dirty="0">
                <a:latin typeface="Arial MT"/>
                <a:cs typeface="Arial MT"/>
              </a:rPr>
              <a:t>the</a:t>
            </a:r>
            <a:r>
              <a:rPr sz="2400" spc="-60" dirty="0">
                <a:latin typeface="Arial MT"/>
                <a:cs typeface="Arial MT"/>
              </a:rPr>
              <a:t> </a:t>
            </a:r>
            <a:r>
              <a:rPr sz="2400" dirty="0">
                <a:latin typeface="Arial MT"/>
                <a:cs typeface="Arial MT"/>
              </a:rPr>
              <a:t>particulates</a:t>
            </a:r>
            <a:r>
              <a:rPr sz="2400" spc="-34" dirty="0">
                <a:latin typeface="Arial MT"/>
                <a:cs typeface="Arial MT"/>
              </a:rPr>
              <a:t> </a:t>
            </a:r>
            <a:r>
              <a:rPr sz="2400" dirty="0">
                <a:latin typeface="Arial MT"/>
                <a:cs typeface="Arial MT"/>
              </a:rPr>
              <a:t>can</a:t>
            </a:r>
            <a:r>
              <a:rPr sz="2400" spc="-55" dirty="0">
                <a:latin typeface="Arial MT"/>
                <a:cs typeface="Arial MT"/>
              </a:rPr>
              <a:t> </a:t>
            </a:r>
            <a:r>
              <a:rPr sz="2400" dirty="0">
                <a:latin typeface="Arial MT"/>
                <a:cs typeface="Arial MT"/>
              </a:rPr>
              <a:t>be</a:t>
            </a:r>
            <a:r>
              <a:rPr sz="2400" spc="-46" dirty="0">
                <a:latin typeface="Arial MT"/>
                <a:cs typeface="Arial MT"/>
              </a:rPr>
              <a:t> </a:t>
            </a:r>
            <a:r>
              <a:rPr sz="2400" dirty="0">
                <a:latin typeface="Arial MT"/>
                <a:cs typeface="Arial MT"/>
              </a:rPr>
              <a:t>estimated.</a:t>
            </a:r>
            <a:r>
              <a:rPr sz="2400" spc="-46" dirty="0">
                <a:latin typeface="Arial MT"/>
                <a:cs typeface="Arial MT"/>
              </a:rPr>
              <a:t> </a:t>
            </a:r>
            <a:r>
              <a:rPr sz="2400" dirty="0">
                <a:latin typeface="Arial MT"/>
                <a:cs typeface="Arial MT"/>
              </a:rPr>
              <a:t>Here</a:t>
            </a:r>
            <a:r>
              <a:rPr sz="2400" spc="-34" dirty="0">
                <a:latin typeface="Arial MT"/>
                <a:cs typeface="Arial MT"/>
              </a:rPr>
              <a:t> </a:t>
            </a:r>
            <a:r>
              <a:rPr sz="2400" spc="-50" dirty="0">
                <a:latin typeface="Arial MT"/>
                <a:cs typeface="Arial MT"/>
              </a:rPr>
              <a:t>a </a:t>
            </a:r>
            <a:r>
              <a:rPr sz="2400" dirty="0">
                <a:latin typeface="Arial MT"/>
                <a:cs typeface="Arial MT"/>
              </a:rPr>
              <a:t>beam</a:t>
            </a:r>
            <a:r>
              <a:rPr sz="2400" spc="-60" dirty="0">
                <a:latin typeface="Arial MT"/>
                <a:cs typeface="Arial MT"/>
              </a:rPr>
              <a:t> </a:t>
            </a:r>
            <a:r>
              <a:rPr sz="2400" dirty="0">
                <a:latin typeface="Arial MT"/>
                <a:cs typeface="Arial MT"/>
              </a:rPr>
              <a:t>of</a:t>
            </a:r>
            <a:r>
              <a:rPr sz="2400" spc="-65" dirty="0">
                <a:latin typeface="Arial MT"/>
                <a:cs typeface="Arial MT"/>
              </a:rPr>
              <a:t> </a:t>
            </a:r>
            <a:r>
              <a:rPr sz="2400" spc="-65" dirty="0">
                <a:latin typeface="Arial" panose="020B0604020202020204" pitchFamily="34" charset="0"/>
                <a:cs typeface="Arial" panose="020B0604020202020204" pitchFamily="34" charset="0"/>
              </a:rPr>
              <a:t>ᵦ</a:t>
            </a:r>
            <a:r>
              <a:rPr sz="2400" spc="-34" dirty="0">
                <a:latin typeface="Arial MT"/>
                <a:cs typeface="Arial MT"/>
              </a:rPr>
              <a:t>-</a:t>
            </a:r>
            <a:r>
              <a:rPr sz="2400" dirty="0">
                <a:latin typeface="Arial MT"/>
                <a:cs typeface="Arial MT"/>
              </a:rPr>
              <a:t>particles</a:t>
            </a:r>
            <a:r>
              <a:rPr sz="2400" spc="-65" dirty="0">
                <a:latin typeface="Arial MT"/>
                <a:cs typeface="Arial MT"/>
              </a:rPr>
              <a:t> </a:t>
            </a:r>
            <a:r>
              <a:rPr sz="2400" dirty="0">
                <a:latin typeface="Arial MT"/>
                <a:cs typeface="Arial MT"/>
              </a:rPr>
              <a:t>of</a:t>
            </a:r>
            <a:r>
              <a:rPr sz="2400" spc="-60" dirty="0">
                <a:latin typeface="Arial MT"/>
                <a:cs typeface="Arial MT"/>
              </a:rPr>
              <a:t> </a:t>
            </a:r>
            <a:r>
              <a:rPr sz="2400" dirty="0">
                <a:latin typeface="Arial MT"/>
                <a:cs typeface="Arial MT"/>
              </a:rPr>
              <a:t>constant</a:t>
            </a:r>
            <a:r>
              <a:rPr sz="2400" spc="-55" dirty="0">
                <a:latin typeface="Arial MT"/>
                <a:cs typeface="Arial MT"/>
              </a:rPr>
              <a:t> </a:t>
            </a:r>
            <a:r>
              <a:rPr sz="2400" dirty="0">
                <a:latin typeface="Arial MT"/>
                <a:cs typeface="Arial MT"/>
              </a:rPr>
              <a:t>source</a:t>
            </a:r>
            <a:r>
              <a:rPr sz="2400" spc="-65" dirty="0">
                <a:latin typeface="Arial MT"/>
                <a:cs typeface="Arial MT"/>
              </a:rPr>
              <a:t> </a:t>
            </a:r>
            <a:r>
              <a:rPr sz="2400" dirty="0">
                <a:latin typeface="Arial MT"/>
                <a:cs typeface="Arial MT"/>
              </a:rPr>
              <a:t>with</a:t>
            </a:r>
            <a:r>
              <a:rPr sz="2400" spc="-60" dirty="0">
                <a:latin typeface="Arial MT"/>
                <a:cs typeface="Arial MT"/>
              </a:rPr>
              <a:t> </a:t>
            </a:r>
            <a:r>
              <a:rPr sz="2400" dirty="0">
                <a:latin typeface="Arial MT"/>
                <a:cs typeface="Arial MT"/>
              </a:rPr>
              <a:t>intensity</a:t>
            </a:r>
            <a:r>
              <a:rPr sz="2400" spc="-46" dirty="0">
                <a:latin typeface="Arial MT"/>
                <a:cs typeface="Arial MT"/>
              </a:rPr>
              <a:t> </a:t>
            </a:r>
            <a:r>
              <a:rPr sz="2400" dirty="0">
                <a:latin typeface="Cambria Math" panose="02040503050406030204"/>
                <a:cs typeface="Cambria Math" panose="02040503050406030204"/>
              </a:rPr>
              <a:t>𝐼</a:t>
            </a:r>
            <a:r>
              <a:rPr sz="2625" baseline="-16000" dirty="0">
                <a:latin typeface="Cambria Math" panose="02040503050406030204"/>
                <a:cs typeface="Cambria Math" panose="02040503050406030204"/>
              </a:rPr>
              <a:t>0</a:t>
            </a:r>
            <a:r>
              <a:rPr sz="2625" spc="457" baseline="-16000" dirty="0">
                <a:latin typeface="Cambria Math" panose="02040503050406030204"/>
                <a:cs typeface="Cambria Math" panose="02040503050406030204"/>
              </a:rPr>
              <a:t> </a:t>
            </a:r>
            <a:r>
              <a:rPr sz="2400" dirty="0">
                <a:latin typeface="Arial MT"/>
                <a:cs typeface="Arial MT"/>
              </a:rPr>
              <a:t>is</a:t>
            </a:r>
            <a:r>
              <a:rPr sz="2400" spc="-60" dirty="0">
                <a:latin typeface="Arial MT"/>
                <a:cs typeface="Arial MT"/>
              </a:rPr>
              <a:t> </a:t>
            </a:r>
            <a:r>
              <a:rPr sz="2400" dirty="0">
                <a:latin typeface="Arial MT"/>
                <a:cs typeface="Arial MT"/>
              </a:rPr>
              <a:t>passed</a:t>
            </a:r>
            <a:r>
              <a:rPr sz="2400" spc="-65" dirty="0">
                <a:latin typeface="Arial MT"/>
                <a:cs typeface="Arial MT"/>
              </a:rPr>
              <a:t> </a:t>
            </a:r>
            <a:r>
              <a:rPr sz="2400" dirty="0">
                <a:latin typeface="Arial MT"/>
                <a:cs typeface="Arial MT"/>
              </a:rPr>
              <a:t>through</a:t>
            </a:r>
            <a:r>
              <a:rPr sz="2400" spc="-50" dirty="0">
                <a:latin typeface="Arial MT"/>
                <a:cs typeface="Arial MT"/>
              </a:rPr>
              <a:t> </a:t>
            </a:r>
            <a:r>
              <a:rPr sz="2400" spc="-25" dirty="0">
                <a:latin typeface="Arial MT"/>
                <a:cs typeface="Arial MT"/>
              </a:rPr>
              <a:t>the</a:t>
            </a:r>
            <a:r>
              <a:rPr lang="en-IN" sz="2400" spc="-25" dirty="0">
                <a:latin typeface="Arial MT"/>
                <a:cs typeface="Arial MT"/>
              </a:rPr>
              <a:t> </a:t>
            </a:r>
            <a:r>
              <a:rPr lang="en-IN" sz="2400" spc="-10" dirty="0">
                <a:latin typeface="Arial MT"/>
                <a:cs typeface="Arial MT"/>
              </a:rPr>
              <a:t>tape.</a:t>
            </a:r>
            <a:r>
              <a:rPr lang="en-IN" sz="2400" spc="-25" dirty="0">
                <a:latin typeface="Arial MT"/>
                <a:cs typeface="Arial MT"/>
              </a:rPr>
              <a:t> </a:t>
            </a:r>
            <a:endParaRPr sz="2400" dirty="0">
              <a:latin typeface="Arial MT"/>
              <a:cs typeface="Arial MT"/>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70371" y="133351"/>
            <a:ext cx="7600956" cy="892423"/>
          </a:xfrm>
          <a:prstGeom prst="rect">
            <a:avLst/>
          </a:prstGeom>
        </p:spPr>
        <p:txBody>
          <a:bodyPr vert="horz" wrap="square" lIns="0" tIns="396112" rIns="0" bIns="0" rtlCol="0">
            <a:spAutoFit/>
          </a:bodyPr>
          <a:lstStyle/>
          <a:p>
            <a:pPr marL="131448">
              <a:spcBef>
                <a:spcPts val="105"/>
              </a:spcBef>
            </a:pPr>
            <a:r>
              <a:rPr spc="-25" dirty="0"/>
              <a:t>Tape</a:t>
            </a:r>
            <a:r>
              <a:rPr spc="-185" dirty="0"/>
              <a:t> </a:t>
            </a:r>
            <a:r>
              <a:rPr spc="-10" dirty="0"/>
              <a:t>Sampler</a:t>
            </a:r>
          </a:p>
        </p:txBody>
      </p:sp>
      <p:sp>
        <p:nvSpPr>
          <p:cNvPr id="3" name="object 3"/>
          <p:cNvSpPr txBox="1"/>
          <p:nvPr/>
        </p:nvSpPr>
        <p:spPr>
          <a:xfrm>
            <a:off x="578942" y="1520891"/>
            <a:ext cx="10974070" cy="1634999"/>
          </a:xfrm>
          <a:prstGeom prst="rect">
            <a:avLst/>
          </a:prstGeom>
        </p:spPr>
        <p:txBody>
          <a:bodyPr vert="horz" wrap="square" lIns="0" tIns="20955" rIns="0" bIns="0" rtlCol="0">
            <a:spAutoFit/>
          </a:bodyPr>
          <a:lstStyle/>
          <a:p>
            <a:pPr marL="265437" marR="30481" indent="-227336">
              <a:lnSpc>
                <a:spcPct val="152000"/>
              </a:lnSpc>
              <a:spcBef>
                <a:spcPts val="165"/>
              </a:spcBef>
              <a:buChar char="•"/>
              <a:tabLst>
                <a:tab pos="266707" algn="l"/>
              </a:tabLst>
            </a:pPr>
            <a:r>
              <a:rPr sz="2400" dirty="0">
                <a:latin typeface="Arial MT"/>
                <a:cs typeface="Arial MT"/>
              </a:rPr>
              <a:t>By</a:t>
            </a:r>
            <a:r>
              <a:rPr sz="2400" spc="-55" dirty="0">
                <a:latin typeface="Arial MT"/>
                <a:cs typeface="Arial MT"/>
              </a:rPr>
              <a:t> </a:t>
            </a:r>
            <a:r>
              <a:rPr sz="2400" dirty="0">
                <a:latin typeface="Arial MT"/>
                <a:cs typeface="Arial MT"/>
              </a:rPr>
              <a:t>measuring</a:t>
            </a:r>
            <a:r>
              <a:rPr sz="2400" spc="-34" dirty="0">
                <a:latin typeface="Arial MT"/>
                <a:cs typeface="Arial MT"/>
              </a:rPr>
              <a:t> </a:t>
            </a:r>
            <a:r>
              <a:rPr sz="2400" dirty="0">
                <a:latin typeface="Arial MT"/>
                <a:cs typeface="Arial MT"/>
              </a:rPr>
              <a:t>the</a:t>
            </a:r>
            <a:r>
              <a:rPr sz="2400" spc="-46" dirty="0">
                <a:latin typeface="Arial MT"/>
                <a:cs typeface="Arial MT"/>
              </a:rPr>
              <a:t> </a:t>
            </a:r>
            <a:r>
              <a:rPr sz="2400" spc="-10" dirty="0">
                <a:latin typeface="Arial MT"/>
                <a:cs typeface="Arial MT"/>
              </a:rPr>
              <a:t>intensities</a:t>
            </a:r>
            <a:r>
              <a:rPr sz="2400" spc="-140" dirty="0">
                <a:latin typeface="Arial MT"/>
                <a:cs typeface="Arial MT"/>
              </a:rPr>
              <a:t> </a:t>
            </a:r>
            <a:r>
              <a:rPr sz="2400" b="1" dirty="0">
                <a:latin typeface="Cambria Math" panose="02040503050406030204"/>
                <a:cs typeface="Cambria Math" panose="02040503050406030204"/>
              </a:rPr>
              <a:t>𝐼</a:t>
            </a:r>
            <a:r>
              <a:rPr sz="2625" b="1" baseline="-16000" dirty="0">
                <a:latin typeface="Cambria Math" panose="02040503050406030204"/>
                <a:cs typeface="Cambria Math" panose="02040503050406030204"/>
              </a:rPr>
              <a:t>𝑐</a:t>
            </a:r>
            <a:r>
              <a:rPr sz="2625" b="1" spc="569" baseline="-16000" dirty="0">
                <a:latin typeface="Cambria Math" panose="02040503050406030204"/>
                <a:cs typeface="Cambria Math" panose="02040503050406030204"/>
              </a:rPr>
              <a:t> </a:t>
            </a:r>
            <a:r>
              <a:rPr sz="2400" b="1" dirty="0">
                <a:latin typeface="Arial MT"/>
                <a:cs typeface="Arial MT"/>
              </a:rPr>
              <a:t>and</a:t>
            </a:r>
            <a:r>
              <a:rPr sz="2400" b="1" spc="-34" dirty="0">
                <a:latin typeface="Arial MT"/>
                <a:cs typeface="Arial MT"/>
              </a:rPr>
              <a:t> </a:t>
            </a:r>
            <a:r>
              <a:rPr sz="2400" b="1" dirty="0">
                <a:latin typeface="Cambria Math" panose="02040503050406030204"/>
                <a:cs typeface="Cambria Math" panose="02040503050406030204"/>
              </a:rPr>
              <a:t>𝐼</a:t>
            </a:r>
            <a:r>
              <a:rPr sz="2625" b="1" baseline="-16000" dirty="0">
                <a:latin typeface="Cambria Math" panose="02040503050406030204"/>
                <a:cs typeface="Cambria Math" panose="02040503050406030204"/>
              </a:rPr>
              <a:t>𝑝</a:t>
            </a:r>
            <a:r>
              <a:rPr sz="2625" b="1" spc="517" baseline="-16000" dirty="0">
                <a:latin typeface="Cambria Math" panose="02040503050406030204"/>
                <a:cs typeface="Cambria Math" panose="02040503050406030204"/>
              </a:rPr>
              <a:t> </a:t>
            </a:r>
            <a:r>
              <a:rPr sz="2400" dirty="0">
                <a:latin typeface="Arial MT"/>
                <a:cs typeface="Arial MT"/>
              </a:rPr>
              <a:t>,</a:t>
            </a:r>
            <a:r>
              <a:rPr sz="2400" spc="-65" dirty="0">
                <a:latin typeface="Arial MT"/>
                <a:cs typeface="Arial MT"/>
              </a:rPr>
              <a:t> </a:t>
            </a:r>
            <a:r>
              <a:rPr sz="2400" dirty="0">
                <a:latin typeface="Arial MT"/>
                <a:cs typeface="Arial MT"/>
              </a:rPr>
              <a:t>of</a:t>
            </a:r>
            <a:r>
              <a:rPr sz="2400" spc="-50" dirty="0">
                <a:latin typeface="Arial MT"/>
                <a:cs typeface="Arial MT"/>
              </a:rPr>
              <a:t> </a:t>
            </a:r>
            <a:r>
              <a:rPr sz="2400" dirty="0">
                <a:latin typeface="Arial MT"/>
                <a:cs typeface="Arial MT"/>
              </a:rPr>
              <a:t>the</a:t>
            </a:r>
            <a:r>
              <a:rPr sz="2400" spc="-46" dirty="0">
                <a:latin typeface="Arial MT"/>
                <a:cs typeface="Arial MT"/>
              </a:rPr>
              <a:t> </a:t>
            </a:r>
            <a:r>
              <a:rPr sz="2400" dirty="0">
                <a:latin typeface="Arial MT"/>
                <a:cs typeface="Arial MT"/>
              </a:rPr>
              <a:t>radiation</a:t>
            </a:r>
            <a:r>
              <a:rPr sz="2400" spc="-25" dirty="0">
                <a:latin typeface="Arial MT"/>
                <a:cs typeface="Arial MT"/>
              </a:rPr>
              <a:t> </a:t>
            </a:r>
            <a:r>
              <a:rPr sz="2400" dirty="0">
                <a:latin typeface="Arial MT"/>
                <a:cs typeface="Arial MT"/>
              </a:rPr>
              <a:t>that</a:t>
            </a:r>
            <a:r>
              <a:rPr sz="2400" spc="-65" dirty="0">
                <a:latin typeface="Arial MT"/>
                <a:cs typeface="Arial MT"/>
              </a:rPr>
              <a:t> </a:t>
            </a:r>
            <a:r>
              <a:rPr sz="2400" dirty="0">
                <a:latin typeface="Arial MT"/>
                <a:cs typeface="Arial MT"/>
              </a:rPr>
              <a:t>has</a:t>
            </a:r>
            <a:r>
              <a:rPr sz="2400" spc="-46" dirty="0">
                <a:latin typeface="Arial MT"/>
                <a:cs typeface="Arial MT"/>
              </a:rPr>
              <a:t> </a:t>
            </a:r>
            <a:r>
              <a:rPr sz="2400" dirty="0">
                <a:latin typeface="Arial MT"/>
                <a:cs typeface="Arial MT"/>
              </a:rPr>
              <a:t>passed</a:t>
            </a:r>
            <a:r>
              <a:rPr sz="2400" spc="-30" dirty="0">
                <a:latin typeface="Arial MT"/>
                <a:cs typeface="Arial MT"/>
              </a:rPr>
              <a:t> </a:t>
            </a:r>
            <a:r>
              <a:rPr sz="2400" spc="-10" dirty="0">
                <a:latin typeface="Arial MT"/>
                <a:cs typeface="Arial MT"/>
              </a:rPr>
              <a:t>through 	</a:t>
            </a:r>
            <a:r>
              <a:rPr sz="2400" b="1" dirty="0">
                <a:latin typeface="Arial MT"/>
                <a:cs typeface="Arial MT"/>
              </a:rPr>
              <a:t>a</a:t>
            </a:r>
            <a:r>
              <a:rPr sz="2400" b="1" spc="-50" dirty="0">
                <a:latin typeface="Arial MT"/>
                <a:cs typeface="Arial MT"/>
              </a:rPr>
              <a:t> </a:t>
            </a:r>
            <a:r>
              <a:rPr sz="2400" b="1" dirty="0">
                <a:latin typeface="Arial MT"/>
                <a:cs typeface="Arial MT"/>
              </a:rPr>
              <a:t>clean</a:t>
            </a:r>
            <a:r>
              <a:rPr sz="2400" b="1" spc="-50" dirty="0">
                <a:latin typeface="Arial MT"/>
                <a:cs typeface="Arial MT"/>
              </a:rPr>
              <a:t> </a:t>
            </a:r>
            <a:r>
              <a:rPr sz="2400" b="1" dirty="0">
                <a:latin typeface="Arial MT"/>
                <a:cs typeface="Arial MT"/>
              </a:rPr>
              <a:t>tape</a:t>
            </a:r>
            <a:r>
              <a:rPr sz="2400" b="1" spc="-50" dirty="0">
                <a:latin typeface="Arial MT"/>
                <a:cs typeface="Arial MT"/>
              </a:rPr>
              <a:t> </a:t>
            </a:r>
            <a:r>
              <a:rPr sz="2400" b="1" dirty="0">
                <a:latin typeface="Arial MT"/>
                <a:cs typeface="Arial MT"/>
              </a:rPr>
              <a:t>and</a:t>
            </a:r>
            <a:r>
              <a:rPr sz="2400" b="1" spc="-50" dirty="0">
                <a:latin typeface="Arial MT"/>
                <a:cs typeface="Arial MT"/>
              </a:rPr>
              <a:t> </a:t>
            </a:r>
            <a:r>
              <a:rPr sz="2400" b="1" dirty="0">
                <a:latin typeface="Arial MT"/>
                <a:cs typeface="Arial MT"/>
              </a:rPr>
              <a:t>through</a:t>
            </a:r>
            <a:r>
              <a:rPr sz="2400" b="1" spc="-41" dirty="0">
                <a:latin typeface="Arial MT"/>
                <a:cs typeface="Arial MT"/>
              </a:rPr>
              <a:t> </a:t>
            </a:r>
            <a:r>
              <a:rPr sz="2400" b="1" dirty="0">
                <a:latin typeface="Arial MT"/>
                <a:cs typeface="Arial MT"/>
              </a:rPr>
              <a:t>the</a:t>
            </a:r>
            <a:r>
              <a:rPr sz="2400" b="1" spc="-50" dirty="0">
                <a:latin typeface="Arial MT"/>
                <a:cs typeface="Arial MT"/>
              </a:rPr>
              <a:t> </a:t>
            </a:r>
            <a:r>
              <a:rPr sz="2400" b="1" dirty="0">
                <a:latin typeface="Arial MT"/>
                <a:cs typeface="Arial MT"/>
              </a:rPr>
              <a:t>spot</a:t>
            </a:r>
            <a:r>
              <a:rPr sz="2400" b="1" spc="-60" dirty="0">
                <a:latin typeface="Arial MT"/>
                <a:cs typeface="Arial MT"/>
              </a:rPr>
              <a:t> </a:t>
            </a:r>
            <a:r>
              <a:rPr sz="2400" spc="-20" dirty="0">
                <a:latin typeface="Arial MT"/>
                <a:cs typeface="Arial MT"/>
              </a:rPr>
              <a:t>respectively,</a:t>
            </a:r>
            <a:r>
              <a:rPr sz="2400" spc="-34" dirty="0">
                <a:latin typeface="Arial MT"/>
                <a:cs typeface="Arial MT"/>
              </a:rPr>
              <a:t> </a:t>
            </a:r>
            <a:r>
              <a:rPr sz="2400" dirty="0">
                <a:latin typeface="Arial MT"/>
                <a:cs typeface="Arial MT"/>
              </a:rPr>
              <a:t>the</a:t>
            </a:r>
            <a:r>
              <a:rPr sz="2400" spc="-50" dirty="0">
                <a:latin typeface="Arial MT"/>
                <a:cs typeface="Arial MT"/>
              </a:rPr>
              <a:t> </a:t>
            </a:r>
            <a:r>
              <a:rPr sz="2400" b="1" dirty="0">
                <a:latin typeface="Arial MT"/>
                <a:cs typeface="Arial MT"/>
              </a:rPr>
              <a:t>mass</a:t>
            </a:r>
            <a:r>
              <a:rPr sz="2400" b="1" spc="-60" dirty="0">
                <a:latin typeface="Arial MT"/>
                <a:cs typeface="Arial MT"/>
              </a:rPr>
              <a:t> </a:t>
            </a:r>
            <a:r>
              <a:rPr sz="2400" b="1" dirty="0">
                <a:latin typeface="Arial MT"/>
                <a:cs typeface="Arial MT"/>
              </a:rPr>
              <a:t>of</a:t>
            </a:r>
            <a:r>
              <a:rPr sz="2400" b="1" spc="-50" dirty="0">
                <a:latin typeface="Arial MT"/>
                <a:cs typeface="Arial MT"/>
              </a:rPr>
              <a:t> </a:t>
            </a:r>
            <a:r>
              <a:rPr sz="2400" b="1" dirty="0">
                <a:latin typeface="Arial MT"/>
                <a:cs typeface="Arial MT"/>
              </a:rPr>
              <a:t>the</a:t>
            </a:r>
            <a:r>
              <a:rPr sz="2400" b="1" spc="-65" dirty="0">
                <a:latin typeface="Arial MT"/>
                <a:cs typeface="Arial MT"/>
              </a:rPr>
              <a:t> </a:t>
            </a:r>
            <a:r>
              <a:rPr sz="2400" b="1" spc="-10" dirty="0">
                <a:latin typeface="Arial MT"/>
                <a:cs typeface="Arial MT"/>
              </a:rPr>
              <a:t>particulate 	</a:t>
            </a:r>
            <a:r>
              <a:rPr sz="2400" b="1" dirty="0">
                <a:latin typeface="Arial MT"/>
                <a:cs typeface="Arial MT"/>
              </a:rPr>
              <a:t>matter</a:t>
            </a:r>
            <a:r>
              <a:rPr sz="2400" b="1" spc="-65" dirty="0">
                <a:latin typeface="Arial MT"/>
                <a:cs typeface="Arial MT"/>
              </a:rPr>
              <a:t> </a:t>
            </a:r>
            <a:r>
              <a:rPr sz="2400" b="1" dirty="0">
                <a:latin typeface="Arial MT"/>
                <a:cs typeface="Arial MT"/>
              </a:rPr>
              <a:t>per</a:t>
            </a:r>
            <a:r>
              <a:rPr sz="2400" b="1" spc="-46" dirty="0">
                <a:latin typeface="Arial MT"/>
                <a:cs typeface="Arial MT"/>
              </a:rPr>
              <a:t> </a:t>
            </a:r>
            <a:r>
              <a:rPr sz="2400" b="1" dirty="0">
                <a:latin typeface="Arial MT"/>
                <a:cs typeface="Arial MT"/>
              </a:rPr>
              <a:t>unit</a:t>
            </a:r>
            <a:r>
              <a:rPr sz="2400" b="1" spc="-46" dirty="0">
                <a:latin typeface="Arial MT"/>
                <a:cs typeface="Arial MT"/>
              </a:rPr>
              <a:t> </a:t>
            </a:r>
            <a:r>
              <a:rPr sz="2400" b="1" dirty="0">
                <a:latin typeface="Arial MT"/>
                <a:cs typeface="Arial MT"/>
              </a:rPr>
              <a:t>area</a:t>
            </a:r>
            <a:r>
              <a:rPr sz="2400" b="1" spc="-46" dirty="0">
                <a:latin typeface="Arial MT"/>
                <a:cs typeface="Arial MT"/>
              </a:rPr>
              <a:t> </a:t>
            </a:r>
            <a:r>
              <a:rPr sz="2400" b="1" dirty="0">
                <a:latin typeface="Arial MT"/>
                <a:cs typeface="Arial MT"/>
              </a:rPr>
              <a:t>of</a:t>
            </a:r>
            <a:r>
              <a:rPr sz="2400" b="1" spc="-50" dirty="0">
                <a:latin typeface="Arial MT"/>
                <a:cs typeface="Arial MT"/>
              </a:rPr>
              <a:t> </a:t>
            </a:r>
            <a:r>
              <a:rPr sz="2400" b="1" dirty="0">
                <a:latin typeface="Arial MT"/>
                <a:cs typeface="Arial MT"/>
              </a:rPr>
              <a:t>the</a:t>
            </a:r>
            <a:r>
              <a:rPr sz="2400" b="1" spc="-60" dirty="0">
                <a:latin typeface="Arial MT"/>
                <a:cs typeface="Arial MT"/>
              </a:rPr>
              <a:t> </a:t>
            </a:r>
            <a:r>
              <a:rPr sz="2400" b="1" dirty="0">
                <a:latin typeface="Arial MT"/>
                <a:cs typeface="Arial MT"/>
              </a:rPr>
              <a:t>spot</a:t>
            </a:r>
            <a:r>
              <a:rPr sz="2400" b="1" spc="-46" dirty="0">
                <a:latin typeface="Arial MT"/>
                <a:cs typeface="Arial MT"/>
              </a:rPr>
              <a:t> </a:t>
            </a:r>
            <a:r>
              <a:rPr sz="2400" dirty="0">
                <a:latin typeface="Arial MT"/>
                <a:cs typeface="Arial MT"/>
              </a:rPr>
              <a:t>can</a:t>
            </a:r>
            <a:r>
              <a:rPr sz="2400" spc="-46" dirty="0">
                <a:latin typeface="Arial MT"/>
                <a:cs typeface="Arial MT"/>
              </a:rPr>
              <a:t> </a:t>
            </a:r>
            <a:r>
              <a:rPr sz="2400" dirty="0">
                <a:latin typeface="Arial MT"/>
                <a:cs typeface="Arial MT"/>
              </a:rPr>
              <a:t>be</a:t>
            </a:r>
            <a:r>
              <a:rPr sz="2400" spc="-50" dirty="0">
                <a:latin typeface="Arial MT"/>
                <a:cs typeface="Arial MT"/>
              </a:rPr>
              <a:t> </a:t>
            </a:r>
            <a:r>
              <a:rPr sz="2400" dirty="0">
                <a:latin typeface="Arial MT"/>
                <a:cs typeface="Arial MT"/>
              </a:rPr>
              <a:t>evaluated</a:t>
            </a:r>
            <a:r>
              <a:rPr sz="2400" spc="-20" dirty="0">
                <a:latin typeface="Arial MT"/>
                <a:cs typeface="Arial MT"/>
              </a:rPr>
              <a:t> </a:t>
            </a:r>
            <a:r>
              <a:rPr sz="2400" dirty="0">
                <a:latin typeface="Arial MT"/>
                <a:cs typeface="Arial MT"/>
              </a:rPr>
              <a:t>according</a:t>
            </a:r>
            <a:r>
              <a:rPr sz="2400" spc="-30" dirty="0">
                <a:latin typeface="Arial MT"/>
                <a:cs typeface="Arial MT"/>
              </a:rPr>
              <a:t> </a:t>
            </a:r>
            <a:r>
              <a:rPr sz="2400" dirty="0">
                <a:latin typeface="Arial MT"/>
                <a:cs typeface="Arial MT"/>
              </a:rPr>
              <a:t>to</a:t>
            </a:r>
            <a:r>
              <a:rPr sz="2400" spc="-46" dirty="0">
                <a:latin typeface="Arial MT"/>
                <a:cs typeface="Arial MT"/>
              </a:rPr>
              <a:t> </a:t>
            </a:r>
            <a:r>
              <a:rPr sz="2400" dirty="0">
                <a:latin typeface="Arial MT"/>
                <a:cs typeface="Arial MT"/>
              </a:rPr>
              <a:t>Eq.</a:t>
            </a:r>
            <a:r>
              <a:rPr sz="2400" spc="-46" dirty="0">
                <a:latin typeface="Arial MT"/>
                <a:cs typeface="Arial MT"/>
              </a:rPr>
              <a:t> </a:t>
            </a:r>
            <a:r>
              <a:rPr sz="2400" spc="-20" dirty="0">
                <a:latin typeface="Arial MT"/>
                <a:cs typeface="Arial MT"/>
              </a:rPr>
              <a:t>(2):</a:t>
            </a:r>
            <a:endParaRPr sz="2400" dirty="0">
              <a:latin typeface="Arial MT"/>
              <a:cs typeface="Arial MT"/>
            </a:endParaRPr>
          </a:p>
        </p:txBody>
      </p:sp>
      <p:sp>
        <p:nvSpPr>
          <p:cNvPr id="4" name="object 4"/>
          <p:cNvSpPr/>
          <p:nvPr/>
        </p:nvSpPr>
        <p:spPr>
          <a:xfrm>
            <a:off x="5245100" y="3736594"/>
            <a:ext cx="142240" cy="20320"/>
          </a:xfrm>
          <a:custGeom>
            <a:avLst/>
            <a:gdLst/>
            <a:ahLst/>
            <a:cxnLst/>
            <a:rect l="l" t="t" r="r" b="b"/>
            <a:pathLst>
              <a:path w="142239" h="20320">
                <a:moveTo>
                  <a:pt x="141732" y="0"/>
                </a:moveTo>
                <a:lnTo>
                  <a:pt x="0" y="0"/>
                </a:lnTo>
                <a:lnTo>
                  <a:pt x="0" y="19811"/>
                </a:lnTo>
                <a:lnTo>
                  <a:pt x="141732" y="19811"/>
                </a:lnTo>
                <a:lnTo>
                  <a:pt x="141732" y="0"/>
                </a:lnTo>
                <a:close/>
              </a:path>
            </a:pathLst>
          </a:custGeom>
          <a:solidFill>
            <a:srgbClr val="000000"/>
          </a:solidFill>
        </p:spPr>
        <p:txBody>
          <a:bodyPr wrap="square" lIns="0" tIns="0" rIns="0" bIns="0" rtlCol="0"/>
          <a:lstStyle/>
          <a:p>
            <a:endParaRPr/>
          </a:p>
        </p:txBody>
      </p:sp>
      <p:sp>
        <p:nvSpPr>
          <p:cNvPr id="5" name="object 5"/>
          <p:cNvSpPr txBox="1"/>
          <p:nvPr/>
        </p:nvSpPr>
        <p:spPr>
          <a:xfrm>
            <a:off x="5239261" y="3419985"/>
            <a:ext cx="154305" cy="282129"/>
          </a:xfrm>
          <a:prstGeom prst="rect">
            <a:avLst/>
          </a:prstGeom>
        </p:spPr>
        <p:txBody>
          <a:bodyPr vert="horz" wrap="square" lIns="0" tIns="12700" rIns="0" bIns="0" rtlCol="0">
            <a:spAutoFit/>
          </a:bodyPr>
          <a:lstStyle/>
          <a:p>
            <a:pPr marL="12701">
              <a:spcBef>
                <a:spcPts val="100"/>
              </a:spcBef>
            </a:pPr>
            <a:r>
              <a:rPr sz="1750" spc="-50" dirty="0">
                <a:latin typeface="Cambria Math" panose="02040503050406030204"/>
                <a:cs typeface="Cambria Math" panose="02040503050406030204"/>
              </a:rPr>
              <a:t>1</a:t>
            </a:r>
            <a:endParaRPr sz="1750">
              <a:latin typeface="Cambria Math" panose="02040503050406030204"/>
              <a:cs typeface="Cambria Math" panose="02040503050406030204"/>
            </a:endParaRPr>
          </a:p>
        </p:txBody>
      </p:sp>
      <p:sp>
        <p:nvSpPr>
          <p:cNvPr id="6" name="object 6"/>
          <p:cNvSpPr txBox="1"/>
          <p:nvPr/>
        </p:nvSpPr>
        <p:spPr>
          <a:xfrm>
            <a:off x="4489703" y="3515995"/>
            <a:ext cx="1257300" cy="382156"/>
          </a:xfrm>
          <a:prstGeom prst="rect">
            <a:avLst/>
          </a:prstGeom>
        </p:spPr>
        <p:txBody>
          <a:bodyPr vert="horz" wrap="square" lIns="0" tIns="12700" rIns="0" bIns="0" rtlCol="0">
            <a:spAutoFit/>
          </a:bodyPr>
          <a:lstStyle/>
          <a:p>
            <a:pPr marL="38101">
              <a:spcBef>
                <a:spcPts val="100"/>
              </a:spcBef>
            </a:pPr>
            <a:r>
              <a:rPr sz="2400" b="1" spc="60" dirty="0">
                <a:latin typeface="Cambria Math" panose="02040503050406030204"/>
                <a:cs typeface="Cambria Math" panose="02040503050406030204"/>
              </a:rPr>
              <a:t>𝜇</a:t>
            </a:r>
            <a:r>
              <a:rPr sz="2625" b="1" spc="89" baseline="-16000" dirty="0">
                <a:latin typeface="Cambria Math" panose="02040503050406030204"/>
                <a:cs typeface="Cambria Math" panose="02040503050406030204"/>
              </a:rPr>
              <a:t>𝑝</a:t>
            </a:r>
            <a:r>
              <a:rPr sz="2625" b="1" spc="592" baseline="-16000" dirty="0">
                <a:latin typeface="Cambria Math" panose="02040503050406030204"/>
                <a:cs typeface="Cambria Math" panose="02040503050406030204"/>
              </a:rPr>
              <a:t> </a:t>
            </a:r>
            <a:r>
              <a:rPr sz="2400" b="1" dirty="0">
                <a:latin typeface="Cambria Math" panose="02040503050406030204"/>
                <a:cs typeface="Cambria Math" panose="02040503050406030204"/>
              </a:rPr>
              <a:t>=</a:t>
            </a:r>
            <a:r>
              <a:rPr sz="2400" b="1" spc="130" dirty="0">
                <a:latin typeface="Cambria Math" panose="02040503050406030204"/>
                <a:cs typeface="Cambria Math" panose="02040503050406030204"/>
              </a:rPr>
              <a:t> </a:t>
            </a:r>
            <a:r>
              <a:rPr sz="2625" b="1" spc="142" baseline="-38000" dirty="0">
                <a:latin typeface="Cambria Math" panose="02040503050406030204"/>
                <a:cs typeface="Cambria Math" panose="02040503050406030204"/>
              </a:rPr>
              <a:t>𝑘</a:t>
            </a:r>
            <a:r>
              <a:rPr sz="2625" b="1" spc="97" baseline="-38000" dirty="0">
                <a:latin typeface="Cambria Math" panose="02040503050406030204"/>
                <a:cs typeface="Cambria Math" panose="02040503050406030204"/>
              </a:rPr>
              <a:t> </a:t>
            </a:r>
            <a:r>
              <a:rPr sz="2400" b="1" spc="-25" dirty="0">
                <a:latin typeface="Cambria Math" panose="02040503050406030204"/>
                <a:cs typeface="Cambria Math" panose="02040503050406030204"/>
              </a:rPr>
              <a:t>𝑙𝑛</a:t>
            </a:r>
            <a:endParaRPr sz="2400" b="1" dirty="0">
              <a:latin typeface="Cambria Math" panose="02040503050406030204"/>
              <a:cs typeface="Cambria Math" panose="02040503050406030204"/>
            </a:endParaRPr>
          </a:p>
        </p:txBody>
      </p:sp>
      <p:sp>
        <p:nvSpPr>
          <p:cNvPr id="7" name="object 7"/>
          <p:cNvSpPr/>
          <p:nvPr/>
        </p:nvSpPr>
        <p:spPr>
          <a:xfrm>
            <a:off x="5790058" y="3446021"/>
            <a:ext cx="461646" cy="602615"/>
          </a:xfrm>
          <a:custGeom>
            <a:avLst/>
            <a:gdLst/>
            <a:ahLst/>
            <a:cxnLst/>
            <a:rect l="l" t="t" r="r" b="b"/>
            <a:pathLst>
              <a:path w="461645" h="602614">
                <a:moveTo>
                  <a:pt x="115697" y="9906"/>
                </a:moveTo>
                <a:lnTo>
                  <a:pt x="66763" y="44284"/>
                </a:lnTo>
                <a:lnTo>
                  <a:pt x="32004" y="109982"/>
                </a:lnTo>
                <a:lnTo>
                  <a:pt x="17995" y="150622"/>
                </a:lnTo>
                <a:lnTo>
                  <a:pt x="7988" y="195948"/>
                </a:lnTo>
                <a:lnTo>
                  <a:pt x="1993" y="246024"/>
                </a:lnTo>
                <a:lnTo>
                  <a:pt x="0" y="300990"/>
                </a:lnTo>
                <a:lnTo>
                  <a:pt x="1905" y="353428"/>
                </a:lnTo>
                <a:lnTo>
                  <a:pt x="1993" y="355879"/>
                </a:lnTo>
                <a:lnTo>
                  <a:pt x="8001" y="406069"/>
                </a:lnTo>
                <a:lnTo>
                  <a:pt x="17995" y="451472"/>
                </a:lnTo>
                <a:lnTo>
                  <a:pt x="32004" y="492125"/>
                </a:lnTo>
                <a:lnTo>
                  <a:pt x="48691" y="527659"/>
                </a:lnTo>
                <a:lnTo>
                  <a:pt x="86220" y="582663"/>
                </a:lnTo>
                <a:lnTo>
                  <a:pt x="107061" y="602107"/>
                </a:lnTo>
                <a:lnTo>
                  <a:pt x="115697" y="592201"/>
                </a:lnTo>
                <a:lnTo>
                  <a:pt x="97663" y="572350"/>
                </a:lnTo>
                <a:lnTo>
                  <a:pt x="81292" y="547662"/>
                </a:lnTo>
                <a:lnTo>
                  <a:pt x="53467" y="483870"/>
                </a:lnTo>
                <a:lnTo>
                  <a:pt x="42722" y="444868"/>
                </a:lnTo>
                <a:lnTo>
                  <a:pt x="35064" y="401383"/>
                </a:lnTo>
                <a:lnTo>
                  <a:pt x="30480" y="353428"/>
                </a:lnTo>
                <a:lnTo>
                  <a:pt x="28956" y="300990"/>
                </a:lnTo>
                <a:lnTo>
                  <a:pt x="30480" y="248640"/>
                </a:lnTo>
                <a:lnTo>
                  <a:pt x="35064" y="200710"/>
                </a:lnTo>
                <a:lnTo>
                  <a:pt x="42722" y="157251"/>
                </a:lnTo>
                <a:lnTo>
                  <a:pt x="53467" y="118237"/>
                </a:lnTo>
                <a:lnTo>
                  <a:pt x="81292" y="54406"/>
                </a:lnTo>
                <a:lnTo>
                  <a:pt x="97663" y="29756"/>
                </a:lnTo>
                <a:lnTo>
                  <a:pt x="115697" y="9906"/>
                </a:lnTo>
                <a:close/>
              </a:path>
              <a:path w="461645" h="602614">
                <a:moveTo>
                  <a:pt x="335915" y="290576"/>
                </a:moveTo>
                <a:lnTo>
                  <a:pt x="125603" y="290576"/>
                </a:lnTo>
                <a:lnTo>
                  <a:pt x="125603" y="310388"/>
                </a:lnTo>
                <a:lnTo>
                  <a:pt x="335915" y="310388"/>
                </a:lnTo>
                <a:lnTo>
                  <a:pt x="335915" y="290576"/>
                </a:lnTo>
                <a:close/>
              </a:path>
              <a:path w="461645" h="602614">
                <a:moveTo>
                  <a:pt x="461251" y="300990"/>
                </a:moveTo>
                <a:lnTo>
                  <a:pt x="459346" y="248640"/>
                </a:lnTo>
                <a:lnTo>
                  <a:pt x="459257" y="246024"/>
                </a:lnTo>
                <a:lnTo>
                  <a:pt x="453263" y="195948"/>
                </a:lnTo>
                <a:lnTo>
                  <a:pt x="443255" y="150622"/>
                </a:lnTo>
                <a:lnTo>
                  <a:pt x="429260" y="109982"/>
                </a:lnTo>
                <a:lnTo>
                  <a:pt x="412559" y="74460"/>
                </a:lnTo>
                <a:lnTo>
                  <a:pt x="375031" y="19456"/>
                </a:lnTo>
                <a:lnTo>
                  <a:pt x="354203" y="0"/>
                </a:lnTo>
                <a:lnTo>
                  <a:pt x="345567" y="9906"/>
                </a:lnTo>
                <a:lnTo>
                  <a:pt x="363588" y="29756"/>
                </a:lnTo>
                <a:lnTo>
                  <a:pt x="379958" y="54406"/>
                </a:lnTo>
                <a:lnTo>
                  <a:pt x="407797" y="118237"/>
                </a:lnTo>
                <a:lnTo>
                  <a:pt x="418528" y="157251"/>
                </a:lnTo>
                <a:lnTo>
                  <a:pt x="426186" y="200710"/>
                </a:lnTo>
                <a:lnTo>
                  <a:pt x="430771" y="248640"/>
                </a:lnTo>
                <a:lnTo>
                  <a:pt x="432308" y="300990"/>
                </a:lnTo>
                <a:lnTo>
                  <a:pt x="430771" y="353428"/>
                </a:lnTo>
                <a:lnTo>
                  <a:pt x="426186" y="401383"/>
                </a:lnTo>
                <a:lnTo>
                  <a:pt x="418528" y="444868"/>
                </a:lnTo>
                <a:lnTo>
                  <a:pt x="407797" y="483870"/>
                </a:lnTo>
                <a:lnTo>
                  <a:pt x="379958" y="547662"/>
                </a:lnTo>
                <a:lnTo>
                  <a:pt x="345567" y="592201"/>
                </a:lnTo>
                <a:lnTo>
                  <a:pt x="354203" y="602107"/>
                </a:lnTo>
                <a:lnTo>
                  <a:pt x="394487" y="557834"/>
                </a:lnTo>
                <a:lnTo>
                  <a:pt x="429260" y="492125"/>
                </a:lnTo>
                <a:lnTo>
                  <a:pt x="443255" y="451472"/>
                </a:lnTo>
                <a:lnTo>
                  <a:pt x="453250" y="406069"/>
                </a:lnTo>
                <a:lnTo>
                  <a:pt x="459257" y="355879"/>
                </a:lnTo>
                <a:lnTo>
                  <a:pt x="461251" y="300990"/>
                </a:lnTo>
                <a:close/>
              </a:path>
            </a:pathLst>
          </a:custGeom>
          <a:solidFill>
            <a:srgbClr val="000000"/>
          </a:solidFill>
        </p:spPr>
        <p:txBody>
          <a:bodyPr wrap="square" lIns="0" tIns="0" rIns="0" bIns="0" rtlCol="0"/>
          <a:lstStyle/>
          <a:p>
            <a:endParaRPr/>
          </a:p>
        </p:txBody>
      </p:sp>
      <p:sp>
        <p:nvSpPr>
          <p:cNvPr id="8" name="object 8"/>
          <p:cNvSpPr txBox="1"/>
          <p:nvPr/>
        </p:nvSpPr>
        <p:spPr>
          <a:xfrm>
            <a:off x="5878321" y="3354758"/>
            <a:ext cx="262890" cy="681597"/>
          </a:xfrm>
          <a:prstGeom prst="rect">
            <a:avLst/>
          </a:prstGeom>
        </p:spPr>
        <p:txBody>
          <a:bodyPr vert="horz" wrap="square" lIns="0" tIns="78105" rIns="0" bIns="0" rtlCol="0">
            <a:spAutoFit/>
          </a:bodyPr>
          <a:lstStyle/>
          <a:p>
            <a:pPr marL="51436">
              <a:spcBef>
                <a:spcPts val="615"/>
              </a:spcBef>
            </a:pPr>
            <a:r>
              <a:rPr sz="1750" b="1" spc="-25" dirty="0">
                <a:latin typeface="Cambria Math" panose="02040503050406030204"/>
                <a:cs typeface="Cambria Math" panose="02040503050406030204"/>
              </a:rPr>
              <a:t>𝐼</a:t>
            </a:r>
            <a:r>
              <a:rPr sz="2175" b="1" spc="-37" baseline="-13000" dirty="0">
                <a:latin typeface="Cambria Math" panose="02040503050406030204"/>
                <a:cs typeface="Cambria Math" panose="02040503050406030204"/>
              </a:rPr>
              <a:t>𝑐</a:t>
            </a:r>
            <a:endParaRPr sz="2175" b="1" baseline="-13000">
              <a:latin typeface="Cambria Math" panose="02040503050406030204"/>
              <a:cs typeface="Cambria Math" panose="02040503050406030204"/>
            </a:endParaRPr>
          </a:p>
          <a:p>
            <a:pPr marL="38101">
              <a:spcBef>
                <a:spcPts val="514"/>
              </a:spcBef>
            </a:pPr>
            <a:r>
              <a:rPr sz="1750" b="1" spc="-50" dirty="0">
                <a:latin typeface="Cambria Math" panose="02040503050406030204"/>
                <a:cs typeface="Cambria Math" panose="02040503050406030204"/>
              </a:rPr>
              <a:t>𝐼</a:t>
            </a:r>
            <a:endParaRPr sz="1750" b="1">
              <a:latin typeface="Cambria Math" panose="02040503050406030204"/>
              <a:cs typeface="Cambria Math" panose="02040503050406030204"/>
            </a:endParaRPr>
          </a:p>
        </p:txBody>
      </p:sp>
      <p:sp>
        <p:nvSpPr>
          <p:cNvPr id="12" name="object 12"/>
          <p:cNvSpPr txBox="1">
            <a:spLocks noGrp="1"/>
          </p:cNvSpPr>
          <p:nvPr>
            <p:ph type="sldNum" sz="quarter" idx="7"/>
          </p:nvPr>
        </p:nvSpPr>
        <p:spPr>
          <a:xfrm>
            <a:off x="8993409" y="6464911"/>
            <a:ext cx="198636" cy="156068"/>
          </a:xfrm>
          <a:prstGeom prst="rect">
            <a:avLst/>
          </a:prstGeom>
        </p:spPr>
        <p:txBody>
          <a:bodyPr vert="horz" wrap="square" lIns="0" tIns="0" rIns="0" bIns="0" rtlCol="0">
            <a:spAutoFit/>
          </a:bodyPr>
          <a:lstStyle/>
          <a:p>
            <a:pPr marL="38101">
              <a:lnSpc>
                <a:spcPts val="1239"/>
              </a:lnSpc>
            </a:pPr>
            <a:fld id="{81D60167-4931-47E6-BA6A-407CBD079E47}" type="slidenum">
              <a:rPr spc="-25" dirty="0"/>
              <a:pPr marL="38101">
                <a:lnSpc>
                  <a:spcPts val="1239"/>
                </a:lnSpc>
              </a:pPr>
              <a:t>42</a:t>
            </a:fld>
            <a:endParaRPr spc="-25" dirty="0"/>
          </a:p>
        </p:txBody>
      </p:sp>
      <p:sp>
        <p:nvSpPr>
          <p:cNvPr id="9" name="object 9"/>
          <p:cNvSpPr txBox="1"/>
          <p:nvPr/>
        </p:nvSpPr>
        <p:spPr>
          <a:xfrm>
            <a:off x="5978400" y="3837559"/>
            <a:ext cx="150495" cy="234680"/>
          </a:xfrm>
          <a:prstGeom prst="rect">
            <a:avLst/>
          </a:prstGeom>
        </p:spPr>
        <p:txBody>
          <a:bodyPr vert="horz" wrap="square" lIns="0" tIns="11430" rIns="0" bIns="0" rtlCol="0">
            <a:spAutoFit/>
          </a:bodyPr>
          <a:lstStyle/>
          <a:p>
            <a:pPr marL="12701">
              <a:spcBef>
                <a:spcPts val="90"/>
              </a:spcBef>
            </a:pPr>
            <a:r>
              <a:rPr sz="1450" spc="110" dirty="0">
                <a:latin typeface="Cambria Math" panose="02040503050406030204"/>
                <a:cs typeface="Cambria Math" panose="02040503050406030204"/>
              </a:rPr>
              <a:t>𝑝</a:t>
            </a:r>
            <a:endParaRPr sz="1450">
              <a:latin typeface="Cambria Math" panose="02040503050406030204"/>
              <a:cs typeface="Cambria Math" panose="02040503050406030204"/>
            </a:endParaRPr>
          </a:p>
        </p:txBody>
      </p:sp>
      <p:sp>
        <p:nvSpPr>
          <p:cNvPr id="10" name="object 10"/>
          <p:cNvSpPr txBox="1"/>
          <p:nvPr/>
        </p:nvSpPr>
        <p:spPr>
          <a:xfrm>
            <a:off x="7444870" y="3515995"/>
            <a:ext cx="398145" cy="382156"/>
          </a:xfrm>
          <a:prstGeom prst="rect">
            <a:avLst/>
          </a:prstGeom>
        </p:spPr>
        <p:txBody>
          <a:bodyPr vert="horz" wrap="square" lIns="0" tIns="12700" rIns="0" bIns="0" rtlCol="0">
            <a:spAutoFit/>
          </a:bodyPr>
          <a:lstStyle/>
          <a:p>
            <a:pPr marL="12701">
              <a:spcBef>
                <a:spcPts val="100"/>
              </a:spcBef>
            </a:pPr>
            <a:r>
              <a:rPr sz="2400" spc="-25" dirty="0">
                <a:latin typeface="Arial MT"/>
                <a:cs typeface="Arial MT"/>
              </a:rPr>
              <a:t>(2)</a:t>
            </a:r>
            <a:endParaRPr sz="2400">
              <a:latin typeface="Arial MT"/>
              <a:cs typeface="Arial MT"/>
            </a:endParaRPr>
          </a:p>
        </p:txBody>
      </p:sp>
      <p:sp>
        <p:nvSpPr>
          <p:cNvPr id="11" name="object 11"/>
          <p:cNvSpPr txBox="1"/>
          <p:nvPr/>
        </p:nvSpPr>
        <p:spPr>
          <a:xfrm>
            <a:off x="555447" y="4175633"/>
            <a:ext cx="10158730" cy="1345368"/>
          </a:xfrm>
          <a:prstGeom prst="rect">
            <a:avLst/>
          </a:prstGeom>
        </p:spPr>
        <p:txBody>
          <a:bodyPr vert="horz" wrap="square" lIns="0" tIns="12065" rIns="0" bIns="0" rtlCol="0">
            <a:spAutoFit/>
          </a:bodyPr>
          <a:lstStyle/>
          <a:p>
            <a:pPr marL="240036" marR="5081" indent="-227336">
              <a:lnSpc>
                <a:spcPct val="152000"/>
              </a:lnSpc>
              <a:spcBef>
                <a:spcPts val="95"/>
              </a:spcBef>
              <a:buChar char="•"/>
              <a:tabLst>
                <a:tab pos="241306" algn="l"/>
              </a:tabLst>
            </a:pPr>
            <a:r>
              <a:rPr sz="2400" dirty="0">
                <a:latin typeface="Arial MT"/>
                <a:cs typeface="Arial MT"/>
              </a:rPr>
              <a:t>where</a:t>
            </a:r>
            <a:r>
              <a:rPr sz="2400" b="1" spc="-46" dirty="0">
                <a:latin typeface="Arial MT"/>
                <a:cs typeface="Arial MT"/>
              </a:rPr>
              <a:t> </a:t>
            </a:r>
            <a:r>
              <a:rPr sz="2400" b="1" dirty="0">
                <a:latin typeface="Arial MT"/>
                <a:cs typeface="Arial MT"/>
              </a:rPr>
              <a:t>k</a:t>
            </a:r>
            <a:r>
              <a:rPr sz="2400" b="1" spc="-65" dirty="0">
                <a:latin typeface="Arial MT"/>
                <a:cs typeface="Arial MT"/>
              </a:rPr>
              <a:t> </a:t>
            </a:r>
            <a:r>
              <a:rPr sz="2400" dirty="0">
                <a:latin typeface="Arial MT"/>
                <a:cs typeface="Arial MT"/>
              </a:rPr>
              <a:t>is</a:t>
            </a:r>
            <a:r>
              <a:rPr sz="2400" spc="-50" dirty="0">
                <a:latin typeface="Arial MT"/>
                <a:cs typeface="Arial MT"/>
              </a:rPr>
              <a:t> </a:t>
            </a:r>
            <a:r>
              <a:rPr sz="2400" dirty="0">
                <a:latin typeface="Arial MT"/>
                <a:cs typeface="Arial MT"/>
              </a:rPr>
              <a:t>a</a:t>
            </a:r>
            <a:r>
              <a:rPr sz="2400" spc="-55" dirty="0">
                <a:latin typeface="Arial MT"/>
                <a:cs typeface="Arial MT"/>
              </a:rPr>
              <a:t> </a:t>
            </a:r>
            <a:r>
              <a:rPr sz="2400" dirty="0">
                <a:latin typeface="Arial MT"/>
                <a:cs typeface="Arial MT"/>
              </a:rPr>
              <a:t>constant</a:t>
            </a:r>
            <a:r>
              <a:rPr sz="2400" spc="-55" dirty="0">
                <a:latin typeface="Arial MT"/>
                <a:cs typeface="Arial MT"/>
              </a:rPr>
              <a:t> </a:t>
            </a:r>
            <a:r>
              <a:rPr sz="2400" dirty="0">
                <a:latin typeface="Arial MT"/>
                <a:cs typeface="Arial MT"/>
              </a:rPr>
              <a:t>which</a:t>
            </a:r>
            <a:r>
              <a:rPr sz="2400" spc="-34" dirty="0">
                <a:latin typeface="Arial MT"/>
                <a:cs typeface="Arial MT"/>
              </a:rPr>
              <a:t> </a:t>
            </a:r>
            <a:r>
              <a:rPr sz="2400" dirty="0">
                <a:latin typeface="Arial MT"/>
                <a:cs typeface="Arial MT"/>
              </a:rPr>
              <a:t>depends</a:t>
            </a:r>
            <a:r>
              <a:rPr sz="2400" spc="-30" dirty="0">
                <a:latin typeface="Arial MT"/>
                <a:cs typeface="Arial MT"/>
              </a:rPr>
              <a:t> </a:t>
            </a:r>
            <a:r>
              <a:rPr sz="2400" dirty="0">
                <a:latin typeface="Arial MT"/>
                <a:cs typeface="Arial MT"/>
              </a:rPr>
              <a:t>on</a:t>
            </a:r>
            <a:r>
              <a:rPr sz="2400" spc="-50" dirty="0">
                <a:latin typeface="Arial MT"/>
                <a:cs typeface="Arial MT"/>
              </a:rPr>
              <a:t> </a:t>
            </a:r>
            <a:r>
              <a:rPr sz="2400" dirty="0">
                <a:latin typeface="Arial MT"/>
                <a:cs typeface="Arial MT"/>
              </a:rPr>
              <a:t>the</a:t>
            </a:r>
            <a:r>
              <a:rPr sz="2400" spc="-55" dirty="0">
                <a:latin typeface="Arial MT"/>
                <a:cs typeface="Arial MT"/>
              </a:rPr>
              <a:t> </a:t>
            </a:r>
            <a:r>
              <a:rPr sz="2400" b="1" dirty="0">
                <a:latin typeface="Arial MT"/>
                <a:cs typeface="Arial MT"/>
              </a:rPr>
              <a:t>energy</a:t>
            </a:r>
            <a:r>
              <a:rPr sz="2400" b="1" spc="-55" dirty="0">
                <a:latin typeface="Arial MT"/>
                <a:cs typeface="Arial MT"/>
              </a:rPr>
              <a:t> </a:t>
            </a:r>
            <a:r>
              <a:rPr sz="2400" b="1" dirty="0">
                <a:latin typeface="Arial MT"/>
                <a:cs typeface="Arial MT"/>
              </a:rPr>
              <a:t>of</a:t>
            </a:r>
            <a:r>
              <a:rPr sz="2400" b="1" spc="-46" dirty="0">
                <a:latin typeface="Arial MT"/>
                <a:cs typeface="Arial MT"/>
              </a:rPr>
              <a:t> </a:t>
            </a:r>
            <a:r>
              <a:rPr sz="2400" b="1" dirty="0">
                <a:latin typeface="Arial MT"/>
                <a:cs typeface="Arial MT"/>
              </a:rPr>
              <a:t>the</a:t>
            </a:r>
            <a:r>
              <a:rPr sz="2400" b="1" spc="-60" dirty="0">
                <a:latin typeface="Arial MT"/>
                <a:cs typeface="Arial MT"/>
              </a:rPr>
              <a:t> </a:t>
            </a:r>
            <a:r>
              <a:rPr sz="3600" b="1" spc="-60" dirty="0">
                <a:latin typeface="Arial" panose="020B0604020202020204" pitchFamily="34" charset="0"/>
                <a:cs typeface="Arial" panose="020B0604020202020204" pitchFamily="34" charset="0"/>
              </a:rPr>
              <a:t>ᵦ</a:t>
            </a:r>
            <a:r>
              <a:rPr sz="3600" b="1" spc="-34" dirty="0">
                <a:latin typeface="Arial MT"/>
                <a:cs typeface="Arial MT"/>
              </a:rPr>
              <a:t>-</a:t>
            </a:r>
            <a:r>
              <a:rPr sz="2400" b="1" dirty="0">
                <a:latin typeface="Arial MT"/>
                <a:cs typeface="Arial MT"/>
              </a:rPr>
              <a:t>particles</a:t>
            </a:r>
            <a:r>
              <a:rPr sz="2400" dirty="0">
                <a:latin typeface="Arial MT"/>
                <a:cs typeface="Arial MT"/>
              </a:rPr>
              <a:t>;</a:t>
            </a:r>
            <a:r>
              <a:rPr sz="2400" spc="-55" dirty="0">
                <a:latin typeface="Arial MT"/>
                <a:cs typeface="Arial MT"/>
              </a:rPr>
              <a:t> </a:t>
            </a:r>
            <a:r>
              <a:rPr sz="2400" spc="-25" dirty="0">
                <a:latin typeface="Arial MT"/>
                <a:cs typeface="Arial MT"/>
              </a:rPr>
              <a:t>the </a:t>
            </a:r>
            <a:r>
              <a:rPr sz="2400" dirty="0">
                <a:latin typeface="Arial MT"/>
                <a:cs typeface="Arial MT"/>
              </a:rPr>
              <a:t>intensity</a:t>
            </a:r>
            <a:r>
              <a:rPr sz="2400" spc="-65" dirty="0">
                <a:latin typeface="Arial MT"/>
                <a:cs typeface="Arial MT"/>
              </a:rPr>
              <a:t> </a:t>
            </a:r>
            <a:r>
              <a:rPr sz="2400" dirty="0">
                <a:latin typeface="Arial MT"/>
                <a:cs typeface="Arial MT"/>
              </a:rPr>
              <a:t>of</a:t>
            </a:r>
            <a:r>
              <a:rPr sz="2400" spc="-85" dirty="0">
                <a:latin typeface="Arial MT"/>
                <a:cs typeface="Arial MT"/>
              </a:rPr>
              <a:t> </a:t>
            </a:r>
            <a:r>
              <a:rPr sz="2400" dirty="0">
                <a:latin typeface="Arial MT"/>
                <a:cs typeface="Arial MT"/>
              </a:rPr>
              <a:t>radiation</a:t>
            </a:r>
            <a:r>
              <a:rPr sz="2400" spc="-46" dirty="0">
                <a:latin typeface="Arial MT"/>
                <a:cs typeface="Arial MT"/>
              </a:rPr>
              <a:t> </a:t>
            </a:r>
            <a:r>
              <a:rPr sz="2400" dirty="0">
                <a:latin typeface="Arial MT"/>
                <a:cs typeface="Arial MT"/>
              </a:rPr>
              <a:t>can</a:t>
            </a:r>
            <a:r>
              <a:rPr sz="2400" spc="-55" dirty="0">
                <a:latin typeface="Arial MT"/>
                <a:cs typeface="Arial MT"/>
              </a:rPr>
              <a:t> </a:t>
            </a:r>
            <a:r>
              <a:rPr sz="2400" dirty="0">
                <a:latin typeface="Arial MT"/>
                <a:cs typeface="Arial MT"/>
              </a:rPr>
              <a:t>be</a:t>
            </a:r>
            <a:r>
              <a:rPr sz="2400" spc="-65" dirty="0">
                <a:latin typeface="Arial MT"/>
                <a:cs typeface="Arial MT"/>
              </a:rPr>
              <a:t> </a:t>
            </a:r>
            <a:r>
              <a:rPr sz="2400" dirty="0">
                <a:latin typeface="Arial MT"/>
                <a:cs typeface="Arial MT"/>
              </a:rPr>
              <a:t>measured</a:t>
            </a:r>
            <a:r>
              <a:rPr sz="2400" spc="-55" dirty="0">
                <a:latin typeface="Arial MT"/>
                <a:cs typeface="Arial MT"/>
              </a:rPr>
              <a:t> </a:t>
            </a:r>
            <a:r>
              <a:rPr sz="2400" dirty="0">
                <a:latin typeface="Arial MT"/>
                <a:cs typeface="Arial MT"/>
              </a:rPr>
              <a:t>by</a:t>
            </a:r>
            <a:r>
              <a:rPr sz="2400" spc="-70" dirty="0">
                <a:latin typeface="Arial MT"/>
                <a:cs typeface="Arial MT"/>
              </a:rPr>
              <a:t> </a:t>
            </a:r>
            <a:r>
              <a:rPr sz="2400" dirty="0">
                <a:latin typeface="Arial MT"/>
                <a:cs typeface="Arial MT"/>
              </a:rPr>
              <a:t>a</a:t>
            </a:r>
            <a:r>
              <a:rPr sz="2400" spc="-65" dirty="0">
                <a:latin typeface="Arial MT"/>
                <a:cs typeface="Arial MT"/>
              </a:rPr>
              <a:t> </a:t>
            </a:r>
            <a:r>
              <a:rPr sz="2400" b="1" dirty="0">
                <a:latin typeface="Arial MT"/>
                <a:cs typeface="Arial MT"/>
              </a:rPr>
              <a:t>Geiger</a:t>
            </a:r>
            <a:r>
              <a:rPr sz="2400" b="1" spc="-60" dirty="0">
                <a:latin typeface="Arial MT"/>
                <a:cs typeface="Arial MT"/>
              </a:rPr>
              <a:t> </a:t>
            </a:r>
            <a:r>
              <a:rPr sz="2400" b="1" spc="-10" dirty="0">
                <a:latin typeface="Arial MT"/>
                <a:cs typeface="Arial MT"/>
              </a:rPr>
              <a:t>counter</a:t>
            </a:r>
            <a:r>
              <a:rPr sz="2400" spc="-10" dirty="0">
                <a:latin typeface="Arial MT"/>
                <a:cs typeface="Arial MT"/>
              </a:rPr>
              <a:t>.</a:t>
            </a:r>
            <a:endParaRPr sz="2400" dirty="0">
              <a:latin typeface="Arial MT"/>
              <a:cs typeface="Arial MT"/>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70371" y="133351"/>
            <a:ext cx="7600956" cy="892423"/>
          </a:xfrm>
          <a:prstGeom prst="rect">
            <a:avLst/>
          </a:prstGeom>
        </p:spPr>
        <p:txBody>
          <a:bodyPr vert="horz" wrap="square" lIns="0" tIns="396112" rIns="0" bIns="0" rtlCol="0">
            <a:spAutoFit/>
          </a:bodyPr>
          <a:lstStyle/>
          <a:p>
            <a:pPr marL="131448">
              <a:spcBef>
                <a:spcPts val="105"/>
              </a:spcBef>
            </a:pPr>
            <a:r>
              <a:rPr spc="-25" dirty="0"/>
              <a:t>Tape</a:t>
            </a:r>
            <a:r>
              <a:rPr spc="-185" dirty="0"/>
              <a:t> </a:t>
            </a:r>
            <a:r>
              <a:rPr spc="-10" dirty="0"/>
              <a:t>Sampler</a:t>
            </a:r>
          </a:p>
        </p:txBody>
      </p:sp>
      <p:sp>
        <p:nvSpPr>
          <p:cNvPr id="3" name="object 3"/>
          <p:cNvSpPr txBox="1"/>
          <p:nvPr/>
        </p:nvSpPr>
        <p:spPr>
          <a:xfrm>
            <a:off x="530047" y="2131821"/>
            <a:ext cx="9900286" cy="751488"/>
          </a:xfrm>
          <a:prstGeom prst="rect">
            <a:avLst/>
          </a:prstGeom>
        </p:spPr>
        <p:txBody>
          <a:bodyPr vert="horz" wrap="square" lIns="0" tIns="12700" rIns="0" bIns="0" rtlCol="0">
            <a:spAutoFit/>
          </a:bodyPr>
          <a:lstStyle/>
          <a:p>
            <a:pPr marL="265437" indent="-227336">
              <a:spcBef>
                <a:spcPts val="100"/>
              </a:spcBef>
              <a:buChar char="•"/>
              <a:tabLst>
                <a:tab pos="265437" algn="l"/>
              </a:tabLst>
            </a:pPr>
            <a:r>
              <a:rPr sz="2400" dirty="0">
                <a:latin typeface="Arial MT"/>
                <a:cs typeface="Arial MT"/>
              </a:rPr>
              <a:t>The</a:t>
            </a:r>
            <a:r>
              <a:rPr sz="2400" spc="-55" dirty="0">
                <a:latin typeface="Arial MT"/>
                <a:cs typeface="Arial MT"/>
              </a:rPr>
              <a:t> </a:t>
            </a:r>
            <a:r>
              <a:rPr sz="2400" b="1" dirty="0">
                <a:latin typeface="Arial MT"/>
                <a:cs typeface="Arial MT"/>
              </a:rPr>
              <a:t>mass</a:t>
            </a:r>
            <a:r>
              <a:rPr sz="2400" b="1" spc="-55" dirty="0">
                <a:latin typeface="Arial MT"/>
                <a:cs typeface="Arial MT"/>
              </a:rPr>
              <a:t> </a:t>
            </a:r>
            <a:r>
              <a:rPr sz="2400" b="1" dirty="0">
                <a:latin typeface="Arial MT"/>
                <a:cs typeface="Arial MT"/>
              </a:rPr>
              <a:t>concentration</a:t>
            </a:r>
            <a:r>
              <a:rPr sz="2400" b="1" spc="-30" dirty="0">
                <a:latin typeface="Arial MT"/>
                <a:cs typeface="Arial MT"/>
              </a:rPr>
              <a:t> </a:t>
            </a:r>
            <a:r>
              <a:rPr sz="2400" b="1" dirty="0">
                <a:latin typeface="Arial MT"/>
                <a:cs typeface="Arial MT"/>
              </a:rPr>
              <a:t>of</a:t>
            </a:r>
            <a:r>
              <a:rPr sz="2400" b="1" spc="-46" dirty="0">
                <a:latin typeface="Arial MT"/>
                <a:cs typeface="Arial MT"/>
              </a:rPr>
              <a:t> </a:t>
            </a:r>
            <a:r>
              <a:rPr sz="2400" b="1" dirty="0">
                <a:latin typeface="Arial MT"/>
                <a:cs typeface="Arial MT"/>
              </a:rPr>
              <a:t>the</a:t>
            </a:r>
            <a:r>
              <a:rPr sz="2400" b="1" spc="-60" dirty="0">
                <a:latin typeface="Arial MT"/>
                <a:cs typeface="Arial MT"/>
              </a:rPr>
              <a:t> </a:t>
            </a:r>
            <a:r>
              <a:rPr sz="2400" b="1" dirty="0">
                <a:latin typeface="Arial MT"/>
                <a:cs typeface="Arial MT"/>
              </a:rPr>
              <a:t>particulate</a:t>
            </a:r>
            <a:r>
              <a:rPr sz="2400" b="1" spc="-30" dirty="0">
                <a:latin typeface="Arial MT"/>
                <a:cs typeface="Arial MT"/>
              </a:rPr>
              <a:t> </a:t>
            </a:r>
            <a:r>
              <a:rPr sz="2400" b="1" dirty="0">
                <a:latin typeface="Arial MT"/>
                <a:cs typeface="Arial MT"/>
              </a:rPr>
              <a:t>in</a:t>
            </a:r>
            <a:r>
              <a:rPr sz="2400" b="1" spc="-55" dirty="0">
                <a:latin typeface="Arial MT"/>
                <a:cs typeface="Arial MT"/>
              </a:rPr>
              <a:t> </a:t>
            </a:r>
            <a:r>
              <a:rPr sz="2400" b="1" dirty="0">
                <a:latin typeface="Arial MT"/>
                <a:cs typeface="Arial MT"/>
              </a:rPr>
              <a:t>the</a:t>
            </a:r>
            <a:r>
              <a:rPr sz="2400" b="1" spc="-46" dirty="0">
                <a:latin typeface="Arial MT"/>
                <a:cs typeface="Arial MT"/>
              </a:rPr>
              <a:t> </a:t>
            </a:r>
            <a:r>
              <a:rPr sz="2400" b="1" dirty="0">
                <a:latin typeface="Arial MT"/>
                <a:cs typeface="Arial MT"/>
              </a:rPr>
              <a:t>air</a:t>
            </a:r>
            <a:r>
              <a:rPr sz="2400" b="1" spc="-20" dirty="0">
                <a:latin typeface="Arial MT"/>
                <a:cs typeface="Arial MT"/>
              </a:rPr>
              <a:t> </a:t>
            </a:r>
            <a:r>
              <a:rPr sz="2400" dirty="0">
                <a:latin typeface="Cambria Math" panose="02040503050406030204"/>
                <a:cs typeface="Cambria Math" panose="02040503050406030204"/>
              </a:rPr>
              <a:t>𝜌</a:t>
            </a:r>
            <a:r>
              <a:rPr sz="2625" baseline="-16000" dirty="0">
                <a:latin typeface="Cambria Math" panose="02040503050406030204"/>
                <a:cs typeface="Cambria Math" panose="02040503050406030204"/>
              </a:rPr>
              <a:t>𝑝</a:t>
            </a:r>
            <a:r>
              <a:rPr sz="2400" dirty="0">
                <a:latin typeface="Arial MT"/>
                <a:cs typeface="Arial MT"/>
              </a:rPr>
              <a:t>,</a:t>
            </a:r>
            <a:r>
              <a:rPr sz="2400" spc="-55" dirty="0">
                <a:latin typeface="Arial MT"/>
                <a:cs typeface="Arial MT"/>
              </a:rPr>
              <a:t> </a:t>
            </a:r>
            <a:r>
              <a:rPr sz="2400" dirty="0">
                <a:latin typeface="Arial MT"/>
                <a:cs typeface="Arial MT"/>
              </a:rPr>
              <a:t>is</a:t>
            </a:r>
            <a:r>
              <a:rPr sz="2400" spc="-46" dirty="0">
                <a:latin typeface="Arial MT"/>
                <a:cs typeface="Arial MT"/>
              </a:rPr>
              <a:t> </a:t>
            </a:r>
            <a:r>
              <a:rPr sz="2400" dirty="0">
                <a:latin typeface="Arial MT"/>
                <a:cs typeface="Arial MT"/>
              </a:rPr>
              <a:t>then</a:t>
            </a:r>
            <a:r>
              <a:rPr sz="2400" spc="-46" dirty="0">
                <a:latin typeface="Arial MT"/>
                <a:cs typeface="Arial MT"/>
              </a:rPr>
              <a:t> </a:t>
            </a:r>
            <a:r>
              <a:rPr sz="2400" dirty="0">
                <a:latin typeface="Arial MT"/>
                <a:cs typeface="Arial MT"/>
              </a:rPr>
              <a:t>given</a:t>
            </a:r>
            <a:r>
              <a:rPr sz="2400" spc="-30" dirty="0">
                <a:latin typeface="Arial MT"/>
                <a:cs typeface="Arial MT"/>
              </a:rPr>
              <a:t> </a:t>
            </a:r>
            <a:r>
              <a:rPr sz="2400" spc="-25" dirty="0">
                <a:latin typeface="Arial MT"/>
                <a:cs typeface="Arial MT"/>
              </a:rPr>
              <a:t>by,</a:t>
            </a:r>
            <a:endParaRPr sz="2400" dirty="0">
              <a:latin typeface="Arial MT"/>
              <a:cs typeface="Arial MT"/>
            </a:endParaRPr>
          </a:p>
        </p:txBody>
      </p:sp>
      <p:sp>
        <p:nvSpPr>
          <p:cNvPr id="4" name="object 4"/>
          <p:cNvSpPr txBox="1"/>
          <p:nvPr/>
        </p:nvSpPr>
        <p:spPr>
          <a:xfrm>
            <a:off x="4489703" y="2998672"/>
            <a:ext cx="1094740" cy="382156"/>
          </a:xfrm>
          <a:prstGeom prst="rect">
            <a:avLst/>
          </a:prstGeom>
        </p:spPr>
        <p:txBody>
          <a:bodyPr vert="horz" wrap="square" lIns="0" tIns="12700" rIns="0" bIns="0" rtlCol="0">
            <a:spAutoFit/>
          </a:bodyPr>
          <a:lstStyle/>
          <a:p>
            <a:pPr marL="38101">
              <a:spcBef>
                <a:spcPts val="100"/>
              </a:spcBef>
            </a:pPr>
            <a:r>
              <a:rPr sz="2400" dirty="0">
                <a:latin typeface="Cambria Math" panose="02040503050406030204"/>
                <a:cs typeface="Cambria Math" panose="02040503050406030204"/>
              </a:rPr>
              <a:t>𝜌</a:t>
            </a:r>
            <a:r>
              <a:rPr sz="2625" baseline="-16000" dirty="0">
                <a:latin typeface="Cambria Math" panose="02040503050406030204"/>
                <a:cs typeface="Cambria Math" panose="02040503050406030204"/>
              </a:rPr>
              <a:t>𝑝</a:t>
            </a:r>
            <a:r>
              <a:rPr sz="2625" spc="607" baseline="-16000" dirty="0">
                <a:latin typeface="Cambria Math" panose="02040503050406030204"/>
                <a:cs typeface="Cambria Math" panose="02040503050406030204"/>
              </a:rPr>
              <a:t> </a:t>
            </a:r>
            <a:r>
              <a:rPr sz="2400" dirty="0">
                <a:latin typeface="Cambria Math" panose="02040503050406030204"/>
                <a:cs typeface="Cambria Math" panose="02040503050406030204"/>
              </a:rPr>
              <a:t>=</a:t>
            </a:r>
            <a:r>
              <a:rPr sz="2400" spc="140" dirty="0">
                <a:latin typeface="Cambria Math" panose="02040503050406030204"/>
                <a:cs typeface="Cambria Math" panose="02040503050406030204"/>
              </a:rPr>
              <a:t> </a:t>
            </a:r>
            <a:r>
              <a:rPr sz="2400" spc="34" dirty="0">
                <a:latin typeface="Cambria Math" panose="02040503050406030204"/>
                <a:cs typeface="Cambria Math" panose="02040503050406030204"/>
              </a:rPr>
              <a:t>𝜇</a:t>
            </a:r>
            <a:r>
              <a:rPr sz="2625" spc="52" baseline="-16000" dirty="0">
                <a:latin typeface="Cambria Math" panose="02040503050406030204"/>
                <a:cs typeface="Cambria Math" panose="02040503050406030204"/>
              </a:rPr>
              <a:t>𝑝</a:t>
            </a:r>
            <a:endParaRPr sz="2625" baseline="-16000">
              <a:latin typeface="Cambria Math" panose="02040503050406030204"/>
              <a:cs typeface="Cambria Math" panose="02040503050406030204"/>
            </a:endParaRPr>
          </a:p>
        </p:txBody>
      </p:sp>
      <p:sp>
        <p:nvSpPr>
          <p:cNvPr id="5" name="object 5"/>
          <p:cNvSpPr/>
          <p:nvPr/>
        </p:nvSpPr>
        <p:spPr>
          <a:xfrm>
            <a:off x="5637022" y="2977389"/>
            <a:ext cx="397510" cy="502921"/>
          </a:xfrm>
          <a:custGeom>
            <a:avLst/>
            <a:gdLst/>
            <a:ahLst/>
            <a:cxnLst/>
            <a:rect l="l" t="t" r="r" b="b"/>
            <a:pathLst>
              <a:path w="397510" h="502920">
                <a:moveTo>
                  <a:pt x="113411" y="11938"/>
                </a:moveTo>
                <a:lnTo>
                  <a:pt x="63919" y="35902"/>
                </a:lnTo>
                <a:lnTo>
                  <a:pt x="29464" y="92837"/>
                </a:lnTo>
                <a:lnTo>
                  <a:pt x="7391" y="166268"/>
                </a:lnTo>
                <a:lnTo>
                  <a:pt x="1841" y="207302"/>
                </a:lnTo>
                <a:lnTo>
                  <a:pt x="0" y="251206"/>
                </a:lnTo>
                <a:lnTo>
                  <a:pt x="1790" y="293585"/>
                </a:lnTo>
                <a:lnTo>
                  <a:pt x="1841" y="294957"/>
                </a:lnTo>
                <a:lnTo>
                  <a:pt x="7391" y="335915"/>
                </a:lnTo>
                <a:lnTo>
                  <a:pt x="16598" y="374116"/>
                </a:lnTo>
                <a:lnTo>
                  <a:pt x="45415" y="440969"/>
                </a:lnTo>
                <a:lnTo>
                  <a:pt x="84988" y="487553"/>
                </a:lnTo>
                <a:lnTo>
                  <a:pt x="108585" y="502793"/>
                </a:lnTo>
                <a:lnTo>
                  <a:pt x="113411" y="490855"/>
                </a:lnTo>
                <a:lnTo>
                  <a:pt x="94500" y="475576"/>
                </a:lnTo>
                <a:lnTo>
                  <a:pt x="77787" y="455637"/>
                </a:lnTo>
                <a:lnTo>
                  <a:pt x="50927" y="401828"/>
                </a:lnTo>
                <a:lnTo>
                  <a:pt x="34061" y="332701"/>
                </a:lnTo>
                <a:lnTo>
                  <a:pt x="29845" y="293585"/>
                </a:lnTo>
                <a:lnTo>
                  <a:pt x="28448" y="251460"/>
                </a:lnTo>
                <a:lnTo>
                  <a:pt x="29870" y="208724"/>
                </a:lnTo>
                <a:lnTo>
                  <a:pt x="34137" y="169265"/>
                </a:lnTo>
                <a:lnTo>
                  <a:pt x="51181" y="100203"/>
                </a:lnTo>
                <a:lnTo>
                  <a:pt x="78105" y="46926"/>
                </a:lnTo>
                <a:lnTo>
                  <a:pt x="94716" y="27165"/>
                </a:lnTo>
                <a:lnTo>
                  <a:pt x="113411" y="11938"/>
                </a:lnTo>
                <a:close/>
              </a:path>
              <a:path w="397510" h="502920">
                <a:moveTo>
                  <a:pt x="274066" y="242570"/>
                </a:moveTo>
                <a:lnTo>
                  <a:pt x="123190" y="242570"/>
                </a:lnTo>
                <a:lnTo>
                  <a:pt x="123190" y="262382"/>
                </a:lnTo>
                <a:lnTo>
                  <a:pt x="274066" y="262382"/>
                </a:lnTo>
                <a:lnTo>
                  <a:pt x="274066" y="242570"/>
                </a:lnTo>
                <a:close/>
              </a:path>
              <a:path w="397510" h="502920">
                <a:moveTo>
                  <a:pt x="397256" y="251206"/>
                </a:moveTo>
                <a:lnTo>
                  <a:pt x="395478" y="208724"/>
                </a:lnTo>
                <a:lnTo>
                  <a:pt x="389915" y="166268"/>
                </a:lnTo>
                <a:lnTo>
                  <a:pt x="380746" y="128104"/>
                </a:lnTo>
                <a:lnTo>
                  <a:pt x="351955" y="61747"/>
                </a:lnTo>
                <a:lnTo>
                  <a:pt x="312331" y="15316"/>
                </a:lnTo>
                <a:lnTo>
                  <a:pt x="288671" y="0"/>
                </a:lnTo>
                <a:lnTo>
                  <a:pt x="283845" y="11938"/>
                </a:lnTo>
                <a:lnTo>
                  <a:pt x="302602" y="27165"/>
                </a:lnTo>
                <a:lnTo>
                  <a:pt x="319252" y="46926"/>
                </a:lnTo>
                <a:lnTo>
                  <a:pt x="346202" y="100203"/>
                </a:lnTo>
                <a:lnTo>
                  <a:pt x="363232" y="169265"/>
                </a:lnTo>
                <a:lnTo>
                  <a:pt x="367499" y="208724"/>
                </a:lnTo>
                <a:lnTo>
                  <a:pt x="368922" y="251206"/>
                </a:lnTo>
                <a:lnTo>
                  <a:pt x="368935" y="251460"/>
                </a:lnTo>
                <a:lnTo>
                  <a:pt x="367499" y="293585"/>
                </a:lnTo>
                <a:lnTo>
                  <a:pt x="363245" y="332701"/>
                </a:lnTo>
                <a:lnTo>
                  <a:pt x="346329" y="401828"/>
                </a:lnTo>
                <a:lnTo>
                  <a:pt x="319468" y="455637"/>
                </a:lnTo>
                <a:lnTo>
                  <a:pt x="283845" y="490855"/>
                </a:lnTo>
                <a:lnTo>
                  <a:pt x="288671" y="502793"/>
                </a:lnTo>
                <a:lnTo>
                  <a:pt x="333438" y="466953"/>
                </a:lnTo>
                <a:lnTo>
                  <a:pt x="367919" y="409575"/>
                </a:lnTo>
                <a:lnTo>
                  <a:pt x="389915" y="335915"/>
                </a:lnTo>
                <a:lnTo>
                  <a:pt x="395414" y="294957"/>
                </a:lnTo>
                <a:lnTo>
                  <a:pt x="397243" y="251460"/>
                </a:lnTo>
                <a:lnTo>
                  <a:pt x="397256" y="251206"/>
                </a:lnTo>
                <a:close/>
              </a:path>
            </a:pathLst>
          </a:custGeom>
          <a:solidFill>
            <a:srgbClr val="000000"/>
          </a:solidFill>
        </p:spPr>
        <p:txBody>
          <a:bodyPr wrap="square" lIns="0" tIns="0" rIns="0" bIns="0" rtlCol="0"/>
          <a:lstStyle/>
          <a:p>
            <a:endParaRPr/>
          </a:p>
        </p:txBody>
      </p:sp>
      <p:sp>
        <p:nvSpPr>
          <p:cNvPr id="6" name="object 6"/>
          <p:cNvSpPr txBox="1"/>
          <p:nvPr/>
        </p:nvSpPr>
        <p:spPr>
          <a:xfrm>
            <a:off x="5748274" y="2838133"/>
            <a:ext cx="172720" cy="680956"/>
          </a:xfrm>
          <a:prstGeom prst="rect">
            <a:avLst/>
          </a:prstGeom>
        </p:spPr>
        <p:txBody>
          <a:bodyPr vert="horz" wrap="square" lIns="0" tIns="77470" rIns="0" bIns="0" rtlCol="0">
            <a:spAutoFit/>
          </a:bodyPr>
          <a:lstStyle/>
          <a:p>
            <a:pPr marL="12701">
              <a:spcBef>
                <a:spcPts val="610"/>
              </a:spcBef>
            </a:pPr>
            <a:r>
              <a:rPr sz="1750" spc="-50" dirty="0">
                <a:latin typeface="Cambria Math" panose="02040503050406030204"/>
                <a:cs typeface="Cambria Math" panose="02040503050406030204"/>
              </a:rPr>
              <a:t>𝐴</a:t>
            </a:r>
            <a:endParaRPr sz="1750">
              <a:latin typeface="Cambria Math" panose="02040503050406030204"/>
              <a:cs typeface="Cambria Math" panose="02040503050406030204"/>
            </a:endParaRPr>
          </a:p>
          <a:p>
            <a:pPr marL="12701">
              <a:spcBef>
                <a:spcPts val="514"/>
              </a:spcBef>
            </a:pPr>
            <a:r>
              <a:rPr sz="1750" spc="-50" dirty="0">
                <a:latin typeface="Cambria Math" panose="02040503050406030204"/>
                <a:cs typeface="Cambria Math" panose="02040503050406030204"/>
              </a:rPr>
              <a:t>𝑉</a:t>
            </a:r>
            <a:endParaRPr sz="1750">
              <a:latin typeface="Cambria Math" panose="02040503050406030204"/>
              <a:cs typeface="Cambria Math" panose="02040503050406030204"/>
            </a:endParaRPr>
          </a:p>
        </p:txBody>
      </p:sp>
      <p:sp>
        <p:nvSpPr>
          <p:cNvPr id="9" name="object 9"/>
          <p:cNvSpPr txBox="1">
            <a:spLocks noGrp="1"/>
          </p:cNvSpPr>
          <p:nvPr>
            <p:ph type="sldNum" sz="quarter" idx="7"/>
          </p:nvPr>
        </p:nvSpPr>
        <p:spPr>
          <a:xfrm>
            <a:off x="8993409" y="6464911"/>
            <a:ext cx="198636" cy="156068"/>
          </a:xfrm>
          <a:prstGeom prst="rect">
            <a:avLst/>
          </a:prstGeom>
        </p:spPr>
        <p:txBody>
          <a:bodyPr vert="horz" wrap="square" lIns="0" tIns="0" rIns="0" bIns="0" rtlCol="0">
            <a:spAutoFit/>
          </a:bodyPr>
          <a:lstStyle/>
          <a:p>
            <a:pPr marL="38101">
              <a:lnSpc>
                <a:spcPts val="1239"/>
              </a:lnSpc>
            </a:pPr>
            <a:fld id="{81D60167-4931-47E6-BA6A-407CBD079E47}" type="slidenum">
              <a:rPr spc="-25" dirty="0"/>
              <a:pPr marL="38101">
                <a:lnSpc>
                  <a:spcPts val="1239"/>
                </a:lnSpc>
              </a:pPr>
              <a:t>43</a:t>
            </a:fld>
            <a:endParaRPr spc="-25" dirty="0"/>
          </a:p>
        </p:txBody>
      </p:sp>
      <p:sp>
        <p:nvSpPr>
          <p:cNvPr id="7" name="object 7"/>
          <p:cNvSpPr txBox="1"/>
          <p:nvPr/>
        </p:nvSpPr>
        <p:spPr>
          <a:xfrm>
            <a:off x="7732904" y="2998672"/>
            <a:ext cx="398780" cy="382156"/>
          </a:xfrm>
          <a:prstGeom prst="rect">
            <a:avLst/>
          </a:prstGeom>
        </p:spPr>
        <p:txBody>
          <a:bodyPr vert="horz" wrap="square" lIns="0" tIns="12700" rIns="0" bIns="0" rtlCol="0">
            <a:spAutoFit/>
          </a:bodyPr>
          <a:lstStyle/>
          <a:p>
            <a:pPr marL="12701">
              <a:spcBef>
                <a:spcPts val="100"/>
              </a:spcBef>
            </a:pPr>
            <a:r>
              <a:rPr sz="2400" spc="-25" dirty="0">
                <a:latin typeface="Arial MT"/>
                <a:cs typeface="Arial MT"/>
              </a:rPr>
              <a:t>(3)</a:t>
            </a:r>
            <a:endParaRPr sz="2400">
              <a:latin typeface="Arial MT"/>
              <a:cs typeface="Arial MT"/>
            </a:endParaRPr>
          </a:p>
        </p:txBody>
      </p:sp>
      <p:sp>
        <p:nvSpPr>
          <p:cNvPr id="8" name="object 8"/>
          <p:cNvSpPr txBox="1"/>
          <p:nvPr/>
        </p:nvSpPr>
        <p:spPr>
          <a:xfrm>
            <a:off x="555447" y="3587622"/>
            <a:ext cx="10971530" cy="1052339"/>
          </a:xfrm>
          <a:prstGeom prst="rect">
            <a:avLst/>
          </a:prstGeom>
        </p:spPr>
        <p:txBody>
          <a:bodyPr vert="horz" wrap="square" lIns="0" tIns="12700" rIns="0" bIns="0" rtlCol="0">
            <a:spAutoFit/>
          </a:bodyPr>
          <a:lstStyle/>
          <a:p>
            <a:pPr marL="240036" marR="5081" indent="-227336">
              <a:lnSpc>
                <a:spcPct val="150000"/>
              </a:lnSpc>
              <a:spcBef>
                <a:spcPts val="100"/>
              </a:spcBef>
              <a:buChar char="•"/>
              <a:tabLst>
                <a:tab pos="241306" algn="l"/>
              </a:tabLst>
            </a:pPr>
            <a:r>
              <a:rPr sz="2400" spc="-10" dirty="0">
                <a:latin typeface="Arial MT"/>
                <a:cs typeface="Arial MT"/>
              </a:rPr>
              <a:t>where.</a:t>
            </a:r>
            <a:r>
              <a:rPr sz="2400" spc="-160" dirty="0">
                <a:latin typeface="Arial MT"/>
                <a:cs typeface="Arial MT"/>
              </a:rPr>
              <a:t> </a:t>
            </a:r>
            <a:r>
              <a:rPr sz="2400" dirty="0">
                <a:latin typeface="Arial MT"/>
                <a:cs typeface="Arial MT"/>
              </a:rPr>
              <a:t>A</a:t>
            </a:r>
            <a:r>
              <a:rPr sz="2400" spc="-165" dirty="0">
                <a:latin typeface="Arial MT"/>
                <a:cs typeface="Arial MT"/>
              </a:rPr>
              <a:t> </a:t>
            </a:r>
            <a:r>
              <a:rPr sz="2400" dirty="0">
                <a:latin typeface="Arial MT"/>
                <a:cs typeface="Arial MT"/>
              </a:rPr>
              <a:t>is</a:t>
            </a:r>
            <a:r>
              <a:rPr sz="2400" spc="-50" dirty="0">
                <a:latin typeface="Arial MT"/>
                <a:cs typeface="Arial MT"/>
              </a:rPr>
              <a:t> </a:t>
            </a:r>
            <a:r>
              <a:rPr sz="2400" dirty="0">
                <a:latin typeface="Arial MT"/>
                <a:cs typeface="Arial MT"/>
              </a:rPr>
              <a:t>the</a:t>
            </a:r>
            <a:r>
              <a:rPr sz="2400" spc="-55" dirty="0">
                <a:latin typeface="Arial MT"/>
                <a:cs typeface="Arial MT"/>
              </a:rPr>
              <a:t> </a:t>
            </a:r>
            <a:r>
              <a:rPr sz="2400" dirty="0">
                <a:latin typeface="Arial MT"/>
                <a:cs typeface="Arial MT"/>
              </a:rPr>
              <a:t>area</a:t>
            </a:r>
            <a:r>
              <a:rPr sz="2400" spc="-46" dirty="0">
                <a:latin typeface="Arial MT"/>
                <a:cs typeface="Arial MT"/>
              </a:rPr>
              <a:t> </a:t>
            </a:r>
            <a:r>
              <a:rPr sz="2400" dirty="0">
                <a:latin typeface="Arial MT"/>
                <a:cs typeface="Arial MT"/>
              </a:rPr>
              <a:t>of</a:t>
            </a:r>
            <a:r>
              <a:rPr sz="2400" spc="-41" dirty="0">
                <a:latin typeface="Arial MT"/>
                <a:cs typeface="Arial MT"/>
              </a:rPr>
              <a:t> </a:t>
            </a:r>
            <a:r>
              <a:rPr sz="2400" dirty="0">
                <a:latin typeface="Arial MT"/>
                <a:cs typeface="Arial MT"/>
              </a:rPr>
              <a:t>the</a:t>
            </a:r>
            <a:r>
              <a:rPr sz="2400" spc="-46" dirty="0">
                <a:latin typeface="Arial MT"/>
                <a:cs typeface="Arial MT"/>
              </a:rPr>
              <a:t> </a:t>
            </a:r>
            <a:r>
              <a:rPr sz="2400" dirty="0">
                <a:latin typeface="Arial MT"/>
                <a:cs typeface="Arial MT"/>
              </a:rPr>
              <a:t>spot</a:t>
            </a:r>
            <a:r>
              <a:rPr sz="2400" spc="-41" dirty="0">
                <a:latin typeface="Arial MT"/>
                <a:cs typeface="Arial MT"/>
              </a:rPr>
              <a:t> </a:t>
            </a:r>
            <a:r>
              <a:rPr sz="2400" dirty="0">
                <a:latin typeface="Arial MT"/>
                <a:cs typeface="Arial MT"/>
              </a:rPr>
              <a:t>and</a:t>
            </a:r>
            <a:r>
              <a:rPr sz="2400" spc="-41" dirty="0">
                <a:latin typeface="Arial MT"/>
                <a:cs typeface="Arial MT"/>
              </a:rPr>
              <a:t> </a:t>
            </a:r>
            <a:r>
              <a:rPr sz="2400" dirty="0">
                <a:latin typeface="Arial MT"/>
                <a:cs typeface="Arial MT"/>
              </a:rPr>
              <a:t>V</a:t>
            </a:r>
            <a:r>
              <a:rPr lang="en-US" altLang="en-US" sz="2400" dirty="0">
                <a:latin typeface="Arial MT"/>
                <a:cs typeface="Arial MT"/>
              </a:rPr>
              <a:t> </a:t>
            </a:r>
            <a:r>
              <a:rPr sz="2400" dirty="0">
                <a:latin typeface="Arial MT"/>
                <a:cs typeface="Arial MT"/>
              </a:rPr>
              <a:t>is</a:t>
            </a:r>
            <a:r>
              <a:rPr sz="2400" spc="-34" dirty="0">
                <a:latin typeface="Arial MT"/>
                <a:cs typeface="Arial MT"/>
              </a:rPr>
              <a:t> </a:t>
            </a:r>
            <a:r>
              <a:rPr sz="2400" dirty="0">
                <a:latin typeface="Arial MT"/>
                <a:cs typeface="Arial MT"/>
              </a:rPr>
              <a:t>the</a:t>
            </a:r>
            <a:r>
              <a:rPr sz="2400" spc="-41" dirty="0">
                <a:latin typeface="Arial MT"/>
                <a:cs typeface="Arial MT"/>
              </a:rPr>
              <a:t> </a:t>
            </a:r>
            <a:r>
              <a:rPr sz="2400" dirty="0">
                <a:latin typeface="Arial MT"/>
                <a:cs typeface="Arial MT"/>
              </a:rPr>
              <a:t>volume</a:t>
            </a:r>
            <a:r>
              <a:rPr sz="2400" spc="-20" dirty="0">
                <a:latin typeface="Arial MT"/>
                <a:cs typeface="Arial MT"/>
              </a:rPr>
              <a:t> </a:t>
            </a:r>
            <a:r>
              <a:rPr sz="2400" dirty="0">
                <a:latin typeface="Arial MT"/>
                <a:cs typeface="Arial MT"/>
              </a:rPr>
              <a:t>of</a:t>
            </a:r>
            <a:r>
              <a:rPr sz="2400" spc="-60" dirty="0">
                <a:latin typeface="Arial MT"/>
                <a:cs typeface="Arial MT"/>
              </a:rPr>
              <a:t> </a:t>
            </a:r>
            <a:r>
              <a:rPr sz="2400" dirty="0">
                <a:latin typeface="Arial MT"/>
                <a:cs typeface="Arial MT"/>
              </a:rPr>
              <a:t>the</a:t>
            </a:r>
            <a:r>
              <a:rPr sz="2400" spc="-46" dirty="0">
                <a:latin typeface="Arial MT"/>
                <a:cs typeface="Arial MT"/>
              </a:rPr>
              <a:t> </a:t>
            </a:r>
            <a:r>
              <a:rPr sz="2400" dirty="0">
                <a:latin typeface="Arial MT"/>
                <a:cs typeface="Arial MT"/>
              </a:rPr>
              <a:t>sample</a:t>
            </a:r>
            <a:r>
              <a:rPr sz="2400" spc="-30" dirty="0">
                <a:latin typeface="Arial MT"/>
                <a:cs typeface="Arial MT"/>
              </a:rPr>
              <a:t> </a:t>
            </a:r>
            <a:r>
              <a:rPr sz="2400" dirty="0">
                <a:latin typeface="Arial MT"/>
                <a:cs typeface="Arial MT"/>
              </a:rPr>
              <a:t>in</a:t>
            </a:r>
            <a:r>
              <a:rPr sz="2400" spc="-50" dirty="0">
                <a:latin typeface="Arial MT"/>
                <a:cs typeface="Arial MT"/>
              </a:rPr>
              <a:t> </a:t>
            </a:r>
            <a:r>
              <a:rPr sz="2400" spc="-10" dirty="0">
                <a:latin typeface="Arial MT"/>
                <a:cs typeface="Arial MT"/>
              </a:rPr>
              <a:t>appropriate 	</a:t>
            </a:r>
            <a:r>
              <a:rPr sz="2400" dirty="0">
                <a:latin typeface="Arial MT"/>
                <a:cs typeface="Arial MT"/>
              </a:rPr>
              <a:t>units.</a:t>
            </a:r>
            <a:r>
              <a:rPr sz="2400" spc="-85" dirty="0">
                <a:latin typeface="Arial MT"/>
                <a:cs typeface="Arial MT"/>
              </a:rPr>
              <a:t> </a:t>
            </a:r>
            <a:endParaRPr sz="2400" dirty="0">
              <a:latin typeface="Arial MT"/>
              <a:cs typeface="Arial MT"/>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xfrm>
            <a:off x="8993409" y="6464911"/>
            <a:ext cx="198636" cy="156068"/>
          </a:xfrm>
          <a:prstGeom prst="rect">
            <a:avLst/>
          </a:prstGeom>
        </p:spPr>
        <p:txBody>
          <a:bodyPr vert="horz" wrap="square" lIns="0" tIns="0" rIns="0" bIns="0" rtlCol="0">
            <a:spAutoFit/>
          </a:bodyPr>
          <a:lstStyle/>
          <a:p>
            <a:pPr marL="38101">
              <a:lnSpc>
                <a:spcPts val="1239"/>
              </a:lnSpc>
            </a:pPr>
            <a:fld id="{81D60167-4931-47E6-BA6A-407CBD079E47}" type="slidenum">
              <a:rPr spc="-25" dirty="0"/>
              <a:pPr marL="38101">
                <a:lnSpc>
                  <a:spcPts val="1239"/>
                </a:lnSpc>
              </a:pPr>
              <a:t>44</a:t>
            </a:fld>
            <a:endParaRPr spc="-25" dirty="0"/>
          </a:p>
        </p:txBody>
      </p:sp>
      <p:sp>
        <p:nvSpPr>
          <p:cNvPr id="2" name="object 2"/>
          <p:cNvSpPr txBox="1">
            <a:spLocks noGrp="1"/>
          </p:cNvSpPr>
          <p:nvPr>
            <p:ph type="title"/>
          </p:nvPr>
        </p:nvSpPr>
        <p:spPr>
          <a:xfrm>
            <a:off x="470371" y="-152400"/>
            <a:ext cx="7600956" cy="892423"/>
          </a:xfrm>
          <a:prstGeom prst="rect">
            <a:avLst/>
          </a:prstGeom>
        </p:spPr>
        <p:txBody>
          <a:bodyPr vert="horz" wrap="square" lIns="0" tIns="396112" rIns="0" bIns="0" rtlCol="0">
            <a:spAutoFit/>
          </a:bodyPr>
          <a:lstStyle/>
          <a:p>
            <a:pPr marL="131448">
              <a:spcBef>
                <a:spcPts val="105"/>
              </a:spcBef>
            </a:pPr>
            <a:r>
              <a:rPr spc="-10" dirty="0"/>
              <a:t>Impingement</a:t>
            </a:r>
          </a:p>
        </p:txBody>
      </p:sp>
      <p:sp>
        <p:nvSpPr>
          <p:cNvPr id="7" name="TextBox 6">
            <a:extLst>
              <a:ext uri="{FF2B5EF4-FFF2-40B4-BE49-F238E27FC236}">
                <a16:creationId xmlns:a16="http://schemas.microsoft.com/office/drawing/2014/main" id="{37852A09-A8F2-D23C-40D8-2ADF77A5EE6E}"/>
              </a:ext>
            </a:extLst>
          </p:cNvPr>
          <p:cNvSpPr txBox="1"/>
          <p:nvPr/>
        </p:nvSpPr>
        <p:spPr>
          <a:xfrm>
            <a:off x="470371" y="762000"/>
            <a:ext cx="10959629" cy="6036974"/>
          </a:xfrm>
          <a:prstGeom prst="rect">
            <a:avLst/>
          </a:prstGeom>
          <a:noFill/>
        </p:spPr>
        <p:txBody>
          <a:bodyPr wrap="square">
            <a:spAutoFit/>
          </a:bodyPr>
          <a:lstStyle/>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Mechanism of Separation</a:t>
            </a:r>
            <a:r>
              <a:rPr kumimoji="0" lang="en-US" altLang="en-US" sz="2000" b="0" i="0" u="none" strike="noStrike" cap="none" normalizeH="0" baseline="0" dirty="0">
                <a:ln>
                  <a:noFill/>
                </a:ln>
                <a:solidFill>
                  <a:schemeClr val="tx1"/>
                </a:solidFill>
                <a:effectLst/>
                <a:latin typeface="Arial" panose="020B0604020202020204" pitchFamily="34" charset="0"/>
              </a:rPr>
              <a:t>: In an impinger, particulates are separated from the airstream through </a:t>
            </a:r>
            <a:r>
              <a:rPr kumimoji="0" lang="en-US" altLang="en-US" sz="2000" b="1" i="0" u="none" strike="noStrike" cap="none" normalizeH="0" baseline="0" dirty="0">
                <a:ln>
                  <a:noFill/>
                </a:ln>
                <a:solidFill>
                  <a:schemeClr val="tx1"/>
                </a:solidFill>
                <a:effectLst/>
                <a:latin typeface="Arial" panose="020B0604020202020204" pitchFamily="34" charset="0"/>
              </a:rPr>
              <a:t>high-velocity collision</a:t>
            </a:r>
            <a:r>
              <a:rPr kumimoji="0" lang="en-US" altLang="en-US" sz="2000" b="0" i="0" u="none" strike="noStrike" cap="none" normalizeH="0" baseline="0" dirty="0">
                <a:ln>
                  <a:noFill/>
                </a:ln>
                <a:solidFill>
                  <a:schemeClr val="tx1"/>
                </a:solidFill>
                <a:effectLst/>
                <a:latin typeface="Arial" panose="020B0604020202020204" pitchFamily="34" charset="0"/>
              </a:rPr>
              <a:t> against a flat surface.</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Wet Impingement</a:t>
            </a:r>
            <a:r>
              <a:rPr kumimoji="0" lang="en-US" altLang="en-US" sz="2000" b="0" i="0" u="none" strike="noStrike" cap="none" normalizeH="0" baseline="0" dirty="0">
                <a:ln>
                  <a:noFill/>
                </a:ln>
                <a:solidFill>
                  <a:schemeClr val="tx1"/>
                </a:solidFill>
                <a:effectLst/>
                <a:latin typeface="Arial" panose="020B0604020202020204" pitchFamily="34" charset="0"/>
              </a:rPr>
              <a:t>: This method is specifically used to collect particulates into a </a:t>
            </a:r>
            <a:r>
              <a:rPr kumimoji="0" lang="en-US" altLang="en-US" sz="2000" b="1" i="0" u="none" strike="noStrike" cap="none" normalizeH="0" baseline="0" dirty="0">
                <a:ln>
                  <a:noFill/>
                </a:ln>
                <a:solidFill>
                  <a:schemeClr val="tx1"/>
                </a:solidFill>
                <a:effectLst/>
                <a:latin typeface="Arial" panose="020B0604020202020204" pitchFamily="34" charset="0"/>
              </a:rPr>
              <a:t>liquid phase</a:t>
            </a:r>
            <a:r>
              <a:rPr kumimoji="0" lang="en-US" altLang="en-US" sz="2000" b="0" i="0" u="none" strike="noStrike" cap="none" normalizeH="0" baseline="0" dirty="0">
                <a:ln>
                  <a:noFill/>
                </a:ln>
                <a:solidFill>
                  <a:schemeClr val="tx1"/>
                </a:solidFill>
                <a:effectLst/>
                <a:latin typeface="Arial" panose="020B0604020202020204" pitchFamily="34" charset="0"/>
              </a:rPr>
              <a:t>.</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Collection Process</a:t>
            </a:r>
            <a:r>
              <a:rPr kumimoji="0" lang="en-US" altLang="en-US" sz="2000" b="0" i="0" u="none" strike="noStrike" cap="none" normalizeH="0" baseline="0" dirty="0">
                <a:ln>
                  <a:noFill/>
                </a:ln>
                <a:solidFill>
                  <a:schemeClr val="tx1"/>
                </a:solidFill>
                <a:effectLst/>
                <a:latin typeface="Arial" panose="020B0604020202020204" pitchFamily="34" charset="0"/>
              </a:rPr>
              <a:t>:</a:t>
            </a:r>
          </a:p>
          <a:p>
            <a:pPr lvl="8" algn="l" rtl="0" eaLnBrk="0" fontAlgn="base" hangingPunct="0">
              <a:lnSpc>
                <a:spcPct val="150000"/>
              </a:lnSpc>
              <a:spcBef>
                <a:spcPct val="0"/>
              </a:spcBef>
              <a:spcAft>
                <a:spcPct val="0"/>
              </a:spcAft>
            </a:pPr>
            <a:r>
              <a:rPr kumimoji="0" lang="en-US" altLang="en-US" sz="2000" b="0" i="0" u="none" strike="noStrike" cap="none" normalizeH="0" baseline="0" dirty="0">
                <a:ln>
                  <a:noFill/>
                </a:ln>
                <a:solidFill>
                  <a:schemeClr val="tx1"/>
                </a:solidFill>
                <a:effectLst/>
                <a:latin typeface="Arial" panose="020B0604020202020204" pitchFamily="34" charset="0"/>
              </a:rPr>
              <a:t>     The air-stream is directed at high speed onto a flat surface submerged in a liquid.</a:t>
            </a:r>
          </a:p>
          <a:p>
            <a:pPr lvl="8" algn="l" rtl="0" eaLnBrk="0" fontAlgn="base" hangingPunct="0">
              <a:lnSpc>
                <a:spcPct val="150000"/>
              </a:lnSpc>
              <a:spcBef>
                <a:spcPct val="0"/>
              </a:spcBef>
              <a:spcAft>
                <a:spcPct val="0"/>
              </a:spcAft>
            </a:pPr>
            <a:r>
              <a:rPr kumimoji="0" lang="en-US" altLang="en-US" sz="2000" b="0" i="0" u="none" strike="noStrike" cap="none" normalizeH="0" baseline="0" dirty="0">
                <a:ln>
                  <a:noFill/>
                </a:ln>
                <a:solidFill>
                  <a:schemeClr val="tx1"/>
                </a:solidFill>
                <a:effectLst/>
                <a:latin typeface="Arial" panose="020B0604020202020204" pitchFamily="34" charset="0"/>
              </a:rPr>
              <a:t>     The gas stream breaks into </a:t>
            </a:r>
            <a:r>
              <a:rPr kumimoji="0" lang="en-US" altLang="en-US" sz="2000" b="1" i="0" u="none" strike="noStrike" cap="none" normalizeH="0" baseline="0" dirty="0">
                <a:ln>
                  <a:noFill/>
                </a:ln>
                <a:solidFill>
                  <a:schemeClr val="tx1"/>
                </a:solidFill>
                <a:effectLst/>
                <a:latin typeface="Arial" panose="020B0604020202020204" pitchFamily="34" charset="0"/>
              </a:rPr>
              <a:t>small bubbles</a:t>
            </a:r>
            <a:r>
              <a:rPr kumimoji="0" lang="en-US" altLang="en-US" sz="2000" b="0" i="0" u="none" strike="noStrike" cap="none" normalizeH="0" baseline="0" dirty="0">
                <a:ln>
                  <a:noFill/>
                </a:ln>
                <a:solidFill>
                  <a:schemeClr val="tx1"/>
                </a:solidFill>
                <a:effectLst/>
                <a:latin typeface="Arial" panose="020B0604020202020204" pitchFamily="34" charset="0"/>
              </a:rPr>
              <a:t> upon impact.</a:t>
            </a:r>
          </a:p>
          <a:p>
            <a:pPr lvl="8" algn="l" rtl="0" eaLnBrk="0" fontAlgn="base" hangingPunct="0">
              <a:lnSpc>
                <a:spcPct val="150000"/>
              </a:lnSpc>
              <a:spcBef>
                <a:spcPct val="0"/>
              </a:spcBef>
              <a:spcAft>
                <a:spcPct val="0"/>
              </a:spcAft>
            </a:pPr>
            <a:r>
              <a:rPr kumimoji="0" lang="en-US" altLang="en-US" sz="2000" b="0" i="0" u="none" strike="noStrike" cap="none" normalizeH="0" baseline="0" dirty="0">
                <a:ln>
                  <a:noFill/>
                </a:ln>
                <a:solidFill>
                  <a:schemeClr val="tx1"/>
                </a:solidFill>
                <a:effectLst/>
                <a:latin typeface="Arial" panose="020B0604020202020204" pitchFamily="34" charset="0"/>
              </a:rPr>
              <a:t>     Particles are trapped as the gas flow abruptly changes direction, forcing contact between the </a:t>
            </a:r>
          </a:p>
          <a:p>
            <a:pPr lvl="8" algn="l" rtl="0" eaLnBrk="0" fontAlgn="base" hangingPunct="0">
              <a:lnSpc>
                <a:spcPct val="150000"/>
              </a:lnSpc>
              <a:spcBef>
                <a:spcPct val="0"/>
              </a:spcBef>
              <a:spcAft>
                <a:spcPct val="0"/>
              </a:spcAft>
            </a:pPr>
            <a:r>
              <a:rPr lang="en-US" altLang="en-US" sz="2000" dirty="0">
                <a:solidFill>
                  <a:schemeClr val="tx1"/>
                </a:solidFill>
                <a:latin typeface="Arial" panose="020B0604020202020204" pitchFamily="34" charset="0"/>
              </a:rPr>
              <a:t>     </a:t>
            </a:r>
            <a:r>
              <a:rPr kumimoji="0" lang="en-US" altLang="en-US" sz="2000" b="0" i="0" u="none" strike="noStrike" cap="none" normalizeH="0" baseline="0" dirty="0">
                <a:ln>
                  <a:noFill/>
                </a:ln>
                <a:solidFill>
                  <a:schemeClr val="tx1"/>
                </a:solidFill>
                <a:effectLst/>
                <a:latin typeface="Arial" panose="020B0604020202020204" pitchFamily="34" charset="0"/>
              </a:rPr>
              <a:t>particles and the liquid.</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Standard Equipment</a:t>
            </a:r>
            <a:r>
              <a:rPr kumimoji="0" lang="en-US" altLang="en-US" sz="2000" b="0" i="0" u="none" strike="noStrike" cap="none" normalizeH="0" baseline="0" dirty="0">
                <a:ln>
                  <a:noFill/>
                </a:ln>
                <a:solidFill>
                  <a:schemeClr val="tx1"/>
                </a:solidFill>
                <a:effectLst/>
                <a:latin typeface="Arial" panose="020B0604020202020204" pitchFamily="34" charset="0"/>
              </a:rPr>
              <a:t>: The </a:t>
            </a:r>
            <a:r>
              <a:rPr kumimoji="0" lang="en-US" altLang="en-US" sz="2000" b="1" i="0" u="none" strike="noStrike" cap="none" normalizeH="0" baseline="0" dirty="0">
                <a:ln>
                  <a:noFill/>
                </a:ln>
                <a:solidFill>
                  <a:schemeClr val="tx1"/>
                </a:solidFill>
                <a:effectLst/>
                <a:latin typeface="Arial" panose="020B0604020202020204" pitchFamily="34" charset="0"/>
              </a:rPr>
              <a:t>Greenburg-Smith type impinger</a:t>
            </a:r>
            <a:r>
              <a:rPr kumimoji="0" lang="en-US" altLang="en-US" sz="2000" b="0" i="0" u="none" strike="noStrike" cap="none" normalizeH="0" baseline="0" dirty="0">
                <a:ln>
                  <a:noFill/>
                </a:ln>
                <a:solidFill>
                  <a:schemeClr val="tx1"/>
                </a:solidFill>
                <a:effectLst/>
                <a:latin typeface="Arial" panose="020B0604020202020204" pitchFamily="34" charset="0"/>
              </a:rPr>
              <a:t> is a standard tool for this method.</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Performance</a:t>
            </a:r>
            <a:r>
              <a:rPr kumimoji="0" lang="en-US" altLang="en-US" sz="2000" b="0" i="0" u="none" strike="noStrike" cap="none" normalizeH="0" baseline="0" dirty="0">
                <a:ln>
                  <a:noFill/>
                </a:ln>
                <a:solidFill>
                  <a:schemeClr val="tx1"/>
                </a:solidFill>
                <a:effectLst/>
                <a:latin typeface="Arial" panose="020B0604020202020204" pitchFamily="34" charset="0"/>
              </a:rPr>
              <a:t>: It achieves an impressive </a:t>
            </a:r>
            <a:r>
              <a:rPr kumimoji="0" lang="en-US" altLang="en-US" sz="2000" b="1" i="0" u="none" strike="noStrike" cap="none" normalizeH="0" baseline="0" dirty="0">
                <a:ln>
                  <a:noFill/>
                </a:ln>
                <a:solidFill>
                  <a:schemeClr val="tx1"/>
                </a:solidFill>
                <a:effectLst/>
                <a:latin typeface="Arial" panose="020B0604020202020204" pitchFamily="34" charset="0"/>
              </a:rPr>
              <a:t>90% to 99% efficiency</a:t>
            </a:r>
            <a:r>
              <a:rPr kumimoji="0" lang="en-US" altLang="en-US" sz="2000" b="0" i="0" u="none" strike="noStrike" cap="none" normalizeH="0" baseline="0" dirty="0">
                <a:ln>
                  <a:noFill/>
                </a:ln>
                <a:solidFill>
                  <a:schemeClr val="tx1"/>
                </a:solidFill>
                <a:effectLst/>
                <a:latin typeface="Arial" panose="020B0604020202020204" pitchFamily="34" charset="0"/>
              </a:rPr>
              <a:t> for particles with a size equal to or greater than </a:t>
            </a:r>
            <a:r>
              <a:rPr kumimoji="0" lang="en-US" altLang="en-US" sz="2000" b="1" i="0" u="none" strike="noStrike" cap="none" normalizeH="0" baseline="0" dirty="0">
                <a:ln>
                  <a:noFill/>
                </a:ln>
                <a:solidFill>
                  <a:schemeClr val="tx1"/>
                </a:solidFill>
                <a:effectLst/>
                <a:latin typeface="Arial" panose="020B0604020202020204" pitchFamily="34" charset="0"/>
              </a:rPr>
              <a:t>1 </a:t>
            </a:r>
            <a:r>
              <a:rPr kumimoji="0" lang="en-US" altLang="en-US" sz="2000" b="1" i="0" u="none" strike="noStrike" cap="none" normalizeH="0" baseline="0" dirty="0" err="1">
                <a:ln>
                  <a:noFill/>
                </a:ln>
                <a:solidFill>
                  <a:schemeClr val="tx1"/>
                </a:solidFill>
                <a:effectLst/>
                <a:latin typeface="Arial" panose="020B0604020202020204" pitchFamily="34" charset="0"/>
              </a:rPr>
              <a:t>μm</a:t>
            </a:r>
            <a:r>
              <a:rPr kumimoji="0" lang="en-US" altLang="en-US" sz="2000" b="0" i="0" u="none" strike="noStrike" cap="none" normalizeH="0" baseline="0" dirty="0">
                <a:ln>
                  <a:noFill/>
                </a:ln>
                <a:solidFill>
                  <a:schemeClr val="tx1"/>
                </a:solidFill>
                <a:effectLst/>
                <a:latin typeface="Arial" panose="020B0604020202020204" pitchFamily="34" charset="0"/>
              </a:rPr>
              <a:t>.</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xfrm>
            <a:off x="8993409" y="6464911"/>
            <a:ext cx="198636" cy="156068"/>
          </a:xfrm>
          <a:prstGeom prst="rect">
            <a:avLst/>
          </a:prstGeom>
        </p:spPr>
        <p:txBody>
          <a:bodyPr vert="horz" wrap="square" lIns="0" tIns="0" rIns="0" bIns="0" rtlCol="0">
            <a:spAutoFit/>
          </a:bodyPr>
          <a:lstStyle/>
          <a:p>
            <a:pPr marL="38101">
              <a:lnSpc>
                <a:spcPts val="1239"/>
              </a:lnSpc>
            </a:pPr>
            <a:fld id="{81D60167-4931-47E6-BA6A-407CBD079E47}" type="slidenum">
              <a:rPr spc="-25" dirty="0"/>
              <a:pPr marL="38101">
                <a:lnSpc>
                  <a:spcPts val="1239"/>
                </a:lnSpc>
              </a:pPr>
              <a:t>45</a:t>
            </a:fld>
            <a:endParaRPr spc="-25" dirty="0"/>
          </a:p>
        </p:txBody>
      </p:sp>
      <p:sp>
        <p:nvSpPr>
          <p:cNvPr id="2" name="object 2"/>
          <p:cNvSpPr txBox="1">
            <a:spLocks noGrp="1"/>
          </p:cNvSpPr>
          <p:nvPr>
            <p:ph type="title"/>
          </p:nvPr>
        </p:nvSpPr>
        <p:spPr>
          <a:xfrm>
            <a:off x="470371" y="133351"/>
            <a:ext cx="7600956" cy="892423"/>
          </a:xfrm>
          <a:prstGeom prst="rect">
            <a:avLst/>
          </a:prstGeom>
        </p:spPr>
        <p:txBody>
          <a:bodyPr vert="horz" wrap="square" lIns="0" tIns="396112" rIns="0" bIns="0" rtlCol="0">
            <a:spAutoFit/>
          </a:bodyPr>
          <a:lstStyle/>
          <a:p>
            <a:pPr marL="131448">
              <a:spcBef>
                <a:spcPts val="105"/>
              </a:spcBef>
            </a:pPr>
            <a:r>
              <a:rPr spc="-10" dirty="0"/>
              <a:t>Impingement</a:t>
            </a:r>
          </a:p>
        </p:txBody>
      </p:sp>
      <p:sp>
        <p:nvSpPr>
          <p:cNvPr id="3" name="object 3"/>
          <p:cNvSpPr txBox="1"/>
          <p:nvPr/>
        </p:nvSpPr>
        <p:spPr>
          <a:xfrm>
            <a:off x="533222" y="1219200"/>
            <a:ext cx="10914380" cy="5873467"/>
          </a:xfrm>
          <a:prstGeom prst="rect">
            <a:avLst/>
          </a:prstGeom>
        </p:spPr>
        <p:txBody>
          <a:bodyPr vert="horz" wrap="square" lIns="0" tIns="196215" rIns="0" bIns="0" rtlCol="0">
            <a:spAutoFit/>
          </a:bodyPr>
          <a:lstStyle/>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Operating Principle</a:t>
            </a:r>
            <a:r>
              <a:rPr kumimoji="0" lang="en-US" altLang="en-US" sz="2000" b="0" i="0" u="none" strike="noStrike" cap="none" normalizeH="0" baseline="0" dirty="0">
                <a:ln>
                  <a:noFill/>
                </a:ln>
                <a:solidFill>
                  <a:schemeClr val="tx1"/>
                </a:solidFill>
                <a:effectLst/>
                <a:latin typeface="Arial" panose="020B0604020202020204" pitchFamily="34" charset="0"/>
              </a:rPr>
              <a:t>: Dry impingers utilize the principle of </a:t>
            </a:r>
            <a:r>
              <a:rPr kumimoji="0" lang="en-US" altLang="en-US" sz="2000" b="1" i="0" u="none" strike="noStrike" cap="none" normalizeH="0" baseline="0" dirty="0">
                <a:ln>
                  <a:noFill/>
                </a:ln>
                <a:solidFill>
                  <a:schemeClr val="tx1"/>
                </a:solidFill>
                <a:effectLst/>
                <a:latin typeface="Arial" panose="020B0604020202020204" pitchFamily="34" charset="0"/>
              </a:rPr>
              <a:t>impaction on a dry surface</a:t>
            </a:r>
            <a:r>
              <a:rPr kumimoji="0" lang="en-US" altLang="en-US" sz="2000" b="0" i="0" u="none" strike="noStrike" cap="none" normalizeH="0" baseline="0" dirty="0">
                <a:ln>
                  <a:noFill/>
                </a:ln>
                <a:solidFill>
                  <a:schemeClr val="tx1"/>
                </a:solidFill>
                <a:effectLst/>
                <a:latin typeface="Arial" panose="020B0604020202020204" pitchFamily="34" charset="0"/>
              </a:rPr>
              <a:t> for the collection of particulate matter.</a:t>
            </a:r>
          </a:p>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Efficiency Characteristics</a:t>
            </a:r>
            <a:r>
              <a:rPr kumimoji="0" lang="en-US" altLang="en-US" sz="2000" b="0" i="0" u="none" strike="noStrike" cap="none" normalizeH="0" baseline="0" dirty="0">
                <a:ln>
                  <a:noFill/>
                </a:ln>
                <a:solidFill>
                  <a:schemeClr val="tx1"/>
                </a:solidFill>
                <a:effectLst/>
                <a:latin typeface="Arial" panose="020B0604020202020204" pitchFamily="34" charset="0"/>
              </a:rPr>
              <a:t>:</a:t>
            </a:r>
          </a:p>
          <a:p>
            <a:pPr lvl="5" algn="just" rtl="0" eaLnBrk="0" fontAlgn="base" hangingPunct="0">
              <a:lnSpc>
                <a:spcPct val="150000"/>
              </a:lnSpc>
              <a:spcBef>
                <a:spcPct val="0"/>
              </a:spcBef>
              <a:spcAft>
                <a:spcPct val="0"/>
              </a:spcAft>
            </a:pPr>
            <a:r>
              <a:rPr kumimoji="0" lang="en-US" altLang="en-US" sz="2000" b="0" i="0" u="none" strike="noStrike" cap="none" normalizeH="0" baseline="0" dirty="0">
                <a:ln>
                  <a:noFill/>
                </a:ln>
                <a:solidFill>
                  <a:schemeClr val="tx1"/>
                </a:solidFill>
                <a:effectLst/>
                <a:latin typeface="Arial" panose="020B0604020202020204" pitchFamily="34" charset="0"/>
              </a:rPr>
              <a:t>     They are </a:t>
            </a:r>
            <a:r>
              <a:rPr kumimoji="0" lang="en-US" altLang="en-US" sz="2000" b="1" i="0" u="none" strike="noStrike" cap="none" normalizeH="0" baseline="0" dirty="0">
                <a:ln>
                  <a:noFill/>
                </a:ln>
                <a:solidFill>
                  <a:schemeClr val="tx1"/>
                </a:solidFill>
                <a:effectLst/>
                <a:latin typeface="Arial" panose="020B0604020202020204" pitchFamily="34" charset="0"/>
              </a:rPr>
              <a:t>less efficient</a:t>
            </a:r>
            <a:r>
              <a:rPr kumimoji="0" lang="en-US" altLang="en-US" sz="2000" b="0" i="0" u="none" strike="noStrike" cap="none" normalizeH="0" baseline="0" dirty="0">
                <a:ln>
                  <a:noFill/>
                </a:ln>
                <a:solidFill>
                  <a:schemeClr val="tx1"/>
                </a:solidFill>
                <a:effectLst/>
                <a:latin typeface="Arial" panose="020B0604020202020204" pitchFamily="34" charset="0"/>
              </a:rPr>
              <a:t> than wet devices for trapping smaller particles, specifically those </a:t>
            </a:r>
            <a:r>
              <a:rPr kumimoji="0" lang="en-US" altLang="en-US" sz="2000" b="1" i="0" u="none" strike="noStrike" cap="none" normalizeH="0" baseline="0" dirty="0">
                <a:ln>
                  <a:noFill/>
                </a:ln>
                <a:solidFill>
                  <a:schemeClr val="tx1"/>
                </a:solidFill>
                <a:effectLst/>
                <a:latin typeface="Arial" panose="020B0604020202020204" pitchFamily="34" charset="0"/>
              </a:rPr>
              <a:t>less       </a:t>
            </a:r>
          </a:p>
          <a:p>
            <a:pPr lvl="5" algn="just" rtl="0" eaLnBrk="0" fontAlgn="base" hangingPunct="0">
              <a:lnSpc>
                <a:spcPct val="150000"/>
              </a:lnSpc>
              <a:spcBef>
                <a:spcPct val="0"/>
              </a:spcBef>
              <a:spcAft>
                <a:spcPct val="0"/>
              </a:spcAft>
            </a:pPr>
            <a:r>
              <a:rPr lang="en-US" altLang="en-US" sz="2000" b="1" dirty="0">
                <a:solidFill>
                  <a:schemeClr val="tx1"/>
                </a:solidFill>
                <a:latin typeface="Arial" panose="020B0604020202020204" pitchFamily="34" charset="0"/>
              </a:rPr>
              <a:t>      </a:t>
            </a:r>
            <a:r>
              <a:rPr kumimoji="0" lang="en-US" altLang="en-US" sz="2000" b="1" i="0" u="none" strike="noStrike" cap="none" normalizeH="0" baseline="0" dirty="0">
                <a:ln>
                  <a:noFill/>
                </a:ln>
                <a:solidFill>
                  <a:schemeClr val="tx1"/>
                </a:solidFill>
                <a:effectLst/>
                <a:latin typeface="Arial" panose="020B0604020202020204" pitchFamily="34" charset="0"/>
              </a:rPr>
              <a:t>than 2 </a:t>
            </a:r>
            <a:r>
              <a:rPr kumimoji="0" lang="en-US" altLang="en-US" sz="2000" b="1" i="0" u="none" strike="noStrike" cap="none" normalizeH="0" baseline="0" dirty="0" err="1">
                <a:ln>
                  <a:noFill/>
                </a:ln>
                <a:solidFill>
                  <a:schemeClr val="tx1"/>
                </a:solidFill>
                <a:effectLst/>
                <a:latin typeface="Arial" panose="020B0604020202020204" pitchFamily="34" charset="0"/>
              </a:rPr>
              <a:t>μm</a:t>
            </a:r>
            <a:r>
              <a:rPr kumimoji="0" lang="en-US" altLang="en-US" sz="2000" b="0" i="0" u="none" strike="noStrike" cap="none" normalizeH="0" baseline="0" dirty="0">
                <a:ln>
                  <a:noFill/>
                </a:ln>
                <a:solidFill>
                  <a:schemeClr val="tx1"/>
                </a:solidFill>
                <a:effectLst/>
                <a:latin typeface="Arial" panose="020B0604020202020204" pitchFamily="34" charset="0"/>
              </a:rPr>
              <a:t> in size.</a:t>
            </a:r>
          </a:p>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Key Advantages</a:t>
            </a:r>
            <a:r>
              <a:rPr kumimoji="0" lang="en-US" altLang="en-US" sz="2000" b="0" i="0" u="none" strike="noStrike" cap="none" normalizeH="0" baseline="0" dirty="0">
                <a:ln>
                  <a:noFill/>
                </a:ln>
                <a:solidFill>
                  <a:schemeClr val="tx1"/>
                </a:solidFill>
                <a:effectLst/>
                <a:latin typeface="Arial" panose="020B0604020202020204" pitchFamily="34" charset="0"/>
              </a:rPr>
              <a:t>:</a:t>
            </a:r>
          </a:p>
          <a:p>
            <a:pPr marR="0" lvl="0" algn="just" defTabSz="914400" rtl="0" eaLnBrk="0" fontAlgn="base" latinLnBrk="0" hangingPunct="0">
              <a:lnSpc>
                <a:spcPct val="15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Arial" panose="020B0604020202020204" pitchFamily="34" charset="0"/>
              </a:rPr>
              <a:t>     Samples are collected </a:t>
            </a:r>
            <a:r>
              <a:rPr kumimoji="0" lang="en-US" altLang="en-US" sz="2000" b="1" i="0" u="none" strike="noStrike" cap="none" normalizeH="0" baseline="0" dirty="0">
                <a:ln>
                  <a:noFill/>
                </a:ln>
                <a:solidFill>
                  <a:schemeClr val="tx1"/>
                </a:solidFill>
                <a:effectLst/>
                <a:latin typeface="Arial" panose="020B0604020202020204" pitchFamily="34" charset="0"/>
              </a:rPr>
              <a:t>directly</a:t>
            </a:r>
            <a:r>
              <a:rPr kumimoji="0" lang="en-US" altLang="en-US" sz="2000" b="0" i="0" u="none" strike="noStrike" cap="none" normalizeH="0" baseline="0" dirty="0">
                <a:ln>
                  <a:noFill/>
                </a:ln>
                <a:solidFill>
                  <a:schemeClr val="tx1"/>
                </a:solidFill>
                <a:effectLst/>
                <a:latin typeface="Arial" panose="020B0604020202020204" pitchFamily="34" charset="0"/>
              </a:rPr>
              <a:t> onto the surface.</a:t>
            </a:r>
          </a:p>
          <a:p>
            <a:pPr marR="0" lvl="0" algn="just" defTabSz="914400" rtl="0" eaLnBrk="0" fontAlgn="base" latinLnBrk="0" hangingPunct="0">
              <a:lnSpc>
                <a:spcPct val="15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Arial" panose="020B0604020202020204" pitchFamily="34" charset="0"/>
              </a:rPr>
              <a:t>      Eliminates the need for secondary processes such as </a:t>
            </a:r>
            <a:r>
              <a:rPr kumimoji="0" lang="en-US" altLang="en-US" sz="2000" b="1" i="0" u="none" strike="noStrike" cap="none" normalizeH="0" baseline="0" dirty="0">
                <a:ln>
                  <a:noFill/>
                </a:ln>
                <a:solidFill>
                  <a:schemeClr val="tx1"/>
                </a:solidFill>
                <a:effectLst/>
                <a:latin typeface="Arial" panose="020B0604020202020204" pitchFamily="34" charset="0"/>
              </a:rPr>
              <a:t>filtration</a:t>
            </a:r>
            <a:r>
              <a:rPr kumimoji="0" lang="en-US" altLang="en-US" sz="2000" b="0" i="0" u="none" strike="noStrike" cap="none" normalizeH="0" baseline="0" dirty="0">
                <a:ln>
                  <a:noFill/>
                </a:ln>
                <a:solidFill>
                  <a:schemeClr val="tx1"/>
                </a:solidFill>
                <a:effectLst/>
                <a:latin typeface="Arial" panose="020B0604020202020204" pitchFamily="34" charset="0"/>
              </a:rPr>
              <a:t> or the </a:t>
            </a:r>
            <a:r>
              <a:rPr kumimoji="0" lang="en-US" altLang="en-US" sz="2000" b="1" i="0" u="none" strike="noStrike" cap="none" normalizeH="0" baseline="0" dirty="0">
                <a:ln>
                  <a:noFill/>
                </a:ln>
                <a:solidFill>
                  <a:schemeClr val="tx1"/>
                </a:solidFill>
                <a:effectLst/>
                <a:latin typeface="Arial" panose="020B0604020202020204" pitchFamily="34" charset="0"/>
              </a:rPr>
              <a:t>evaporation of </a:t>
            </a:r>
          </a:p>
          <a:p>
            <a:pPr marR="0" lvl="0" algn="just" defTabSz="914400" rtl="0" eaLnBrk="0" fontAlgn="base" latinLnBrk="0" hangingPunct="0">
              <a:lnSpc>
                <a:spcPct val="150000"/>
              </a:lnSpc>
              <a:spcBef>
                <a:spcPct val="0"/>
              </a:spcBef>
              <a:spcAft>
                <a:spcPct val="0"/>
              </a:spcAft>
              <a:buClrTx/>
              <a:buSzTx/>
              <a:tabLst/>
            </a:pPr>
            <a:r>
              <a:rPr lang="en-US" altLang="en-US" sz="2000" b="1" dirty="0">
                <a:solidFill>
                  <a:schemeClr val="tx1"/>
                </a:solidFill>
                <a:latin typeface="Arial" panose="020B0604020202020204" pitchFamily="34" charset="0"/>
              </a:rPr>
              <a:t>      </a:t>
            </a:r>
            <a:r>
              <a:rPr kumimoji="0" lang="en-US" altLang="en-US" sz="2000" b="1" i="0" u="none" strike="noStrike" cap="none" normalizeH="0" baseline="0" dirty="0">
                <a:ln>
                  <a:noFill/>
                </a:ln>
                <a:solidFill>
                  <a:schemeClr val="tx1"/>
                </a:solidFill>
                <a:effectLst/>
                <a:latin typeface="Arial" panose="020B0604020202020204" pitchFamily="34" charset="0"/>
              </a:rPr>
              <a:t>liquids</a:t>
            </a:r>
            <a:r>
              <a:rPr kumimoji="0" lang="en-US" altLang="en-US" sz="2000" b="0" i="0" u="none" strike="noStrike" cap="none" normalizeH="0" baseline="0" dirty="0">
                <a:ln>
                  <a:noFill/>
                </a:ln>
                <a:solidFill>
                  <a:schemeClr val="tx1"/>
                </a:solidFill>
                <a:effectLst/>
                <a:latin typeface="Arial" panose="020B0604020202020204" pitchFamily="34" charset="0"/>
              </a:rPr>
              <a:t>.</a:t>
            </a:r>
          </a:p>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Specialized Application</a:t>
            </a:r>
            <a:r>
              <a:rPr kumimoji="0" lang="en-US" altLang="en-US" sz="2000" b="0" i="0" u="none" strike="noStrike" cap="none" normalizeH="0" baseline="0" dirty="0">
                <a:ln>
                  <a:noFill/>
                </a:ln>
                <a:solidFill>
                  <a:schemeClr val="tx1"/>
                </a:solidFill>
                <a:effectLst/>
                <a:latin typeface="Arial" panose="020B0604020202020204" pitchFamily="34" charset="0"/>
              </a:rPr>
              <a:t>: Certain dry impingers, known as </a:t>
            </a:r>
            <a:r>
              <a:rPr kumimoji="0" lang="en-US" altLang="en-US" sz="2000" b="1" i="0" u="none" strike="noStrike" cap="none" normalizeH="0" baseline="0" dirty="0">
                <a:ln>
                  <a:noFill/>
                </a:ln>
                <a:solidFill>
                  <a:schemeClr val="tx1"/>
                </a:solidFill>
                <a:effectLst/>
                <a:latin typeface="Arial" panose="020B0604020202020204" pitchFamily="34" charset="0"/>
              </a:rPr>
              <a:t>cascade impactors</a:t>
            </a:r>
            <a:r>
              <a:rPr kumimoji="0" lang="en-US" altLang="en-US" sz="2000" b="0" i="0" u="none" strike="noStrike" cap="none" normalizeH="0" baseline="0" dirty="0">
                <a:ln>
                  <a:noFill/>
                </a:ln>
                <a:solidFill>
                  <a:schemeClr val="tx1"/>
                </a:solidFill>
                <a:effectLst/>
                <a:latin typeface="Arial" panose="020B0604020202020204" pitchFamily="34" charset="0"/>
              </a:rPr>
              <a:t>, are specifically designed for </a:t>
            </a:r>
            <a:r>
              <a:rPr kumimoji="0" lang="en-US" altLang="en-US" sz="2000" b="1" i="0" u="none" strike="noStrike" cap="none" normalizeH="0" baseline="0" dirty="0">
                <a:ln>
                  <a:noFill/>
                </a:ln>
                <a:solidFill>
                  <a:schemeClr val="tx1"/>
                </a:solidFill>
                <a:effectLst/>
                <a:latin typeface="Arial" panose="020B0604020202020204" pitchFamily="34" charset="0"/>
              </a:rPr>
              <a:t>particle size measurements</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355600" indent="-342900" algn="just">
              <a:lnSpc>
                <a:spcPct val="150000"/>
              </a:lnSpc>
              <a:spcBef>
                <a:spcPts val="1545"/>
              </a:spcBef>
              <a:buFont typeface="Arial" panose="020B0604020202020204" pitchFamily="34" charset="0"/>
              <a:buChar char="•"/>
              <a:tabLst>
                <a:tab pos="239400" algn="l"/>
              </a:tabLst>
            </a:pPr>
            <a:endParaRPr sz="2000" dirty="0">
              <a:latin typeface="Arial MT"/>
              <a:cs typeface="Arial MT"/>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xfrm>
            <a:off x="8993409" y="6464911"/>
            <a:ext cx="198636" cy="156068"/>
          </a:xfrm>
          <a:prstGeom prst="rect">
            <a:avLst/>
          </a:prstGeom>
        </p:spPr>
        <p:txBody>
          <a:bodyPr vert="horz" wrap="square" lIns="0" tIns="0" rIns="0" bIns="0" rtlCol="0">
            <a:spAutoFit/>
          </a:bodyPr>
          <a:lstStyle/>
          <a:p>
            <a:pPr marL="38101">
              <a:lnSpc>
                <a:spcPts val="1239"/>
              </a:lnSpc>
            </a:pPr>
            <a:fld id="{81D60167-4931-47E6-BA6A-407CBD079E47}" type="slidenum">
              <a:rPr spc="-25" dirty="0"/>
              <a:pPr marL="38101">
                <a:lnSpc>
                  <a:spcPts val="1239"/>
                </a:lnSpc>
              </a:pPr>
              <a:t>46</a:t>
            </a:fld>
            <a:endParaRPr spc="-25" dirty="0"/>
          </a:p>
        </p:txBody>
      </p:sp>
      <p:sp>
        <p:nvSpPr>
          <p:cNvPr id="2" name="object 2"/>
          <p:cNvSpPr txBox="1">
            <a:spLocks noGrp="1"/>
          </p:cNvSpPr>
          <p:nvPr>
            <p:ph type="title"/>
          </p:nvPr>
        </p:nvSpPr>
        <p:spPr>
          <a:xfrm>
            <a:off x="470371" y="133351"/>
            <a:ext cx="7600956" cy="892423"/>
          </a:xfrm>
          <a:prstGeom prst="rect">
            <a:avLst/>
          </a:prstGeom>
        </p:spPr>
        <p:txBody>
          <a:bodyPr vert="horz" wrap="square" lIns="0" tIns="396112" rIns="0" bIns="0" rtlCol="0">
            <a:spAutoFit/>
          </a:bodyPr>
          <a:lstStyle/>
          <a:p>
            <a:pPr marL="131448">
              <a:spcBef>
                <a:spcPts val="105"/>
              </a:spcBef>
            </a:pPr>
            <a:r>
              <a:rPr spc="-10" dirty="0"/>
              <a:t>Impingement</a:t>
            </a:r>
          </a:p>
        </p:txBody>
      </p:sp>
      <p:sp>
        <p:nvSpPr>
          <p:cNvPr id="3" name="object 3"/>
          <p:cNvSpPr txBox="1"/>
          <p:nvPr/>
        </p:nvSpPr>
        <p:spPr>
          <a:xfrm>
            <a:off x="609424" y="1219199"/>
            <a:ext cx="10945495" cy="5561779"/>
          </a:xfrm>
          <a:prstGeom prst="rect">
            <a:avLst/>
          </a:prstGeom>
        </p:spPr>
        <p:txBody>
          <a:bodyPr vert="horz" wrap="square" lIns="0" tIns="12700" rIns="0" bIns="0" rtlCol="0">
            <a:spAutoFit/>
          </a:bodyPr>
          <a:lstStyle/>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Multi-Stage Design</a:t>
            </a:r>
            <a:r>
              <a:rPr kumimoji="0" lang="en-US" altLang="en-US" sz="2000" b="0" i="0" u="none" strike="noStrike" cap="none" normalizeH="0" baseline="0" dirty="0">
                <a:ln>
                  <a:noFill/>
                </a:ln>
                <a:solidFill>
                  <a:schemeClr val="tx1"/>
                </a:solidFill>
                <a:effectLst/>
                <a:latin typeface="Arial" panose="020B0604020202020204" pitchFamily="34" charset="0"/>
              </a:rPr>
              <a:t>: A typical cascade impactor consists of </a:t>
            </a:r>
            <a:r>
              <a:rPr kumimoji="0" lang="en-US" altLang="en-US" sz="2000" b="1" i="0" u="none" strike="noStrike" cap="none" normalizeH="0" baseline="0" dirty="0">
                <a:ln>
                  <a:noFill/>
                </a:ln>
                <a:solidFill>
                  <a:schemeClr val="tx1"/>
                </a:solidFill>
                <a:effectLst/>
                <a:latin typeface="Arial" panose="020B0604020202020204" pitchFamily="34" charset="0"/>
              </a:rPr>
              <a:t>5 to 10 collection stages</a:t>
            </a:r>
            <a:r>
              <a:rPr kumimoji="0" lang="en-US" altLang="en-US" sz="2000" b="0" i="0" u="none" strike="noStrike" cap="none" normalizeH="0" baseline="0" dirty="0">
                <a:ln>
                  <a:noFill/>
                </a:ln>
                <a:solidFill>
                  <a:schemeClr val="tx1"/>
                </a:solidFill>
                <a:effectLst/>
                <a:latin typeface="Arial" panose="020B0604020202020204" pitchFamily="34" charset="0"/>
              </a:rPr>
              <a:t> arranged in a vertical stack.</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Operating Principle</a:t>
            </a:r>
            <a:r>
              <a:rPr kumimoji="0" lang="en-US" altLang="en-US" sz="2000" b="0" i="0" u="none" strike="noStrike" cap="none" normalizeH="0" baseline="0" dirty="0">
                <a:ln>
                  <a:noFill/>
                </a:ln>
                <a:solidFill>
                  <a:schemeClr val="tx1"/>
                </a:solidFill>
                <a:effectLst/>
                <a:latin typeface="Arial" panose="020B0604020202020204" pitchFamily="34" charset="0"/>
              </a:rPr>
              <a:t>: The sample airstream is forced through a </a:t>
            </a:r>
            <a:r>
              <a:rPr kumimoji="0" lang="en-US" altLang="en-US" sz="2000" b="1" i="0" u="none" strike="noStrike" cap="none" normalizeH="0" baseline="0" dirty="0">
                <a:ln>
                  <a:noFill/>
                </a:ln>
                <a:solidFill>
                  <a:schemeClr val="tx1"/>
                </a:solidFill>
                <a:effectLst/>
                <a:latin typeface="Arial" panose="020B0604020202020204" pitchFamily="34" charset="0"/>
              </a:rPr>
              <a:t>series of jets</a:t>
            </a:r>
            <a:r>
              <a:rPr kumimoji="0" lang="en-US" altLang="en-US" sz="2000" b="0" i="0" u="none" strike="noStrike" cap="none" normalizeH="0" baseline="0" dirty="0">
                <a:ln>
                  <a:noFill/>
                </a:ln>
                <a:solidFill>
                  <a:schemeClr val="tx1"/>
                </a:solidFill>
                <a:effectLst/>
                <a:latin typeface="Arial" panose="020B0604020202020204" pitchFamily="34" charset="0"/>
              </a:rPr>
              <a:t> (nozzles), directing pollutant particles against collection surfaces placed </a:t>
            </a:r>
            <a:r>
              <a:rPr kumimoji="0" lang="en-US" altLang="en-US" sz="2000" b="1" i="0" u="none" strike="noStrike" cap="none" normalizeH="0" baseline="0" dirty="0">
                <a:ln>
                  <a:noFill/>
                </a:ln>
                <a:solidFill>
                  <a:schemeClr val="tx1"/>
                </a:solidFill>
                <a:effectLst/>
                <a:latin typeface="Arial" panose="020B0604020202020204" pitchFamily="34" charset="0"/>
              </a:rPr>
              <a:t>normal (perpendicular)</a:t>
            </a:r>
            <a:r>
              <a:rPr kumimoji="0" lang="en-US" altLang="en-US" sz="2000" b="0" i="0" u="none" strike="noStrike" cap="none" normalizeH="0" baseline="0" dirty="0">
                <a:ln>
                  <a:noFill/>
                </a:ln>
                <a:solidFill>
                  <a:schemeClr val="tx1"/>
                </a:solidFill>
                <a:effectLst/>
                <a:latin typeface="Arial" panose="020B0604020202020204" pitchFamily="34" charset="0"/>
              </a:rPr>
              <a:t> to the airflow.</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Size Segregation</a:t>
            </a:r>
            <a:r>
              <a:rPr kumimoji="0" lang="en-US" altLang="en-US" sz="2000" b="0" i="0" u="none" strike="noStrike" cap="none" normalizeH="0" baseline="0" dirty="0">
                <a:ln>
                  <a:noFill/>
                </a:ln>
                <a:solidFill>
                  <a:schemeClr val="tx1"/>
                </a:solidFill>
                <a:effectLst/>
                <a:latin typeface="Arial" panose="020B0604020202020204" pitchFamily="34" charset="0"/>
              </a:rPr>
              <a:t>:</a:t>
            </a:r>
          </a:p>
          <a:p>
            <a:pPr marL="457200" lvl="8" indent="-457200" algn="l" rtl="0" eaLnBrk="0" fontAlgn="base" hangingPunct="0">
              <a:lnSpc>
                <a:spcPct val="150000"/>
              </a:lnSpc>
              <a:spcBef>
                <a:spcPct val="0"/>
              </a:spcBef>
              <a:spcAft>
                <a:spcPct val="0"/>
              </a:spcAft>
              <a:buFont typeface="+mj-lt"/>
              <a:buAutoNum type="arabicPeriod"/>
            </a:pPr>
            <a:r>
              <a:rPr kumimoji="0" lang="en-US" altLang="en-US" sz="2000" b="1" i="0" u="none" strike="noStrike" cap="none" normalizeH="0" baseline="0" dirty="0">
                <a:ln>
                  <a:noFill/>
                </a:ln>
                <a:solidFill>
                  <a:schemeClr val="tx1"/>
                </a:solidFill>
                <a:effectLst/>
                <a:latin typeface="Arial" panose="020B0604020202020204" pitchFamily="34" charset="0"/>
              </a:rPr>
              <a:t>Early Stages</a:t>
            </a:r>
            <a:r>
              <a:rPr kumimoji="0" lang="en-US" altLang="en-US" sz="2000" b="0" i="0" u="none" strike="noStrike" cap="none" normalizeH="0" baseline="0" dirty="0">
                <a:ln>
                  <a:noFill/>
                </a:ln>
                <a:solidFill>
                  <a:schemeClr val="tx1"/>
                </a:solidFill>
                <a:effectLst/>
                <a:latin typeface="Arial" panose="020B0604020202020204" pitchFamily="34" charset="0"/>
              </a:rPr>
              <a:t>: Use lower jet velocities to capture larger particles with high momentum.</a:t>
            </a:r>
          </a:p>
          <a:p>
            <a:pPr marL="457200" lvl="8" indent="-457200" algn="l" rtl="0" eaLnBrk="0" fontAlgn="base" hangingPunct="0">
              <a:lnSpc>
                <a:spcPct val="150000"/>
              </a:lnSpc>
              <a:spcBef>
                <a:spcPct val="0"/>
              </a:spcBef>
              <a:spcAft>
                <a:spcPct val="0"/>
              </a:spcAft>
              <a:buFont typeface="+mj-lt"/>
              <a:buAutoNum type="arabicPeriod"/>
            </a:pPr>
            <a:r>
              <a:rPr kumimoji="0" lang="en-US" altLang="en-US" sz="2000" b="1" i="0" u="none" strike="noStrike" cap="none" normalizeH="0" baseline="0" dirty="0">
                <a:ln>
                  <a:noFill/>
                </a:ln>
                <a:solidFill>
                  <a:schemeClr val="tx1"/>
                </a:solidFill>
                <a:effectLst/>
                <a:latin typeface="Arial" panose="020B0604020202020204" pitchFamily="34" charset="0"/>
              </a:rPr>
              <a:t>Later Stages</a:t>
            </a:r>
            <a:r>
              <a:rPr kumimoji="0" lang="en-US" altLang="en-US" sz="2000" b="0" i="0" u="none" strike="noStrike" cap="none" normalizeH="0" baseline="0" dirty="0">
                <a:ln>
                  <a:noFill/>
                </a:ln>
                <a:solidFill>
                  <a:schemeClr val="tx1"/>
                </a:solidFill>
                <a:effectLst/>
                <a:latin typeface="Arial" panose="020B0604020202020204" pitchFamily="34" charset="0"/>
              </a:rPr>
              <a:t>: Use </a:t>
            </a:r>
            <a:r>
              <a:rPr kumimoji="0" lang="en-US" altLang="en-US" sz="2000" b="1" i="0" u="none" strike="noStrike" cap="none" normalizeH="0" baseline="0" dirty="0">
                <a:ln>
                  <a:noFill/>
                </a:ln>
                <a:solidFill>
                  <a:schemeClr val="tx1"/>
                </a:solidFill>
                <a:effectLst/>
                <a:latin typeface="Arial" panose="020B0604020202020204" pitchFamily="34" charset="0"/>
              </a:rPr>
              <a:t>progressively higher jet velocities</a:t>
            </a:r>
            <a:r>
              <a:rPr kumimoji="0" lang="en-US" altLang="en-US" sz="2000" b="0" i="0" u="none" strike="noStrike" cap="none" normalizeH="0" baseline="0" dirty="0">
                <a:ln>
                  <a:noFill/>
                </a:ln>
                <a:solidFill>
                  <a:schemeClr val="tx1"/>
                </a:solidFill>
                <a:effectLst/>
                <a:latin typeface="Arial" panose="020B0604020202020204" pitchFamily="34" charset="0"/>
              </a:rPr>
              <a:t> to capture smaller particles with lower momentum.</a:t>
            </a:r>
          </a:p>
          <a:p>
            <a:pPr marL="457200" lvl="8" indent="-457200" algn="l" rtl="0" eaLnBrk="0" fontAlgn="base" hangingPunct="0">
              <a:lnSpc>
                <a:spcPct val="150000"/>
              </a:lnSpc>
              <a:spcBef>
                <a:spcPct val="0"/>
              </a:spcBef>
              <a:spcAft>
                <a:spcPct val="0"/>
              </a:spcAft>
              <a:buFont typeface="+mj-lt"/>
              <a:buAutoNum type="arabicPeriod"/>
            </a:pPr>
            <a:r>
              <a:rPr kumimoji="0" lang="en-US" altLang="en-US" sz="2000" b="1" i="0" u="none" strike="noStrike" cap="none" normalizeH="0" baseline="0" dirty="0">
                <a:ln>
                  <a:noFill/>
                </a:ln>
                <a:solidFill>
                  <a:schemeClr val="tx1"/>
                </a:solidFill>
                <a:effectLst/>
                <a:latin typeface="Arial" panose="020B0604020202020204" pitchFamily="34" charset="0"/>
              </a:rPr>
              <a:t>Final Collection</a:t>
            </a:r>
            <a:r>
              <a:rPr kumimoji="0" lang="en-US" altLang="en-US" sz="2000" b="0" i="0" u="none" strike="noStrike" cap="none" normalizeH="0" baseline="0" dirty="0">
                <a:ln>
                  <a:noFill/>
                </a:ln>
                <a:solidFill>
                  <a:schemeClr val="tx1"/>
                </a:solidFill>
                <a:effectLst/>
                <a:latin typeface="Arial" panose="020B0604020202020204" pitchFamily="34" charset="0"/>
              </a:rPr>
              <a:t>: A </a:t>
            </a:r>
            <a:r>
              <a:rPr kumimoji="0" lang="en-US" altLang="en-US" sz="2000" b="1" i="0" u="none" strike="noStrike" cap="none" normalizeH="0" baseline="0" dirty="0">
                <a:ln>
                  <a:noFill/>
                </a:ln>
                <a:solidFill>
                  <a:schemeClr val="tx1"/>
                </a:solidFill>
                <a:effectLst/>
                <a:latin typeface="Arial" panose="020B0604020202020204" pitchFamily="34" charset="0"/>
              </a:rPr>
              <a:t>backup filter</a:t>
            </a:r>
            <a:r>
              <a:rPr kumimoji="0" lang="en-US" altLang="en-US" sz="2000" b="0" i="0" u="none" strike="noStrike" cap="none" normalizeH="0" baseline="0" dirty="0">
                <a:ln>
                  <a:noFill/>
                </a:ln>
                <a:solidFill>
                  <a:schemeClr val="tx1"/>
                </a:solidFill>
                <a:effectLst/>
                <a:latin typeface="Arial" panose="020B0604020202020204" pitchFamily="34" charset="0"/>
              </a:rPr>
              <a:t> is placed after the last stage to trap any ultra-fine particles that remain in the airstream</a:t>
            </a:r>
          </a:p>
          <a:p>
            <a:pPr marL="241306" marR="680102" indent="-228606">
              <a:lnSpc>
                <a:spcPct val="140000"/>
              </a:lnSpc>
              <a:spcBef>
                <a:spcPts val="100"/>
              </a:spcBef>
              <a:buChar char="•"/>
              <a:tabLst>
                <a:tab pos="241306" algn="l"/>
                <a:tab pos="324493" algn="l"/>
              </a:tabLst>
            </a:pPr>
            <a:endParaRPr sz="2400" dirty="0">
              <a:latin typeface="Arial MT"/>
              <a:cs typeface="Arial MT"/>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70371" y="133351"/>
            <a:ext cx="7600956" cy="671721"/>
          </a:xfrm>
          <a:prstGeom prst="rect">
            <a:avLst/>
          </a:prstGeom>
        </p:spPr>
        <p:txBody>
          <a:bodyPr vert="horz" wrap="square" lIns="0" tIns="223265" rIns="0" bIns="0" rtlCol="0">
            <a:spAutoFit/>
          </a:bodyPr>
          <a:lstStyle/>
          <a:p>
            <a:pPr marL="131448">
              <a:spcBef>
                <a:spcPts val="100"/>
              </a:spcBef>
            </a:pPr>
            <a:r>
              <a:rPr sz="2900" dirty="0"/>
              <a:t>Impingement-</a:t>
            </a:r>
            <a:r>
              <a:rPr sz="2900" spc="-50" dirty="0"/>
              <a:t> </a:t>
            </a:r>
            <a:r>
              <a:rPr sz="2900" dirty="0"/>
              <a:t>Cascade</a:t>
            </a:r>
            <a:r>
              <a:rPr sz="2900" spc="-46" dirty="0"/>
              <a:t> </a:t>
            </a:r>
            <a:r>
              <a:rPr sz="2900" spc="-10" dirty="0"/>
              <a:t>Impactor</a:t>
            </a:r>
            <a:endParaRPr sz="2900"/>
          </a:p>
        </p:txBody>
      </p:sp>
      <p:pic>
        <p:nvPicPr>
          <p:cNvPr id="3" name="object 3"/>
          <p:cNvPicPr/>
          <p:nvPr/>
        </p:nvPicPr>
        <p:blipFill>
          <a:blip r:embed="rId3" cstate="print"/>
          <a:stretch>
            <a:fillRect/>
          </a:stretch>
        </p:blipFill>
        <p:spPr>
          <a:xfrm>
            <a:off x="3528062" y="809247"/>
            <a:ext cx="6362699" cy="5126735"/>
          </a:xfrm>
          <a:prstGeom prst="rect">
            <a:avLst/>
          </a:prstGeom>
        </p:spPr>
      </p:pic>
      <p:sp>
        <p:nvSpPr>
          <p:cNvPr id="4" name="object 4"/>
          <p:cNvSpPr txBox="1"/>
          <p:nvPr/>
        </p:nvSpPr>
        <p:spPr>
          <a:xfrm>
            <a:off x="4906771" y="6092443"/>
            <a:ext cx="2651760" cy="382156"/>
          </a:xfrm>
          <a:prstGeom prst="rect">
            <a:avLst/>
          </a:prstGeom>
        </p:spPr>
        <p:txBody>
          <a:bodyPr vert="horz" wrap="square" lIns="0" tIns="12700" rIns="0" bIns="0" rtlCol="0">
            <a:spAutoFit/>
          </a:bodyPr>
          <a:lstStyle/>
          <a:p>
            <a:pPr marL="12701">
              <a:spcBef>
                <a:spcPts val="100"/>
              </a:spcBef>
            </a:pPr>
            <a:r>
              <a:rPr sz="2400" b="1" dirty="0">
                <a:latin typeface="Arial" panose="020B0604020202020204"/>
                <a:cs typeface="Arial" panose="020B0604020202020204"/>
              </a:rPr>
              <a:t>Cascade</a:t>
            </a:r>
            <a:r>
              <a:rPr sz="2400" b="1" spc="-95" dirty="0">
                <a:latin typeface="Arial" panose="020B0604020202020204"/>
                <a:cs typeface="Arial" panose="020B0604020202020204"/>
              </a:rPr>
              <a:t> </a:t>
            </a:r>
            <a:r>
              <a:rPr sz="2400" b="1" spc="-10" dirty="0">
                <a:latin typeface="Arial" panose="020B0604020202020204"/>
                <a:cs typeface="Arial" panose="020B0604020202020204"/>
              </a:rPr>
              <a:t>Impactor</a:t>
            </a:r>
            <a:endParaRPr sz="2400">
              <a:latin typeface="Arial" panose="020B0604020202020204"/>
              <a:cs typeface="Arial" panose="020B0604020202020204"/>
            </a:endParaRPr>
          </a:p>
        </p:txBody>
      </p:sp>
      <p:sp>
        <p:nvSpPr>
          <p:cNvPr id="5" name="object 5"/>
          <p:cNvSpPr txBox="1">
            <a:spLocks noGrp="1"/>
          </p:cNvSpPr>
          <p:nvPr>
            <p:ph type="sldNum" sz="quarter" idx="7"/>
          </p:nvPr>
        </p:nvSpPr>
        <p:spPr>
          <a:xfrm>
            <a:off x="8993409" y="6464911"/>
            <a:ext cx="198636" cy="156068"/>
          </a:xfrm>
          <a:prstGeom prst="rect">
            <a:avLst/>
          </a:prstGeom>
        </p:spPr>
        <p:txBody>
          <a:bodyPr vert="horz" wrap="square" lIns="0" tIns="0" rIns="0" bIns="0" rtlCol="0">
            <a:spAutoFit/>
          </a:bodyPr>
          <a:lstStyle/>
          <a:p>
            <a:pPr marL="38101">
              <a:lnSpc>
                <a:spcPts val="1239"/>
              </a:lnSpc>
            </a:pPr>
            <a:fld id="{81D60167-4931-47E6-BA6A-407CBD079E47}" type="slidenum">
              <a:rPr spc="-25" dirty="0"/>
              <a:pPr marL="38101">
                <a:lnSpc>
                  <a:spcPts val="1239"/>
                </a:lnSpc>
              </a:pPr>
              <a:t>47</a:t>
            </a:fld>
            <a:endParaRPr spc="-25"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70371" y="133351"/>
            <a:ext cx="7600956" cy="892423"/>
          </a:xfrm>
          <a:prstGeom prst="rect">
            <a:avLst/>
          </a:prstGeom>
        </p:spPr>
        <p:txBody>
          <a:bodyPr vert="horz" wrap="square" lIns="0" tIns="396112" rIns="0" bIns="0" rtlCol="0">
            <a:spAutoFit/>
          </a:bodyPr>
          <a:lstStyle/>
          <a:p>
            <a:pPr marL="131448">
              <a:spcBef>
                <a:spcPts val="105"/>
              </a:spcBef>
            </a:pPr>
            <a:r>
              <a:rPr spc="-10" dirty="0"/>
              <a:t>Impingement</a:t>
            </a:r>
          </a:p>
        </p:txBody>
      </p:sp>
      <p:sp>
        <p:nvSpPr>
          <p:cNvPr id="3" name="object 3"/>
          <p:cNvSpPr txBox="1"/>
          <p:nvPr/>
        </p:nvSpPr>
        <p:spPr>
          <a:xfrm>
            <a:off x="555448" y="1243919"/>
            <a:ext cx="5922645" cy="3188117"/>
          </a:xfrm>
          <a:prstGeom prst="rect">
            <a:avLst/>
          </a:prstGeom>
        </p:spPr>
        <p:txBody>
          <a:bodyPr vert="horz" wrap="square" lIns="0" tIns="13335" rIns="0" bIns="0" rtlCol="0">
            <a:spAutoFit/>
          </a:bodyPr>
          <a:lstStyle/>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After sampling, the material collected at each individual stage is analyzed for both its </a:t>
            </a:r>
            <a:r>
              <a:rPr kumimoji="0" lang="en-US" altLang="en-US" sz="2000" b="1" i="0" u="none" strike="noStrike" cap="none" normalizeH="0" baseline="0" dirty="0">
                <a:ln>
                  <a:noFill/>
                </a:ln>
                <a:solidFill>
                  <a:schemeClr val="tx1"/>
                </a:solidFill>
                <a:effectLst/>
                <a:latin typeface="Arial" panose="020B0604020202020204" pitchFamily="34" charset="0"/>
              </a:rPr>
              <a:t>total weight</a:t>
            </a:r>
            <a:r>
              <a:rPr kumimoji="0" lang="en-US" altLang="en-US" sz="2000" b="0" i="0" u="none" strike="noStrike" cap="none" normalizeH="0" baseline="0" dirty="0">
                <a:ln>
                  <a:noFill/>
                </a:ln>
                <a:solidFill>
                  <a:schemeClr val="tx1"/>
                </a:solidFill>
                <a:effectLst/>
                <a:latin typeface="Arial" panose="020B0604020202020204" pitchFamily="34" charset="0"/>
              </a:rPr>
              <a:t> and its </a:t>
            </a:r>
            <a:r>
              <a:rPr kumimoji="0" lang="en-US" altLang="en-US" sz="2000" b="1" i="0" u="none" strike="noStrike" cap="none" normalizeH="0" baseline="0" dirty="0">
                <a:ln>
                  <a:noFill/>
                </a:ln>
                <a:solidFill>
                  <a:schemeClr val="tx1"/>
                </a:solidFill>
                <a:effectLst/>
                <a:latin typeface="Arial" panose="020B0604020202020204" pitchFamily="34" charset="0"/>
              </a:rPr>
              <a:t>chemical composition</a:t>
            </a:r>
            <a:r>
              <a:rPr kumimoji="0" lang="en-US" altLang="en-US" sz="2000" b="0" i="0" u="none" strike="noStrike" cap="none" normalizeH="0" baseline="0" dirty="0">
                <a:ln>
                  <a:noFill/>
                </a:ln>
                <a:solidFill>
                  <a:schemeClr val="tx1"/>
                </a:solidFill>
                <a:effectLst/>
                <a:latin typeface="Arial" panose="020B0604020202020204" pitchFamily="34" charset="0"/>
              </a:rPr>
              <a:t>.</a:t>
            </a:r>
          </a:p>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Cascade impactors are reported to be capable of sizing particles down to </a:t>
            </a:r>
            <a:r>
              <a:rPr kumimoji="0" lang="en-US" altLang="en-US" sz="2000" b="1" i="0" u="none" strike="noStrike" cap="none" normalizeH="0" baseline="0" dirty="0">
                <a:ln>
                  <a:noFill/>
                </a:ln>
                <a:solidFill>
                  <a:schemeClr val="tx1"/>
                </a:solidFill>
                <a:effectLst/>
                <a:latin typeface="Arial" panose="020B0604020202020204" pitchFamily="34" charset="0"/>
              </a:rPr>
              <a:t>0.2 </a:t>
            </a:r>
            <a:r>
              <a:rPr kumimoji="0" lang="en-US" altLang="en-US" sz="2000" b="1" i="0" u="none" strike="noStrike" cap="none" normalizeH="0" baseline="0" dirty="0" err="1">
                <a:ln>
                  <a:noFill/>
                </a:ln>
                <a:solidFill>
                  <a:schemeClr val="tx1"/>
                </a:solidFill>
                <a:effectLst/>
                <a:latin typeface="Arial" panose="020B0604020202020204" pitchFamily="34" charset="0"/>
              </a:rPr>
              <a:t>μm</a:t>
            </a:r>
            <a:r>
              <a:rPr kumimoji="0" lang="en-US" altLang="en-US" sz="2000" b="0" i="0" u="none" strike="noStrike" cap="none" normalizeH="0" baseline="0" dirty="0">
                <a:ln>
                  <a:noFill/>
                </a:ln>
                <a:solidFill>
                  <a:schemeClr val="tx1"/>
                </a:solidFill>
                <a:effectLst/>
                <a:latin typeface="Arial" panose="020B0604020202020204" pitchFamily="34" charset="0"/>
              </a:rPr>
              <a:t>.</a:t>
            </a:r>
          </a:p>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High Efficiency</a:t>
            </a:r>
            <a:r>
              <a:rPr kumimoji="0" lang="en-US" altLang="en-US" sz="2000" b="0" i="0" u="none" strike="noStrike" cap="none" normalizeH="0" baseline="0" dirty="0">
                <a:ln>
                  <a:noFill/>
                </a:ln>
                <a:solidFill>
                  <a:schemeClr val="tx1"/>
                </a:solidFill>
                <a:effectLst/>
                <a:latin typeface="Arial" panose="020B0604020202020204" pitchFamily="34" charset="0"/>
              </a:rPr>
              <a:t>: An efficiency of </a:t>
            </a:r>
            <a:r>
              <a:rPr kumimoji="0" lang="en-US" altLang="en-US" sz="2000" b="1" i="0" u="none" strike="noStrike" cap="none" normalizeH="0" baseline="0" dirty="0">
                <a:ln>
                  <a:noFill/>
                </a:ln>
                <a:solidFill>
                  <a:schemeClr val="tx1"/>
                </a:solidFill>
                <a:effectLst/>
                <a:latin typeface="Arial" panose="020B0604020202020204" pitchFamily="34" charset="0"/>
              </a:rPr>
              <a:t>100%</a:t>
            </a:r>
            <a:r>
              <a:rPr kumimoji="0" lang="en-US" altLang="en-US" sz="2000" b="0" i="0" u="none" strike="noStrike" cap="none" normalizeH="0" baseline="0" dirty="0">
                <a:ln>
                  <a:noFill/>
                </a:ln>
                <a:solidFill>
                  <a:schemeClr val="tx1"/>
                </a:solidFill>
                <a:effectLst/>
                <a:latin typeface="Arial" panose="020B0604020202020204" pitchFamily="34" charset="0"/>
              </a:rPr>
              <a:t> has been obtained for particles as small as </a:t>
            </a:r>
            <a:r>
              <a:rPr kumimoji="0" lang="en-US" altLang="en-US" sz="2000" b="1" i="0" u="none" strike="noStrike" cap="none" normalizeH="0" baseline="0" dirty="0">
                <a:ln>
                  <a:noFill/>
                </a:ln>
                <a:solidFill>
                  <a:schemeClr val="tx1"/>
                </a:solidFill>
                <a:effectLst/>
                <a:latin typeface="Arial" panose="020B0604020202020204" pitchFamily="34" charset="0"/>
              </a:rPr>
              <a:t>0.6 </a:t>
            </a:r>
            <a:r>
              <a:rPr kumimoji="0" lang="en-US" altLang="en-US" sz="2000" b="1" i="0" u="none" strike="noStrike" cap="none" normalizeH="0" baseline="0" dirty="0" err="1">
                <a:ln>
                  <a:noFill/>
                </a:ln>
                <a:solidFill>
                  <a:schemeClr val="tx1"/>
                </a:solidFill>
                <a:effectLst/>
                <a:latin typeface="Arial" panose="020B0604020202020204" pitchFamily="34" charset="0"/>
              </a:rPr>
              <a:t>μm</a:t>
            </a:r>
            <a:r>
              <a:rPr kumimoji="0" lang="en-US" altLang="en-US" sz="2000" b="0" i="0" u="none" strike="noStrike" cap="none" normalizeH="0" baseline="0" dirty="0">
                <a:ln>
                  <a:noFill/>
                </a:ln>
                <a:solidFill>
                  <a:schemeClr val="tx1"/>
                </a:solidFill>
                <a:effectLst/>
                <a:latin typeface="Arial" panose="020B0604020202020204" pitchFamily="34" charset="0"/>
              </a:rPr>
              <a:t>.</a:t>
            </a:r>
          </a:p>
        </p:txBody>
      </p:sp>
      <p:pic>
        <p:nvPicPr>
          <p:cNvPr id="4" name="object 4"/>
          <p:cNvPicPr/>
          <p:nvPr/>
        </p:nvPicPr>
        <p:blipFill>
          <a:blip r:embed="rId3" cstate="print"/>
          <a:stretch>
            <a:fillRect/>
          </a:stretch>
        </p:blipFill>
        <p:spPr>
          <a:xfrm>
            <a:off x="7159753" y="1336548"/>
            <a:ext cx="4090416" cy="3858768"/>
          </a:xfrm>
          <a:prstGeom prst="rect">
            <a:avLst/>
          </a:prstGeom>
        </p:spPr>
      </p:pic>
      <p:sp>
        <p:nvSpPr>
          <p:cNvPr id="5" name="object 5"/>
          <p:cNvSpPr txBox="1">
            <a:spLocks noGrp="1"/>
          </p:cNvSpPr>
          <p:nvPr>
            <p:ph type="sldNum" sz="quarter" idx="7"/>
          </p:nvPr>
        </p:nvSpPr>
        <p:spPr>
          <a:xfrm>
            <a:off x="8993409" y="6464911"/>
            <a:ext cx="198636" cy="156068"/>
          </a:xfrm>
          <a:prstGeom prst="rect">
            <a:avLst/>
          </a:prstGeom>
        </p:spPr>
        <p:txBody>
          <a:bodyPr vert="horz" wrap="square" lIns="0" tIns="0" rIns="0" bIns="0" rtlCol="0">
            <a:spAutoFit/>
          </a:bodyPr>
          <a:lstStyle/>
          <a:p>
            <a:pPr marL="38101">
              <a:lnSpc>
                <a:spcPts val="1239"/>
              </a:lnSpc>
            </a:pPr>
            <a:fld id="{81D60167-4931-47E6-BA6A-407CBD079E47}" type="slidenum">
              <a:rPr spc="-25" dirty="0"/>
              <a:pPr marL="38101">
                <a:lnSpc>
                  <a:spcPts val="1239"/>
                </a:lnSpc>
              </a:pPr>
              <a:t>48</a:t>
            </a:fld>
            <a:endParaRPr spc="-25"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xfrm>
            <a:off x="8993409" y="6464911"/>
            <a:ext cx="198636" cy="156068"/>
          </a:xfrm>
          <a:prstGeom prst="rect">
            <a:avLst/>
          </a:prstGeom>
        </p:spPr>
        <p:txBody>
          <a:bodyPr vert="horz" wrap="square" lIns="0" tIns="0" rIns="0" bIns="0" rtlCol="0">
            <a:spAutoFit/>
          </a:bodyPr>
          <a:lstStyle/>
          <a:p>
            <a:pPr marL="38101">
              <a:lnSpc>
                <a:spcPts val="1239"/>
              </a:lnSpc>
            </a:pPr>
            <a:fld id="{81D60167-4931-47E6-BA6A-407CBD079E47}" type="slidenum">
              <a:rPr spc="-25" dirty="0"/>
              <a:pPr marL="38101">
                <a:lnSpc>
                  <a:spcPts val="1239"/>
                </a:lnSpc>
              </a:pPr>
              <a:t>49</a:t>
            </a:fld>
            <a:endParaRPr spc="-25" dirty="0"/>
          </a:p>
        </p:txBody>
      </p:sp>
      <p:sp>
        <p:nvSpPr>
          <p:cNvPr id="2" name="object 2"/>
          <p:cNvSpPr txBox="1">
            <a:spLocks noGrp="1"/>
          </p:cNvSpPr>
          <p:nvPr>
            <p:ph type="title"/>
          </p:nvPr>
        </p:nvSpPr>
        <p:spPr>
          <a:xfrm>
            <a:off x="470371" y="133351"/>
            <a:ext cx="7600956" cy="892423"/>
          </a:xfrm>
          <a:prstGeom prst="rect">
            <a:avLst/>
          </a:prstGeom>
        </p:spPr>
        <p:txBody>
          <a:bodyPr vert="horz" wrap="square" lIns="0" tIns="396112" rIns="0" bIns="0" rtlCol="0">
            <a:spAutoFit/>
          </a:bodyPr>
          <a:lstStyle/>
          <a:p>
            <a:pPr marL="131448">
              <a:spcBef>
                <a:spcPts val="105"/>
              </a:spcBef>
            </a:pPr>
            <a:r>
              <a:rPr dirty="0"/>
              <a:t>Electrostatic</a:t>
            </a:r>
            <a:r>
              <a:rPr spc="-90" dirty="0"/>
              <a:t> </a:t>
            </a:r>
            <a:r>
              <a:rPr spc="-10" dirty="0"/>
              <a:t>Precipitation</a:t>
            </a:r>
          </a:p>
        </p:txBody>
      </p:sp>
      <p:sp>
        <p:nvSpPr>
          <p:cNvPr id="3" name="object 3"/>
          <p:cNvSpPr txBox="1"/>
          <p:nvPr/>
        </p:nvSpPr>
        <p:spPr>
          <a:xfrm>
            <a:off x="555448" y="1419861"/>
            <a:ext cx="10802620" cy="4571829"/>
          </a:xfrm>
          <a:prstGeom prst="rect">
            <a:avLst/>
          </a:prstGeom>
        </p:spPr>
        <p:txBody>
          <a:bodyPr vert="horz" wrap="square" lIns="0" tIns="12065" rIns="0" bIns="0" rtlCol="0">
            <a:spAutoFit/>
          </a:bodyPr>
          <a:lstStyle/>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Air sampling</a:t>
            </a:r>
            <a:r>
              <a:rPr kumimoji="0" lang="en-US" altLang="en-US" sz="2000" b="0" i="0" u="none" strike="noStrike" cap="none" normalizeH="0" baseline="0" dirty="0">
                <a:ln>
                  <a:noFill/>
                </a:ln>
                <a:solidFill>
                  <a:schemeClr val="tx1"/>
                </a:solidFill>
                <a:effectLst/>
                <a:latin typeface="Arial" panose="020B0604020202020204" pitchFamily="34" charset="0"/>
              </a:rPr>
              <a:t> can be performed using the </a:t>
            </a:r>
            <a:r>
              <a:rPr kumimoji="0" lang="en-US" altLang="en-US" sz="2000" b="1" i="0" u="none" strike="noStrike" cap="none" normalizeH="0" baseline="0" dirty="0">
                <a:ln>
                  <a:noFill/>
                </a:ln>
                <a:solidFill>
                  <a:schemeClr val="tx1"/>
                </a:solidFill>
                <a:effectLst/>
                <a:latin typeface="Arial" panose="020B0604020202020204" pitchFamily="34" charset="0"/>
              </a:rPr>
              <a:t>principle of electrostatic precipitation</a:t>
            </a:r>
            <a:r>
              <a:rPr kumimoji="0" lang="en-US" altLang="en-US" sz="2000" b="0" i="0" u="none" strike="noStrike" cap="none" normalizeH="0" baseline="0" dirty="0">
                <a:ln>
                  <a:noFill/>
                </a:ln>
                <a:solidFill>
                  <a:schemeClr val="tx1"/>
                </a:solidFill>
                <a:effectLst/>
                <a:latin typeface="Arial" panose="020B0604020202020204" pitchFamily="34" charset="0"/>
              </a:rPr>
              <a:t>, where particles are separated by electrical charges.</a:t>
            </a:r>
          </a:p>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Several types of </a:t>
            </a:r>
            <a:r>
              <a:rPr kumimoji="0" lang="en-US" altLang="en-US" sz="2000" b="1" i="0" u="none" strike="noStrike" cap="none" normalizeH="0" baseline="0" dirty="0">
                <a:ln>
                  <a:noFill/>
                </a:ln>
                <a:solidFill>
                  <a:schemeClr val="tx1"/>
                </a:solidFill>
                <a:effectLst/>
                <a:latin typeface="Arial" panose="020B0604020202020204" pitchFamily="34" charset="0"/>
              </a:rPr>
              <a:t>portable commercial precipitators</a:t>
            </a:r>
            <a:r>
              <a:rPr kumimoji="0" lang="en-US" altLang="en-US" sz="2000" b="0" i="0" u="none" strike="noStrike" cap="none" normalizeH="0" baseline="0" dirty="0">
                <a:ln>
                  <a:noFill/>
                </a:ln>
                <a:solidFill>
                  <a:schemeClr val="tx1"/>
                </a:solidFill>
                <a:effectLst/>
                <a:latin typeface="Arial" panose="020B0604020202020204" pitchFamily="34" charset="0"/>
              </a:rPr>
              <a:t> are available in the market for field use.</a:t>
            </a:r>
          </a:p>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During operation, a </a:t>
            </a:r>
            <a:r>
              <a:rPr kumimoji="0" lang="en-US" altLang="en-US" sz="2000" b="1" i="0" u="none" strike="noStrike" cap="none" normalizeH="0" baseline="0" dirty="0">
                <a:ln>
                  <a:noFill/>
                </a:ln>
                <a:solidFill>
                  <a:schemeClr val="tx1"/>
                </a:solidFill>
                <a:effectLst/>
                <a:latin typeface="Arial" panose="020B0604020202020204" pitchFamily="34" charset="0"/>
              </a:rPr>
              <a:t>negative charge</a:t>
            </a:r>
            <a:r>
              <a:rPr kumimoji="0" lang="en-US" altLang="en-US" sz="2000" b="0" i="0" u="none" strike="noStrike" cap="none" normalizeH="0" baseline="0" dirty="0">
                <a:ln>
                  <a:noFill/>
                </a:ln>
                <a:solidFill>
                  <a:schemeClr val="tx1"/>
                </a:solidFill>
                <a:effectLst/>
                <a:latin typeface="Arial" panose="020B0604020202020204" pitchFamily="34" charset="0"/>
              </a:rPr>
              <a:t> is imparted to a </a:t>
            </a:r>
            <a:r>
              <a:rPr kumimoji="0" lang="en-US" altLang="en-US" sz="2000" b="1" i="0" u="none" strike="noStrike" cap="none" normalizeH="0" baseline="0" dirty="0">
                <a:ln>
                  <a:noFill/>
                </a:ln>
                <a:solidFill>
                  <a:schemeClr val="tx1"/>
                </a:solidFill>
                <a:effectLst/>
                <a:latin typeface="Arial" panose="020B0604020202020204" pitchFamily="34" charset="0"/>
              </a:rPr>
              <a:t>wire</a:t>
            </a:r>
            <a:r>
              <a:rPr kumimoji="0" lang="en-US" altLang="en-US" sz="2000" b="0" i="0" u="none" strike="noStrike" cap="none" normalizeH="0" baseline="0" dirty="0">
                <a:ln>
                  <a:noFill/>
                </a:ln>
                <a:solidFill>
                  <a:schemeClr val="tx1"/>
                </a:solidFill>
                <a:effectLst/>
                <a:latin typeface="Arial" panose="020B0604020202020204" pitchFamily="34" charset="0"/>
              </a:rPr>
              <a:t> placed </a:t>
            </a:r>
            <a:r>
              <a:rPr kumimoji="0" lang="en-US" altLang="en-US" sz="2000" b="1" i="0" u="none" strike="noStrike" cap="none" normalizeH="0" baseline="0" dirty="0">
                <a:ln>
                  <a:noFill/>
                </a:ln>
                <a:solidFill>
                  <a:schemeClr val="tx1"/>
                </a:solidFill>
                <a:effectLst/>
                <a:latin typeface="Arial" panose="020B0604020202020204" pitchFamily="34" charset="0"/>
              </a:rPr>
              <a:t>axially</a:t>
            </a:r>
            <a:r>
              <a:rPr kumimoji="0" lang="en-US" altLang="en-US" sz="2000" b="0" i="0" u="none" strike="noStrike" cap="none" normalizeH="0" baseline="0" dirty="0">
                <a:ln>
                  <a:noFill/>
                </a:ln>
                <a:solidFill>
                  <a:schemeClr val="tx1"/>
                </a:solidFill>
                <a:effectLst/>
                <a:latin typeface="Arial" panose="020B0604020202020204" pitchFamily="34" charset="0"/>
              </a:rPr>
              <a:t> inside a </a:t>
            </a:r>
            <a:r>
              <a:rPr kumimoji="0" lang="en-US" altLang="en-US" sz="2000" b="1" i="0" u="none" strike="noStrike" cap="none" normalizeH="0" baseline="0" dirty="0">
                <a:ln>
                  <a:noFill/>
                </a:ln>
                <a:solidFill>
                  <a:schemeClr val="tx1"/>
                </a:solidFill>
                <a:effectLst/>
                <a:latin typeface="Arial" panose="020B0604020202020204" pitchFamily="34" charset="0"/>
              </a:rPr>
              <a:t>positively charged cylinder</a:t>
            </a:r>
            <a:r>
              <a:rPr kumimoji="0" lang="en-US" altLang="en-US" sz="2000" b="0" i="0" u="none" strike="noStrike" cap="none" normalizeH="0" baseline="0" dirty="0">
                <a:ln>
                  <a:noFill/>
                </a:ln>
                <a:solidFill>
                  <a:schemeClr val="tx1"/>
                </a:solidFill>
                <a:effectLst/>
                <a:latin typeface="Arial" panose="020B0604020202020204" pitchFamily="34" charset="0"/>
              </a:rPr>
              <a:t>.</a:t>
            </a:r>
          </a:p>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When a </a:t>
            </a:r>
            <a:r>
              <a:rPr kumimoji="0" lang="en-US" altLang="en-US" sz="2000" b="1" i="0" u="none" strike="noStrike" cap="none" normalizeH="0" baseline="0" dirty="0">
                <a:ln>
                  <a:noFill/>
                </a:ln>
                <a:solidFill>
                  <a:schemeClr val="tx1"/>
                </a:solidFill>
                <a:effectLst/>
                <a:latin typeface="Arial" panose="020B0604020202020204" pitchFamily="34" charset="0"/>
              </a:rPr>
              <a:t>particle-laden airstream</a:t>
            </a:r>
            <a:r>
              <a:rPr kumimoji="0" lang="en-US" altLang="en-US" sz="2000" b="0" i="0" u="none" strike="noStrike" cap="none" normalizeH="0" baseline="0" dirty="0">
                <a:ln>
                  <a:noFill/>
                </a:ln>
                <a:solidFill>
                  <a:schemeClr val="tx1"/>
                </a:solidFill>
                <a:effectLst/>
                <a:latin typeface="Arial" panose="020B0604020202020204" pitchFamily="34" charset="0"/>
              </a:rPr>
              <a:t> passes through the cylinder, the particles acquire a </a:t>
            </a:r>
            <a:r>
              <a:rPr kumimoji="0" lang="en-US" altLang="en-US" sz="2000" b="1" i="0" u="none" strike="noStrike" cap="none" normalizeH="0" baseline="0" dirty="0">
                <a:ln>
                  <a:noFill/>
                </a:ln>
                <a:solidFill>
                  <a:schemeClr val="tx1"/>
                </a:solidFill>
                <a:effectLst/>
                <a:latin typeface="Arial" panose="020B0604020202020204" pitchFamily="34" charset="0"/>
              </a:rPr>
              <a:t>negative charge</a:t>
            </a:r>
            <a:r>
              <a:rPr kumimoji="0" lang="en-US" altLang="en-US" sz="2000" b="0" i="0" u="none" strike="noStrike" cap="none" normalizeH="0" baseline="0" dirty="0">
                <a:ln>
                  <a:noFill/>
                </a:ln>
                <a:solidFill>
                  <a:schemeClr val="tx1"/>
                </a:solidFill>
                <a:effectLst/>
                <a:latin typeface="Arial" panose="020B0604020202020204" pitchFamily="34" charset="0"/>
              </a:rPr>
              <a:t> via a </a:t>
            </a:r>
            <a:r>
              <a:rPr kumimoji="0" lang="en-US" altLang="en-US" sz="2000" b="1" i="0" u="none" strike="noStrike" cap="none" normalizeH="0" baseline="0" dirty="0">
                <a:ln>
                  <a:noFill/>
                </a:ln>
                <a:solidFill>
                  <a:schemeClr val="tx1"/>
                </a:solidFill>
                <a:effectLst/>
                <a:latin typeface="Arial" panose="020B0604020202020204" pitchFamily="34" charset="0"/>
              </a:rPr>
              <a:t>corona discharge</a:t>
            </a:r>
            <a:r>
              <a:rPr kumimoji="0" lang="en-US" altLang="en-US" sz="2000" b="0" i="0" u="none" strike="noStrike" cap="none" normalizeH="0" baseline="0" dirty="0">
                <a:ln>
                  <a:noFill/>
                </a:ln>
                <a:solidFill>
                  <a:schemeClr val="tx1"/>
                </a:solidFill>
                <a:effectLst/>
                <a:latin typeface="Arial" panose="020B0604020202020204" pitchFamily="34" charset="0"/>
              </a:rPr>
              <a:t> from the central wire.</a:t>
            </a:r>
          </a:p>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The </a:t>
            </a:r>
            <a:r>
              <a:rPr kumimoji="0" lang="en-US" altLang="en-US" sz="2000" b="1" i="0" u="none" strike="noStrike" cap="none" normalizeH="0" baseline="0" dirty="0">
                <a:ln>
                  <a:noFill/>
                </a:ln>
                <a:solidFill>
                  <a:schemeClr val="tx1"/>
                </a:solidFill>
                <a:effectLst/>
                <a:latin typeface="Arial" panose="020B0604020202020204" pitchFamily="34" charset="0"/>
              </a:rPr>
              <a:t>negatively charged particles migrate</a:t>
            </a:r>
            <a:r>
              <a:rPr kumimoji="0" lang="en-US" altLang="en-US" sz="2000" b="0" i="0" u="none" strike="noStrike" cap="none" normalizeH="0" baseline="0" dirty="0">
                <a:ln>
                  <a:noFill/>
                </a:ln>
                <a:solidFill>
                  <a:schemeClr val="tx1"/>
                </a:solidFill>
                <a:effectLst/>
                <a:latin typeface="Arial" panose="020B0604020202020204" pitchFamily="34" charset="0"/>
              </a:rPr>
              <a:t> toward the </a:t>
            </a:r>
            <a:r>
              <a:rPr kumimoji="0" lang="en-US" altLang="en-US" sz="2000" b="1" i="0" u="none" strike="noStrike" cap="none" normalizeH="0" baseline="0" dirty="0">
                <a:ln>
                  <a:noFill/>
                </a:ln>
                <a:solidFill>
                  <a:schemeClr val="tx1"/>
                </a:solidFill>
                <a:effectLst/>
                <a:latin typeface="Arial" panose="020B0604020202020204" pitchFamily="34" charset="0"/>
              </a:rPr>
              <a:t>inner surface</a:t>
            </a:r>
            <a:r>
              <a:rPr kumimoji="0" lang="en-US" altLang="en-US" sz="2000" b="0" i="0" u="none" strike="noStrike" cap="none" normalizeH="0" baseline="0" dirty="0">
                <a:ln>
                  <a:noFill/>
                </a:ln>
                <a:solidFill>
                  <a:schemeClr val="tx1"/>
                </a:solidFill>
                <a:effectLst/>
                <a:latin typeface="Arial" panose="020B0604020202020204" pitchFamily="34" charset="0"/>
              </a:rPr>
              <a:t> of the positive cylinder, where they are collected for </a:t>
            </a:r>
            <a:r>
              <a:rPr kumimoji="0" lang="en-US" altLang="en-US" sz="2000" b="1" i="0" u="none" strike="noStrike" cap="none" normalizeH="0" baseline="0" dirty="0">
                <a:ln>
                  <a:noFill/>
                </a:ln>
                <a:solidFill>
                  <a:schemeClr val="tx1"/>
                </a:solidFill>
                <a:effectLst/>
                <a:latin typeface="Arial" panose="020B0604020202020204" pitchFamily="34" charset="0"/>
              </a:rPr>
              <a:t>chemical or microscopic analysis</a:t>
            </a:r>
            <a:r>
              <a:rPr kumimoji="0" lang="en-US" altLang="en-US" sz="2000" b="0" i="0" u="none" strike="noStrike" cap="none" normalizeH="0" baseline="0" dirty="0">
                <a:ln>
                  <a:noFill/>
                </a:ln>
                <a:solidFill>
                  <a:schemeClr val="tx1"/>
                </a:solidFill>
                <a:effectLst/>
                <a:latin typeface="Arial" panose="020B0604020202020204" pitchFamily="34" charset="0"/>
              </a:rPr>
              <a:t>.</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70371" y="133351"/>
            <a:ext cx="7600956" cy="892423"/>
          </a:xfrm>
          <a:prstGeom prst="rect">
            <a:avLst/>
          </a:prstGeom>
        </p:spPr>
        <p:txBody>
          <a:bodyPr vert="horz" wrap="square" lIns="0" tIns="396112" rIns="0" bIns="0" rtlCol="0">
            <a:spAutoFit/>
          </a:bodyPr>
          <a:lstStyle/>
          <a:p>
            <a:pPr marL="131448">
              <a:spcBef>
                <a:spcPts val="105"/>
              </a:spcBef>
            </a:pPr>
            <a:r>
              <a:rPr dirty="0"/>
              <a:t>Electrostatic</a:t>
            </a:r>
            <a:r>
              <a:rPr spc="-90" dirty="0"/>
              <a:t> </a:t>
            </a:r>
            <a:r>
              <a:rPr spc="-10" dirty="0"/>
              <a:t>Precipitation</a:t>
            </a:r>
          </a:p>
        </p:txBody>
      </p:sp>
      <p:pic>
        <p:nvPicPr>
          <p:cNvPr id="3" name="object 3"/>
          <p:cNvPicPr/>
          <p:nvPr/>
        </p:nvPicPr>
        <p:blipFill>
          <a:blip r:embed="rId3" cstate="print"/>
          <a:stretch>
            <a:fillRect/>
          </a:stretch>
        </p:blipFill>
        <p:spPr>
          <a:xfrm>
            <a:off x="1645920" y="1377699"/>
            <a:ext cx="8579754" cy="4592329"/>
          </a:xfrm>
          <a:prstGeom prst="rect">
            <a:avLst/>
          </a:prstGeom>
        </p:spPr>
      </p:pic>
      <p:sp>
        <p:nvSpPr>
          <p:cNvPr id="4" name="object 4"/>
          <p:cNvSpPr txBox="1">
            <a:spLocks noGrp="1"/>
          </p:cNvSpPr>
          <p:nvPr>
            <p:ph type="sldNum" sz="quarter" idx="7"/>
          </p:nvPr>
        </p:nvSpPr>
        <p:spPr>
          <a:xfrm>
            <a:off x="8993409" y="6464911"/>
            <a:ext cx="198636" cy="156068"/>
          </a:xfrm>
          <a:prstGeom prst="rect">
            <a:avLst/>
          </a:prstGeom>
        </p:spPr>
        <p:txBody>
          <a:bodyPr vert="horz" wrap="square" lIns="0" tIns="0" rIns="0" bIns="0" rtlCol="0">
            <a:spAutoFit/>
          </a:bodyPr>
          <a:lstStyle/>
          <a:p>
            <a:pPr marL="38101">
              <a:lnSpc>
                <a:spcPts val="1239"/>
              </a:lnSpc>
            </a:pPr>
            <a:fld id="{81D60167-4931-47E6-BA6A-407CBD079E47}" type="slidenum">
              <a:rPr spc="-25" dirty="0"/>
              <a:pPr marL="38101">
                <a:lnSpc>
                  <a:spcPts val="1239"/>
                </a:lnSpc>
              </a:pPr>
              <a:t>50</a:t>
            </a:fld>
            <a:endParaRPr spc="-25"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xfrm>
            <a:off x="8993408" y="6464911"/>
            <a:ext cx="244831" cy="156068"/>
          </a:xfrm>
          <a:prstGeom prst="rect">
            <a:avLst/>
          </a:prstGeom>
        </p:spPr>
        <p:txBody>
          <a:bodyPr vert="horz" wrap="square" lIns="0" tIns="0" rIns="0" bIns="0" rtlCol="0">
            <a:spAutoFit/>
          </a:bodyPr>
          <a:lstStyle/>
          <a:p>
            <a:pPr marL="38101">
              <a:lnSpc>
                <a:spcPts val="1239"/>
              </a:lnSpc>
            </a:pPr>
            <a:fld id="{81D60167-4931-47E6-BA6A-407CBD079E47}" type="slidenum">
              <a:rPr spc="-25" dirty="0"/>
              <a:pPr marL="38101">
                <a:lnSpc>
                  <a:spcPts val="1239"/>
                </a:lnSpc>
              </a:pPr>
              <a:t>51</a:t>
            </a:fld>
            <a:endParaRPr spc="-25" dirty="0"/>
          </a:p>
        </p:txBody>
      </p:sp>
      <p:sp>
        <p:nvSpPr>
          <p:cNvPr id="2" name="object 2"/>
          <p:cNvSpPr txBox="1">
            <a:spLocks noGrp="1"/>
          </p:cNvSpPr>
          <p:nvPr>
            <p:ph type="title"/>
          </p:nvPr>
        </p:nvSpPr>
        <p:spPr>
          <a:xfrm>
            <a:off x="470370" y="133351"/>
            <a:ext cx="9368633" cy="892423"/>
          </a:xfrm>
          <a:prstGeom prst="rect">
            <a:avLst/>
          </a:prstGeom>
        </p:spPr>
        <p:txBody>
          <a:bodyPr vert="horz" wrap="square" lIns="0" tIns="396112" rIns="0" bIns="0" rtlCol="0">
            <a:spAutoFit/>
          </a:bodyPr>
          <a:lstStyle/>
          <a:p>
            <a:pPr marL="131448">
              <a:spcBef>
                <a:spcPts val="105"/>
              </a:spcBef>
            </a:pPr>
            <a:r>
              <a:rPr dirty="0"/>
              <a:t>Electrostatic</a:t>
            </a:r>
            <a:r>
              <a:rPr spc="-90" dirty="0"/>
              <a:t> </a:t>
            </a:r>
            <a:r>
              <a:rPr spc="-10" dirty="0"/>
              <a:t>Precipitation</a:t>
            </a:r>
          </a:p>
        </p:txBody>
      </p:sp>
      <p:sp>
        <p:nvSpPr>
          <p:cNvPr id="3" name="object 3"/>
          <p:cNvSpPr txBox="1">
            <a:spLocks noGrp="1"/>
          </p:cNvSpPr>
          <p:nvPr>
            <p:ph type="body" idx="1"/>
          </p:nvPr>
        </p:nvSpPr>
        <p:spPr>
          <a:xfrm>
            <a:off x="451300" y="1243920"/>
            <a:ext cx="11054900" cy="4397422"/>
          </a:xfrm>
          <a:prstGeom prst="rect">
            <a:avLst/>
          </a:prstGeom>
        </p:spPr>
        <p:txBody>
          <a:bodyPr vert="horz" wrap="square" lIns="0" tIns="17145" rIns="0" bIns="0" rtlCol="0">
            <a:spAutoFit/>
          </a:bodyPr>
          <a:lstStyle/>
          <a:p>
            <a:pPr marL="342900" lvl="0" indent="-342900" algn="l" rtl="0" eaLnBrk="0" fontAlgn="base" hangingPunct="0">
              <a:lnSpc>
                <a:spcPct val="150000"/>
              </a:lnSpc>
              <a:spcBef>
                <a:spcPct val="0"/>
              </a:spcBef>
              <a:spcAft>
                <a:spcPct val="0"/>
              </a:spcAft>
              <a:buFont typeface="Arial" panose="020B0604020202020204" pitchFamily="34" charset="0"/>
              <a:buChar char="•"/>
            </a:pPr>
            <a:r>
              <a:rPr lang="en-US" altLang="en-US" sz="2000" b="1" dirty="0">
                <a:latin typeface="Arial" panose="020B0604020202020204" pitchFamily="34" charset="0"/>
              </a:rPr>
              <a:t>Separation Range</a:t>
            </a:r>
            <a:r>
              <a:rPr lang="en-US" altLang="en-US" sz="2000" dirty="0">
                <a:latin typeface="Arial" panose="020B0604020202020204" pitchFamily="34" charset="0"/>
              </a:rPr>
              <a:t>: Small, portable samplers designed for </a:t>
            </a:r>
            <a:r>
              <a:rPr lang="en-US" altLang="en-US" sz="2000" b="1" dirty="0">
                <a:latin typeface="Arial" panose="020B0604020202020204" pitchFamily="34" charset="0"/>
              </a:rPr>
              <a:t>field operation</a:t>
            </a:r>
            <a:r>
              <a:rPr lang="en-US" altLang="en-US" sz="2000" dirty="0">
                <a:latin typeface="Arial" panose="020B0604020202020204" pitchFamily="34" charset="0"/>
              </a:rPr>
              <a:t> exhibit excellent separation characteristics for particles in the size range of </a:t>
            </a:r>
            <a:r>
              <a:rPr lang="en-US" altLang="en-US" sz="2000" b="1" dirty="0">
                <a:latin typeface="Arial" panose="020B0604020202020204" pitchFamily="34" charset="0"/>
              </a:rPr>
              <a:t>0.01 to 20 µm</a:t>
            </a:r>
            <a:r>
              <a:rPr lang="en-US" altLang="en-US" sz="2000" dirty="0">
                <a:latin typeface="Arial" panose="020B0604020202020204" pitchFamily="34" charset="0"/>
              </a:rPr>
              <a:t>.</a:t>
            </a:r>
          </a:p>
          <a:p>
            <a:pPr marL="342900" lvl="0" indent="-342900" algn="l" rtl="0" eaLnBrk="0" fontAlgn="base" hangingPunct="0">
              <a:lnSpc>
                <a:spcPct val="150000"/>
              </a:lnSpc>
              <a:spcBef>
                <a:spcPct val="0"/>
              </a:spcBef>
              <a:spcAft>
                <a:spcPct val="0"/>
              </a:spcAft>
              <a:buFont typeface="Arial" panose="020B0604020202020204" pitchFamily="34" charset="0"/>
              <a:buChar char="•"/>
            </a:pPr>
            <a:r>
              <a:rPr lang="en-US" altLang="en-US" sz="2000" dirty="0">
                <a:latin typeface="Arial" panose="020B0604020202020204" pitchFamily="34" charset="0"/>
              </a:rPr>
              <a:t>These devices are </a:t>
            </a:r>
            <a:r>
              <a:rPr lang="en-US" altLang="en-US" sz="2000" b="1" dirty="0">
                <a:latin typeface="Arial" panose="020B0604020202020204" pitchFamily="34" charset="0"/>
              </a:rPr>
              <a:t>not as widely used</a:t>
            </a:r>
            <a:r>
              <a:rPr lang="en-US" altLang="en-US" sz="2000" dirty="0">
                <a:latin typeface="Arial" panose="020B0604020202020204" pitchFamily="34" charset="0"/>
              </a:rPr>
              <a:t> for </a:t>
            </a:r>
            <a:r>
              <a:rPr lang="en-US" altLang="en-US" sz="2000" b="1" dirty="0">
                <a:latin typeface="Arial" panose="020B0604020202020204" pitchFamily="34" charset="0"/>
              </a:rPr>
              <a:t>ambient air sampling</a:t>
            </a:r>
            <a:r>
              <a:rPr lang="en-US" altLang="en-US" sz="2000" dirty="0">
                <a:latin typeface="Arial" panose="020B0604020202020204" pitchFamily="34" charset="0"/>
              </a:rPr>
              <a:t> as standard filters.</a:t>
            </a:r>
          </a:p>
          <a:p>
            <a:pPr marL="342900" lvl="0" indent="-342900" algn="l" rtl="0" eaLnBrk="0" fontAlgn="base" hangingPunct="0">
              <a:lnSpc>
                <a:spcPct val="150000"/>
              </a:lnSpc>
              <a:spcBef>
                <a:spcPct val="0"/>
              </a:spcBef>
              <a:spcAft>
                <a:spcPct val="0"/>
              </a:spcAft>
              <a:buFont typeface="Arial" panose="020B0604020202020204" pitchFamily="34" charset="0"/>
              <a:buChar char="•"/>
            </a:pPr>
            <a:r>
              <a:rPr lang="en-US" altLang="en-US" sz="2000" b="1" dirty="0">
                <a:latin typeface="Arial" panose="020B0604020202020204" pitchFamily="34" charset="0"/>
              </a:rPr>
              <a:t>Ideal Use Case</a:t>
            </a:r>
            <a:r>
              <a:rPr lang="en-US" altLang="en-US" sz="2000" dirty="0">
                <a:latin typeface="Arial" panose="020B0604020202020204" pitchFamily="34" charset="0"/>
              </a:rPr>
              <a:t>: They are significantly </a:t>
            </a:r>
            <a:r>
              <a:rPr lang="en-US" altLang="en-US" sz="2000" b="1" dirty="0">
                <a:latin typeface="Arial" panose="020B0604020202020204" pitchFamily="34" charset="0"/>
              </a:rPr>
              <a:t>more suitable for source sampling</a:t>
            </a:r>
            <a:r>
              <a:rPr lang="en-US" altLang="en-US" sz="2000" dirty="0">
                <a:latin typeface="Arial" panose="020B0604020202020204" pitchFamily="34" charset="0"/>
              </a:rPr>
              <a:t>, particularly in environments where the </a:t>
            </a:r>
            <a:r>
              <a:rPr lang="en-US" altLang="en-US" sz="2000" b="1" dirty="0">
                <a:latin typeface="Arial" panose="020B0604020202020204" pitchFamily="34" charset="0"/>
              </a:rPr>
              <a:t>particle loading is relatively high</a:t>
            </a:r>
            <a:r>
              <a:rPr lang="en-US" altLang="en-US" sz="2000" dirty="0">
                <a:latin typeface="Arial" panose="020B0604020202020204" pitchFamily="34" charset="0"/>
              </a:rPr>
              <a:t>.</a:t>
            </a:r>
          </a:p>
          <a:p>
            <a:pPr lvl="1" algn="l" rtl="0" eaLnBrk="0" fontAlgn="base" hangingPunct="0">
              <a:lnSpc>
                <a:spcPct val="150000"/>
              </a:lnSpc>
              <a:spcBef>
                <a:spcPct val="0"/>
              </a:spcBef>
              <a:spcAft>
                <a:spcPct val="0"/>
              </a:spcAft>
            </a:pPr>
            <a:r>
              <a:rPr lang="en-US" sz="2000" dirty="0"/>
              <a:t>In "source sampling" (such as inside a factory or near a smokestack), regular filters would clog almost instantly. The </a:t>
            </a:r>
            <a:r>
              <a:rPr lang="en-US" sz="2000" b="1" dirty="0"/>
              <a:t>electrostatic design</a:t>
            </a:r>
            <a:r>
              <a:rPr lang="en-US" sz="2000" dirty="0"/>
              <a:t> allows for continuous collection even under </a:t>
            </a:r>
            <a:r>
              <a:rPr lang="en-US" sz="2000" b="1" dirty="0"/>
              <a:t>heavy pollutant loads</a:t>
            </a:r>
            <a:r>
              <a:rPr lang="en-US" sz="2000" dirty="0"/>
              <a:t>.</a:t>
            </a:r>
            <a:endParaRPr lang="en-US" altLang="en-US" sz="2000" dirty="0">
              <a:latin typeface="Arial" panose="020B0604020202020204" pitchFamily="34" charset="0"/>
            </a:endParaRPr>
          </a:p>
          <a:p>
            <a:pPr marL="355600" marR="5081" indent="-342900">
              <a:lnSpc>
                <a:spcPct val="150000"/>
              </a:lnSpc>
              <a:spcBef>
                <a:spcPts val="1050"/>
              </a:spcBef>
              <a:buFont typeface="Arial" panose="020B0604020202020204" pitchFamily="34" charset="0"/>
              <a:buChar char="•"/>
              <a:tabLst>
                <a:tab pos="241306" algn="l"/>
              </a:tabLst>
            </a:pPr>
            <a:endParaRPr lang="en-IN" sz="2000" spc="-10" dirty="0"/>
          </a:p>
          <a:p>
            <a:pPr marL="355600" marR="5081" indent="-342900">
              <a:lnSpc>
                <a:spcPct val="150000"/>
              </a:lnSpc>
              <a:spcBef>
                <a:spcPts val="1050"/>
              </a:spcBef>
              <a:buFont typeface="Arial" panose="020B0604020202020204" pitchFamily="34" charset="0"/>
              <a:buChar char="•"/>
              <a:tabLst>
                <a:tab pos="241306" algn="l"/>
              </a:tabLst>
            </a:pPr>
            <a:endParaRPr sz="2000" spc="-1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xfrm>
            <a:off x="8993409" y="6464911"/>
            <a:ext cx="198636" cy="156068"/>
          </a:xfrm>
          <a:prstGeom prst="rect">
            <a:avLst/>
          </a:prstGeom>
        </p:spPr>
        <p:txBody>
          <a:bodyPr vert="horz" wrap="square" lIns="0" tIns="0" rIns="0" bIns="0" rtlCol="0">
            <a:spAutoFit/>
          </a:bodyPr>
          <a:lstStyle/>
          <a:p>
            <a:pPr marL="38101">
              <a:lnSpc>
                <a:spcPts val="1239"/>
              </a:lnSpc>
            </a:pPr>
            <a:fld id="{81D60167-4931-47E6-BA6A-407CBD079E47}" type="slidenum">
              <a:rPr spc="-25" dirty="0"/>
              <a:pPr marL="38101">
                <a:lnSpc>
                  <a:spcPts val="1239"/>
                </a:lnSpc>
              </a:pPr>
              <a:t>52</a:t>
            </a:fld>
            <a:endParaRPr spc="-25" dirty="0"/>
          </a:p>
        </p:txBody>
      </p:sp>
      <p:sp>
        <p:nvSpPr>
          <p:cNvPr id="2" name="object 2"/>
          <p:cNvSpPr txBox="1">
            <a:spLocks noGrp="1"/>
          </p:cNvSpPr>
          <p:nvPr>
            <p:ph type="title"/>
          </p:nvPr>
        </p:nvSpPr>
        <p:spPr>
          <a:xfrm>
            <a:off x="470371" y="133351"/>
            <a:ext cx="7600956" cy="892423"/>
          </a:xfrm>
          <a:prstGeom prst="rect">
            <a:avLst/>
          </a:prstGeom>
        </p:spPr>
        <p:txBody>
          <a:bodyPr vert="horz" wrap="square" lIns="0" tIns="396112" rIns="0" bIns="0" rtlCol="0">
            <a:spAutoFit/>
          </a:bodyPr>
          <a:lstStyle/>
          <a:p>
            <a:pPr marL="131448">
              <a:spcBef>
                <a:spcPts val="105"/>
              </a:spcBef>
            </a:pPr>
            <a:r>
              <a:rPr dirty="0"/>
              <a:t>Thermal</a:t>
            </a:r>
            <a:r>
              <a:rPr spc="-60" dirty="0"/>
              <a:t> </a:t>
            </a:r>
            <a:r>
              <a:rPr spc="-10" dirty="0"/>
              <a:t>Precipitation</a:t>
            </a:r>
          </a:p>
        </p:txBody>
      </p:sp>
      <p:sp>
        <p:nvSpPr>
          <p:cNvPr id="3" name="object 3"/>
          <p:cNvSpPr txBox="1"/>
          <p:nvPr/>
        </p:nvSpPr>
        <p:spPr>
          <a:xfrm>
            <a:off x="555447" y="1295400"/>
            <a:ext cx="10625455" cy="5509265"/>
          </a:xfrm>
          <a:prstGeom prst="rect">
            <a:avLst/>
          </a:prstGeom>
        </p:spPr>
        <p:txBody>
          <a:bodyPr vert="horz" wrap="square" lIns="0" tIns="13335" rIns="0" bIns="0" rtlCol="0">
            <a:spAutoFit/>
          </a:bodyPr>
          <a:lstStyle/>
          <a:p>
            <a:pPr marL="342900" indent="-342900" algn="just">
              <a:lnSpc>
                <a:spcPct val="150000"/>
              </a:lnSpc>
              <a:buFont typeface="Arial" panose="020B0604020202020204" pitchFamily="34" charset="0"/>
              <a:buChar char="•"/>
            </a:pPr>
            <a:r>
              <a:rPr lang="en-US" sz="2000" b="1" dirty="0"/>
              <a:t>Thermal precipitators</a:t>
            </a:r>
            <a:r>
              <a:rPr lang="en-US" sz="2000" dirty="0"/>
              <a:t> operate on the principle that small particles, under the influence of a </a:t>
            </a:r>
            <a:r>
              <a:rPr lang="en-US" sz="2000" b="1" dirty="0"/>
              <a:t>strong temperature gradient</a:t>
            </a:r>
            <a:r>
              <a:rPr lang="en-US" sz="2000" dirty="0"/>
              <a:t> between two surfaces, tend to move towards the </a:t>
            </a:r>
            <a:r>
              <a:rPr lang="en-US" sz="2000" b="1" dirty="0"/>
              <a:t>lower temperature</a:t>
            </a:r>
            <a:r>
              <a:rPr lang="en-US" sz="2000" dirty="0"/>
              <a:t>.</a:t>
            </a:r>
          </a:p>
          <a:p>
            <a:pPr marL="342900" indent="-342900" algn="just">
              <a:lnSpc>
                <a:spcPct val="150000"/>
              </a:lnSpc>
              <a:buFont typeface="Arial" panose="020B0604020202020204" pitchFamily="34" charset="0"/>
              <a:buChar char="•"/>
            </a:pPr>
            <a:r>
              <a:rPr lang="en-US" sz="2000" dirty="0"/>
              <a:t>As particles move toward the colder zone, they get </a:t>
            </a:r>
            <a:r>
              <a:rPr lang="en-US" sz="2000" b="1" dirty="0"/>
              <a:t>deposited</a:t>
            </a:r>
            <a:r>
              <a:rPr lang="en-US" sz="2000" dirty="0"/>
              <a:t> on the colder of the two surfaces.</a:t>
            </a:r>
          </a:p>
          <a:p>
            <a:pPr marL="342900" indent="-342900" algn="just">
              <a:lnSpc>
                <a:spcPct val="150000"/>
              </a:lnSpc>
              <a:buFont typeface="Arial" panose="020B0604020202020204" pitchFamily="34" charset="0"/>
              <a:buChar char="•"/>
            </a:pPr>
            <a:r>
              <a:rPr lang="en-US" sz="2000" b="1" dirty="0"/>
              <a:t>Gradient Intensity</a:t>
            </a:r>
            <a:r>
              <a:rPr lang="en-US" sz="2000" dirty="0"/>
              <a:t>: These </a:t>
            </a:r>
            <a:r>
              <a:rPr lang="en-US" sz="2000" b="1" dirty="0"/>
              <a:t>temperature gradients</a:t>
            </a:r>
            <a:r>
              <a:rPr lang="en-US" sz="2000" dirty="0"/>
              <a:t> are normally of the order of </a:t>
            </a:r>
            <a:r>
              <a:rPr lang="en-US" sz="2000" b="1" dirty="0"/>
              <a:t>3000 °C per centimeter</a:t>
            </a:r>
            <a:r>
              <a:rPr lang="en-US" sz="2000" dirty="0"/>
              <a:t>.</a:t>
            </a:r>
          </a:p>
          <a:p>
            <a:pPr marL="342900" indent="-342900" algn="just">
              <a:lnSpc>
                <a:spcPct val="150000"/>
              </a:lnSpc>
              <a:buFont typeface="Arial" panose="020B0604020202020204" pitchFamily="34" charset="0"/>
              <a:buChar char="•"/>
            </a:pPr>
            <a:r>
              <a:rPr lang="en-US" sz="2000" dirty="0"/>
              <a:t>To maintain such high gradients, the </a:t>
            </a:r>
            <a:r>
              <a:rPr lang="en-US" sz="2000" b="1" dirty="0"/>
              <a:t>gas velocity</a:t>
            </a:r>
            <a:r>
              <a:rPr lang="en-US" sz="2000" dirty="0"/>
              <a:t> through the sampling device must be kept </a:t>
            </a:r>
            <a:r>
              <a:rPr lang="en-US" sz="2000" b="1" dirty="0"/>
              <a:t>low</a:t>
            </a:r>
            <a:r>
              <a:rPr lang="en-US" sz="2000" dirty="0"/>
              <a:t>.</a:t>
            </a:r>
          </a:p>
          <a:p>
            <a:pPr marL="342900" indent="-342900" algn="just">
              <a:lnSpc>
                <a:spcPct val="150000"/>
              </a:lnSpc>
              <a:buFont typeface="Arial" panose="020B0604020202020204" pitchFamily="34" charset="0"/>
              <a:buChar char="•"/>
            </a:pPr>
            <a:r>
              <a:rPr lang="en-US" sz="2000" b="1" dirty="0"/>
              <a:t>Sampling Rate</a:t>
            </a:r>
            <a:r>
              <a:rPr lang="en-US" sz="2000" dirty="0"/>
              <a:t>: The flow rate is usually between </a:t>
            </a:r>
            <a:r>
              <a:rPr lang="en-US" sz="2000" b="1" dirty="0"/>
              <a:t>10 and 200 ml per minute</a:t>
            </a:r>
            <a:r>
              <a:rPr lang="en-US" sz="2000" dirty="0"/>
              <a:t>, depending on the specific type of device used.</a:t>
            </a:r>
          </a:p>
          <a:p>
            <a:pPr marL="241306" marR="92712" indent="-228606" algn="just">
              <a:lnSpc>
                <a:spcPct val="150000"/>
              </a:lnSpc>
              <a:spcBef>
                <a:spcPts val="105"/>
              </a:spcBef>
              <a:buChar char="•"/>
              <a:tabLst>
                <a:tab pos="241306" algn="l"/>
                <a:tab pos="320049" algn="l"/>
              </a:tabLst>
            </a:pPr>
            <a:endParaRPr sz="2000" dirty="0">
              <a:latin typeface="Arial MT"/>
              <a:cs typeface="Arial MT"/>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70371" y="133351"/>
            <a:ext cx="7600956" cy="892423"/>
          </a:xfrm>
          <a:prstGeom prst="rect">
            <a:avLst/>
          </a:prstGeom>
        </p:spPr>
        <p:txBody>
          <a:bodyPr vert="horz" wrap="square" lIns="0" tIns="396112" rIns="0" bIns="0" rtlCol="0">
            <a:spAutoFit/>
          </a:bodyPr>
          <a:lstStyle/>
          <a:p>
            <a:pPr marL="131448">
              <a:spcBef>
                <a:spcPts val="105"/>
              </a:spcBef>
            </a:pPr>
            <a:r>
              <a:rPr dirty="0"/>
              <a:t>Thermal</a:t>
            </a:r>
            <a:r>
              <a:rPr spc="-70" dirty="0"/>
              <a:t> </a:t>
            </a:r>
            <a:r>
              <a:rPr spc="-10" dirty="0"/>
              <a:t>Precipitator</a:t>
            </a:r>
          </a:p>
        </p:txBody>
      </p:sp>
      <p:pic>
        <p:nvPicPr>
          <p:cNvPr id="3" name="object 3"/>
          <p:cNvPicPr/>
          <p:nvPr/>
        </p:nvPicPr>
        <p:blipFill>
          <a:blip r:embed="rId3" cstate="print"/>
          <a:stretch>
            <a:fillRect/>
          </a:stretch>
        </p:blipFill>
        <p:spPr>
          <a:xfrm>
            <a:off x="3409853" y="2318007"/>
            <a:ext cx="5586945" cy="3038857"/>
          </a:xfrm>
          <a:prstGeom prst="rect">
            <a:avLst/>
          </a:prstGeom>
        </p:spPr>
      </p:pic>
      <p:sp>
        <p:nvSpPr>
          <p:cNvPr id="4" name="object 4"/>
          <p:cNvSpPr txBox="1">
            <a:spLocks noGrp="1"/>
          </p:cNvSpPr>
          <p:nvPr>
            <p:ph type="sldNum" sz="quarter" idx="7"/>
          </p:nvPr>
        </p:nvSpPr>
        <p:spPr>
          <a:xfrm>
            <a:off x="8993409" y="6464911"/>
            <a:ext cx="198636" cy="156068"/>
          </a:xfrm>
          <a:prstGeom prst="rect">
            <a:avLst/>
          </a:prstGeom>
        </p:spPr>
        <p:txBody>
          <a:bodyPr vert="horz" wrap="square" lIns="0" tIns="0" rIns="0" bIns="0" rtlCol="0">
            <a:spAutoFit/>
          </a:bodyPr>
          <a:lstStyle/>
          <a:p>
            <a:pPr marL="38101">
              <a:lnSpc>
                <a:spcPts val="1239"/>
              </a:lnSpc>
            </a:pPr>
            <a:fld id="{81D60167-4931-47E6-BA6A-407CBD079E47}" type="slidenum">
              <a:rPr spc="-25" dirty="0"/>
              <a:pPr marL="38101">
                <a:lnSpc>
                  <a:spcPts val="1239"/>
                </a:lnSpc>
              </a:pPr>
              <a:t>53</a:t>
            </a:fld>
            <a:endParaRPr spc="-25"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xfrm>
            <a:off x="8993409" y="6464911"/>
            <a:ext cx="198636" cy="156068"/>
          </a:xfrm>
          <a:prstGeom prst="rect">
            <a:avLst/>
          </a:prstGeom>
        </p:spPr>
        <p:txBody>
          <a:bodyPr vert="horz" wrap="square" lIns="0" tIns="0" rIns="0" bIns="0" rtlCol="0">
            <a:spAutoFit/>
          </a:bodyPr>
          <a:lstStyle/>
          <a:p>
            <a:pPr marL="38101">
              <a:lnSpc>
                <a:spcPts val="1239"/>
              </a:lnSpc>
            </a:pPr>
            <a:fld id="{81D60167-4931-47E6-BA6A-407CBD079E47}" type="slidenum">
              <a:rPr spc="-25" dirty="0"/>
              <a:pPr marL="38101">
                <a:lnSpc>
                  <a:spcPts val="1239"/>
                </a:lnSpc>
              </a:pPr>
              <a:t>54</a:t>
            </a:fld>
            <a:endParaRPr spc="-25" dirty="0"/>
          </a:p>
        </p:txBody>
      </p:sp>
      <p:sp>
        <p:nvSpPr>
          <p:cNvPr id="2" name="object 2"/>
          <p:cNvSpPr txBox="1">
            <a:spLocks noGrp="1"/>
          </p:cNvSpPr>
          <p:nvPr>
            <p:ph type="title"/>
          </p:nvPr>
        </p:nvSpPr>
        <p:spPr>
          <a:xfrm>
            <a:off x="470371" y="133351"/>
            <a:ext cx="7600956" cy="892423"/>
          </a:xfrm>
          <a:prstGeom prst="rect">
            <a:avLst/>
          </a:prstGeom>
        </p:spPr>
        <p:txBody>
          <a:bodyPr vert="horz" wrap="square" lIns="0" tIns="396112" rIns="0" bIns="0" rtlCol="0">
            <a:spAutoFit/>
          </a:bodyPr>
          <a:lstStyle/>
          <a:p>
            <a:pPr marL="131448">
              <a:spcBef>
                <a:spcPts val="105"/>
              </a:spcBef>
            </a:pPr>
            <a:r>
              <a:rPr dirty="0"/>
              <a:t>Thermal</a:t>
            </a:r>
            <a:r>
              <a:rPr spc="-60" dirty="0"/>
              <a:t> </a:t>
            </a:r>
            <a:r>
              <a:rPr spc="-10" dirty="0"/>
              <a:t>Precipitation</a:t>
            </a:r>
          </a:p>
        </p:txBody>
      </p:sp>
      <p:sp>
        <p:nvSpPr>
          <p:cNvPr id="3" name="object 3"/>
          <p:cNvSpPr txBox="1"/>
          <p:nvPr/>
        </p:nvSpPr>
        <p:spPr>
          <a:xfrm>
            <a:off x="555447" y="1600161"/>
            <a:ext cx="10993120" cy="2484655"/>
          </a:xfrm>
          <a:prstGeom prst="rect">
            <a:avLst/>
          </a:prstGeom>
        </p:spPr>
        <p:txBody>
          <a:bodyPr vert="horz" wrap="square" lIns="0" tIns="9525" rIns="0" bIns="0" rtlCol="0">
            <a:spAutoFit/>
          </a:bodyPr>
          <a:lstStyle/>
          <a:p>
            <a:pPr marL="355600" marR="5081" indent="-342900">
              <a:lnSpc>
                <a:spcPct val="150000"/>
              </a:lnSpc>
              <a:spcBef>
                <a:spcPts val="75"/>
              </a:spcBef>
              <a:buFont typeface="Arial" panose="020B0604020202020204" pitchFamily="34" charset="0"/>
              <a:buChar char="•"/>
              <a:tabLst>
                <a:tab pos="241306" algn="l"/>
                <a:tab pos="320049" algn="l"/>
              </a:tabLst>
            </a:pPr>
            <a:r>
              <a:rPr kumimoji="0" lang="en-US" altLang="en-US" sz="2000" b="1" i="0" u="none" strike="noStrike" cap="none" normalizeH="0" baseline="0" dirty="0">
                <a:ln>
                  <a:noFill/>
                </a:ln>
                <a:solidFill>
                  <a:schemeClr val="tx1"/>
                </a:solidFill>
                <a:effectLst/>
                <a:latin typeface="Arial" panose="020B0604020202020204" pitchFamily="34" charset="0"/>
              </a:rPr>
              <a:t>High Collection Efficiency</a:t>
            </a:r>
            <a:r>
              <a:rPr kumimoji="0" lang="en-US" altLang="en-US" sz="2000" b="0" i="0" u="none" strike="noStrike" cap="none" normalizeH="0" baseline="0" dirty="0">
                <a:ln>
                  <a:noFill/>
                </a:ln>
                <a:solidFill>
                  <a:schemeClr val="tx1"/>
                </a:solidFill>
                <a:effectLst/>
                <a:latin typeface="Arial" panose="020B0604020202020204" pitchFamily="34" charset="0"/>
              </a:rPr>
              <a:t>: The collection efficiencies of </a:t>
            </a:r>
            <a:r>
              <a:rPr kumimoji="0" lang="en-US" altLang="en-US" sz="2000" b="1" i="0" u="none" strike="noStrike" cap="none" normalizeH="0" baseline="0" dirty="0">
                <a:ln>
                  <a:noFill/>
                </a:ln>
                <a:solidFill>
                  <a:schemeClr val="tx1"/>
                </a:solidFill>
                <a:effectLst/>
                <a:latin typeface="Arial" panose="020B0604020202020204" pitchFamily="34" charset="0"/>
              </a:rPr>
              <a:t>thermal precipitators</a:t>
            </a:r>
            <a:r>
              <a:rPr kumimoji="0" lang="en-US" altLang="en-US" sz="2000" b="0" i="0" u="none" strike="noStrike" cap="none" normalizeH="0" baseline="0" dirty="0">
                <a:ln>
                  <a:noFill/>
                </a:ln>
                <a:solidFill>
                  <a:schemeClr val="tx1"/>
                </a:solidFill>
                <a:effectLst/>
                <a:latin typeface="Arial" panose="020B0604020202020204" pitchFamily="34" charset="0"/>
              </a:rPr>
              <a:t> are remarkably high for </a:t>
            </a:r>
            <a:r>
              <a:rPr kumimoji="0" lang="en-US" altLang="en-US" sz="2000" b="1" i="0" u="none" strike="noStrike" cap="none" normalizeH="0" baseline="0" dirty="0">
                <a:ln>
                  <a:noFill/>
                </a:ln>
                <a:solidFill>
                  <a:schemeClr val="tx1"/>
                </a:solidFill>
                <a:effectLst/>
                <a:latin typeface="Arial" panose="020B0604020202020204" pitchFamily="34" charset="0"/>
              </a:rPr>
              <a:t>small particles</a:t>
            </a:r>
            <a:r>
              <a:rPr kumimoji="0" lang="en-US" altLang="en-US" sz="2000" b="0" i="0" u="none" strike="noStrike" cap="none" normalizeH="0" baseline="0" dirty="0">
                <a:ln>
                  <a:noFill/>
                </a:ln>
                <a:solidFill>
                  <a:schemeClr val="tx1"/>
                </a:solidFill>
                <a:effectLst/>
                <a:latin typeface="Arial" panose="020B0604020202020204" pitchFamily="34" charset="0"/>
              </a:rPr>
              <a:t>.</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Size Range</a:t>
            </a:r>
            <a:r>
              <a:rPr kumimoji="0" lang="en-US" altLang="en-US" sz="2000" b="0" i="0" u="none" strike="noStrike" cap="none" normalizeH="0" baseline="0" dirty="0">
                <a:ln>
                  <a:noFill/>
                </a:ln>
                <a:solidFill>
                  <a:schemeClr val="tx1"/>
                </a:solidFill>
                <a:effectLst/>
                <a:latin typeface="Arial" panose="020B0604020202020204" pitchFamily="34" charset="0"/>
              </a:rPr>
              <a:t>: These devices are virtually </a:t>
            </a:r>
            <a:r>
              <a:rPr kumimoji="0" lang="en-US" altLang="en-US" sz="2000" b="1" i="0" u="none" strike="noStrike" cap="none" normalizeH="0" baseline="0" dirty="0">
                <a:ln>
                  <a:noFill/>
                </a:ln>
                <a:solidFill>
                  <a:schemeClr val="tx1"/>
                </a:solidFill>
                <a:effectLst/>
                <a:latin typeface="Arial" panose="020B0604020202020204" pitchFamily="34" charset="0"/>
              </a:rPr>
              <a:t>100% efficient</a:t>
            </a:r>
            <a:r>
              <a:rPr kumimoji="0" lang="en-US" altLang="en-US" sz="2000" b="0" i="0" u="none" strike="noStrike" cap="none" normalizeH="0" baseline="0" dirty="0">
                <a:ln>
                  <a:noFill/>
                </a:ln>
                <a:solidFill>
                  <a:schemeClr val="tx1"/>
                </a:solidFill>
                <a:effectLst/>
                <a:latin typeface="Arial" panose="020B0604020202020204" pitchFamily="34" charset="0"/>
              </a:rPr>
              <a:t> for particles ranging from </a:t>
            </a:r>
            <a:r>
              <a:rPr kumimoji="0" lang="en-US" altLang="en-US" sz="2000" b="1" i="0" u="none" strike="noStrike" cap="none" normalizeH="0" baseline="0" dirty="0">
                <a:ln>
                  <a:noFill/>
                </a:ln>
                <a:solidFill>
                  <a:schemeClr val="tx1"/>
                </a:solidFill>
                <a:effectLst/>
                <a:latin typeface="Arial" panose="020B0604020202020204" pitchFamily="34" charset="0"/>
              </a:rPr>
              <a:t>10 µm down to 0.01 µ</a:t>
            </a:r>
            <a:endParaRPr lang="en-US" sz="2000" dirty="0">
              <a:latin typeface="Arial MT"/>
              <a:cs typeface="Arial MT"/>
            </a:endParaRPr>
          </a:p>
          <a:p>
            <a:pPr marL="240036" indent="-227336">
              <a:spcBef>
                <a:spcPts val="2495"/>
              </a:spcBef>
              <a:buChar char="•"/>
              <a:tabLst>
                <a:tab pos="239400" algn="l"/>
              </a:tabLst>
            </a:pPr>
            <a:r>
              <a:rPr lang="en-US" sz="2000" dirty="0">
                <a:latin typeface="Arial MT"/>
                <a:cs typeface="Arial MT"/>
              </a:rPr>
              <a:t>The</a:t>
            </a:r>
            <a:r>
              <a:rPr lang="en-US" sz="2000" spc="-55" dirty="0">
                <a:latin typeface="Arial MT"/>
                <a:cs typeface="Arial MT"/>
              </a:rPr>
              <a:t> </a:t>
            </a:r>
            <a:r>
              <a:rPr lang="en-US" sz="2000" dirty="0">
                <a:latin typeface="Arial MT"/>
                <a:cs typeface="Arial MT"/>
              </a:rPr>
              <a:t>particles</a:t>
            </a:r>
            <a:r>
              <a:rPr lang="en-US" sz="2000" spc="-50" dirty="0">
                <a:latin typeface="Arial MT"/>
                <a:cs typeface="Arial MT"/>
              </a:rPr>
              <a:t> </a:t>
            </a:r>
            <a:r>
              <a:rPr lang="en-US" sz="2000" dirty="0">
                <a:latin typeface="Arial MT"/>
                <a:cs typeface="Arial MT"/>
              </a:rPr>
              <a:t>are</a:t>
            </a:r>
            <a:r>
              <a:rPr lang="en-US" sz="2000" spc="-50" dirty="0">
                <a:latin typeface="Arial MT"/>
                <a:cs typeface="Arial MT"/>
              </a:rPr>
              <a:t> </a:t>
            </a:r>
            <a:r>
              <a:rPr lang="en-US" sz="2000" dirty="0">
                <a:latin typeface="Arial MT"/>
                <a:cs typeface="Arial MT"/>
              </a:rPr>
              <a:t>collected</a:t>
            </a:r>
            <a:r>
              <a:rPr lang="en-US" sz="2000" spc="-34" dirty="0">
                <a:latin typeface="Arial MT"/>
                <a:cs typeface="Arial MT"/>
              </a:rPr>
              <a:t> </a:t>
            </a:r>
            <a:r>
              <a:rPr lang="en-US" sz="2000" dirty="0">
                <a:latin typeface="Arial MT"/>
                <a:cs typeface="Arial MT"/>
              </a:rPr>
              <a:t>on</a:t>
            </a:r>
            <a:r>
              <a:rPr lang="en-US" sz="2000" spc="-60" dirty="0">
                <a:latin typeface="Arial MT"/>
                <a:cs typeface="Arial MT"/>
              </a:rPr>
              <a:t> </a:t>
            </a:r>
            <a:r>
              <a:rPr lang="en-US" sz="2000" dirty="0">
                <a:latin typeface="Arial MT"/>
                <a:cs typeface="Arial MT"/>
              </a:rPr>
              <a:t>a</a:t>
            </a:r>
            <a:r>
              <a:rPr lang="en-US" sz="2000" spc="-60" dirty="0">
                <a:latin typeface="Arial MT"/>
                <a:cs typeface="Arial MT"/>
              </a:rPr>
              <a:t> </a:t>
            </a:r>
            <a:r>
              <a:rPr lang="en-US" sz="2000" b="1" dirty="0">
                <a:latin typeface="Arial MT"/>
                <a:cs typeface="Arial MT"/>
              </a:rPr>
              <a:t>grid</a:t>
            </a:r>
            <a:r>
              <a:rPr lang="en-US" sz="2000" b="1" spc="-46" dirty="0">
                <a:latin typeface="Arial MT"/>
                <a:cs typeface="Arial MT"/>
              </a:rPr>
              <a:t> </a:t>
            </a:r>
            <a:r>
              <a:rPr lang="en-US" sz="2000" b="1" dirty="0">
                <a:latin typeface="Arial MT"/>
                <a:cs typeface="Arial MT"/>
              </a:rPr>
              <a:t>or</a:t>
            </a:r>
            <a:r>
              <a:rPr lang="en-US" sz="2000" b="1" spc="-65" dirty="0">
                <a:latin typeface="Arial MT"/>
                <a:cs typeface="Arial MT"/>
              </a:rPr>
              <a:t> </a:t>
            </a:r>
            <a:r>
              <a:rPr lang="en-US" sz="2000" b="1" dirty="0">
                <a:latin typeface="Arial MT"/>
                <a:cs typeface="Arial MT"/>
              </a:rPr>
              <a:t>a</a:t>
            </a:r>
            <a:r>
              <a:rPr lang="en-US" sz="2000" b="1" spc="-50" dirty="0">
                <a:latin typeface="Arial MT"/>
                <a:cs typeface="Arial MT"/>
              </a:rPr>
              <a:t> </a:t>
            </a:r>
            <a:r>
              <a:rPr lang="en-US" sz="2000" b="1" dirty="0">
                <a:latin typeface="Arial MT"/>
                <a:cs typeface="Arial MT"/>
              </a:rPr>
              <a:t>thin</a:t>
            </a:r>
            <a:r>
              <a:rPr lang="en-US" sz="2000" b="1" spc="-60" dirty="0">
                <a:latin typeface="Arial MT"/>
                <a:cs typeface="Arial MT"/>
              </a:rPr>
              <a:t> </a:t>
            </a:r>
            <a:r>
              <a:rPr lang="en-US" sz="2000" b="1" dirty="0">
                <a:latin typeface="Arial MT"/>
                <a:cs typeface="Arial MT"/>
              </a:rPr>
              <a:t>microscope</a:t>
            </a:r>
            <a:r>
              <a:rPr lang="en-US" sz="2000" b="1" spc="-41" dirty="0">
                <a:latin typeface="Arial MT"/>
                <a:cs typeface="Arial MT"/>
              </a:rPr>
              <a:t> </a:t>
            </a:r>
            <a:r>
              <a:rPr lang="en-US" sz="2000" b="1" dirty="0">
                <a:latin typeface="Arial MT"/>
                <a:cs typeface="Arial MT"/>
              </a:rPr>
              <a:t>cover</a:t>
            </a:r>
            <a:r>
              <a:rPr lang="en-US" sz="2000" b="1" spc="-50" dirty="0">
                <a:latin typeface="Arial MT"/>
                <a:cs typeface="Arial MT"/>
              </a:rPr>
              <a:t> </a:t>
            </a:r>
            <a:r>
              <a:rPr lang="en-US" sz="2000" b="1" dirty="0">
                <a:latin typeface="Arial MT"/>
                <a:cs typeface="Arial MT"/>
              </a:rPr>
              <a:t>glass</a:t>
            </a:r>
            <a:r>
              <a:rPr lang="en-US" sz="2000" b="1" spc="-46" dirty="0">
                <a:latin typeface="Arial MT"/>
                <a:cs typeface="Arial MT"/>
              </a:rPr>
              <a:t> </a:t>
            </a:r>
            <a:r>
              <a:rPr lang="en-US" sz="2000" dirty="0">
                <a:latin typeface="Arial MT"/>
                <a:cs typeface="Arial MT"/>
              </a:rPr>
              <a:t>for</a:t>
            </a:r>
            <a:r>
              <a:rPr lang="en-US" sz="2000" spc="-50" dirty="0">
                <a:latin typeface="Arial MT"/>
                <a:cs typeface="Arial MT"/>
              </a:rPr>
              <a:t> </a:t>
            </a:r>
            <a:r>
              <a:rPr lang="en-US" sz="2000" spc="-10" dirty="0">
                <a:latin typeface="Arial MT"/>
                <a:cs typeface="Arial MT"/>
              </a:rPr>
              <a:t>later analysis.</a:t>
            </a:r>
            <a:endParaRPr lang="en-US" sz="2000" dirty="0">
              <a:latin typeface="Arial MT"/>
              <a:cs typeface="Arial MT"/>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8917" y="133351"/>
            <a:ext cx="9355023" cy="492126"/>
          </a:xfrm>
        </p:spPr>
        <p:txBody>
          <a:bodyPr/>
          <a:lstStyle/>
          <a:p>
            <a:r>
              <a:rPr lang="en-US"/>
              <a:t>Stack Sampling</a:t>
            </a:r>
          </a:p>
        </p:txBody>
      </p:sp>
      <p:sp>
        <p:nvSpPr>
          <p:cNvPr id="3" name="Text Placeholder 2"/>
          <p:cNvSpPr>
            <a:spLocks noGrp="1"/>
          </p:cNvSpPr>
          <p:nvPr>
            <p:ph type="body" idx="1"/>
          </p:nvPr>
        </p:nvSpPr>
        <p:spPr>
          <a:xfrm>
            <a:off x="555446" y="1243919"/>
            <a:ext cx="11038841" cy="3174652"/>
          </a:xfrm>
        </p:spPr>
        <p:txBody>
          <a:bodyPr/>
          <a:lstStyle/>
          <a:p>
            <a:pPr marL="342900" lvl="0" indent="-342900" algn="l" rtl="0" eaLnBrk="0" fontAlgn="base" hangingPunct="0">
              <a:lnSpc>
                <a:spcPct val="150000"/>
              </a:lnSpc>
              <a:spcBef>
                <a:spcPct val="0"/>
              </a:spcBef>
              <a:spcAft>
                <a:spcPct val="0"/>
              </a:spcAft>
              <a:buFont typeface="Arial" panose="020B0604020202020204" pitchFamily="34" charset="0"/>
              <a:buChar char="•"/>
            </a:pPr>
            <a:r>
              <a:rPr lang="en-US" altLang="en-US" sz="2000" dirty="0">
                <a:latin typeface="Arial" panose="020B0604020202020204" pitchFamily="34" charset="0"/>
              </a:rPr>
              <a:t>A method of collecting </a:t>
            </a:r>
            <a:r>
              <a:rPr lang="en-US" altLang="en-US" sz="2000" b="1" dirty="0">
                <a:latin typeface="Arial" panose="020B0604020202020204" pitchFamily="34" charset="0"/>
              </a:rPr>
              <a:t>representative samples</a:t>
            </a:r>
            <a:r>
              <a:rPr lang="en-US" altLang="en-US" sz="2000" dirty="0">
                <a:latin typeface="Arial" panose="020B0604020202020204" pitchFamily="34" charset="0"/>
              </a:rPr>
              <a:t> of pollutant-laden air at the </a:t>
            </a:r>
            <a:r>
              <a:rPr lang="en-US" altLang="en-US" sz="2000" b="1" dirty="0">
                <a:latin typeface="Arial" panose="020B0604020202020204" pitchFamily="34" charset="0"/>
              </a:rPr>
              <a:t>place of origin</a:t>
            </a:r>
            <a:r>
              <a:rPr lang="en-US" altLang="en-US" sz="2000" dirty="0">
                <a:latin typeface="Arial" panose="020B0604020202020204" pitchFamily="34" charset="0"/>
              </a:rPr>
              <a:t> to determine the total amount of pollutants emitted into the atmosphere from a given source in a given time.</a:t>
            </a:r>
          </a:p>
          <a:p>
            <a:pPr marL="342900" lvl="0" indent="-342900" algn="l" rtl="0" eaLnBrk="0" fontAlgn="base" hangingPunct="0">
              <a:lnSpc>
                <a:spcPct val="150000"/>
              </a:lnSpc>
              <a:spcBef>
                <a:spcPct val="0"/>
              </a:spcBef>
              <a:spcAft>
                <a:spcPct val="0"/>
              </a:spcAft>
              <a:buFont typeface="Arial" panose="020B0604020202020204" pitchFamily="34" charset="0"/>
              <a:buChar char="•"/>
            </a:pPr>
            <a:r>
              <a:rPr lang="en-US" altLang="en-US" sz="2000" dirty="0">
                <a:latin typeface="Arial" panose="020B0604020202020204" pitchFamily="34" charset="0"/>
              </a:rPr>
              <a:t>The primary goal of </a:t>
            </a:r>
            <a:r>
              <a:rPr lang="en-US" altLang="en-US" sz="2000" b="1" dirty="0">
                <a:latin typeface="Arial" panose="020B0604020202020204" pitchFamily="34" charset="0"/>
              </a:rPr>
              <a:t>stack sampling</a:t>
            </a:r>
            <a:r>
              <a:rPr lang="en-US" altLang="en-US" sz="2000" dirty="0">
                <a:latin typeface="Arial" panose="020B0604020202020204" pitchFamily="34" charset="0"/>
              </a:rPr>
              <a:t> is to determine </a:t>
            </a:r>
            <a:r>
              <a:rPr lang="en-US" altLang="en-US" sz="2000" b="1" dirty="0">
                <a:latin typeface="Arial" panose="020B0604020202020204" pitchFamily="34" charset="0"/>
              </a:rPr>
              <a:t>emission levels</a:t>
            </a:r>
            <a:r>
              <a:rPr lang="en-US" altLang="en-US" sz="2000" dirty="0">
                <a:latin typeface="Arial" panose="020B0604020202020204" pitchFamily="34" charset="0"/>
              </a:rPr>
              <a:t> from plant processes.</a:t>
            </a:r>
          </a:p>
          <a:p>
            <a:pPr marL="342900" lvl="0" indent="-342900" algn="l" rtl="0" eaLnBrk="0" fontAlgn="base" hangingPunct="0">
              <a:lnSpc>
                <a:spcPct val="150000"/>
              </a:lnSpc>
              <a:spcBef>
                <a:spcPct val="0"/>
              </a:spcBef>
              <a:spcAft>
                <a:spcPct val="0"/>
              </a:spcAft>
              <a:buFont typeface="Arial" panose="020B0604020202020204" pitchFamily="34" charset="0"/>
              <a:buChar char="•"/>
            </a:pPr>
            <a:r>
              <a:rPr lang="en-US" altLang="en-US" sz="2000" b="1" dirty="0">
                <a:latin typeface="Arial" panose="020B0604020202020204" pitchFamily="34" charset="0"/>
              </a:rPr>
              <a:t>Regulatory Compliance</a:t>
            </a:r>
            <a:r>
              <a:rPr lang="en-US" altLang="en-US" sz="2000" dirty="0">
                <a:latin typeface="Arial" panose="020B0604020202020204" pitchFamily="34" charset="0"/>
              </a:rPr>
              <a:t>: This ensures that facilities are in </a:t>
            </a:r>
            <a:r>
              <a:rPr lang="en-US" altLang="en-US" sz="2000" b="1" dirty="0">
                <a:latin typeface="Arial" panose="020B0604020202020204" pitchFamily="34" charset="0"/>
              </a:rPr>
              <a:t>compliance</a:t>
            </a:r>
            <a:r>
              <a:rPr lang="en-US" altLang="en-US" sz="2000" dirty="0">
                <a:latin typeface="Arial" panose="020B0604020202020204" pitchFamily="34" charset="0"/>
              </a:rPr>
              <a:t> with emission limits set by authorities to prevent </a:t>
            </a:r>
            <a:r>
              <a:rPr lang="en-US" altLang="en-US" sz="2000" b="1" dirty="0">
                <a:latin typeface="Arial" panose="020B0604020202020204" pitchFamily="34" charset="0"/>
              </a:rPr>
              <a:t>environmental air pollution</a:t>
            </a:r>
            <a:r>
              <a:rPr lang="en-US" altLang="en-US" sz="2000" dirty="0">
                <a:latin typeface="Arial" panose="020B0604020202020204" pitchFamily="34" charset="0"/>
              </a:rPr>
              <a:t>.</a:t>
            </a:r>
          </a:p>
          <a:p>
            <a:pPr marL="342900" indent="-342900" algn="just">
              <a:lnSpc>
                <a:spcPct val="150000"/>
              </a:lnSpc>
              <a:buFont typeface="Arial" panose="020B0604020202020204" pitchFamily="34" charset="0"/>
              <a:buChar char="•"/>
            </a:pPr>
            <a:endParaRPr lang="en-US" sz="20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397" y="304800"/>
            <a:ext cx="9355023" cy="492126"/>
          </a:xfrm>
        </p:spPr>
        <p:txBody>
          <a:bodyPr/>
          <a:lstStyle/>
          <a:p>
            <a:r>
              <a:rPr lang="en-US" altLang="en-US"/>
              <a:t>Selection of sampling site</a:t>
            </a:r>
          </a:p>
        </p:txBody>
      </p:sp>
      <p:sp>
        <p:nvSpPr>
          <p:cNvPr id="3" name="Text Placeholder 2"/>
          <p:cNvSpPr>
            <a:spLocks noGrp="1"/>
          </p:cNvSpPr>
          <p:nvPr>
            <p:ph type="body" idx="1"/>
          </p:nvPr>
        </p:nvSpPr>
        <p:spPr>
          <a:xfrm>
            <a:off x="555624" y="1243966"/>
            <a:ext cx="11038841" cy="4852034"/>
          </a:xfrm>
        </p:spPr>
        <p:txBody>
          <a:bodyPr>
            <a:noAutofit/>
          </a:bodyPr>
          <a:lstStyle/>
          <a:p>
            <a:pPr marL="342900" lvl="0" indent="-342900" algn="l" rtl="0" eaLnBrk="0" fontAlgn="base" hangingPunct="0">
              <a:lnSpc>
                <a:spcPct val="150000"/>
              </a:lnSpc>
              <a:spcBef>
                <a:spcPct val="0"/>
              </a:spcBef>
              <a:spcAft>
                <a:spcPct val="0"/>
              </a:spcAft>
              <a:buFont typeface="Arial" panose="020B0604020202020204" pitchFamily="34" charset="0"/>
              <a:buChar char="•"/>
            </a:pPr>
            <a:r>
              <a:rPr lang="en-US" altLang="en-US" sz="2000" dirty="0">
                <a:latin typeface="Arial" panose="020B0604020202020204" pitchFamily="34" charset="0"/>
              </a:rPr>
              <a:t>Whenever possible, the </a:t>
            </a:r>
            <a:r>
              <a:rPr lang="en-US" altLang="en-US" sz="2000" b="1" dirty="0">
                <a:latin typeface="Arial" panose="020B0604020202020204" pitchFamily="34" charset="0"/>
              </a:rPr>
              <a:t>sampling point</a:t>
            </a:r>
            <a:r>
              <a:rPr lang="en-US" altLang="en-US" sz="2000" dirty="0">
                <a:latin typeface="Arial" panose="020B0604020202020204" pitchFamily="34" charset="0"/>
              </a:rPr>
              <a:t> should be positioned at a distance of </a:t>
            </a:r>
            <a:r>
              <a:rPr lang="en-US" altLang="en-US" sz="2000" b="1" dirty="0">
                <a:latin typeface="Arial" panose="020B0604020202020204" pitchFamily="34" charset="0"/>
              </a:rPr>
              <a:t>5 to 10 diameters downstream</a:t>
            </a:r>
            <a:r>
              <a:rPr lang="en-US" altLang="en-US" sz="2000" dirty="0">
                <a:latin typeface="Arial" panose="020B0604020202020204" pitchFamily="34" charset="0"/>
              </a:rPr>
              <a:t> from any obstruction (</a:t>
            </a:r>
            <a:r>
              <a:rPr lang="en-IN" sz="2000" dirty="0"/>
              <a:t>like elbows or dampers)</a:t>
            </a:r>
            <a:r>
              <a:rPr lang="en-US" altLang="en-US" sz="2000" dirty="0">
                <a:latin typeface="Arial" panose="020B0604020202020204" pitchFamily="34" charset="0"/>
              </a:rPr>
              <a:t>.</a:t>
            </a:r>
          </a:p>
          <a:p>
            <a:pPr marL="342900" lvl="0" indent="-342900" algn="l" rtl="0" eaLnBrk="0" fontAlgn="base" hangingPunct="0">
              <a:lnSpc>
                <a:spcPct val="150000"/>
              </a:lnSpc>
              <a:spcBef>
                <a:spcPct val="0"/>
              </a:spcBef>
              <a:spcAft>
                <a:spcPct val="0"/>
              </a:spcAft>
              <a:buFont typeface="Arial" panose="020B0604020202020204" pitchFamily="34" charset="0"/>
              <a:buChar char="•"/>
            </a:pPr>
            <a:r>
              <a:rPr lang="en-US" altLang="en-US" sz="2000" dirty="0">
                <a:latin typeface="Arial" panose="020B0604020202020204" pitchFamily="34" charset="0"/>
              </a:rPr>
              <a:t>It should also be located </a:t>
            </a:r>
            <a:r>
              <a:rPr lang="en-US" altLang="en-US" sz="2000" b="1" dirty="0">
                <a:latin typeface="Arial" panose="020B0604020202020204" pitchFamily="34" charset="0"/>
              </a:rPr>
              <a:t>3 to 5 diameters upstream</a:t>
            </a:r>
            <a:r>
              <a:rPr lang="en-US" altLang="en-US" sz="2000" dirty="0">
                <a:latin typeface="Arial" panose="020B0604020202020204" pitchFamily="34" charset="0"/>
              </a:rPr>
              <a:t> from any similar disturbance to ensure stable flow.</a:t>
            </a:r>
          </a:p>
          <a:p>
            <a:pPr marL="342900" lvl="0" indent="-342900" algn="l" rtl="0" eaLnBrk="0" fontAlgn="base" hangingPunct="0">
              <a:lnSpc>
                <a:spcPct val="150000"/>
              </a:lnSpc>
              <a:spcBef>
                <a:spcPct val="0"/>
              </a:spcBef>
              <a:spcAft>
                <a:spcPct val="0"/>
              </a:spcAft>
              <a:buFont typeface="Arial" panose="020B0604020202020204" pitchFamily="34" charset="0"/>
              <a:buChar char="•"/>
            </a:pPr>
            <a:r>
              <a:rPr lang="en-US" altLang="en-US" sz="2000" dirty="0">
                <a:latin typeface="Arial" panose="020B0604020202020204" pitchFamily="34" charset="0"/>
              </a:rPr>
              <a:t>The physical size of the </a:t>
            </a:r>
            <a:r>
              <a:rPr lang="en-US" altLang="en-US" sz="2000" b="1" dirty="0">
                <a:latin typeface="Arial" panose="020B0604020202020204" pitchFamily="34" charset="0"/>
              </a:rPr>
              <a:t>sampling point</a:t>
            </a:r>
            <a:r>
              <a:rPr lang="en-US" altLang="en-US" sz="2000" dirty="0">
                <a:latin typeface="Arial" panose="020B0604020202020204" pitchFamily="34" charset="0"/>
              </a:rPr>
              <a:t> (port) typically ranges from </a:t>
            </a:r>
            <a:r>
              <a:rPr lang="en-US" altLang="en-US" sz="2000" b="1" dirty="0">
                <a:latin typeface="Arial" panose="020B0604020202020204" pitchFamily="34" charset="0"/>
              </a:rPr>
              <a:t>7 to 10 cm in diameter </a:t>
            </a:r>
            <a:r>
              <a:rPr lang="en-US" sz="2000" dirty="0"/>
              <a:t>to fit the testing probes.</a:t>
            </a:r>
            <a:r>
              <a:rPr lang="en-US" altLang="en-US" sz="2000" dirty="0">
                <a:latin typeface="Arial" panose="020B0604020202020204" pitchFamily="34" charset="0"/>
              </a:rPr>
              <a:t>.</a:t>
            </a:r>
          </a:p>
          <a:p>
            <a:pPr marL="342900" lvl="0" indent="-342900" algn="l" rtl="0" eaLnBrk="0" fontAlgn="base" hangingPunct="0">
              <a:lnSpc>
                <a:spcPct val="150000"/>
              </a:lnSpc>
              <a:spcBef>
                <a:spcPct val="0"/>
              </a:spcBef>
              <a:spcAft>
                <a:spcPct val="0"/>
              </a:spcAft>
              <a:buFont typeface="Arial" panose="020B0604020202020204" pitchFamily="34" charset="0"/>
              <a:buChar char="•"/>
            </a:pPr>
            <a:r>
              <a:rPr lang="en-US" altLang="en-US" sz="2000" dirty="0">
                <a:latin typeface="Arial" panose="020B0604020202020204" pitchFamily="34" charset="0"/>
              </a:rPr>
              <a:t>In many cases, </a:t>
            </a:r>
            <a:r>
              <a:rPr lang="en-US" altLang="en-US" sz="2000" b="1" dirty="0">
                <a:latin typeface="Arial" panose="020B0604020202020204" pitchFamily="34" charset="0"/>
              </a:rPr>
              <a:t>multiple sampling</a:t>
            </a:r>
            <a:r>
              <a:rPr lang="en-US" altLang="en-US" sz="2000" dirty="0">
                <a:latin typeface="Arial" panose="020B0604020202020204" pitchFamily="34" charset="0"/>
              </a:rPr>
              <a:t> is required to obtain a truly </a:t>
            </a:r>
            <a:r>
              <a:rPr lang="en-US" altLang="en-US" sz="2000" b="1" dirty="0">
                <a:latin typeface="Arial" panose="020B0604020202020204" pitchFamily="34" charset="0"/>
              </a:rPr>
              <a:t>representative sample</a:t>
            </a:r>
            <a:r>
              <a:rPr lang="en-US" altLang="en-US" sz="2000" dirty="0">
                <a:latin typeface="Arial" panose="020B0604020202020204" pitchFamily="34" charset="0"/>
              </a:rPr>
              <a:t> of the stack emissions.</a:t>
            </a:r>
          </a:p>
          <a:p>
            <a:pPr marL="342900" lvl="0" indent="-342900" algn="l" rtl="0" eaLnBrk="0" fontAlgn="base" hangingPunct="0">
              <a:lnSpc>
                <a:spcPct val="150000"/>
              </a:lnSpc>
              <a:spcBef>
                <a:spcPct val="0"/>
              </a:spcBef>
              <a:spcAft>
                <a:spcPct val="0"/>
              </a:spcAft>
              <a:buFont typeface="Arial" panose="020B0604020202020204" pitchFamily="34" charset="0"/>
              <a:buChar char="•"/>
            </a:pPr>
            <a:r>
              <a:rPr lang="en-US" altLang="en-US" sz="2000" dirty="0">
                <a:latin typeface="Arial" panose="020B0604020202020204" pitchFamily="34" charset="0"/>
              </a:rPr>
              <a:t>For </a:t>
            </a:r>
            <a:r>
              <a:rPr lang="en-US" altLang="en-US" sz="2000" b="1" dirty="0">
                <a:latin typeface="Arial" panose="020B0604020202020204" pitchFamily="34" charset="0"/>
              </a:rPr>
              <a:t>circular stacks (</a:t>
            </a:r>
            <a:r>
              <a:rPr lang="en-IN" sz="2000" dirty="0"/>
              <a:t>large industrial chimney)</a:t>
            </a:r>
            <a:r>
              <a:rPr lang="en-US" altLang="en-US" sz="2000" dirty="0">
                <a:latin typeface="Arial" panose="020B0604020202020204" pitchFamily="34" charset="0"/>
              </a:rPr>
              <a:t>, </a:t>
            </a:r>
            <a:r>
              <a:rPr lang="en-US" altLang="en-US" sz="2000" b="1" dirty="0">
                <a:latin typeface="Arial" panose="020B0604020202020204" pitchFamily="34" charset="0"/>
              </a:rPr>
              <a:t>traverse samples</a:t>
            </a:r>
            <a:r>
              <a:rPr lang="en-US" altLang="en-US" sz="2000" dirty="0">
                <a:latin typeface="Arial" panose="020B0604020202020204" pitchFamily="34" charset="0"/>
              </a:rPr>
              <a:t> should be used, consisting of </a:t>
            </a:r>
            <a:r>
              <a:rPr lang="en-US" altLang="en-US" sz="2000" b="1" dirty="0">
                <a:latin typeface="Arial" panose="020B0604020202020204" pitchFamily="34" charset="0"/>
              </a:rPr>
              <a:t>two sets of traverse points</a:t>
            </a:r>
            <a:r>
              <a:rPr lang="en-US" altLang="en-US" sz="2000" dirty="0">
                <a:latin typeface="Arial" panose="020B0604020202020204" pitchFamily="34" charset="0"/>
              </a:rPr>
              <a:t> taken </a:t>
            </a:r>
            <a:r>
              <a:rPr lang="en-US" altLang="en-US" sz="2000" b="1" dirty="0">
                <a:latin typeface="Arial" panose="020B0604020202020204" pitchFamily="34" charset="0"/>
              </a:rPr>
              <a:t>90 degrees apart</a:t>
            </a:r>
            <a:r>
              <a:rPr lang="en-US" altLang="en-US" sz="2000" dirty="0">
                <a:latin typeface="Arial" panose="020B0604020202020204" pitchFamily="34" charset="0"/>
              </a:rPr>
              <a:t> within the same plane.</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578917" y="133351"/>
            <a:ext cx="9355023" cy="984885"/>
          </a:xfrm>
        </p:spPr>
        <p:txBody>
          <a:bodyPr/>
          <a:lstStyle/>
          <a:p>
            <a:r>
              <a:rPr lang="en-US"/>
              <a:t>Diagrammatic representation of sampling points in a stack</a:t>
            </a:r>
          </a:p>
        </p:txBody>
      </p:sp>
      <p:sp>
        <p:nvSpPr>
          <p:cNvPr id="6" name="Content Placeholder 5"/>
          <p:cNvSpPr>
            <a:spLocks noGrp="1"/>
          </p:cNvSpPr>
          <p:nvPr>
            <p:ph sz="half" idx="3"/>
          </p:nvPr>
        </p:nvSpPr>
        <p:spPr/>
        <p:txBody>
          <a:bodyPr/>
          <a:lstStyle/>
          <a:p>
            <a:endParaRPr lang="en-US"/>
          </a:p>
        </p:txBody>
      </p:sp>
      <p:pic>
        <p:nvPicPr>
          <p:cNvPr id="4" name="Content Placeholder 3"/>
          <p:cNvPicPr>
            <a:picLocks noGrp="1" noChangeAspect="1"/>
          </p:cNvPicPr>
          <p:nvPr>
            <p:ph sz="half" idx="2"/>
          </p:nvPr>
        </p:nvPicPr>
        <p:blipFill>
          <a:blip r:embed="rId3"/>
          <a:stretch>
            <a:fillRect/>
          </a:stretch>
        </p:blipFill>
        <p:spPr>
          <a:xfrm>
            <a:off x="609601" y="1295402"/>
            <a:ext cx="9744075" cy="5188585"/>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a:xfrm>
            <a:off x="555446" y="1243920"/>
            <a:ext cx="11038841" cy="2147511"/>
          </a:xfrm>
        </p:spPr>
        <p:txBody>
          <a:bodyPr/>
          <a:lstStyle/>
          <a:p>
            <a:pPr marL="342908" indent="-342908">
              <a:lnSpc>
                <a:spcPct val="150000"/>
              </a:lnSpc>
              <a:buFont typeface="Arial" panose="020B0604020202020204" pitchFamily="34" charset="0"/>
              <a:buChar char="•"/>
            </a:pPr>
            <a:r>
              <a:rPr lang="en-US" dirty="0"/>
              <a:t>In </a:t>
            </a:r>
            <a:r>
              <a:rPr lang="en-US" b="1" dirty="0"/>
              <a:t>circular stacks, </a:t>
            </a:r>
            <a:r>
              <a:rPr lang="en-US" dirty="0"/>
              <a:t>traverse points are located at the </a:t>
            </a:r>
            <a:r>
              <a:rPr lang="en-US" b="1" dirty="0"/>
              <a:t>center of equal annular areas across two perpendicular diameters</a:t>
            </a:r>
          </a:p>
          <a:p>
            <a:pPr marL="342908" indent="-342908">
              <a:lnSpc>
                <a:spcPct val="150000"/>
              </a:lnSpc>
              <a:buFont typeface="Arial" panose="020B0604020202020204" pitchFamily="34" charset="0"/>
              <a:buChar char="•"/>
            </a:pPr>
            <a:r>
              <a:rPr lang="en-US" dirty="0"/>
              <a:t>In case of </a:t>
            </a:r>
            <a:r>
              <a:rPr lang="en-US" b="1" dirty="0"/>
              <a:t>rectangular stacks</a:t>
            </a:r>
            <a:r>
              <a:rPr lang="en-US" dirty="0"/>
              <a:t>, the area may be divided into </a:t>
            </a:r>
            <a:r>
              <a:rPr lang="en-US" b="1" dirty="0"/>
              <a:t>12 to 25 equal areas and the </a:t>
            </a:r>
            <a:r>
              <a:rPr lang="en-US" b="1" dirty="0" err="1"/>
              <a:t>centres</a:t>
            </a:r>
            <a:r>
              <a:rPr lang="en-US" b="1" dirty="0"/>
              <a:t> for each area </a:t>
            </a:r>
            <a:r>
              <a:rPr lang="en-US" dirty="0"/>
              <a:t>are fixed.</a:t>
            </a:r>
          </a:p>
        </p:txBody>
      </p:sp>
      <p:graphicFrame>
        <p:nvGraphicFramePr>
          <p:cNvPr id="4" name="Table 3"/>
          <p:cNvGraphicFramePr/>
          <p:nvPr/>
        </p:nvGraphicFramePr>
        <p:xfrm>
          <a:off x="1829437" y="3886200"/>
          <a:ext cx="8533130" cy="1524004"/>
        </p:xfrm>
        <a:graphic>
          <a:graphicData uri="http://schemas.openxmlformats.org/drawingml/2006/table">
            <a:tbl>
              <a:tblPr firstRow="1" bandRow="1">
                <a:tableStyleId>{5C22544A-7EE6-4342-B048-85BDC9FD1C3A}</a:tableStyleId>
              </a:tblPr>
              <a:tblGrid>
                <a:gridCol w="4266565">
                  <a:extLst>
                    <a:ext uri="{9D8B030D-6E8A-4147-A177-3AD203B41FA5}">
                      <a16:colId xmlns:a16="http://schemas.microsoft.com/office/drawing/2014/main" val="20000"/>
                    </a:ext>
                  </a:extLst>
                </a:gridCol>
                <a:gridCol w="4266565">
                  <a:extLst>
                    <a:ext uri="{9D8B030D-6E8A-4147-A177-3AD203B41FA5}">
                      <a16:colId xmlns:a16="http://schemas.microsoft.com/office/drawing/2014/main" val="20001"/>
                    </a:ext>
                  </a:extLst>
                </a:gridCol>
              </a:tblGrid>
              <a:tr h="381001">
                <a:tc>
                  <a:txBody>
                    <a:bodyPr/>
                    <a:lstStyle/>
                    <a:p>
                      <a:pPr>
                        <a:buNone/>
                      </a:pPr>
                      <a:r>
                        <a:rPr lang="en-US" sz="1800"/>
                        <a:t>Cross sectional area of stack (sq.m)</a:t>
                      </a:r>
                    </a:p>
                  </a:txBody>
                  <a:tcPr marT="45721" marB="45721"/>
                </a:tc>
                <a:tc>
                  <a:txBody>
                    <a:bodyPr/>
                    <a:lstStyle/>
                    <a:p>
                      <a:pPr>
                        <a:buNone/>
                      </a:pPr>
                      <a:r>
                        <a:rPr lang="en-US" sz="1800"/>
                        <a:t>No of points</a:t>
                      </a:r>
                    </a:p>
                  </a:txBody>
                  <a:tcPr marT="45721" marB="45721"/>
                </a:tc>
                <a:extLst>
                  <a:ext uri="{0D108BD9-81ED-4DB2-BD59-A6C34878D82A}">
                    <a16:rowId xmlns:a16="http://schemas.microsoft.com/office/drawing/2014/main" val="10000"/>
                  </a:ext>
                </a:extLst>
              </a:tr>
              <a:tr h="381001">
                <a:tc>
                  <a:txBody>
                    <a:bodyPr/>
                    <a:lstStyle/>
                    <a:p>
                      <a:pPr>
                        <a:buNone/>
                      </a:pPr>
                      <a:r>
                        <a:rPr lang="en-US" sz="1800"/>
                        <a:t>0.2</a:t>
                      </a:r>
                    </a:p>
                  </a:txBody>
                  <a:tcPr marT="45721" marB="45721"/>
                </a:tc>
                <a:tc>
                  <a:txBody>
                    <a:bodyPr/>
                    <a:lstStyle/>
                    <a:p>
                      <a:pPr>
                        <a:buNone/>
                      </a:pPr>
                      <a:r>
                        <a:rPr lang="en-US" sz="1800"/>
                        <a:t>4</a:t>
                      </a:r>
                    </a:p>
                  </a:txBody>
                  <a:tcPr marT="45721" marB="45721"/>
                </a:tc>
                <a:extLst>
                  <a:ext uri="{0D108BD9-81ED-4DB2-BD59-A6C34878D82A}">
                    <a16:rowId xmlns:a16="http://schemas.microsoft.com/office/drawing/2014/main" val="10001"/>
                  </a:ext>
                </a:extLst>
              </a:tr>
              <a:tr h="381001">
                <a:tc>
                  <a:txBody>
                    <a:bodyPr/>
                    <a:lstStyle/>
                    <a:p>
                      <a:pPr>
                        <a:buNone/>
                      </a:pPr>
                      <a:r>
                        <a:rPr lang="en-US" sz="1800"/>
                        <a:t>0.2 to 2.5</a:t>
                      </a:r>
                    </a:p>
                  </a:txBody>
                  <a:tcPr marT="45721" marB="45721"/>
                </a:tc>
                <a:tc>
                  <a:txBody>
                    <a:bodyPr/>
                    <a:lstStyle/>
                    <a:p>
                      <a:pPr>
                        <a:buNone/>
                      </a:pPr>
                      <a:r>
                        <a:rPr lang="en-US" sz="1800"/>
                        <a:t>12</a:t>
                      </a:r>
                    </a:p>
                  </a:txBody>
                  <a:tcPr marT="45721" marB="45721"/>
                </a:tc>
                <a:extLst>
                  <a:ext uri="{0D108BD9-81ED-4DB2-BD59-A6C34878D82A}">
                    <a16:rowId xmlns:a16="http://schemas.microsoft.com/office/drawing/2014/main" val="10002"/>
                  </a:ext>
                </a:extLst>
              </a:tr>
              <a:tr h="381001">
                <a:tc>
                  <a:txBody>
                    <a:bodyPr/>
                    <a:lstStyle/>
                    <a:p>
                      <a:pPr>
                        <a:buNone/>
                      </a:pPr>
                      <a:r>
                        <a:rPr lang="en-US" sz="1800"/>
                        <a:t>2.5 and above</a:t>
                      </a:r>
                    </a:p>
                  </a:txBody>
                  <a:tcPr marT="45721" marB="45721"/>
                </a:tc>
                <a:tc>
                  <a:txBody>
                    <a:bodyPr/>
                    <a:lstStyle/>
                    <a:p>
                      <a:pPr>
                        <a:buNone/>
                      </a:pPr>
                      <a:r>
                        <a:rPr lang="en-US" sz="1800"/>
                        <a:t>20</a:t>
                      </a:r>
                    </a:p>
                  </a:txBody>
                  <a:tcPr marT="45721" marB="45721"/>
                </a:tc>
                <a:extLst>
                  <a:ext uri="{0D108BD9-81ED-4DB2-BD59-A6C34878D82A}">
                    <a16:rowId xmlns:a16="http://schemas.microsoft.com/office/drawing/2014/main" val="10003"/>
                  </a:ext>
                </a:extLst>
              </a:tr>
            </a:tbl>
          </a:graphicData>
        </a:graphic>
      </p:graphicFrame>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Sampling System</a:t>
            </a:r>
          </a:p>
        </p:txBody>
      </p:sp>
      <p:sp>
        <p:nvSpPr>
          <p:cNvPr id="3" name="Content Placeholder 2"/>
          <p:cNvSpPr>
            <a:spLocks noGrp="1"/>
          </p:cNvSpPr>
          <p:nvPr>
            <p:ph sz="half" idx="3"/>
          </p:nvPr>
        </p:nvSpPr>
        <p:spPr>
          <a:xfrm>
            <a:off x="838200" y="838200"/>
            <a:ext cx="9735820" cy="1107996"/>
          </a:xfrm>
        </p:spPr>
        <p:txBody>
          <a:bodyPr wrap="square"/>
          <a:lstStyle/>
          <a:p>
            <a:pPr marL="342908" indent="-342908" algn="just">
              <a:buFont typeface="Arial" panose="020B0604020202020204" pitchFamily="34" charset="0"/>
              <a:buChar char="•"/>
            </a:pPr>
            <a:r>
              <a:rPr lang="en-US" dirty="0"/>
              <a:t>Stack sampling is carried out by diverting a part of gas stream through a sampling train of which a general arrangement is shown below</a:t>
            </a:r>
          </a:p>
        </p:txBody>
      </p:sp>
      <p:pic>
        <p:nvPicPr>
          <p:cNvPr id="4" name="Content Placeholder 3"/>
          <p:cNvPicPr>
            <a:picLocks noGrp="1" noChangeAspect="1"/>
          </p:cNvPicPr>
          <p:nvPr>
            <p:ph sz="half" idx="2"/>
          </p:nvPr>
        </p:nvPicPr>
        <p:blipFill>
          <a:blip r:embed="rId3"/>
          <a:srcRect t="7458"/>
          <a:stretch>
            <a:fillRect/>
          </a:stretch>
        </p:blipFill>
        <p:spPr>
          <a:xfrm>
            <a:off x="748030" y="2209801"/>
            <a:ext cx="9916160" cy="4239260"/>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8917" y="133351"/>
            <a:ext cx="9355023" cy="492126"/>
          </a:xfrm>
        </p:spPr>
        <p:txBody>
          <a:bodyPr/>
          <a:lstStyle/>
          <a:p>
            <a:r>
              <a:rPr lang="en-US">
                <a:sym typeface="+mn-ea"/>
              </a:rPr>
              <a:t>Sampling System</a:t>
            </a:r>
            <a:endParaRPr lang="en-US"/>
          </a:p>
        </p:txBody>
      </p:sp>
      <p:sp>
        <p:nvSpPr>
          <p:cNvPr id="4" name="Rectangle 1">
            <a:extLst>
              <a:ext uri="{FF2B5EF4-FFF2-40B4-BE49-F238E27FC236}">
                <a16:creationId xmlns:a16="http://schemas.microsoft.com/office/drawing/2014/main" id="{07152496-0DB2-3C0F-C5DE-ED4DD80FAD20}"/>
              </a:ext>
            </a:extLst>
          </p:cNvPr>
          <p:cNvSpPr>
            <a:spLocks noGrp="1" noChangeArrowheads="1"/>
          </p:cNvSpPr>
          <p:nvPr>
            <p:ph type="body" idx="1"/>
          </p:nvPr>
        </p:nvSpPr>
        <p:spPr bwMode="auto">
          <a:xfrm>
            <a:off x="609600" y="1219200"/>
            <a:ext cx="10972800" cy="44239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900" b="0" i="0" u="none" strike="noStrike" cap="none" normalizeH="0" baseline="0" dirty="0">
                <a:ln>
                  <a:noFill/>
                </a:ln>
                <a:solidFill>
                  <a:schemeClr val="tx1"/>
                </a:solidFill>
                <a:effectLst/>
                <a:latin typeface="Arial" panose="020B0604020202020204" pitchFamily="34" charset="0"/>
              </a:rPr>
              <a:t>The sampling train consists of a </a:t>
            </a:r>
            <a:r>
              <a:rPr kumimoji="0" lang="en-US" altLang="en-US" sz="1900" b="1" i="0" u="none" strike="noStrike" cap="none" normalizeH="0" baseline="0" dirty="0">
                <a:ln>
                  <a:noFill/>
                </a:ln>
                <a:solidFill>
                  <a:schemeClr val="tx1"/>
                </a:solidFill>
                <a:effectLst/>
                <a:latin typeface="Arial" panose="020B0604020202020204" pitchFamily="34" charset="0"/>
              </a:rPr>
              <a:t>nozzle</a:t>
            </a:r>
            <a:r>
              <a:rPr kumimoji="0" lang="en-US" altLang="en-US" sz="1900" b="0" i="0" u="none" strike="noStrike" cap="none" normalizeH="0" baseline="0" dirty="0">
                <a:ln>
                  <a:noFill/>
                </a:ln>
                <a:solidFill>
                  <a:schemeClr val="tx1"/>
                </a:solidFill>
                <a:effectLst/>
                <a:latin typeface="Arial" panose="020B0604020202020204" pitchFamily="34" charset="0"/>
              </a:rPr>
              <a:t> placed in the gas stream, a </a:t>
            </a:r>
            <a:r>
              <a:rPr kumimoji="0" lang="en-US" altLang="en-US" sz="1900" b="1" i="0" u="none" strike="noStrike" cap="none" normalizeH="0" baseline="0" dirty="0">
                <a:ln>
                  <a:noFill/>
                </a:ln>
                <a:solidFill>
                  <a:schemeClr val="tx1"/>
                </a:solidFill>
                <a:effectLst/>
                <a:latin typeface="Arial" panose="020B0604020202020204" pitchFamily="34" charset="0"/>
              </a:rPr>
              <a:t>sampling probe</a:t>
            </a:r>
            <a:r>
              <a:rPr kumimoji="0" lang="en-US" altLang="en-US" sz="1900" b="0" i="0" u="none" strike="noStrike" cap="none" normalizeH="0" baseline="0" dirty="0">
                <a:ln>
                  <a:noFill/>
                </a:ln>
                <a:solidFill>
                  <a:schemeClr val="tx1"/>
                </a:solidFill>
                <a:effectLst/>
                <a:latin typeface="Arial" panose="020B0604020202020204" pitchFamily="34" charset="0"/>
              </a:rPr>
              <a:t>, </a:t>
            </a:r>
            <a:r>
              <a:rPr kumimoji="0" lang="en-US" altLang="en-US" sz="1900" b="1" i="0" u="none" strike="noStrike" cap="none" normalizeH="0" baseline="0" dirty="0">
                <a:ln>
                  <a:noFill/>
                </a:ln>
                <a:solidFill>
                  <a:schemeClr val="tx1"/>
                </a:solidFill>
                <a:effectLst/>
                <a:latin typeface="Arial" panose="020B0604020202020204" pitchFamily="34" charset="0"/>
              </a:rPr>
              <a:t>particulate and gas collection devices</a:t>
            </a:r>
            <a:r>
              <a:rPr kumimoji="0" lang="en-US" altLang="en-US" sz="1900" b="0" i="0" u="none" strike="noStrike" cap="none" normalizeH="0" baseline="0" dirty="0">
                <a:ln>
                  <a:noFill/>
                </a:ln>
                <a:solidFill>
                  <a:schemeClr val="tx1"/>
                </a:solidFill>
                <a:effectLst/>
                <a:latin typeface="Arial" panose="020B0604020202020204" pitchFamily="34" charset="0"/>
              </a:rPr>
              <a:t>, a </a:t>
            </a:r>
            <a:r>
              <a:rPr kumimoji="0" lang="en-US" altLang="en-US" sz="1900" b="1" i="0" u="none" strike="noStrike" cap="none" normalizeH="0" baseline="0" dirty="0">
                <a:ln>
                  <a:noFill/>
                </a:ln>
                <a:solidFill>
                  <a:schemeClr val="tx1"/>
                </a:solidFill>
                <a:effectLst/>
                <a:latin typeface="Arial" panose="020B0604020202020204" pitchFamily="34" charset="0"/>
              </a:rPr>
              <a:t>flow measuring device</a:t>
            </a:r>
            <a:r>
              <a:rPr kumimoji="0" lang="en-US" altLang="en-US" sz="1900" b="0" i="0" u="none" strike="noStrike" cap="none" normalizeH="0" baseline="0" dirty="0">
                <a:ln>
                  <a:noFill/>
                </a:ln>
                <a:solidFill>
                  <a:schemeClr val="tx1"/>
                </a:solidFill>
                <a:effectLst/>
                <a:latin typeface="Arial" panose="020B0604020202020204" pitchFamily="34" charset="0"/>
              </a:rPr>
              <a:t>, and a </a:t>
            </a:r>
            <a:r>
              <a:rPr kumimoji="0" lang="en-US" altLang="en-US" sz="1900" b="1" i="0" u="none" strike="noStrike" cap="none" normalizeH="0" baseline="0" dirty="0">
                <a:ln>
                  <a:noFill/>
                </a:ln>
                <a:solidFill>
                  <a:schemeClr val="tx1"/>
                </a:solidFill>
                <a:effectLst/>
                <a:latin typeface="Arial" panose="020B0604020202020204" pitchFamily="34" charset="0"/>
              </a:rPr>
              <a:t>prime mover</a:t>
            </a:r>
            <a:r>
              <a:rPr kumimoji="0" lang="en-US" altLang="en-US" sz="1900" b="0" i="0" u="none" strike="noStrike" cap="none" normalizeH="0" baseline="0" dirty="0">
                <a:ln>
                  <a:noFill/>
                </a:ln>
                <a:solidFill>
                  <a:schemeClr val="tx1"/>
                </a:solidFill>
                <a:effectLst/>
                <a:latin typeface="Arial" panose="020B0604020202020204" pitchFamily="34" charset="0"/>
              </a:rPr>
              <a:t> (such as a vacuum pump or ejector).</a:t>
            </a:r>
          </a:p>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900" b="0" i="0" u="none" strike="noStrike" cap="none" normalizeH="0" baseline="0" dirty="0">
                <a:ln>
                  <a:noFill/>
                </a:ln>
                <a:solidFill>
                  <a:schemeClr val="tx1"/>
                </a:solidFill>
                <a:effectLst/>
                <a:latin typeface="Arial" panose="020B0604020202020204" pitchFamily="34" charset="0"/>
              </a:rPr>
              <a:t>The nozzle at the end of the probe is normally </a:t>
            </a:r>
            <a:r>
              <a:rPr kumimoji="0" lang="en-US" altLang="en-US" sz="1900" b="1" i="0" u="none" strike="noStrike" cap="none" normalizeH="0" baseline="0" dirty="0">
                <a:ln>
                  <a:noFill/>
                </a:ln>
                <a:solidFill>
                  <a:schemeClr val="tx1"/>
                </a:solidFill>
                <a:effectLst/>
                <a:latin typeface="Arial" panose="020B0604020202020204" pitchFamily="34" charset="0"/>
              </a:rPr>
              <a:t>sharp-edged</a:t>
            </a:r>
            <a:r>
              <a:rPr kumimoji="0" lang="en-US" altLang="en-US" sz="1900" b="0" i="0" u="none" strike="noStrike" cap="none" normalizeH="0" baseline="0" dirty="0">
                <a:ln>
                  <a:noFill/>
                </a:ln>
                <a:solidFill>
                  <a:schemeClr val="tx1"/>
                </a:solidFill>
                <a:effectLst/>
                <a:latin typeface="Arial" panose="020B0604020202020204" pitchFamily="34" charset="0"/>
              </a:rPr>
              <a:t>, pointing </a:t>
            </a:r>
            <a:r>
              <a:rPr kumimoji="0" lang="en-US" altLang="en-US" sz="1900" b="1" i="0" u="none" strike="noStrike" cap="none" normalizeH="0" baseline="0" dirty="0">
                <a:ln>
                  <a:noFill/>
                </a:ln>
                <a:solidFill>
                  <a:schemeClr val="tx1"/>
                </a:solidFill>
                <a:effectLst/>
                <a:latin typeface="Arial" panose="020B0604020202020204" pitchFamily="34" charset="0"/>
              </a:rPr>
              <a:t>inward from the outside edge</a:t>
            </a:r>
            <a:r>
              <a:rPr kumimoji="0" lang="en-US" altLang="en-US" sz="1900" b="0" i="0" u="none" strike="noStrike" cap="none" normalizeH="0" baseline="0" dirty="0">
                <a:ln>
                  <a:noFill/>
                </a:ln>
                <a:solidFill>
                  <a:schemeClr val="tx1"/>
                </a:solidFill>
                <a:effectLst/>
                <a:latin typeface="Arial" panose="020B0604020202020204" pitchFamily="34" charset="0"/>
              </a:rPr>
              <a:t> to ensure a clean "cut" of the air stream.</a:t>
            </a:r>
          </a:p>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900" b="0" i="0" u="none" strike="noStrike" cap="none" normalizeH="0" baseline="0" dirty="0">
                <a:ln>
                  <a:noFill/>
                </a:ln>
                <a:solidFill>
                  <a:schemeClr val="tx1"/>
                </a:solidFill>
                <a:effectLst/>
                <a:latin typeface="Arial" panose="020B0604020202020204" pitchFamily="34" charset="0"/>
              </a:rPr>
              <a:t>The traversing probe is usually constructed from </a:t>
            </a:r>
            <a:r>
              <a:rPr kumimoji="0" lang="en-US" altLang="en-US" sz="1900" b="1" i="0" u="none" strike="noStrike" cap="none" normalizeH="0" baseline="0" dirty="0">
                <a:ln>
                  <a:noFill/>
                </a:ln>
                <a:solidFill>
                  <a:schemeClr val="tx1"/>
                </a:solidFill>
                <a:effectLst/>
                <a:latin typeface="Arial" panose="020B0604020202020204" pitchFamily="34" charset="0"/>
              </a:rPr>
              <a:t>stainless steel</a:t>
            </a:r>
            <a:r>
              <a:rPr kumimoji="0" lang="en-US" altLang="en-US" sz="1900" b="0" i="0" u="none" strike="noStrike" cap="none" normalizeH="0" baseline="0" dirty="0">
                <a:ln>
                  <a:noFill/>
                </a:ln>
                <a:solidFill>
                  <a:schemeClr val="tx1"/>
                </a:solidFill>
                <a:effectLst/>
                <a:latin typeface="Arial" panose="020B0604020202020204" pitchFamily="34" charset="0"/>
              </a:rPr>
              <a:t> and is often lined with </a:t>
            </a:r>
            <a:r>
              <a:rPr kumimoji="0" lang="en-US" altLang="en-US" sz="1900" b="1" i="0" u="none" strike="noStrike" cap="none" normalizeH="0" baseline="0" dirty="0">
                <a:ln>
                  <a:noFill/>
                </a:ln>
                <a:solidFill>
                  <a:schemeClr val="tx1"/>
                </a:solidFill>
                <a:effectLst/>
                <a:latin typeface="Arial" panose="020B0604020202020204" pitchFamily="34" charset="0"/>
              </a:rPr>
              <a:t>glass or Teflon</a:t>
            </a:r>
            <a:r>
              <a:rPr kumimoji="0" lang="en-US" altLang="en-US" sz="1900" b="0" i="0" u="none" strike="noStrike" cap="none" normalizeH="0" baseline="0" dirty="0">
                <a:ln>
                  <a:noFill/>
                </a:ln>
                <a:solidFill>
                  <a:schemeClr val="tx1"/>
                </a:solidFill>
                <a:effectLst/>
                <a:latin typeface="Arial" panose="020B0604020202020204" pitchFamily="34" charset="0"/>
              </a:rPr>
              <a:t> to prevent chemical reactions with the sample.</a:t>
            </a:r>
          </a:p>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900" b="0" i="0" u="none" strike="noStrike" cap="none" normalizeH="0" baseline="0" dirty="0">
                <a:ln>
                  <a:noFill/>
                </a:ln>
                <a:solidFill>
                  <a:schemeClr val="tx1"/>
                </a:solidFill>
                <a:effectLst/>
                <a:latin typeface="Arial" panose="020B0604020202020204" pitchFamily="34" charset="0"/>
              </a:rPr>
              <a:t>For sampling hot gases above </a:t>
            </a:r>
            <a:r>
              <a:rPr kumimoji="0" lang="en-US" altLang="en-US" sz="1900" b="1" i="0" u="none" strike="noStrike" cap="none" normalizeH="0" baseline="0" dirty="0">
                <a:ln>
                  <a:noFill/>
                </a:ln>
                <a:solidFill>
                  <a:schemeClr val="tx1"/>
                </a:solidFill>
                <a:effectLst/>
                <a:latin typeface="Arial" panose="020B0604020202020204" pitchFamily="34" charset="0"/>
              </a:rPr>
              <a:t>400°C</a:t>
            </a:r>
            <a:r>
              <a:rPr kumimoji="0" lang="en-US" altLang="en-US" sz="1900" b="0" i="0" u="none" strike="noStrike" cap="none" normalizeH="0" baseline="0" dirty="0">
                <a:ln>
                  <a:noFill/>
                </a:ln>
                <a:solidFill>
                  <a:schemeClr val="tx1"/>
                </a:solidFill>
                <a:effectLst/>
                <a:latin typeface="Arial" panose="020B0604020202020204" pitchFamily="34" charset="0"/>
              </a:rPr>
              <a:t>, probes are equipped with a </a:t>
            </a:r>
            <a:r>
              <a:rPr kumimoji="0" lang="en-US" altLang="en-US" sz="1900" b="1" i="0" u="none" strike="noStrike" cap="none" normalizeH="0" baseline="0" dirty="0">
                <a:ln>
                  <a:noFill/>
                </a:ln>
                <a:solidFill>
                  <a:schemeClr val="tx1"/>
                </a:solidFill>
                <a:effectLst/>
                <a:latin typeface="Arial" panose="020B0604020202020204" pitchFamily="34" charset="0"/>
              </a:rPr>
              <a:t>circulating coolant system</a:t>
            </a:r>
            <a:r>
              <a:rPr kumimoji="0" lang="en-US" altLang="en-US" sz="1900" b="0" i="0" u="none" strike="noStrike" cap="none" normalizeH="0" baseline="0" dirty="0">
                <a:ln>
                  <a:noFill/>
                </a:ln>
                <a:solidFill>
                  <a:schemeClr val="tx1"/>
                </a:solidFill>
                <a:effectLst/>
                <a:latin typeface="Arial" panose="020B0604020202020204" pitchFamily="34" charset="0"/>
              </a:rPr>
              <a:t>.</a:t>
            </a:r>
          </a:p>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900" b="0" i="0" u="none" strike="noStrike" cap="none" normalizeH="0" baseline="0" dirty="0">
                <a:ln>
                  <a:noFill/>
                </a:ln>
                <a:solidFill>
                  <a:schemeClr val="tx1"/>
                </a:solidFill>
                <a:effectLst/>
                <a:latin typeface="Arial" panose="020B0604020202020204" pitchFamily="34" charset="0"/>
              </a:rPr>
              <a:t>This cooling prevents the </a:t>
            </a:r>
            <a:r>
              <a:rPr kumimoji="0" lang="en-US" altLang="en-US" sz="1900" b="1" i="0" u="none" strike="noStrike" cap="none" normalizeH="0" baseline="0" dirty="0">
                <a:ln>
                  <a:noFill/>
                </a:ln>
                <a:solidFill>
                  <a:schemeClr val="tx1"/>
                </a:solidFill>
                <a:effectLst/>
                <a:latin typeface="Arial" panose="020B0604020202020204" pitchFamily="34" charset="0"/>
              </a:rPr>
              <a:t>combustion of collected particles</a:t>
            </a:r>
            <a:r>
              <a:rPr kumimoji="0" lang="en-US" altLang="en-US" sz="1900" b="0" i="0" u="none" strike="noStrike" cap="none" normalizeH="0" baseline="0" dirty="0">
                <a:ln>
                  <a:noFill/>
                </a:ln>
                <a:solidFill>
                  <a:schemeClr val="tx1"/>
                </a:solidFill>
                <a:effectLst/>
                <a:latin typeface="Arial" panose="020B0604020202020204" pitchFamily="34" charset="0"/>
              </a:rPr>
              <a:t> inside the probe and protects </a:t>
            </a:r>
            <a:r>
              <a:rPr kumimoji="0" lang="en-US" altLang="en-US" sz="1900" b="1" i="0" u="none" strike="noStrike" cap="none" normalizeH="0" baseline="0" dirty="0">
                <a:ln>
                  <a:noFill/>
                </a:ln>
                <a:solidFill>
                  <a:schemeClr val="tx1"/>
                </a:solidFill>
                <a:effectLst/>
                <a:latin typeface="Arial" panose="020B0604020202020204" pitchFamily="34" charset="0"/>
              </a:rPr>
              <a:t>filtration materials</a:t>
            </a:r>
            <a:r>
              <a:rPr kumimoji="0" lang="en-US" altLang="en-US" sz="1900" b="0" i="0" u="none" strike="noStrike" cap="none" normalizeH="0" baseline="0" dirty="0">
                <a:ln>
                  <a:noFill/>
                </a:ln>
                <a:solidFill>
                  <a:schemeClr val="tx1"/>
                </a:solidFill>
                <a:effectLst/>
                <a:latin typeface="Arial" panose="020B0604020202020204" pitchFamily="34" charset="0"/>
              </a:rPr>
              <a:t> from exceeding their maximum allowable temperatures.</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Sampling System</a:t>
            </a:r>
            <a:endParaRPr lang="en-US"/>
          </a:p>
        </p:txBody>
      </p:sp>
      <p:sp>
        <p:nvSpPr>
          <p:cNvPr id="9" name="Content Placeholder 8">
            <a:extLst>
              <a:ext uri="{FF2B5EF4-FFF2-40B4-BE49-F238E27FC236}">
                <a16:creationId xmlns:a16="http://schemas.microsoft.com/office/drawing/2014/main" id="{8EBB3A97-5040-8CD8-34FA-399585F90046}"/>
              </a:ext>
            </a:extLst>
          </p:cNvPr>
          <p:cNvSpPr>
            <a:spLocks noGrp="1"/>
          </p:cNvSpPr>
          <p:nvPr>
            <p:ph sz="half" idx="2"/>
          </p:nvPr>
        </p:nvSpPr>
        <p:spPr>
          <a:xfrm>
            <a:off x="609600" y="1295400"/>
            <a:ext cx="11353800" cy="3636316"/>
          </a:xfrm>
        </p:spPr>
        <p:txBody>
          <a:bodyPr/>
          <a:lstStyle/>
          <a:p>
            <a:pPr marL="342900" lvl="0" indent="-342900" algn="l" rtl="0" eaLnBrk="0" fontAlgn="base" hangingPunct="0">
              <a:lnSpc>
                <a:spcPct val="150000"/>
              </a:lnSpc>
              <a:spcBef>
                <a:spcPct val="0"/>
              </a:spcBef>
              <a:spcAft>
                <a:spcPct val="0"/>
              </a:spcAft>
              <a:buFont typeface="Arial" panose="020B0604020202020204" pitchFamily="34" charset="0"/>
              <a:buChar char="•"/>
            </a:pPr>
            <a:r>
              <a:rPr lang="en-US" altLang="en-US" sz="2000" b="1" dirty="0">
                <a:latin typeface="Arial" panose="020B0604020202020204" pitchFamily="34" charset="0"/>
              </a:rPr>
              <a:t>Measurement Devices</a:t>
            </a:r>
            <a:r>
              <a:rPr lang="en-US" altLang="en-US" sz="2000" dirty="0">
                <a:latin typeface="Arial" panose="020B0604020202020204" pitchFamily="34" charset="0"/>
              </a:rPr>
              <a:t>: Flow measurements within a sampling train can be made using specialized devices such as a </a:t>
            </a:r>
            <a:r>
              <a:rPr lang="en-US" altLang="en-US" sz="2000" b="1" dirty="0">
                <a:latin typeface="Arial" panose="020B0604020202020204" pitchFamily="34" charset="0"/>
              </a:rPr>
              <a:t>rotameter</a:t>
            </a:r>
            <a:r>
              <a:rPr lang="en-US" altLang="en-US" sz="2000" dirty="0">
                <a:latin typeface="Arial" panose="020B0604020202020204" pitchFamily="34" charset="0"/>
              </a:rPr>
              <a:t> or an </a:t>
            </a:r>
            <a:r>
              <a:rPr lang="en-US" altLang="en-US" sz="2000" b="1" dirty="0">
                <a:latin typeface="Arial" panose="020B0604020202020204" pitchFamily="34" charset="0"/>
              </a:rPr>
              <a:t>orifice meter</a:t>
            </a:r>
            <a:r>
              <a:rPr lang="en-US" altLang="en-US" sz="2000" dirty="0">
                <a:latin typeface="Arial" panose="020B0604020202020204" pitchFamily="34" charset="0"/>
              </a:rPr>
              <a:t>.</a:t>
            </a:r>
          </a:p>
          <a:p>
            <a:pPr marL="342900" lvl="0" indent="-342900" algn="l" rtl="0" eaLnBrk="0" fontAlgn="base" hangingPunct="0">
              <a:lnSpc>
                <a:spcPct val="150000"/>
              </a:lnSpc>
              <a:spcBef>
                <a:spcPct val="0"/>
              </a:spcBef>
              <a:spcAft>
                <a:spcPct val="0"/>
              </a:spcAft>
              <a:buFont typeface="Arial" panose="020B0604020202020204" pitchFamily="34" charset="0"/>
              <a:buChar char="•"/>
            </a:pPr>
            <a:r>
              <a:rPr lang="en-US" altLang="en-US" sz="2000" dirty="0">
                <a:latin typeface="Arial" panose="020B0604020202020204" pitchFamily="34" charset="0"/>
              </a:rPr>
              <a:t>If the total volume of gas sampled is required for analysis, a </a:t>
            </a:r>
            <a:r>
              <a:rPr lang="en-US" altLang="en-US" sz="2000" b="1" dirty="0">
                <a:latin typeface="Arial" panose="020B0604020202020204" pitchFamily="34" charset="0"/>
              </a:rPr>
              <a:t>dry gas meter</a:t>
            </a:r>
            <a:r>
              <a:rPr lang="en-US" altLang="en-US" sz="2000" dirty="0">
                <a:latin typeface="Arial" panose="020B0604020202020204" pitchFamily="34" charset="0"/>
              </a:rPr>
              <a:t> is utilized.</a:t>
            </a:r>
          </a:p>
          <a:p>
            <a:pPr marL="342900" lvl="0" indent="-342900" algn="l" rtl="0" eaLnBrk="0" fontAlgn="base" hangingPunct="0">
              <a:lnSpc>
                <a:spcPct val="150000"/>
              </a:lnSpc>
              <a:spcBef>
                <a:spcPct val="0"/>
              </a:spcBef>
              <a:spcAft>
                <a:spcPct val="0"/>
              </a:spcAft>
              <a:buFont typeface="Arial" panose="020B0604020202020204" pitchFamily="34" charset="0"/>
              <a:buChar char="•"/>
            </a:pPr>
            <a:r>
              <a:rPr lang="en-US" altLang="en-US" sz="2000" dirty="0">
                <a:latin typeface="Arial" panose="020B0604020202020204" pitchFamily="34" charset="0"/>
              </a:rPr>
              <a:t>These measurement devices are normally placed </a:t>
            </a:r>
            <a:r>
              <a:rPr lang="en-US" altLang="en-US" sz="2000" b="1" dirty="0">
                <a:latin typeface="Arial" panose="020B0604020202020204" pitchFamily="34" charset="0"/>
              </a:rPr>
              <a:t>after the collection devices</a:t>
            </a:r>
            <a:r>
              <a:rPr lang="en-US" altLang="en-US" sz="2000" dirty="0">
                <a:latin typeface="Arial" panose="020B0604020202020204" pitchFamily="34" charset="0"/>
              </a:rPr>
              <a:t> (filters and impingers) but </a:t>
            </a:r>
            <a:r>
              <a:rPr lang="en-US" altLang="en-US" sz="2000" b="1" dirty="0">
                <a:latin typeface="Arial" panose="020B0604020202020204" pitchFamily="34" charset="0"/>
              </a:rPr>
              <a:t>upstream of the vacuum pump</a:t>
            </a:r>
            <a:r>
              <a:rPr lang="en-US" altLang="en-US" sz="2000" dirty="0">
                <a:latin typeface="Arial" panose="020B0604020202020204" pitchFamily="34" charset="0"/>
              </a:rPr>
              <a:t>.</a:t>
            </a:r>
          </a:p>
          <a:p>
            <a:pPr marL="342900" lvl="0" indent="-342900" algn="l" rtl="0" eaLnBrk="0" fontAlgn="base" hangingPunct="0">
              <a:lnSpc>
                <a:spcPct val="150000"/>
              </a:lnSpc>
              <a:spcBef>
                <a:spcPct val="0"/>
              </a:spcBef>
              <a:spcAft>
                <a:spcPct val="0"/>
              </a:spcAft>
              <a:buFont typeface="Arial" panose="020B0604020202020204" pitchFamily="34" charset="0"/>
              <a:buChar char="•"/>
            </a:pPr>
            <a:r>
              <a:rPr lang="en-US" altLang="en-US" sz="2000" dirty="0">
                <a:latin typeface="Arial" panose="020B0604020202020204" pitchFamily="34" charset="0"/>
              </a:rPr>
              <a:t>Positioning the meter before the pump ensures that any </a:t>
            </a:r>
            <a:r>
              <a:rPr lang="en-US" altLang="en-US" sz="2000" b="1" dirty="0">
                <a:latin typeface="Arial" panose="020B0604020202020204" pitchFamily="34" charset="0"/>
              </a:rPr>
              <a:t>leak in the vacuum pump</a:t>
            </a:r>
            <a:r>
              <a:rPr lang="en-US" altLang="en-US" sz="2000" dirty="0">
                <a:latin typeface="Arial" panose="020B0604020202020204" pitchFamily="34" charset="0"/>
              </a:rPr>
              <a:t> does not cause errors in the recorded gas volume measurements.</a:t>
            </a:r>
          </a:p>
          <a:p>
            <a:pPr marL="342900" indent="-342900">
              <a:lnSpc>
                <a:spcPct val="150000"/>
              </a:lnSpc>
              <a:buFont typeface="Arial" panose="020B0604020202020204" pitchFamily="34" charset="0"/>
              <a:buChar char="•"/>
            </a:pPr>
            <a:endParaRPr lang="en-IN" sz="20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endParaRPr lang="en-US"/>
          </a:p>
        </p:txBody>
      </p:sp>
      <p:sp>
        <p:nvSpPr>
          <p:cNvPr id="6" name="Content Placeholder 5"/>
          <p:cNvSpPr>
            <a:spLocks noGrp="1"/>
          </p:cNvSpPr>
          <p:nvPr>
            <p:ph sz="half" idx="3"/>
          </p:nvPr>
        </p:nvSpPr>
        <p:spPr/>
        <p:txBody>
          <a:bodyPr/>
          <a:lstStyle/>
          <a:p>
            <a:endParaRPr lang="en-US"/>
          </a:p>
        </p:txBody>
      </p:sp>
      <p:pic>
        <p:nvPicPr>
          <p:cNvPr id="4" name="Content Placeholder 3"/>
          <p:cNvPicPr>
            <a:picLocks noGrp="1" noChangeAspect="1"/>
          </p:cNvPicPr>
          <p:nvPr>
            <p:ph sz="half" idx="2"/>
          </p:nvPr>
        </p:nvPicPr>
        <p:blipFill>
          <a:blip r:embed="rId3">
            <a:lum bright="-18000" contrast="18000"/>
          </a:blip>
          <a:stretch>
            <a:fillRect/>
          </a:stretch>
        </p:blipFill>
        <p:spPr>
          <a:xfrm>
            <a:off x="255272" y="13336"/>
            <a:ext cx="11739881" cy="6779260"/>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 Isokinetic Sampling</a:t>
            </a:r>
            <a:endParaRPr lang="en-US"/>
          </a:p>
        </p:txBody>
      </p:sp>
      <p:sp>
        <p:nvSpPr>
          <p:cNvPr id="3" name="Content Placeholder 2"/>
          <p:cNvSpPr>
            <a:spLocks noGrp="1"/>
          </p:cNvSpPr>
          <p:nvPr>
            <p:ph sz="half" idx="2"/>
          </p:nvPr>
        </p:nvSpPr>
        <p:spPr>
          <a:xfrm>
            <a:off x="685801" y="1143000"/>
            <a:ext cx="5303520" cy="5471498"/>
          </a:xfrm>
        </p:spPr>
        <p:txBody>
          <a:bodyPr wrap="square"/>
          <a:lstStyle/>
          <a:p>
            <a:pPr marL="342908" indent="-342908">
              <a:lnSpc>
                <a:spcPct val="150000"/>
              </a:lnSpc>
              <a:buFont typeface="Arial" panose="020B0604020202020204" pitchFamily="34" charset="0"/>
              <a:buChar char="•"/>
            </a:pPr>
            <a:r>
              <a:rPr lang="en-US" altLang="en-US" dirty="0"/>
              <a:t>Isokinetic sampling is a widely used method for </a:t>
            </a:r>
            <a:r>
              <a:rPr lang="en-US" altLang="en-US" b="1" dirty="0"/>
              <a:t>stack emission testing</a:t>
            </a:r>
            <a:r>
              <a:rPr lang="en-US" altLang="en-US" dirty="0"/>
              <a:t>, designed to collect </a:t>
            </a:r>
            <a:r>
              <a:rPr lang="en-US" altLang="en-US" b="1" dirty="0"/>
              <a:t>representative samples of particulate matter (dust) and gases </a:t>
            </a:r>
            <a:r>
              <a:rPr lang="en-US" altLang="en-US" dirty="0"/>
              <a:t>from the stack. </a:t>
            </a:r>
          </a:p>
          <a:p>
            <a:pPr marL="342908" indent="-342908">
              <a:lnSpc>
                <a:spcPct val="150000"/>
              </a:lnSpc>
              <a:buFont typeface="Arial" panose="020B0604020202020204" pitchFamily="34" charset="0"/>
              <a:buChar char="•"/>
            </a:pPr>
            <a:r>
              <a:rPr lang="en-US" altLang="en-US" dirty="0"/>
              <a:t>It ensures that the </a:t>
            </a:r>
            <a:r>
              <a:rPr lang="en-US" altLang="en-US" b="1" dirty="0"/>
              <a:t>velocity of the sampled gas </a:t>
            </a:r>
            <a:r>
              <a:rPr lang="en-IN" dirty="0"/>
              <a:t>entering the nozzle</a:t>
            </a:r>
            <a:r>
              <a:rPr lang="en-US" altLang="en-US" b="1" dirty="0"/>
              <a:t> is the same as the stack gas velocity</a:t>
            </a:r>
            <a:r>
              <a:rPr lang="en-US" altLang="en-US" dirty="0"/>
              <a:t>, minimizing bias in the collected data.</a:t>
            </a:r>
          </a:p>
        </p:txBody>
      </p:sp>
      <p:pic>
        <p:nvPicPr>
          <p:cNvPr id="5" name="Content Placeholder 4"/>
          <p:cNvPicPr>
            <a:picLocks noGrp="1" noChangeAspect="1"/>
          </p:cNvPicPr>
          <p:nvPr>
            <p:ph sz="half" idx="3"/>
          </p:nvPr>
        </p:nvPicPr>
        <p:blipFill>
          <a:blip r:embed="rId3"/>
          <a:stretch>
            <a:fillRect/>
          </a:stretch>
        </p:blipFill>
        <p:spPr>
          <a:xfrm>
            <a:off x="6358255" y="906145"/>
            <a:ext cx="6038850" cy="5486400"/>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8917" y="133351"/>
            <a:ext cx="9355023" cy="492126"/>
          </a:xfrm>
        </p:spPr>
        <p:txBody>
          <a:bodyPr/>
          <a:lstStyle/>
          <a:p>
            <a:r>
              <a:rPr lang="en-US" altLang="en-US">
                <a:sym typeface="+mn-ea"/>
              </a:rPr>
              <a:t>Principle of Isokinetic Sampling:</a:t>
            </a:r>
            <a:endParaRPr lang="en-US"/>
          </a:p>
        </p:txBody>
      </p:sp>
      <p:sp>
        <p:nvSpPr>
          <p:cNvPr id="3" name="Content Placeholder 2"/>
          <p:cNvSpPr>
            <a:spLocks noGrp="1"/>
          </p:cNvSpPr>
          <p:nvPr>
            <p:ph sz="half" idx="2"/>
          </p:nvPr>
        </p:nvSpPr>
        <p:spPr>
          <a:xfrm>
            <a:off x="609601" y="1577341"/>
            <a:ext cx="10781030" cy="3361055"/>
          </a:xfrm>
        </p:spPr>
        <p:txBody>
          <a:bodyPr wrap="square">
            <a:noAutofit/>
          </a:bodyPr>
          <a:lstStyle/>
          <a:p>
            <a:pPr marL="342908" indent="-342908">
              <a:lnSpc>
                <a:spcPct val="150000"/>
              </a:lnSpc>
              <a:buFont typeface="Arial" panose="020B0604020202020204" pitchFamily="34" charset="0"/>
              <a:buChar char="•"/>
            </a:pPr>
            <a:r>
              <a:rPr lang="en-US" altLang="en-US" dirty="0"/>
              <a:t>The principle of isokinetic sampling is based on the </a:t>
            </a:r>
            <a:r>
              <a:rPr lang="en-US" altLang="en-US" b="1" dirty="0"/>
              <a:t>Venturi effect, </a:t>
            </a:r>
            <a:r>
              <a:rPr lang="en-US" altLang="en-US" dirty="0"/>
              <a:t>which states that when the </a:t>
            </a:r>
            <a:r>
              <a:rPr lang="en-US" altLang="en-US" b="1" dirty="0"/>
              <a:t>velocity of a fluid increases, its pressure decreases. </a:t>
            </a:r>
          </a:p>
          <a:p>
            <a:pPr>
              <a:lnSpc>
                <a:spcPct val="150000"/>
              </a:lnSpc>
            </a:pPr>
            <a:endParaRPr lang="en-US" altLang="en-US" dirty="0"/>
          </a:p>
          <a:p>
            <a:pPr marL="342908" indent="-342908">
              <a:lnSpc>
                <a:spcPct val="150000"/>
              </a:lnSpc>
              <a:buFont typeface="Arial" panose="020B0604020202020204" pitchFamily="34" charset="0"/>
              <a:buChar char="•"/>
            </a:pPr>
            <a:r>
              <a:rPr lang="en-US" altLang="en-US" dirty="0"/>
              <a:t>Isokinetic sampling aims to </a:t>
            </a:r>
            <a:r>
              <a:rPr lang="en-US" altLang="en-US" b="1" dirty="0"/>
              <a:t>achieve the same velocity in the sampling nozzle as the stack gas velocity,</a:t>
            </a:r>
            <a:r>
              <a:rPr lang="en-US" altLang="en-US" dirty="0"/>
              <a:t> allowing the particulate matter and gases to enter the nozzle without </a:t>
            </a:r>
            <a:r>
              <a:rPr lang="en-US" altLang="en-US" b="1" dirty="0"/>
              <a:t>any bias or distortion</a:t>
            </a:r>
            <a:r>
              <a:rPr lang="en-US" altLang="en-US" dirty="0"/>
              <a:t>.</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8917" y="133351"/>
            <a:ext cx="9355023" cy="492126"/>
          </a:xfrm>
        </p:spPr>
        <p:txBody>
          <a:bodyPr/>
          <a:lstStyle/>
          <a:p>
            <a:r>
              <a:rPr lang="en-US"/>
              <a:t> Isokinetic Sampling</a:t>
            </a:r>
          </a:p>
        </p:txBody>
      </p:sp>
      <p:sp>
        <p:nvSpPr>
          <p:cNvPr id="3" name="Text Placeholder 2"/>
          <p:cNvSpPr>
            <a:spLocks noGrp="1"/>
          </p:cNvSpPr>
          <p:nvPr>
            <p:ph type="body" idx="1"/>
          </p:nvPr>
        </p:nvSpPr>
        <p:spPr>
          <a:xfrm>
            <a:off x="578942" y="914354"/>
            <a:ext cx="11038841" cy="4559646"/>
          </a:xfrm>
        </p:spPr>
        <p:txBody>
          <a:bodyPr/>
          <a:lstStyle/>
          <a:p>
            <a:pPr marL="342900" lvl="0" indent="-342900" algn="just" rtl="0" eaLnBrk="0" fontAlgn="base" hangingPunct="0">
              <a:lnSpc>
                <a:spcPct val="150000"/>
              </a:lnSpc>
              <a:spcBef>
                <a:spcPct val="0"/>
              </a:spcBef>
              <a:spcAft>
                <a:spcPct val="0"/>
              </a:spcAft>
              <a:buFont typeface="Arial" panose="020B0604020202020204" pitchFamily="34" charset="0"/>
              <a:buChar char="•"/>
            </a:pPr>
            <a:r>
              <a:rPr lang="en-US" altLang="en-US" sz="2000" dirty="0">
                <a:latin typeface="Arial" panose="020B0604020202020204" pitchFamily="34" charset="0"/>
                <a:cs typeface="Arial" panose="020B0604020202020204" pitchFamily="34" charset="0"/>
              </a:rPr>
              <a:t>The primary objective is to obtain </a:t>
            </a:r>
            <a:r>
              <a:rPr lang="en-US" altLang="en-US" sz="2000" b="1" dirty="0">
                <a:latin typeface="Arial" panose="020B0604020202020204" pitchFamily="34" charset="0"/>
                <a:cs typeface="Arial" panose="020B0604020202020204" pitchFamily="34" charset="0"/>
              </a:rPr>
              <a:t>representative particulate sampling</a:t>
            </a:r>
            <a:r>
              <a:rPr lang="en-US" altLang="en-US" sz="2000" dirty="0">
                <a:latin typeface="Arial" panose="020B0604020202020204" pitchFamily="34" charset="0"/>
                <a:cs typeface="Arial" panose="020B0604020202020204" pitchFamily="34" charset="0"/>
              </a:rPr>
              <a:t> where the sample captured reflects the true ratio of air to dust in the stack.</a:t>
            </a:r>
          </a:p>
          <a:p>
            <a:pPr marL="342900" indent="-342900" algn="just">
              <a:lnSpc>
                <a:spcPct val="150000"/>
              </a:lnSpc>
              <a:buFont typeface="Arial" panose="020B0604020202020204" pitchFamily="34" charset="0"/>
              <a:buChar char="•"/>
            </a:pPr>
            <a:r>
              <a:rPr lang="en-US" altLang="en-US" sz="2000" dirty="0">
                <a:latin typeface="Arial" panose="020B0604020202020204" pitchFamily="34" charset="0"/>
                <a:cs typeface="Arial" panose="020B0604020202020204" pitchFamily="34" charset="0"/>
              </a:rPr>
              <a:t>If </a:t>
            </a:r>
            <a:r>
              <a:rPr lang="en-US" altLang="en-US" sz="2000" b="1" dirty="0">
                <a:latin typeface="Arial" panose="020B0604020202020204" pitchFamily="34" charset="0"/>
                <a:cs typeface="Arial" panose="020B0604020202020204" pitchFamily="34" charset="0"/>
              </a:rPr>
              <a:t>sampling velocity is greater than velocity in duct (Super-isokinetic) </a:t>
            </a:r>
            <a:r>
              <a:rPr lang="en-US" altLang="en-US" sz="2000" dirty="0">
                <a:latin typeface="Arial" panose="020B0604020202020204" pitchFamily="34" charset="0"/>
                <a:cs typeface="Arial" panose="020B0604020202020204" pitchFamily="34" charset="0"/>
              </a:rPr>
              <a:t>then tube will suck extra particles, </a:t>
            </a:r>
            <a:r>
              <a:rPr lang="en-US" altLang="en-US" sz="2000" b="1" dirty="0">
                <a:latin typeface="Arial" panose="020B0604020202020204" pitchFamily="34" charset="0"/>
                <a:cs typeface="Arial" panose="020B0604020202020204" pitchFamily="34" charset="0"/>
              </a:rPr>
              <a:t>collecting higher percentage of smaller particles</a:t>
            </a:r>
            <a:r>
              <a:rPr lang="en-US" altLang="en-US" sz="2000" dirty="0">
                <a:latin typeface="Arial" panose="020B0604020202020204" pitchFamily="34" charset="0"/>
                <a:cs typeface="Arial" panose="020B0604020202020204" pitchFamily="34" charset="0"/>
              </a:rPr>
              <a:t>, the sampling will have a </a:t>
            </a:r>
            <a:r>
              <a:rPr lang="en-US" altLang="en-US" sz="2000" b="1" dirty="0">
                <a:latin typeface="Arial" panose="020B0604020202020204" pitchFamily="34" charset="0"/>
                <a:cs typeface="Arial" panose="020B0604020202020204" pitchFamily="34" charset="0"/>
              </a:rPr>
              <a:t>lower mass concentration</a:t>
            </a:r>
          </a:p>
          <a:p>
            <a:pPr marL="342900" indent="-342900" algn="just">
              <a:lnSpc>
                <a:spcPct val="150000"/>
              </a:lnSpc>
              <a:buFont typeface="Arial" panose="020B0604020202020204" pitchFamily="34" charset="0"/>
              <a:buChar char="•"/>
            </a:pPr>
            <a:r>
              <a:rPr lang="en-US" altLang="en-US" sz="2000" dirty="0">
                <a:latin typeface="Arial" panose="020B0604020202020204" pitchFamily="34" charset="0"/>
                <a:cs typeface="Arial" panose="020B0604020202020204" pitchFamily="34" charset="0"/>
              </a:rPr>
              <a:t>If the </a:t>
            </a:r>
            <a:r>
              <a:rPr lang="en-US" altLang="en-US" sz="2000" b="1" dirty="0">
                <a:latin typeface="Arial" panose="020B0604020202020204" pitchFamily="34" charset="0"/>
                <a:cs typeface="Arial" panose="020B0604020202020204" pitchFamily="34" charset="0"/>
              </a:rPr>
              <a:t>sampling velocity is less than velocity in duct (Sub-isokinetic) </a:t>
            </a:r>
            <a:r>
              <a:rPr lang="en-US" altLang="en-US" sz="2000" dirty="0">
                <a:latin typeface="Arial" panose="020B0604020202020204" pitchFamily="34" charset="0"/>
                <a:cs typeface="Arial" panose="020B0604020202020204" pitchFamily="34" charset="0"/>
              </a:rPr>
              <a:t>then tube will became pressurized and </a:t>
            </a:r>
            <a:r>
              <a:rPr lang="en-US" altLang="en-US" sz="2000" b="1" dirty="0">
                <a:latin typeface="Arial" panose="020B0604020202020204" pitchFamily="34" charset="0"/>
                <a:cs typeface="Arial" panose="020B0604020202020204" pitchFamily="34" charset="0"/>
              </a:rPr>
              <a:t>particles will want to be expelled </a:t>
            </a:r>
            <a:r>
              <a:rPr lang="en-US" altLang="en-US" sz="2000" dirty="0">
                <a:latin typeface="Arial" panose="020B0604020202020204" pitchFamily="34" charset="0"/>
                <a:cs typeface="Arial" panose="020B0604020202020204" pitchFamily="34" charset="0"/>
              </a:rPr>
              <a:t>from the tube. The particles </a:t>
            </a:r>
            <a:r>
              <a:rPr lang="en-US" altLang="en-US" sz="2000" b="1" dirty="0">
                <a:latin typeface="Arial" panose="020B0604020202020204" pitchFamily="34" charset="0"/>
                <a:cs typeface="Arial" panose="020B0604020202020204" pitchFamily="34" charset="0"/>
              </a:rPr>
              <a:t>more easily dispelled are small particles </a:t>
            </a:r>
            <a:r>
              <a:rPr lang="en-US" altLang="en-US" sz="2000" dirty="0">
                <a:latin typeface="Arial" panose="020B0604020202020204" pitchFamily="34" charset="0"/>
                <a:cs typeface="Arial" panose="020B0604020202020204" pitchFamily="34" charset="0"/>
              </a:rPr>
              <a:t>resulted into </a:t>
            </a:r>
            <a:r>
              <a:rPr lang="en-US" altLang="en-US" sz="2000" b="1" dirty="0">
                <a:latin typeface="Arial" panose="020B0604020202020204" pitchFamily="34" charset="0"/>
                <a:cs typeface="Arial" panose="020B0604020202020204" pitchFamily="34" charset="0"/>
              </a:rPr>
              <a:t>collection of larger particles </a:t>
            </a:r>
            <a:r>
              <a:rPr lang="en-US" altLang="en-US" sz="2000" dirty="0">
                <a:latin typeface="Arial" panose="020B0604020202020204" pitchFamily="34" charset="0"/>
                <a:cs typeface="Arial" panose="020B0604020202020204" pitchFamily="34" charset="0"/>
              </a:rPr>
              <a:t>,PM has a </a:t>
            </a:r>
            <a:r>
              <a:rPr lang="en-US" altLang="en-US" sz="2000" b="1" dirty="0">
                <a:latin typeface="Arial" panose="020B0604020202020204" pitchFamily="34" charset="0"/>
                <a:cs typeface="Arial" panose="020B0604020202020204" pitchFamily="34" charset="0"/>
              </a:rPr>
              <a:t>higher mass conc</a:t>
            </a:r>
          </a:p>
          <a:p>
            <a:pPr marL="342900" indent="-342900" algn="just">
              <a:lnSpc>
                <a:spcPct val="150000"/>
              </a:lnSpc>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Content Placeholder 14"/>
          <p:cNvPicPr>
            <a:picLocks noGrp="1" noChangeAspect="1"/>
          </p:cNvPicPr>
          <p:nvPr>
            <p:ph sz="half" idx="2"/>
          </p:nvPr>
        </p:nvPicPr>
        <p:blipFill>
          <a:blip r:embed="rId3"/>
          <a:srcRect b="16499"/>
          <a:stretch>
            <a:fillRect/>
          </a:stretch>
        </p:blipFill>
        <p:spPr>
          <a:xfrm>
            <a:off x="533401" y="304800"/>
            <a:ext cx="10636885" cy="5257801"/>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sz="half" idx="3"/>
          </p:nvPr>
        </p:nvSpPr>
        <p:spPr/>
        <p:txBody>
          <a:bodyPr/>
          <a:lstStyle/>
          <a:p>
            <a:endParaRPr lang="en-US"/>
          </a:p>
        </p:txBody>
      </p:sp>
      <p:pic>
        <p:nvPicPr>
          <p:cNvPr id="5" name="Content Placeholder 4"/>
          <p:cNvPicPr>
            <a:picLocks noGrp="1" noChangeAspect="1"/>
          </p:cNvPicPr>
          <p:nvPr>
            <p:ph sz="half" idx="2"/>
          </p:nvPr>
        </p:nvPicPr>
        <p:blipFill>
          <a:blip r:embed="rId3">
            <a:lum bright="-12000" contrast="48000"/>
          </a:blip>
          <a:srcRect l="23645" r="20429" b="10000"/>
          <a:stretch>
            <a:fillRect/>
          </a:stretch>
        </p:blipFill>
        <p:spPr>
          <a:xfrm>
            <a:off x="3124201" y="228600"/>
            <a:ext cx="6019801" cy="6402070"/>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8917" y="133351"/>
            <a:ext cx="9355023" cy="430887"/>
          </a:xfrm>
        </p:spPr>
        <p:txBody>
          <a:bodyPr/>
          <a:lstStyle/>
          <a:p>
            <a:r>
              <a:rPr lang="en-US" altLang="en-US" sz="2800" dirty="0">
                <a:sym typeface="+mn-ea"/>
              </a:rPr>
              <a:t>Advantages of Isokinetic Sampling:</a:t>
            </a:r>
            <a:endParaRPr lang="en-US" sz="2800" dirty="0"/>
          </a:p>
        </p:txBody>
      </p:sp>
      <p:sp>
        <p:nvSpPr>
          <p:cNvPr id="3" name="Content Placeholder 2"/>
          <p:cNvSpPr>
            <a:spLocks noGrp="1"/>
          </p:cNvSpPr>
          <p:nvPr>
            <p:ph sz="half" idx="2"/>
          </p:nvPr>
        </p:nvSpPr>
        <p:spPr>
          <a:xfrm>
            <a:off x="457200" y="609600"/>
            <a:ext cx="10820400" cy="6172201"/>
          </a:xfrm>
        </p:spPr>
        <p:txBody>
          <a:bodyPr wrap="square">
            <a:noAutofit/>
          </a:bodyPr>
          <a:lstStyle/>
          <a:p>
            <a:pPr marL="342900" lvl="0" indent="-342900" algn="l" rtl="0" eaLnBrk="0" fontAlgn="base" hangingPunct="0">
              <a:lnSpc>
                <a:spcPct val="150000"/>
              </a:lnSpc>
              <a:spcBef>
                <a:spcPct val="0"/>
              </a:spcBef>
              <a:spcAft>
                <a:spcPct val="0"/>
              </a:spcAft>
              <a:buFont typeface="Arial" panose="020B0604020202020204" pitchFamily="34" charset="0"/>
              <a:buChar char="•"/>
            </a:pPr>
            <a:r>
              <a:rPr lang="en-US" altLang="en-US" sz="2000" dirty="0">
                <a:latin typeface="Arial" panose="020B0604020202020204" pitchFamily="34" charset="0"/>
              </a:rPr>
              <a:t>This method provides </a:t>
            </a:r>
            <a:r>
              <a:rPr lang="en-US" altLang="en-US" sz="2000" b="1" dirty="0">
                <a:latin typeface="Arial" panose="020B0604020202020204" pitchFamily="34" charset="0"/>
              </a:rPr>
              <a:t>representative and accurate measurements</a:t>
            </a:r>
            <a:r>
              <a:rPr lang="en-US" altLang="en-US" sz="2000" dirty="0">
                <a:latin typeface="Arial" panose="020B0604020202020204" pitchFamily="34" charset="0"/>
              </a:rPr>
              <a:t> of stack emissions.</a:t>
            </a:r>
          </a:p>
          <a:p>
            <a:pPr marL="342900" lvl="0" indent="-342900" algn="l" rtl="0" eaLnBrk="0" fontAlgn="base" hangingPunct="0">
              <a:lnSpc>
                <a:spcPct val="150000"/>
              </a:lnSpc>
              <a:spcBef>
                <a:spcPct val="0"/>
              </a:spcBef>
              <a:spcAft>
                <a:spcPct val="0"/>
              </a:spcAft>
              <a:buFont typeface="Arial" panose="020B0604020202020204" pitchFamily="34" charset="0"/>
              <a:buChar char="•"/>
            </a:pPr>
            <a:r>
              <a:rPr lang="en-US" altLang="en-US" sz="2000" dirty="0">
                <a:latin typeface="Arial" panose="020B0604020202020204" pitchFamily="34" charset="0"/>
              </a:rPr>
              <a:t>It </a:t>
            </a:r>
            <a:r>
              <a:rPr lang="en-US" altLang="en-US" sz="2000" b="1" dirty="0">
                <a:latin typeface="Arial" panose="020B0604020202020204" pitchFamily="34" charset="0"/>
              </a:rPr>
              <a:t>minimizes bias</a:t>
            </a:r>
            <a:r>
              <a:rPr lang="en-US" altLang="en-US" sz="2000" dirty="0">
                <a:latin typeface="Arial" panose="020B0604020202020204" pitchFamily="34" charset="0"/>
              </a:rPr>
              <a:t> in the collected data by precisely matching the gas velocity in the stack with the sampling flow rate.</a:t>
            </a:r>
          </a:p>
          <a:p>
            <a:pPr marL="342900" lvl="0" indent="-342900" algn="l" rtl="0" eaLnBrk="0" fontAlgn="base" hangingPunct="0">
              <a:lnSpc>
                <a:spcPct val="150000"/>
              </a:lnSpc>
              <a:spcBef>
                <a:spcPct val="0"/>
              </a:spcBef>
              <a:spcAft>
                <a:spcPct val="0"/>
              </a:spcAft>
              <a:buFont typeface="Arial" panose="020B0604020202020204" pitchFamily="34" charset="0"/>
              <a:buChar char="•"/>
            </a:pPr>
            <a:r>
              <a:rPr lang="en-US" altLang="en-US" sz="2000" dirty="0">
                <a:latin typeface="Arial" panose="020B0604020202020204" pitchFamily="34" charset="0"/>
              </a:rPr>
              <a:t>Isokinetic sampling is </a:t>
            </a:r>
            <a:r>
              <a:rPr lang="en-US" altLang="en-US" sz="2000" b="1" dirty="0">
                <a:latin typeface="Arial" panose="020B0604020202020204" pitchFamily="34" charset="0"/>
              </a:rPr>
              <a:t>widely accepted by regulatory authorities</a:t>
            </a:r>
            <a:r>
              <a:rPr lang="en-US" altLang="en-US" sz="2000" dirty="0">
                <a:latin typeface="Arial" panose="020B0604020202020204" pitchFamily="34" charset="0"/>
              </a:rPr>
              <a:t> for official compliance monitoring</a:t>
            </a:r>
          </a:p>
          <a:p>
            <a:pPr>
              <a:spcBef>
                <a:spcPts val="600"/>
              </a:spcBef>
            </a:pPr>
            <a:r>
              <a:rPr lang="en-US" altLang="en-US" sz="2800" b="1" dirty="0"/>
              <a:t>Limitations of Isokinetic Sampling:</a:t>
            </a:r>
          </a:p>
          <a:p>
            <a:pPr marL="342900" indent="-342900">
              <a:lnSpc>
                <a:spcPct val="150000"/>
              </a:lnSpc>
              <a:buFont typeface="Arial" panose="020B0604020202020204" pitchFamily="34" charset="0"/>
              <a:buChar char="•"/>
            </a:pPr>
            <a:r>
              <a:rPr lang="en-US" sz="2000" dirty="0"/>
              <a:t>The process </a:t>
            </a:r>
            <a:r>
              <a:rPr lang="en-US" sz="2000" b="1" dirty="0"/>
              <a:t>requires skilled operators</a:t>
            </a:r>
            <a:r>
              <a:rPr lang="en-US" sz="2000" dirty="0"/>
              <a:t> and meticulous </a:t>
            </a:r>
            <a:r>
              <a:rPr lang="en-US" sz="2000" b="1" dirty="0"/>
              <a:t>equipment calibration</a:t>
            </a:r>
            <a:r>
              <a:rPr lang="en-US" sz="2000" dirty="0"/>
              <a:t> to function correctly.</a:t>
            </a:r>
          </a:p>
          <a:p>
            <a:pPr marL="342900" indent="-342900">
              <a:lnSpc>
                <a:spcPct val="150000"/>
              </a:lnSpc>
              <a:buFont typeface="Arial" panose="020B0604020202020204" pitchFamily="34" charset="0"/>
              <a:buChar char="•"/>
            </a:pPr>
            <a:r>
              <a:rPr lang="en-US" sz="2000" dirty="0"/>
              <a:t>It can be </a:t>
            </a:r>
            <a:r>
              <a:rPr lang="en-US" sz="2000" b="1" dirty="0"/>
              <a:t>difficult to achieve isokinetic conditions</a:t>
            </a:r>
            <a:r>
              <a:rPr lang="en-US" sz="2000" dirty="0"/>
              <a:t> when dealing with extremely high or very low gas velocities.</a:t>
            </a:r>
          </a:p>
          <a:p>
            <a:pPr marL="342900" indent="-342900">
              <a:lnSpc>
                <a:spcPct val="150000"/>
              </a:lnSpc>
              <a:buFont typeface="Arial" panose="020B0604020202020204" pitchFamily="34" charset="0"/>
              <a:buChar char="•"/>
            </a:pPr>
            <a:r>
              <a:rPr lang="en-US" sz="2000" dirty="0"/>
              <a:t>The method </a:t>
            </a:r>
            <a:r>
              <a:rPr lang="en-US" sz="2000" b="1" dirty="0"/>
              <a:t>may not be suitable</a:t>
            </a:r>
            <a:r>
              <a:rPr lang="en-US" sz="2000" dirty="0"/>
              <a:t> for stacks where the gas conditions (velocity, temperature, or pressure) are </a:t>
            </a:r>
            <a:r>
              <a:rPr lang="en-US" sz="2000" b="1" dirty="0"/>
              <a:t>highly variable</a:t>
            </a:r>
            <a:r>
              <a:rPr lang="en-US" altLang="en-US" sz="2000" dirty="0"/>
              <a:t>.</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8917" y="133351"/>
            <a:ext cx="9355023" cy="492126"/>
          </a:xfrm>
        </p:spPr>
        <p:txBody>
          <a:bodyPr/>
          <a:lstStyle/>
          <a:p>
            <a:r>
              <a:rPr lang="en-US"/>
              <a:t>Gaseous Sampling</a:t>
            </a:r>
          </a:p>
        </p:txBody>
      </p:sp>
      <p:sp>
        <p:nvSpPr>
          <p:cNvPr id="3" name="Content Placeholder 2"/>
          <p:cNvSpPr>
            <a:spLocks noGrp="1"/>
          </p:cNvSpPr>
          <p:nvPr>
            <p:ph sz="half" idx="2"/>
          </p:nvPr>
        </p:nvSpPr>
        <p:spPr>
          <a:xfrm>
            <a:off x="609601" y="1577341"/>
            <a:ext cx="11272521" cy="2793842"/>
          </a:xfrm>
        </p:spPr>
        <p:txBody>
          <a:bodyPr wrap="square"/>
          <a:lstStyle/>
          <a:p>
            <a:pPr marL="342908" indent="-342908">
              <a:lnSpc>
                <a:spcPct val="150000"/>
              </a:lnSpc>
              <a:buFont typeface="Arial" panose="020B0604020202020204" pitchFamily="34" charset="0"/>
              <a:buChar char="•"/>
            </a:pPr>
            <a:r>
              <a:rPr lang="en-US" sz="2000" dirty="0"/>
              <a:t>The basic routine for obtaining a </a:t>
            </a:r>
            <a:r>
              <a:rPr lang="en-US" sz="2000" b="1" dirty="0"/>
              <a:t>gas sample from stack </a:t>
            </a:r>
            <a:r>
              <a:rPr lang="en-US" sz="2000" dirty="0"/>
              <a:t>emissions is s</a:t>
            </a:r>
            <a:r>
              <a:rPr lang="en-US" sz="2000" b="1" dirty="0"/>
              <a:t>imilar</a:t>
            </a:r>
            <a:r>
              <a:rPr lang="en-US" sz="2000" dirty="0"/>
              <a:t> to that employed in sampling of </a:t>
            </a:r>
            <a:r>
              <a:rPr lang="en-US" sz="2000" b="1" dirty="0"/>
              <a:t>particulate matter</a:t>
            </a:r>
            <a:r>
              <a:rPr lang="en-US" sz="2000" dirty="0"/>
              <a:t>.</a:t>
            </a:r>
          </a:p>
          <a:p>
            <a:pPr marL="342908" indent="-342908">
              <a:lnSpc>
                <a:spcPct val="150000"/>
              </a:lnSpc>
              <a:buFont typeface="Arial" panose="020B0604020202020204" pitchFamily="34" charset="0"/>
              <a:buChar char="•"/>
            </a:pPr>
            <a:r>
              <a:rPr lang="en-US" sz="2000" dirty="0"/>
              <a:t>The sampling is much </a:t>
            </a:r>
            <a:r>
              <a:rPr lang="en-US" sz="2000" b="1" dirty="0"/>
              <a:t>easier</a:t>
            </a:r>
            <a:r>
              <a:rPr lang="en-US" sz="2000" dirty="0"/>
              <a:t> because it is </a:t>
            </a:r>
            <a:r>
              <a:rPr lang="en-US" sz="2000" b="1" dirty="0"/>
              <a:t>not necessary to sample at isokinetic conditions.</a:t>
            </a:r>
          </a:p>
          <a:p>
            <a:pPr marL="342908" indent="-342908">
              <a:lnSpc>
                <a:spcPct val="150000"/>
              </a:lnSpc>
              <a:buFont typeface="Arial" panose="020B0604020202020204" pitchFamily="34" charset="0"/>
              <a:buChar char="•"/>
            </a:pPr>
            <a:r>
              <a:rPr lang="en-US" sz="2000" dirty="0"/>
              <a:t>The sample can be withdrawn from the stack at a </a:t>
            </a:r>
            <a:r>
              <a:rPr lang="en-US" sz="2000" b="1" dirty="0"/>
              <a:t>constant rate independent of the flow rate in the stack.</a:t>
            </a:r>
          </a:p>
          <a:p>
            <a:pPr marL="342908" indent="-342908">
              <a:lnSpc>
                <a:spcPct val="150000"/>
              </a:lnSpc>
              <a:buFont typeface="Arial" panose="020B0604020202020204" pitchFamily="34" charset="0"/>
              <a:buChar char="•"/>
            </a:pPr>
            <a:endParaRPr lang="en-US" sz="20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xfrm>
            <a:off x="8993409" y="6464911"/>
            <a:ext cx="198636" cy="156068"/>
          </a:xfrm>
          <a:prstGeom prst="rect">
            <a:avLst/>
          </a:prstGeom>
        </p:spPr>
        <p:txBody>
          <a:bodyPr vert="horz" wrap="square" lIns="0" tIns="0" rIns="0" bIns="0" rtlCol="0">
            <a:spAutoFit/>
          </a:bodyPr>
          <a:lstStyle/>
          <a:p>
            <a:pPr marL="38101">
              <a:lnSpc>
                <a:spcPts val="1239"/>
              </a:lnSpc>
            </a:pPr>
            <a:fld id="{81D60167-4931-47E6-BA6A-407CBD079E47}" type="slidenum">
              <a:rPr spc="-25" dirty="0"/>
              <a:pPr marL="38101">
                <a:lnSpc>
                  <a:spcPts val="1239"/>
                </a:lnSpc>
              </a:pPr>
              <a:t>70</a:t>
            </a:fld>
            <a:endParaRPr spc="-25" dirty="0"/>
          </a:p>
        </p:txBody>
      </p:sp>
      <p:sp>
        <p:nvSpPr>
          <p:cNvPr id="2" name="object 2"/>
          <p:cNvSpPr txBox="1">
            <a:spLocks noGrp="1"/>
          </p:cNvSpPr>
          <p:nvPr>
            <p:ph type="title"/>
          </p:nvPr>
        </p:nvSpPr>
        <p:spPr>
          <a:xfrm>
            <a:off x="470371" y="133351"/>
            <a:ext cx="7600956" cy="892423"/>
          </a:xfrm>
          <a:prstGeom prst="rect">
            <a:avLst/>
          </a:prstGeom>
        </p:spPr>
        <p:txBody>
          <a:bodyPr vert="horz" wrap="square" lIns="0" tIns="396112" rIns="0" bIns="0" rtlCol="0">
            <a:spAutoFit/>
          </a:bodyPr>
          <a:lstStyle/>
          <a:p>
            <a:pPr marL="131448">
              <a:spcBef>
                <a:spcPts val="105"/>
              </a:spcBef>
            </a:pPr>
            <a:r>
              <a:rPr dirty="0"/>
              <a:t>Ambient</a:t>
            </a:r>
            <a:r>
              <a:rPr spc="-41" dirty="0"/>
              <a:t> </a:t>
            </a:r>
            <a:r>
              <a:rPr dirty="0"/>
              <a:t>air</a:t>
            </a:r>
            <a:r>
              <a:rPr spc="-20" dirty="0"/>
              <a:t> </a:t>
            </a:r>
            <a:r>
              <a:rPr spc="-10" dirty="0"/>
              <a:t>quality</a:t>
            </a:r>
          </a:p>
        </p:txBody>
      </p:sp>
      <p:sp>
        <p:nvSpPr>
          <p:cNvPr id="5" name="Rectangle 1">
            <a:extLst>
              <a:ext uri="{FF2B5EF4-FFF2-40B4-BE49-F238E27FC236}">
                <a16:creationId xmlns:a16="http://schemas.microsoft.com/office/drawing/2014/main" id="{B8B13BD7-D762-A5C1-7140-D3DA63592327}"/>
              </a:ext>
            </a:extLst>
          </p:cNvPr>
          <p:cNvSpPr>
            <a:spLocks noGrp="1" noChangeArrowheads="1"/>
          </p:cNvSpPr>
          <p:nvPr>
            <p:ph type="body" idx="1"/>
          </p:nvPr>
        </p:nvSpPr>
        <p:spPr bwMode="auto">
          <a:xfrm>
            <a:off x="450849" y="1376751"/>
            <a:ext cx="11270779" cy="37286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Ambient air quality</a:t>
            </a:r>
            <a:r>
              <a:rPr kumimoji="0" lang="en-US" altLang="en-US" sz="2000" b="0" i="0" u="none" strike="noStrike" cap="none" normalizeH="0" baseline="0" dirty="0">
                <a:ln>
                  <a:noFill/>
                </a:ln>
                <a:solidFill>
                  <a:schemeClr val="tx1"/>
                </a:solidFill>
                <a:effectLst/>
                <a:latin typeface="Arial" panose="020B0604020202020204" pitchFamily="34" charset="0"/>
              </a:rPr>
              <a:t> refers to the condition or quality of the air that surrounds us in the outdoors.</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The </a:t>
            </a:r>
            <a:r>
              <a:rPr kumimoji="0" lang="en-US" altLang="en-US" sz="2000" b="1" i="0" u="none" strike="noStrike" cap="none" normalizeH="0" baseline="0" dirty="0">
                <a:ln>
                  <a:noFill/>
                </a:ln>
                <a:solidFill>
                  <a:schemeClr val="tx1"/>
                </a:solidFill>
                <a:effectLst/>
                <a:latin typeface="Arial" panose="020B0604020202020204" pitchFamily="34" charset="0"/>
              </a:rPr>
              <a:t>National Ambient Air Quality Standards</a:t>
            </a:r>
            <a:r>
              <a:rPr kumimoji="0" lang="en-US" altLang="en-US" sz="2000" b="0" i="0" u="none" strike="noStrike" cap="none" normalizeH="0" baseline="0" dirty="0">
                <a:ln>
                  <a:noFill/>
                </a:ln>
                <a:solidFill>
                  <a:schemeClr val="tx1"/>
                </a:solidFill>
                <a:effectLst/>
                <a:latin typeface="Arial" panose="020B0604020202020204" pitchFamily="34" charset="0"/>
              </a:rPr>
              <a:t> are the official benchmarks for outdoor air quality.</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These standards are set by the </a:t>
            </a:r>
            <a:r>
              <a:rPr kumimoji="0" lang="en-US" altLang="en-US" sz="2000" b="1" i="0" u="none" strike="noStrike" cap="none" normalizeH="0" baseline="0" dirty="0">
                <a:ln>
                  <a:noFill/>
                </a:ln>
                <a:solidFill>
                  <a:schemeClr val="tx1"/>
                </a:solidFill>
                <a:effectLst/>
                <a:latin typeface="Arial" panose="020B0604020202020204" pitchFamily="34" charset="0"/>
              </a:rPr>
              <a:t>Central Pollution Control Board (CPCB)</a:t>
            </a:r>
            <a:r>
              <a:rPr kumimoji="0" lang="en-US" altLang="en-US" sz="2000" b="0" i="0" u="none" strike="noStrike" cap="none" normalizeH="0" baseline="0" dirty="0">
                <a:ln>
                  <a:noFill/>
                </a:ln>
                <a:solidFill>
                  <a:schemeClr val="tx1"/>
                </a:solidFill>
                <a:effectLst/>
                <a:latin typeface="Arial" panose="020B0604020202020204" pitchFamily="34" charset="0"/>
              </a:rPr>
              <a:t> and are applicable across the entire nation.</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The </a:t>
            </a:r>
            <a:r>
              <a:rPr kumimoji="0" lang="en-US" altLang="en-US" sz="2000" b="1" i="0" u="none" strike="noStrike" cap="none" normalizeH="0" baseline="0" dirty="0">
                <a:ln>
                  <a:noFill/>
                </a:ln>
                <a:solidFill>
                  <a:schemeClr val="tx1"/>
                </a:solidFill>
                <a:effectLst/>
                <a:latin typeface="Arial" panose="020B0604020202020204" pitchFamily="34" charset="0"/>
              </a:rPr>
              <a:t>CPCB</a:t>
            </a:r>
            <a:r>
              <a:rPr kumimoji="0" lang="en-US" altLang="en-US" sz="2000" b="0" i="0" u="none" strike="noStrike" cap="none" normalizeH="0" baseline="0" dirty="0">
                <a:ln>
                  <a:noFill/>
                </a:ln>
                <a:solidFill>
                  <a:schemeClr val="tx1"/>
                </a:solidFill>
                <a:effectLst/>
                <a:latin typeface="Arial" panose="020B0604020202020204" pitchFamily="34" charset="0"/>
              </a:rPr>
              <a:t> was granted the power to set these standards under the </a:t>
            </a:r>
            <a:r>
              <a:rPr kumimoji="0" lang="en-US" altLang="en-US" sz="2000" b="1" i="0" u="none" strike="noStrike" cap="none" normalizeH="0" baseline="0" dirty="0">
                <a:ln>
                  <a:noFill/>
                </a:ln>
                <a:solidFill>
                  <a:schemeClr val="tx1"/>
                </a:solidFill>
                <a:effectLst/>
                <a:latin typeface="Arial" panose="020B0604020202020204" pitchFamily="34" charset="0"/>
              </a:rPr>
              <a:t>Air (Prevention and Control of Pollution) Act, 1981</a:t>
            </a:r>
            <a:r>
              <a:rPr kumimoji="0" lang="en-US" altLang="en-US" sz="2000" b="0" i="0" u="none" strike="noStrike" cap="none" normalizeH="0" baseline="0" dirty="0">
                <a:ln>
                  <a:noFill/>
                </a:ln>
                <a:solidFill>
                  <a:schemeClr val="tx1"/>
                </a:solidFill>
                <a:effectLst/>
                <a:latin typeface="Arial" panose="020B0604020202020204" pitchFamily="34" charset="0"/>
              </a:rPr>
              <a:t>.</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xfrm>
            <a:off x="8993409" y="6464911"/>
            <a:ext cx="198636" cy="156068"/>
          </a:xfrm>
          <a:prstGeom prst="rect">
            <a:avLst/>
          </a:prstGeom>
        </p:spPr>
        <p:txBody>
          <a:bodyPr vert="horz" wrap="square" lIns="0" tIns="0" rIns="0" bIns="0" rtlCol="0">
            <a:spAutoFit/>
          </a:bodyPr>
          <a:lstStyle/>
          <a:p>
            <a:pPr marL="38101">
              <a:lnSpc>
                <a:spcPts val="1239"/>
              </a:lnSpc>
            </a:pPr>
            <a:fld id="{81D60167-4931-47E6-BA6A-407CBD079E47}" type="slidenum">
              <a:rPr spc="-25" dirty="0"/>
              <a:pPr marL="38101">
                <a:lnSpc>
                  <a:spcPts val="1239"/>
                </a:lnSpc>
              </a:pPr>
              <a:t>71</a:t>
            </a:fld>
            <a:endParaRPr spc="-25" dirty="0"/>
          </a:p>
        </p:txBody>
      </p:sp>
      <p:sp>
        <p:nvSpPr>
          <p:cNvPr id="2" name="object 2"/>
          <p:cNvSpPr txBox="1">
            <a:spLocks noGrp="1"/>
          </p:cNvSpPr>
          <p:nvPr>
            <p:ph type="title"/>
          </p:nvPr>
        </p:nvSpPr>
        <p:spPr>
          <a:xfrm>
            <a:off x="470371" y="133352"/>
            <a:ext cx="7600956" cy="892423"/>
          </a:xfrm>
          <a:prstGeom prst="rect">
            <a:avLst/>
          </a:prstGeom>
        </p:spPr>
        <p:txBody>
          <a:bodyPr vert="horz" wrap="square" lIns="0" tIns="396112" rIns="0" bIns="0" rtlCol="0">
            <a:spAutoFit/>
          </a:bodyPr>
          <a:lstStyle/>
          <a:p>
            <a:pPr marL="131448">
              <a:spcBef>
                <a:spcPts val="105"/>
              </a:spcBef>
            </a:pPr>
            <a:r>
              <a:rPr dirty="0"/>
              <a:t>Ambient</a:t>
            </a:r>
            <a:r>
              <a:rPr spc="-170" dirty="0"/>
              <a:t> </a:t>
            </a:r>
            <a:r>
              <a:rPr dirty="0"/>
              <a:t>Air</a:t>
            </a:r>
            <a:r>
              <a:rPr spc="-41" dirty="0"/>
              <a:t> </a:t>
            </a:r>
            <a:r>
              <a:rPr dirty="0"/>
              <a:t>Quality</a:t>
            </a:r>
            <a:r>
              <a:rPr spc="-55" dirty="0"/>
              <a:t> </a:t>
            </a:r>
            <a:r>
              <a:rPr dirty="0"/>
              <a:t>Standards</a:t>
            </a:r>
            <a:r>
              <a:rPr spc="-60" dirty="0"/>
              <a:t> </a:t>
            </a:r>
            <a:r>
              <a:rPr dirty="0"/>
              <a:t>in</a:t>
            </a:r>
            <a:r>
              <a:rPr spc="-46" dirty="0"/>
              <a:t> </a:t>
            </a:r>
            <a:r>
              <a:rPr spc="-10" dirty="0"/>
              <a:t>India</a:t>
            </a:r>
          </a:p>
        </p:txBody>
      </p:sp>
      <p:sp>
        <p:nvSpPr>
          <p:cNvPr id="3" name="object 3"/>
          <p:cNvSpPr txBox="1"/>
          <p:nvPr/>
        </p:nvSpPr>
        <p:spPr>
          <a:xfrm>
            <a:off x="555448" y="1523772"/>
            <a:ext cx="10937874" cy="4700710"/>
          </a:xfrm>
          <a:prstGeom prst="rect">
            <a:avLst/>
          </a:prstGeom>
        </p:spPr>
        <p:txBody>
          <a:bodyPr vert="horz" wrap="square" lIns="0" tIns="12700" rIns="0" bIns="0" rtlCol="0">
            <a:spAutoFit/>
          </a:bodyPr>
          <a:lstStyle/>
          <a:p>
            <a:pPr marL="355600" marR="591835" indent="-342900" algn="just">
              <a:lnSpc>
                <a:spcPct val="150000"/>
              </a:lnSpc>
              <a:spcBef>
                <a:spcPts val="100"/>
              </a:spcBef>
              <a:buFont typeface="Arial" panose="020B0604020202020204" pitchFamily="34" charset="0"/>
              <a:buChar char="•"/>
              <a:tabLst>
                <a:tab pos="241306" algn="l"/>
              </a:tabLst>
            </a:pPr>
            <a:r>
              <a:rPr lang="en-US" sz="2000" dirty="0">
                <a:latin typeface="Arial" panose="020B0604020202020204" pitchFamily="34" charset="0"/>
                <a:cs typeface="Arial" panose="020B0604020202020204" pitchFamily="34" charset="0"/>
              </a:rPr>
              <a:t>The </a:t>
            </a:r>
            <a:r>
              <a:rPr lang="en-US" sz="2000" b="1" dirty="0">
                <a:latin typeface="Arial" panose="020B0604020202020204" pitchFamily="34" charset="0"/>
                <a:cs typeface="Arial" panose="020B0604020202020204" pitchFamily="34" charset="0"/>
              </a:rPr>
              <a:t>Air Act of 1981</a:t>
            </a:r>
            <a:r>
              <a:rPr lang="en-US" sz="2000" dirty="0">
                <a:latin typeface="Arial" panose="020B0604020202020204" pitchFamily="34" charset="0"/>
                <a:cs typeface="Arial" panose="020B0604020202020204" pitchFamily="34" charset="0"/>
              </a:rPr>
              <a:t> was enacted by the Central Government with the primary objective of </a:t>
            </a:r>
            <a:r>
              <a:rPr lang="en-US" sz="2000" b="1" dirty="0">
                <a:latin typeface="Arial" panose="020B0604020202020204" pitchFamily="34" charset="0"/>
                <a:cs typeface="Arial" panose="020B0604020202020204" pitchFamily="34" charset="0"/>
              </a:rPr>
              <a:t>arresting the deterioration of air quality</a:t>
            </a:r>
            <a:r>
              <a:rPr sz="2000" spc="-10" dirty="0">
                <a:latin typeface="Arial" panose="020B0604020202020204" pitchFamily="34" charset="0"/>
                <a:cs typeface="Arial" panose="020B0604020202020204" pitchFamily="34" charset="0"/>
              </a:rPr>
              <a:t>.</a:t>
            </a:r>
            <a:endParaRPr sz="2000" dirty="0">
              <a:latin typeface="Arial" panose="020B0604020202020204" pitchFamily="34" charset="0"/>
              <a:cs typeface="Arial" panose="020B0604020202020204" pitchFamily="34" charset="0"/>
            </a:endParaRPr>
          </a:p>
          <a:p>
            <a:pPr marL="355600" marR="52071" indent="-342900" algn="just">
              <a:lnSpc>
                <a:spcPct val="150000"/>
              </a:lnSpc>
              <a:spcBef>
                <a:spcPts val="994"/>
              </a:spcBef>
              <a:buFont typeface="Arial" panose="020B0604020202020204" pitchFamily="34" charset="0"/>
              <a:buChar char="•"/>
              <a:tabLst>
                <a:tab pos="241306" algn="l"/>
                <a:tab pos="314333" algn="l"/>
              </a:tabLst>
            </a:pPr>
            <a:r>
              <a:rPr sz="2000" spc="-10" dirty="0">
                <a:latin typeface="Arial" panose="020B0604020202020204" pitchFamily="34" charset="0"/>
                <a:cs typeface="Arial" panose="020B0604020202020204" pitchFamily="34" charset="0"/>
              </a:rPr>
              <a:t>The</a:t>
            </a:r>
            <a:r>
              <a:rPr sz="2000" spc="-14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Air</a:t>
            </a:r>
            <a:r>
              <a:rPr sz="2000" spc="-9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(Prevention</a:t>
            </a:r>
            <a:r>
              <a:rPr sz="2000" spc="-30"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and</a:t>
            </a:r>
            <a:r>
              <a:rPr sz="2000" spc="-50"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Control</a:t>
            </a:r>
            <a:r>
              <a:rPr sz="2000" spc="-46"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of</a:t>
            </a:r>
            <a:r>
              <a:rPr sz="2000" spc="-60" dirty="0">
                <a:latin typeface="Arial" panose="020B0604020202020204" pitchFamily="34" charset="0"/>
                <a:cs typeface="Arial" panose="020B0604020202020204" pitchFamily="34" charset="0"/>
              </a:rPr>
              <a:t> </a:t>
            </a:r>
            <a:r>
              <a:rPr sz="2000" spc="-10" dirty="0">
                <a:latin typeface="Arial" panose="020B0604020202020204" pitchFamily="34" charset="0"/>
                <a:cs typeface="Arial" panose="020B0604020202020204" pitchFamily="34" charset="0"/>
              </a:rPr>
              <a:t>Pollution)</a:t>
            </a:r>
            <a:r>
              <a:rPr sz="2000" spc="-140"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Act</a:t>
            </a:r>
            <a:r>
              <a:rPr sz="2000" spc="-6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1981</a:t>
            </a:r>
            <a:r>
              <a:rPr sz="2000" spc="-50"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describes</a:t>
            </a:r>
            <a:r>
              <a:rPr sz="2000" spc="-60"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the</a:t>
            </a:r>
            <a:r>
              <a:rPr sz="2000" spc="-60"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main</a:t>
            </a:r>
            <a:r>
              <a:rPr sz="2000" spc="-46"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functions</a:t>
            </a:r>
            <a:r>
              <a:rPr sz="2000" spc="-50" dirty="0">
                <a:latin typeface="Arial" panose="020B0604020202020204" pitchFamily="34" charset="0"/>
                <a:cs typeface="Arial" panose="020B0604020202020204" pitchFamily="34" charset="0"/>
              </a:rPr>
              <a:t> </a:t>
            </a:r>
            <a:r>
              <a:rPr sz="2000" spc="-25" dirty="0">
                <a:latin typeface="Arial" panose="020B0604020202020204" pitchFamily="34" charset="0"/>
                <a:cs typeface="Arial" panose="020B0604020202020204" pitchFamily="34" charset="0"/>
              </a:rPr>
              <a:t>of </a:t>
            </a:r>
            <a:r>
              <a:rPr sz="2000" dirty="0">
                <a:latin typeface="Arial" panose="020B0604020202020204" pitchFamily="34" charset="0"/>
                <a:cs typeface="Arial" panose="020B0604020202020204" pitchFamily="34" charset="0"/>
              </a:rPr>
              <a:t>the</a:t>
            </a:r>
            <a:r>
              <a:rPr sz="2000" spc="-70" dirty="0">
                <a:latin typeface="Arial" panose="020B0604020202020204" pitchFamily="34" charset="0"/>
                <a:cs typeface="Arial" panose="020B0604020202020204" pitchFamily="34" charset="0"/>
              </a:rPr>
              <a:t> </a:t>
            </a:r>
            <a:r>
              <a:rPr sz="2000" b="1" dirty="0">
                <a:latin typeface="Arial" panose="020B0604020202020204" pitchFamily="34" charset="0"/>
                <a:cs typeface="Arial" panose="020B0604020202020204" pitchFamily="34" charset="0"/>
              </a:rPr>
              <a:t>Central</a:t>
            </a:r>
            <a:r>
              <a:rPr sz="2000" b="1" spc="-55" dirty="0">
                <a:latin typeface="Arial" panose="020B0604020202020204" pitchFamily="34" charset="0"/>
                <a:cs typeface="Arial" panose="020B0604020202020204" pitchFamily="34" charset="0"/>
              </a:rPr>
              <a:t> </a:t>
            </a:r>
            <a:r>
              <a:rPr sz="2000" b="1" dirty="0">
                <a:latin typeface="Arial" panose="020B0604020202020204" pitchFamily="34" charset="0"/>
                <a:cs typeface="Arial" panose="020B0604020202020204" pitchFamily="34" charset="0"/>
              </a:rPr>
              <a:t>Pollution</a:t>
            </a:r>
            <a:r>
              <a:rPr sz="2000" b="1" spc="-75" dirty="0">
                <a:latin typeface="Arial" panose="020B0604020202020204" pitchFamily="34" charset="0"/>
                <a:cs typeface="Arial" panose="020B0604020202020204" pitchFamily="34" charset="0"/>
              </a:rPr>
              <a:t> </a:t>
            </a:r>
            <a:r>
              <a:rPr sz="2000" b="1" dirty="0">
                <a:latin typeface="Arial" panose="020B0604020202020204" pitchFamily="34" charset="0"/>
                <a:cs typeface="Arial" panose="020B0604020202020204" pitchFamily="34" charset="0"/>
              </a:rPr>
              <a:t>Control</a:t>
            </a:r>
            <a:r>
              <a:rPr sz="2000" b="1" spc="-60" dirty="0">
                <a:latin typeface="Arial" panose="020B0604020202020204" pitchFamily="34" charset="0"/>
                <a:cs typeface="Arial" panose="020B0604020202020204" pitchFamily="34" charset="0"/>
              </a:rPr>
              <a:t> </a:t>
            </a:r>
            <a:r>
              <a:rPr sz="2000" b="1" dirty="0">
                <a:latin typeface="Arial" panose="020B0604020202020204" pitchFamily="34" charset="0"/>
                <a:cs typeface="Arial" panose="020B0604020202020204" pitchFamily="34" charset="0"/>
              </a:rPr>
              <a:t>Board</a:t>
            </a:r>
            <a:r>
              <a:rPr sz="2000" b="1" spc="-65" dirty="0">
                <a:latin typeface="Arial" panose="020B0604020202020204" pitchFamily="34" charset="0"/>
                <a:cs typeface="Arial" panose="020B0604020202020204" pitchFamily="34" charset="0"/>
              </a:rPr>
              <a:t> </a:t>
            </a:r>
            <a:r>
              <a:rPr sz="2000" b="1" dirty="0">
                <a:latin typeface="Arial" panose="020B0604020202020204" pitchFamily="34" charset="0"/>
                <a:cs typeface="Arial" panose="020B0604020202020204" pitchFamily="34" charset="0"/>
              </a:rPr>
              <a:t>(CPCB)</a:t>
            </a:r>
            <a:r>
              <a:rPr sz="2000" b="1" spc="-50"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as</a:t>
            </a:r>
            <a:r>
              <a:rPr sz="2000" spc="-60" dirty="0">
                <a:latin typeface="Arial" panose="020B0604020202020204" pitchFamily="34" charset="0"/>
                <a:cs typeface="Arial" panose="020B0604020202020204" pitchFamily="34" charset="0"/>
              </a:rPr>
              <a:t> </a:t>
            </a:r>
            <a:r>
              <a:rPr sz="2000" spc="-10" dirty="0">
                <a:latin typeface="Arial" panose="020B0604020202020204" pitchFamily="34" charset="0"/>
                <a:cs typeface="Arial" panose="020B0604020202020204" pitchFamily="34" charset="0"/>
              </a:rPr>
              <a:t>follows:</a:t>
            </a:r>
            <a:endParaRPr sz="2000" dirty="0">
              <a:latin typeface="Arial" panose="020B0604020202020204" pitchFamily="34" charset="0"/>
              <a:cs typeface="Arial" panose="020B0604020202020204" pitchFamily="34" charset="0"/>
            </a:endParaRPr>
          </a:p>
          <a:p>
            <a:pPr marL="457200" lvl="8" indent="-457200" algn="just" rtl="0" eaLnBrk="0" fontAlgn="base" hangingPunct="0">
              <a:lnSpc>
                <a:spcPct val="150000"/>
              </a:lnSpc>
              <a:spcBef>
                <a:spcPct val="0"/>
              </a:spcBef>
              <a:spcAft>
                <a:spcPct val="0"/>
              </a:spcAft>
              <a:buFont typeface="Arial" panose="020B0604020202020204" pitchFamily="34" charset="0"/>
              <a:buChar char="•"/>
            </a:pPr>
            <a:r>
              <a:rPr kumimoji="0" lang="en-US" altLang="en-US" sz="20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Advisory Role</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To advise the Central Government on any matter concerning the </a:t>
            </a:r>
            <a:r>
              <a:rPr kumimoji="0" lang="en-US" altLang="en-US" sz="20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improvement of air quality</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and the prevention, control, and abatement of air pollution.</a:t>
            </a:r>
          </a:p>
          <a:p>
            <a:pPr marL="457200" lvl="8" indent="-457200" algn="just" rtl="0" eaLnBrk="0" fontAlgn="base" hangingPunct="0">
              <a:lnSpc>
                <a:spcPct val="150000"/>
              </a:lnSpc>
              <a:spcBef>
                <a:spcPct val="0"/>
              </a:spcBef>
              <a:spcAft>
                <a:spcPct val="0"/>
              </a:spcAft>
              <a:buFont typeface="Arial" panose="020B0604020202020204" pitchFamily="34" charset="0"/>
              <a:buChar char="•"/>
            </a:pPr>
            <a:r>
              <a:rPr kumimoji="0" lang="en-US" altLang="en-US" sz="20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National Planning</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To plan and execute a </a:t>
            </a:r>
            <a:r>
              <a:rPr kumimoji="0" lang="en-US" altLang="en-US" sz="20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nationwide </a:t>
            </a:r>
            <a:r>
              <a:rPr kumimoji="0" lang="en-US" altLang="en-US" sz="2000" b="1"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programme</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for the prevention, control, and abatement of air pollution.</a:t>
            </a:r>
          </a:p>
          <a:p>
            <a:pPr marL="457200" lvl="8" indent="-457200" algn="just" rtl="0" eaLnBrk="0" fontAlgn="base" hangingPunct="0">
              <a:lnSpc>
                <a:spcPct val="150000"/>
              </a:lnSpc>
              <a:spcBef>
                <a:spcPct val="0"/>
              </a:spcBef>
              <a:spcAft>
                <a:spcPct val="0"/>
              </a:spcAft>
              <a:buFont typeface="Arial" panose="020B0604020202020204" pitchFamily="34" charset="0"/>
              <a:buChar char="•"/>
            </a:pPr>
            <a:r>
              <a:rPr kumimoji="0" lang="en-US" altLang="en-US" sz="20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Support to State Boards</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To provide </a:t>
            </a:r>
            <a:r>
              <a:rPr kumimoji="0" lang="en-US" altLang="en-US" sz="20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technical assistance and guidance</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to the various State Pollution Control Boards.</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xfrm>
            <a:off x="8993409" y="6464911"/>
            <a:ext cx="198636" cy="156068"/>
          </a:xfrm>
          <a:prstGeom prst="rect">
            <a:avLst/>
          </a:prstGeom>
        </p:spPr>
        <p:txBody>
          <a:bodyPr vert="horz" wrap="square" lIns="0" tIns="0" rIns="0" bIns="0" rtlCol="0">
            <a:spAutoFit/>
          </a:bodyPr>
          <a:lstStyle/>
          <a:p>
            <a:pPr marL="38101">
              <a:lnSpc>
                <a:spcPts val="1239"/>
              </a:lnSpc>
            </a:pPr>
            <a:fld id="{81D60167-4931-47E6-BA6A-407CBD079E47}" type="slidenum">
              <a:rPr spc="-25" dirty="0"/>
              <a:pPr marL="38101">
                <a:lnSpc>
                  <a:spcPts val="1239"/>
                </a:lnSpc>
              </a:pPr>
              <a:t>72</a:t>
            </a:fld>
            <a:endParaRPr spc="-25" dirty="0"/>
          </a:p>
        </p:txBody>
      </p:sp>
      <p:sp>
        <p:nvSpPr>
          <p:cNvPr id="2" name="object 2"/>
          <p:cNvSpPr txBox="1">
            <a:spLocks noGrp="1"/>
          </p:cNvSpPr>
          <p:nvPr>
            <p:ph type="title"/>
          </p:nvPr>
        </p:nvSpPr>
        <p:spPr>
          <a:xfrm>
            <a:off x="470371" y="133352"/>
            <a:ext cx="7600956" cy="892423"/>
          </a:xfrm>
          <a:prstGeom prst="rect">
            <a:avLst/>
          </a:prstGeom>
        </p:spPr>
        <p:txBody>
          <a:bodyPr vert="horz" wrap="square" lIns="0" tIns="396112" rIns="0" bIns="0" rtlCol="0">
            <a:spAutoFit/>
          </a:bodyPr>
          <a:lstStyle/>
          <a:p>
            <a:pPr marL="131448">
              <a:spcBef>
                <a:spcPts val="105"/>
              </a:spcBef>
            </a:pPr>
            <a:r>
              <a:rPr dirty="0"/>
              <a:t>Ambient</a:t>
            </a:r>
            <a:r>
              <a:rPr spc="-170" dirty="0"/>
              <a:t> </a:t>
            </a:r>
            <a:r>
              <a:rPr dirty="0"/>
              <a:t>Air</a:t>
            </a:r>
            <a:r>
              <a:rPr spc="-41" dirty="0"/>
              <a:t> </a:t>
            </a:r>
            <a:r>
              <a:rPr dirty="0"/>
              <a:t>Quality</a:t>
            </a:r>
            <a:r>
              <a:rPr spc="-55" dirty="0"/>
              <a:t> </a:t>
            </a:r>
            <a:r>
              <a:rPr dirty="0"/>
              <a:t>Standards</a:t>
            </a:r>
            <a:r>
              <a:rPr spc="-60" dirty="0"/>
              <a:t> </a:t>
            </a:r>
            <a:r>
              <a:rPr dirty="0"/>
              <a:t>in</a:t>
            </a:r>
            <a:r>
              <a:rPr spc="-46" dirty="0"/>
              <a:t> </a:t>
            </a:r>
            <a:r>
              <a:rPr spc="-10" dirty="0"/>
              <a:t>India</a:t>
            </a:r>
          </a:p>
        </p:txBody>
      </p:sp>
      <p:sp>
        <p:nvSpPr>
          <p:cNvPr id="3" name="object 3"/>
          <p:cNvSpPr txBox="1"/>
          <p:nvPr/>
        </p:nvSpPr>
        <p:spPr>
          <a:xfrm>
            <a:off x="555448" y="1371600"/>
            <a:ext cx="10551794" cy="3372783"/>
          </a:xfrm>
          <a:prstGeom prst="rect">
            <a:avLst/>
          </a:prstGeom>
        </p:spPr>
        <p:txBody>
          <a:bodyPr vert="horz" wrap="square" lIns="0" tIns="196215" rIns="0" bIns="0" rtlCol="0">
            <a:spAutoFit/>
          </a:bodyPr>
          <a:lstStyle/>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Research and Investigation</a:t>
            </a:r>
            <a:r>
              <a:rPr kumimoji="0" lang="en-US" altLang="en-US" sz="2000" b="0" i="0" u="none" strike="noStrike" cap="none" normalizeH="0" baseline="0" dirty="0">
                <a:ln>
                  <a:noFill/>
                </a:ln>
                <a:solidFill>
                  <a:schemeClr val="tx1"/>
                </a:solidFill>
                <a:effectLst/>
                <a:latin typeface="Arial" panose="020B0604020202020204" pitchFamily="34" charset="0"/>
              </a:rPr>
              <a:t>: To carry out and sponsor investigations and </a:t>
            </a:r>
            <a:r>
              <a:rPr kumimoji="0" lang="en-US" altLang="en-US" sz="2000" b="1" i="0" u="none" strike="noStrike" cap="none" normalizeH="0" baseline="0" dirty="0">
                <a:ln>
                  <a:noFill/>
                </a:ln>
                <a:solidFill>
                  <a:schemeClr val="tx1"/>
                </a:solidFill>
                <a:effectLst/>
                <a:latin typeface="Arial" panose="020B0604020202020204" pitchFamily="34" charset="0"/>
              </a:rPr>
              <a:t>research</a:t>
            </a:r>
            <a:r>
              <a:rPr kumimoji="0" lang="en-US" altLang="en-US" sz="2000" b="0" i="0" u="none" strike="noStrike" cap="none" normalizeH="0" baseline="0" dirty="0">
                <a:ln>
                  <a:noFill/>
                </a:ln>
                <a:solidFill>
                  <a:schemeClr val="tx1"/>
                </a:solidFill>
                <a:effectLst/>
                <a:latin typeface="Arial" panose="020B0604020202020204" pitchFamily="34" charset="0"/>
              </a:rPr>
              <a:t> related to the prevention, control, and abatement of air pollution.</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Data Management</a:t>
            </a:r>
            <a:r>
              <a:rPr kumimoji="0" lang="en-US" altLang="en-US" sz="2000" b="0" i="0" u="none" strike="noStrike" cap="none" normalizeH="0" baseline="0" dirty="0">
                <a:ln>
                  <a:noFill/>
                </a:ln>
                <a:solidFill>
                  <a:schemeClr val="tx1"/>
                </a:solidFill>
                <a:effectLst/>
                <a:latin typeface="Arial" panose="020B0604020202020204" pitchFamily="34" charset="0"/>
              </a:rPr>
              <a:t>: To </a:t>
            </a:r>
            <a:r>
              <a:rPr kumimoji="0" lang="en-US" altLang="en-US" sz="2000" b="1" i="0" u="none" strike="noStrike" cap="none" normalizeH="0" baseline="0" dirty="0">
                <a:ln>
                  <a:noFill/>
                </a:ln>
                <a:solidFill>
                  <a:schemeClr val="tx1"/>
                </a:solidFill>
                <a:effectLst/>
                <a:latin typeface="Arial" panose="020B0604020202020204" pitchFamily="34" charset="0"/>
              </a:rPr>
              <a:t>collect, compile, and publish</a:t>
            </a:r>
            <a:r>
              <a:rPr kumimoji="0" lang="en-US" altLang="en-US" sz="2000" b="0" i="0" u="none" strike="noStrike" cap="none" normalizeH="0" baseline="0" dirty="0">
                <a:ln>
                  <a:noFill/>
                </a:ln>
                <a:solidFill>
                  <a:schemeClr val="tx1"/>
                </a:solidFill>
                <a:effectLst/>
                <a:latin typeface="Arial" panose="020B0604020202020204" pitchFamily="34" charset="0"/>
              </a:rPr>
              <a:t> technical and statistical data related to air pollution across the nation.</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Quality Standards</a:t>
            </a:r>
            <a:r>
              <a:rPr kumimoji="0" lang="en-US" altLang="en-US" sz="2000" b="0" i="0" u="none" strike="noStrike" cap="none" normalizeH="0" baseline="0" dirty="0">
                <a:ln>
                  <a:noFill/>
                </a:ln>
                <a:solidFill>
                  <a:schemeClr val="tx1"/>
                </a:solidFill>
                <a:effectLst/>
                <a:latin typeface="Arial" panose="020B0604020202020204" pitchFamily="34" charset="0"/>
              </a:rPr>
              <a:t>: To </a:t>
            </a:r>
            <a:r>
              <a:rPr kumimoji="0" lang="en-US" altLang="en-US" sz="2000" b="1" i="0" u="none" strike="noStrike" cap="none" normalizeH="0" baseline="0" dirty="0">
                <a:ln>
                  <a:noFill/>
                </a:ln>
                <a:solidFill>
                  <a:schemeClr val="tx1"/>
                </a:solidFill>
                <a:effectLst/>
                <a:latin typeface="Arial" panose="020B0604020202020204" pitchFamily="34" charset="0"/>
              </a:rPr>
              <a:t>lay down and annul standards</a:t>
            </a:r>
            <a:r>
              <a:rPr kumimoji="0" lang="en-US" altLang="en-US" sz="2000" b="0" i="0" u="none" strike="noStrike" cap="none" normalizeH="0" baseline="0" dirty="0">
                <a:ln>
                  <a:noFill/>
                </a:ln>
                <a:solidFill>
                  <a:schemeClr val="tx1"/>
                </a:solidFill>
                <a:effectLst/>
                <a:latin typeface="Arial" panose="020B0604020202020204" pitchFamily="34" charset="0"/>
              </a:rPr>
              <a:t> for the quality of air.</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Legal Empowerment</a:t>
            </a:r>
            <a:r>
              <a:rPr kumimoji="0" lang="en-US" altLang="en-US" sz="2000" b="0" i="0" u="none" strike="noStrike" cap="none" normalizeH="0" baseline="0" dirty="0">
                <a:ln>
                  <a:noFill/>
                </a:ln>
                <a:solidFill>
                  <a:schemeClr val="tx1"/>
                </a:solidFill>
                <a:effectLst/>
                <a:latin typeface="Arial" panose="020B0604020202020204" pitchFamily="34" charset="0"/>
              </a:rPr>
              <a:t>: The mandate provided under the Air Act explicitly </a:t>
            </a:r>
            <a:r>
              <a:rPr kumimoji="0" lang="en-US" altLang="en-US" sz="2000" b="1" i="0" u="none" strike="noStrike" cap="none" normalizeH="0" baseline="0" dirty="0">
                <a:ln>
                  <a:noFill/>
                </a:ln>
                <a:solidFill>
                  <a:schemeClr val="tx1"/>
                </a:solidFill>
                <a:effectLst/>
                <a:latin typeface="Arial" panose="020B0604020202020204" pitchFamily="34" charset="0"/>
              </a:rPr>
              <a:t>empowers the CPCB</a:t>
            </a:r>
            <a:r>
              <a:rPr kumimoji="0" lang="en-US" altLang="en-US" sz="2000" b="0" i="0" u="none" strike="noStrike" cap="none" normalizeH="0" baseline="0" dirty="0">
                <a:ln>
                  <a:noFill/>
                </a:ln>
                <a:solidFill>
                  <a:schemeClr val="tx1"/>
                </a:solidFill>
                <a:effectLst/>
                <a:latin typeface="Arial" panose="020B0604020202020204" pitchFamily="34" charset="0"/>
              </a:rPr>
              <a:t> to set these critical standards for air quality.</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70371" y="133351"/>
            <a:ext cx="7600956" cy="505267"/>
          </a:xfrm>
          <a:prstGeom prst="rect">
            <a:avLst/>
          </a:prstGeom>
        </p:spPr>
        <p:txBody>
          <a:bodyPr vert="horz" wrap="square" lIns="0" tIns="12700" rIns="0" bIns="0" rtlCol="0">
            <a:spAutoFit/>
          </a:bodyPr>
          <a:lstStyle/>
          <a:p>
            <a:pPr marL="12701">
              <a:spcBef>
                <a:spcPts val="100"/>
              </a:spcBef>
            </a:pPr>
            <a:r>
              <a:rPr dirty="0"/>
              <a:t>Ambient</a:t>
            </a:r>
            <a:r>
              <a:rPr spc="-170" dirty="0"/>
              <a:t> </a:t>
            </a:r>
            <a:r>
              <a:rPr dirty="0"/>
              <a:t>Air</a:t>
            </a:r>
            <a:r>
              <a:rPr spc="-41" dirty="0"/>
              <a:t> </a:t>
            </a:r>
            <a:r>
              <a:rPr dirty="0"/>
              <a:t>Quality</a:t>
            </a:r>
            <a:r>
              <a:rPr spc="-55" dirty="0"/>
              <a:t> </a:t>
            </a:r>
            <a:r>
              <a:rPr dirty="0"/>
              <a:t>Standards</a:t>
            </a:r>
            <a:r>
              <a:rPr spc="-60" dirty="0"/>
              <a:t> </a:t>
            </a:r>
            <a:r>
              <a:rPr dirty="0"/>
              <a:t>in</a:t>
            </a:r>
            <a:r>
              <a:rPr spc="-46" dirty="0"/>
              <a:t> </a:t>
            </a:r>
            <a:r>
              <a:rPr spc="-10" dirty="0"/>
              <a:t>India</a:t>
            </a:r>
          </a:p>
        </p:txBody>
      </p:sp>
      <p:pic>
        <p:nvPicPr>
          <p:cNvPr id="3" name="object 3"/>
          <p:cNvPicPr/>
          <p:nvPr/>
        </p:nvPicPr>
        <p:blipFill>
          <a:blip r:embed="rId3" cstate="print"/>
          <a:stretch>
            <a:fillRect/>
          </a:stretch>
        </p:blipFill>
        <p:spPr>
          <a:xfrm>
            <a:off x="2846832" y="694943"/>
            <a:ext cx="6426708" cy="6152934"/>
          </a:xfrm>
          <a:prstGeom prst="rect">
            <a:avLst/>
          </a:prstGeom>
        </p:spPr>
      </p:pic>
      <p:sp>
        <p:nvSpPr>
          <p:cNvPr id="4" name="object 4"/>
          <p:cNvSpPr txBox="1">
            <a:spLocks noGrp="1"/>
          </p:cNvSpPr>
          <p:nvPr>
            <p:ph type="sldNum" sz="quarter" idx="7"/>
          </p:nvPr>
        </p:nvSpPr>
        <p:spPr>
          <a:xfrm>
            <a:off x="8993409" y="6464911"/>
            <a:ext cx="198636" cy="156068"/>
          </a:xfrm>
          <a:prstGeom prst="rect">
            <a:avLst/>
          </a:prstGeom>
        </p:spPr>
        <p:txBody>
          <a:bodyPr vert="horz" wrap="square" lIns="0" tIns="0" rIns="0" bIns="0" rtlCol="0">
            <a:spAutoFit/>
          </a:bodyPr>
          <a:lstStyle/>
          <a:p>
            <a:pPr marL="38101">
              <a:lnSpc>
                <a:spcPts val="1239"/>
              </a:lnSpc>
            </a:pPr>
            <a:fld id="{81D60167-4931-47E6-BA6A-407CBD079E47}" type="slidenum">
              <a:rPr spc="-25" dirty="0"/>
              <a:pPr marL="38101">
                <a:lnSpc>
                  <a:spcPts val="1239"/>
                </a:lnSpc>
              </a:pPr>
              <a:t>73</a:t>
            </a:fld>
            <a:endParaRPr spc="-25"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70371" y="133351"/>
            <a:ext cx="7600956" cy="505267"/>
          </a:xfrm>
          <a:prstGeom prst="rect">
            <a:avLst/>
          </a:prstGeom>
        </p:spPr>
        <p:txBody>
          <a:bodyPr vert="horz" wrap="square" lIns="0" tIns="12700" rIns="0" bIns="0" rtlCol="0">
            <a:spAutoFit/>
          </a:bodyPr>
          <a:lstStyle/>
          <a:p>
            <a:pPr marL="12701">
              <a:spcBef>
                <a:spcPts val="100"/>
              </a:spcBef>
            </a:pPr>
            <a:r>
              <a:rPr dirty="0"/>
              <a:t>Ambient</a:t>
            </a:r>
            <a:r>
              <a:rPr spc="-170" dirty="0"/>
              <a:t> </a:t>
            </a:r>
            <a:r>
              <a:rPr dirty="0"/>
              <a:t>Air</a:t>
            </a:r>
            <a:r>
              <a:rPr spc="-41" dirty="0"/>
              <a:t> </a:t>
            </a:r>
            <a:r>
              <a:rPr dirty="0"/>
              <a:t>Quality</a:t>
            </a:r>
            <a:r>
              <a:rPr spc="-55" dirty="0"/>
              <a:t> </a:t>
            </a:r>
            <a:r>
              <a:rPr dirty="0"/>
              <a:t>Standards</a:t>
            </a:r>
            <a:r>
              <a:rPr spc="-60" dirty="0"/>
              <a:t> </a:t>
            </a:r>
            <a:r>
              <a:rPr dirty="0"/>
              <a:t>in</a:t>
            </a:r>
            <a:r>
              <a:rPr spc="-46" dirty="0"/>
              <a:t> </a:t>
            </a:r>
            <a:r>
              <a:rPr spc="-10" dirty="0"/>
              <a:t>India</a:t>
            </a:r>
          </a:p>
        </p:txBody>
      </p:sp>
      <p:pic>
        <p:nvPicPr>
          <p:cNvPr id="3" name="object 3"/>
          <p:cNvPicPr/>
          <p:nvPr/>
        </p:nvPicPr>
        <p:blipFill>
          <a:blip r:embed="rId3" cstate="print"/>
          <a:stretch>
            <a:fillRect/>
          </a:stretch>
        </p:blipFill>
        <p:spPr>
          <a:xfrm>
            <a:off x="1476887" y="952634"/>
            <a:ext cx="8711054" cy="5783442"/>
          </a:xfrm>
          <a:prstGeom prst="rect">
            <a:avLst/>
          </a:prstGeom>
        </p:spPr>
      </p:pic>
      <p:sp>
        <p:nvSpPr>
          <p:cNvPr id="4" name="object 4"/>
          <p:cNvSpPr txBox="1">
            <a:spLocks noGrp="1"/>
          </p:cNvSpPr>
          <p:nvPr>
            <p:ph type="sldNum" sz="quarter" idx="7"/>
          </p:nvPr>
        </p:nvSpPr>
        <p:spPr>
          <a:xfrm>
            <a:off x="8993409" y="6464911"/>
            <a:ext cx="198636" cy="156068"/>
          </a:xfrm>
          <a:prstGeom prst="rect">
            <a:avLst/>
          </a:prstGeom>
        </p:spPr>
        <p:txBody>
          <a:bodyPr vert="horz" wrap="square" lIns="0" tIns="0" rIns="0" bIns="0" rtlCol="0">
            <a:spAutoFit/>
          </a:bodyPr>
          <a:lstStyle/>
          <a:p>
            <a:pPr marL="38101">
              <a:lnSpc>
                <a:spcPts val="1239"/>
              </a:lnSpc>
            </a:pPr>
            <a:fld id="{81D60167-4931-47E6-BA6A-407CBD079E47}" type="slidenum">
              <a:rPr spc="-25" dirty="0"/>
              <a:pPr marL="38101">
                <a:lnSpc>
                  <a:spcPts val="1239"/>
                </a:lnSpc>
              </a:pPr>
              <a:t>74</a:t>
            </a:fld>
            <a:endParaRPr spc="-25"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xfrm>
            <a:off x="8993409" y="6464911"/>
            <a:ext cx="198636" cy="156068"/>
          </a:xfrm>
          <a:prstGeom prst="rect">
            <a:avLst/>
          </a:prstGeom>
        </p:spPr>
        <p:txBody>
          <a:bodyPr vert="horz" wrap="square" lIns="0" tIns="0" rIns="0" bIns="0" rtlCol="0">
            <a:spAutoFit/>
          </a:bodyPr>
          <a:lstStyle/>
          <a:p>
            <a:pPr marL="38101">
              <a:lnSpc>
                <a:spcPts val="1239"/>
              </a:lnSpc>
            </a:pPr>
            <a:fld id="{81D60167-4931-47E6-BA6A-407CBD079E47}" type="slidenum">
              <a:rPr spc="-25" dirty="0"/>
              <a:pPr marL="38101">
                <a:lnSpc>
                  <a:spcPts val="1239"/>
                </a:lnSpc>
              </a:pPr>
              <a:t>75</a:t>
            </a:fld>
            <a:endParaRPr spc="-25" dirty="0"/>
          </a:p>
        </p:txBody>
      </p:sp>
      <p:sp>
        <p:nvSpPr>
          <p:cNvPr id="2" name="object 2"/>
          <p:cNvSpPr txBox="1">
            <a:spLocks noGrp="1"/>
          </p:cNvSpPr>
          <p:nvPr>
            <p:ph type="title"/>
          </p:nvPr>
        </p:nvSpPr>
        <p:spPr>
          <a:xfrm>
            <a:off x="470370" y="133352"/>
            <a:ext cx="10883429" cy="892423"/>
          </a:xfrm>
          <a:prstGeom prst="rect">
            <a:avLst/>
          </a:prstGeom>
        </p:spPr>
        <p:txBody>
          <a:bodyPr vert="horz" wrap="square" lIns="0" tIns="396112" rIns="0" bIns="0" rtlCol="0">
            <a:spAutoFit/>
          </a:bodyPr>
          <a:lstStyle/>
          <a:p>
            <a:pPr marL="131448">
              <a:spcBef>
                <a:spcPts val="105"/>
              </a:spcBef>
            </a:pPr>
            <a:r>
              <a:rPr dirty="0"/>
              <a:t>Ambient</a:t>
            </a:r>
            <a:r>
              <a:rPr spc="-170" dirty="0"/>
              <a:t> </a:t>
            </a:r>
            <a:r>
              <a:rPr dirty="0"/>
              <a:t>Air</a:t>
            </a:r>
            <a:r>
              <a:rPr spc="-41" dirty="0"/>
              <a:t> </a:t>
            </a:r>
            <a:r>
              <a:rPr dirty="0"/>
              <a:t>Quality</a:t>
            </a:r>
            <a:r>
              <a:rPr spc="-55" dirty="0"/>
              <a:t> </a:t>
            </a:r>
            <a:r>
              <a:rPr dirty="0"/>
              <a:t>Standards</a:t>
            </a:r>
            <a:r>
              <a:rPr spc="-60" dirty="0"/>
              <a:t> </a:t>
            </a:r>
            <a:r>
              <a:rPr dirty="0"/>
              <a:t>in</a:t>
            </a:r>
            <a:r>
              <a:rPr spc="-46" dirty="0"/>
              <a:t> </a:t>
            </a:r>
            <a:r>
              <a:rPr spc="-10" dirty="0"/>
              <a:t>India</a:t>
            </a:r>
            <a:r>
              <a:rPr lang="en-IN" spc="-10" dirty="0"/>
              <a:t> (protocol)</a:t>
            </a:r>
            <a:endParaRPr spc="-10" dirty="0"/>
          </a:p>
        </p:txBody>
      </p:sp>
      <p:sp>
        <p:nvSpPr>
          <p:cNvPr id="3" name="object 3"/>
          <p:cNvSpPr txBox="1"/>
          <p:nvPr/>
        </p:nvSpPr>
        <p:spPr>
          <a:xfrm>
            <a:off x="555447" y="1243919"/>
            <a:ext cx="11416030" cy="4757777"/>
          </a:xfrm>
          <a:prstGeom prst="rect">
            <a:avLst/>
          </a:prstGeom>
        </p:spPr>
        <p:txBody>
          <a:bodyPr vert="horz" wrap="square" lIns="0" tIns="196215" rIns="0" bIns="0" rtlCol="0">
            <a:spAutoFit/>
          </a:bodyPr>
          <a:lstStyle/>
          <a:p>
            <a:pPr>
              <a:lnSpc>
                <a:spcPct val="150000"/>
              </a:lnSpc>
            </a:pPr>
            <a:r>
              <a:rPr lang="en-US" sz="2000" dirty="0"/>
              <a:t>Monitoring ambient air quality requires a standardized schedule to ensure the data is statistically significant and representative of long-term exposure.</a:t>
            </a:r>
          </a:p>
          <a:p>
            <a:pPr marL="342900" indent="-342900">
              <a:lnSpc>
                <a:spcPct val="150000"/>
              </a:lnSpc>
              <a:buFont typeface="Arial" panose="020B0604020202020204" pitchFamily="34" charset="0"/>
              <a:buChar char="•"/>
            </a:pPr>
            <a:r>
              <a:rPr lang="en-US" sz="2000" b="1" dirty="0"/>
              <a:t>Annual Measurement Requirements</a:t>
            </a:r>
            <a:r>
              <a:rPr lang="en-US" sz="2000" dirty="0"/>
              <a:t>: To calculate the </a:t>
            </a:r>
            <a:r>
              <a:rPr lang="en-US" sz="2000" b="1" dirty="0"/>
              <a:t>annual arithmetic mean</a:t>
            </a:r>
            <a:r>
              <a:rPr lang="en-US" sz="2000" dirty="0"/>
              <a:t>, a minimum of </a:t>
            </a:r>
            <a:r>
              <a:rPr lang="en-US" sz="2000" b="1" dirty="0"/>
              <a:t>104 measurements</a:t>
            </a:r>
            <a:r>
              <a:rPr lang="en-US" sz="2000" dirty="0"/>
              <a:t> must be taken in a year at a specific site.</a:t>
            </a:r>
          </a:p>
          <a:p>
            <a:pPr marL="342900" indent="-342900">
              <a:lnSpc>
                <a:spcPct val="150000"/>
              </a:lnSpc>
              <a:buFont typeface="Arial" panose="020B0604020202020204" pitchFamily="34" charset="0"/>
              <a:buChar char="•"/>
            </a:pPr>
            <a:r>
              <a:rPr lang="en-US" sz="2000" b="1" dirty="0"/>
              <a:t>Sampling Frequency</a:t>
            </a:r>
            <a:r>
              <a:rPr lang="en-US" sz="2000" dirty="0"/>
              <a:t>: These measurements are typically taken </a:t>
            </a:r>
            <a:r>
              <a:rPr lang="en-US" sz="2000" b="1" dirty="0"/>
              <a:t>twice a week</a:t>
            </a:r>
            <a:r>
              <a:rPr lang="en-US" sz="2000" dirty="0"/>
              <a:t>, with each sample covering a </a:t>
            </a:r>
            <a:r>
              <a:rPr lang="en-US" sz="2000" b="1" dirty="0"/>
              <a:t>24-hour period</a:t>
            </a:r>
            <a:r>
              <a:rPr lang="en-US" sz="2000" dirty="0"/>
              <a:t> at uniform intervals.</a:t>
            </a:r>
          </a:p>
          <a:p>
            <a:pPr marL="342900" indent="-342900">
              <a:lnSpc>
                <a:spcPct val="150000"/>
              </a:lnSpc>
              <a:buFont typeface="Arial" panose="020B0604020202020204" pitchFamily="34" charset="0"/>
              <a:buChar char="•"/>
            </a:pPr>
            <a:r>
              <a:rPr lang="en-US" sz="2000" b="1" dirty="0"/>
              <a:t>Compliance Threshold</a:t>
            </a:r>
            <a:r>
              <a:rPr lang="en-US" sz="2000" dirty="0"/>
              <a:t>: Monitored values (whether 24-hourly, 8-hourly, or 1-hourly) must comply with the standards </a:t>
            </a:r>
            <a:r>
              <a:rPr lang="en-US" sz="2000" b="1" dirty="0"/>
              <a:t>98% of the time</a:t>
            </a:r>
            <a:r>
              <a:rPr lang="en-US" sz="2000" dirty="0"/>
              <a:t> in a year.</a:t>
            </a:r>
          </a:p>
          <a:p>
            <a:pPr marL="342900" indent="-342900">
              <a:lnSpc>
                <a:spcPct val="150000"/>
              </a:lnSpc>
              <a:buFont typeface="Arial" panose="020B0604020202020204" pitchFamily="34" charset="0"/>
              <a:buChar char="•"/>
            </a:pPr>
            <a:r>
              <a:rPr lang="en-US" sz="2000" b="1" dirty="0"/>
              <a:t>Allowance for Exceedance</a:t>
            </a:r>
            <a:r>
              <a:rPr lang="en-US" sz="2000" dirty="0"/>
              <a:t>: Pollutant levels may exceed the limits </a:t>
            </a:r>
            <a:r>
              <a:rPr lang="en-US" sz="2000" b="1" dirty="0"/>
              <a:t>2% of the time</a:t>
            </a:r>
            <a:r>
              <a:rPr lang="en-US" sz="2000" dirty="0"/>
              <a:t>, but these exceedances must </a:t>
            </a:r>
            <a:r>
              <a:rPr lang="en-US" sz="2000" b="1" dirty="0"/>
              <a:t>not occur on two consecutive days</a:t>
            </a:r>
            <a:r>
              <a:rPr lang="en-US" sz="2000" dirty="0"/>
              <a:t> of monitoring</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8917" y="133351"/>
            <a:ext cx="9355023" cy="492126"/>
          </a:xfrm>
        </p:spPr>
        <p:txBody>
          <a:bodyPr/>
          <a:lstStyle/>
          <a:p>
            <a:r>
              <a:rPr lang="en-US"/>
              <a:t>National Air Quality Index</a:t>
            </a:r>
          </a:p>
        </p:txBody>
      </p:sp>
      <p:sp>
        <p:nvSpPr>
          <p:cNvPr id="3" name="Text Placeholder 2"/>
          <p:cNvSpPr>
            <a:spLocks noGrp="1"/>
          </p:cNvSpPr>
          <p:nvPr>
            <p:ph type="body" idx="1"/>
          </p:nvPr>
        </p:nvSpPr>
        <p:spPr>
          <a:xfrm>
            <a:off x="533222" y="914355"/>
            <a:ext cx="11038841" cy="3174652"/>
          </a:xfrm>
        </p:spPr>
        <p:txBody>
          <a:bodyPr/>
          <a:lstStyle/>
          <a:p>
            <a:pPr marL="342900" indent="-342900">
              <a:lnSpc>
                <a:spcPct val="150000"/>
              </a:lnSpc>
              <a:buFont typeface="Arial" panose="020B0604020202020204" pitchFamily="34" charset="0"/>
              <a:buChar char="•"/>
            </a:pPr>
            <a:r>
              <a:rPr lang="en-US" sz="2000" dirty="0"/>
              <a:t>The </a:t>
            </a:r>
            <a:r>
              <a:rPr lang="en-US" sz="2000" b="1" dirty="0"/>
              <a:t>Air Quality Index (AQI)</a:t>
            </a:r>
            <a:r>
              <a:rPr lang="en-US" sz="2000" dirty="0"/>
              <a:t> is a tool designed to communicate complex environmental data to the public in a simple, easy-to-understand format.</a:t>
            </a:r>
          </a:p>
          <a:p>
            <a:pPr marL="342900" indent="-342900">
              <a:lnSpc>
                <a:spcPct val="150000"/>
              </a:lnSpc>
              <a:buFont typeface="Arial" panose="020B0604020202020204" pitchFamily="34" charset="0"/>
              <a:buChar char="•"/>
            </a:pPr>
            <a:r>
              <a:rPr lang="en-US" sz="2000" b="1" dirty="0"/>
              <a:t>Simplification of Data</a:t>
            </a:r>
            <a:r>
              <a:rPr lang="en-US" sz="2000" dirty="0"/>
              <a:t>: It transforms complex air quality measurements of </a:t>
            </a:r>
            <a:r>
              <a:rPr lang="en-US" sz="2000" b="1" dirty="0"/>
              <a:t>eight specific pollutants</a:t>
            </a:r>
            <a:r>
              <a:rPr lang="en-US" sz="2000" dirty="0"/>
              <a:t> into a single number (index value), accompanied by a </a:t>
            </a:r>
            <a:r>
              <a:rPr lang="en-US" sz="2000" b="1" dirty="0"/>
              <a:t>nomenclature and a color code.</a:t>
            </a:r>
          </a:p>
          <a:p>
            <a:pPr marL="342900" indent="-342900">
              <a:lnSpc>
                <a:spcPct val="150000"/>
              </a:lnSpc>
              <a:buFont typeface="Arial" panose="020B0604020202020204" pitchFamily="34" charset="0"/>
              <a:buChar char="•"/>
            </a:pPr>
            <a:r>
              <a:rPr lang="en-US" sz="2000" b="1" dirty="0"/>
              <a:t>Public Awareness</a:t>
            </a:r>
            <a:r>
              <a:rPr lang="en-US" sz="2000" dirty="0"/>
              <a:t>: Its primary goal is to disseminate air quality information in a form that the general public can quickly interpret to understand potential health impacts.</a:t>
            </a:r>
            <a:endParaRPr lang="en-US" altLang="en-US" sz="20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1D92A0-4E76-A94D-C2D8-BFA9840F4E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0D1A39-A362-8195-E07A-BC3E84CDD8BF}"/>
              </a:ext>
            </a:extLst>
          </p:cNvPr>
          <p:cNvSpPr>
            <a:spLocks noGrp="1"/>
          </p:cNvSpPr>
          <p:nvPr>
            <p:ph type="title"/>
          </p:nvPr>
        </p:nvSpPr>
        <p:spPr>
          <a:xfrm>
            <a:off x="578917" y="133351"/>
            <a:ext cx="9355023" cy="492126"/>
          </a:xfrm>
        </p:spPr>
        <p:txBody>
          <a:bodyPr/>
          <a:lstStyle/>
          <a:p>
            <a:r>
              <a:rPr lang="en-US"/>
              <a:t>National Air Quality Index</a:t>
            </a:r>
          </a:p>
        </p:txBody>
      </p:sp>
      <p:sp>
        <p:nvSpPr>
          <p:cNvPr id="3" name="Text Placeholder 2">
            <a:extLst>
              <a:ext uri="{FF2B5EF4-FFF2-40B4-BE49-F238E27FC236}">
                <a16:creationId xmlns:a16="http://schemas.microsoft.com/office/drawing/2014/main" id="{F9EBB2DE-F380-8A72-8477-4044F6826D69}"/>
              </a:ext>
            </a:extLst>
          </p:cNvPr>
          <p:cNvSpPr>
            <a:spLocks noGrp="1"/>
          </p:cNvSpPr>
          <p:nvPr>
            <p:ph type="body" idx="1"/>
          </p:nvPr>
        </p:nvSpPr>
        <p:spPr>
          <a:xfrm>
            <a:off x="533222" y="914355"/>
            <a:ext cx="11038841" cy="4107278"/>
          </a:xfrm>
        </p:spPr>
        <p:txBody>
          <a:bodyPr/>
          <a:lstStyle/>
          <a:p>
            <a:pPr>
              <a:lnSpc>
                <a:spcPct val="150000"/>
              </a:lnSpc>
            </a:pPr>
            <a:r>
              <a:rPr lang="en-IN" sz="2000" dirty="0"/>
              <a:t>The measurement of air quality under this system is based on the following eight pollutants:</a:t>
            </a:r>
          </a:p>
          <a:p>
            <a:pPr marL="914411" lvl="1" indent="-457200">
              <a:lnSpc>
                <a:spcPct val="150000"/>
              </a:lnSpc>
              <a:buFont typeface="+mj-lt"/>
              <a:buAutoNum type="arabicPeriod"/>
            </a:pPr>
            <a:r>
              <a:rPr lang="en-IN" sz="2000" b="1" dirty="0"/>
              <a:t>Particulate Matter (PM10)</a:t>
            </a:r>
            <a:r>
              <a:rPr lang="en-IN" sz="2000" dirty="0"/>
              <a:t>: Dust and debris with a size less than 10 </a:t>
            </a:r>
            <a:r>
              <a:rPr lang="en-IN" sz="2000" dirty="0" err="1"/>
              <a:t>micrometers</a:t>
            </a:r>
            <a:r>
              <a:rPr lang="en-IN" sz="2000" dirty="0"/>
              <a:t>.</a:t>
            </a:r>
          </a:p>
          <a:p>
            <a:pPr marL="914411" lvl="1" indent="-457200">
              <a:lnSpc>
                <a:spcPct val="150000"/>
              </a:lnSpc>
              <a:buFont typeface="+mj-lt"/>
              <a:buAutoNum type="arabicPeriod"/>
            </a:pPr>
            <a:r>
              <a:rPr lang="en-IN" sz="2000" b="1" dirty="0"/>
              <a:t>Particulate Matter (PM2.5)</a:t>
            </a:r>
            <a:r>
              <a:rPr lang="en-IN" sz="2000" dirty="0"/>
              <a:t>: Fine particles with a size less than 2.5 </a:t>
            </a:r>
            <a:r>
              <a:rPr lang="en-IN" sz="2000" dirty="0" err="1"/>
              <a:t>micrometers</a:t>
            </a:r>
            <a:r>
              <a:rPr lang="en-IN" sz="2000" dirty="0"/>
              <a:t>.</a:t>
            </a:r>
          </a:p>
          <a:p>
            <a:pPr marL="914411" lvl="1" indent="-457200">
              <a:lnSpc>
                <a:spcPct val="150000"/>
              </a:lnSpc>
              <a:buFont typeface="+mj-lt"/>
              <a:buAutoNum type="arabicPeriod"/>
            </a:pPr>
            <a:r>
              <a:rPr lang="en-IN" sz="2000" b="1" dirty="0"/>
              <a:t>Nitrogen Dioxide (NO2)</a:t>
            </a:r>
            <a:endParaRPr lang="en-IN" sz="2000" dirty="0"/>
          </a:p>
          <a:p>
            <a:pPr marL="914411" lvl="1" indent="-457200">
              <a:lnSpc>
                <a:spcPct val="150000"/>
              </a:lnSpc>
              <a:buFont typeface="+mj-lt"/>
              <a:buAutoNum type="arabicPeriod"/>
            </a:pPr>
            <a:r>
              <a:rPr lang="en-IN" sz="2000" b="1" dirty="0"/>
              <a:t>Sulphur Dioxide (SO2)</a:t>
            </a:r>
            <a:endParaRPr lang="en-IN" sz="2000" dirty="0"/>
          </a:p>
          <a:p>
            <a:pPr marL="914411" lvl="1" indent="-457200">
              <a:lnSpc>
                <a:spcPct val="150000"/>
              </a:lnSpc>
              <a:buFont typeface="+mj-lt"/>
              <a:buAutoNum type="arabicPeriod"/>
            </a:pPr>
            <a:r>
              <a:rPr lang="en-IN" sz="2000" b="1" dirty="0"/>
              <a:t>Carbon Monoxide (CO)</a:t>
            </a:r>
            <a:endParaRPr lang="en-IN" sz="2000" dirty="0"/>
          </a:p>
          <a:p>
            <a:pPr marL="914411" lvl="1" indent="-457200">
              <a:lnSpc>
                <a:spcPct val="150000"/>
              </a:lnSpc>
              <a:buFont typeface="+mj-lt"/>
              <a:buAutoNum type="arabicPeriod"/>
            </a:pPr>
            <a:r>
              <a:rPr lang="en-IN" sz="2000" b="1" dirty="0"/>
              <a:t>Ozone (O3)</a:t>
            </a:r>
            <a:endParaRPr lang="en-IN" sz="2000" dirty="0"/>
          </a:p>
          <a:p>
            <a:pPr marL="914411" lvl="1" indent="-457200">
              <a:lnSpc>
                <a:spcPct val="150000"/>
              </a:lnSpc>
              <a:buFont typeface="+mj-lt"/>
              <a:buAutoNum type="arabicPeriod"/>
            </a:pPr>
            <a:r>
              <a:rPr lang="en-IN" sz="2000" b="1" dirty="0"/>
              <a:t>Ammonia (NH3)</a:t>
            </a:r>
            <a:endParaRPr lang="en-IN" sz="2000" dirty="0"/>
          </a:p>
          <a:p>
            <a:pPr marL="914411" lvl="1" indent="-457200">
              <a:lnSpc>
                <a:spcPct val="150000"/>
              </a:lnSpc>
              <a:buFont typeface="+mj-lt"/>
              <a:buAutoNum type="arabicPeriod"/>
            </a:pPr>
            <a:r>
              <a:rPr lang="en-IN" sz="2000" b="1" dirty="0"/>
              <a:t>Lead (Pb)</a:t>
            </a:r>
            <a:endParaRPr lang="en-IN" sz="2000" dirty="0"/>
          </a:p>
        </p:txBody>
      </p:sp>
    </p:spTree>
    <p:extLst>
      <p:ext uri="{BB962C8B-B14F-4D97-AF65-F5344CB8AC3E}">
        <p14:creationId xmlns:p14="http://schemas.microsoft.com/office/powerpoint/2010/main" val="352745177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National Air Quality Index</a:t>
            </a:r>
            <a:endParaRPr lang="en-US"/>
          </a:p>
        </p:txBody>
      </p:sp>
      <p:sp>
        <p:nvSpPr>
          <p:cNvPr id="3" name="Content Placeholder 2"/>
          <p:cNvSpPr>
            <a:spLocks noGrp="1"/>
          </p:cNvSpPr>
          <p:nvPr>
            <p:ph sz="half" idx="3"/>
          </p:nvPr>
        </p:nvSpPr>
        <p:spPr>
          <a:xfrm>
            <a:off x="381001" y="762001"/>
            <a:ext cx="10691495" cy="2147511"/>
          </a:xfrm>
        </p:spPr>
        <p:txBody>
          <a:bodyPr wrap="square"/>
          <a:lstStyle/>
          <a:p>
            <a:pPr marL="342908" indent="-342908" algn="just">
              <a:lnSpc>
                <a:spcPct val="150000"/>
              </a:lnSpc>
              <a:buFont typeface="Arial" panose="020B0604020202020204" pitchFamily="34" charset="0"/>
              <a:buChar char="•"/>
            </a:pPr>
            <a:r>
              <a:rPr lang="en-US" altLang="en-US" dirty="0"/>
              <a:t>AQI has six categories of air quality. These are:</a:t>
            </a:r>
            <a:r>
              <a:rPr lang="en-US" altLang="en-US" dirty="0">
                <a:solidFill>
                  <a:srgbClr val="FF0000"/>
                </a:solidFill>
              </a:rPr>
              <a:t> Good, Satisfactory, Moderately Polluted, Poor, Very Poor and Severe.</a:t>
            </a:r>
          </a:p>
          <a:p>
            <a:pPr marL="342908" indent="-342908" algn="just">
              <a:lnSpc>
                <a:spcPct val="150000"/>
              </a:lnSpc>
              <a:buFont typeface="Arial" panose="020B0604020202020204" pitchFamily="34" charset="0"/>
              <a:buChar char="•"/>
            </a:pPr>
            <a:r>
              <a:rPr lang="en-US" altLang="en-US" dirty="0">
                <a:solidFill>
                  <a:schemeClr val="tx1"/>
                </a:solidFill>
              </a:rPr>
              <a:t>The AQI values and corresponding ambient concentrations (health breakpoints) for the identified eight pollutants are as follows:</a:t>
            </a:r>
          </a:p>
        </p:txBody>
      </p:sp>
      <p:pic>
        <p:nvPicPr>
          <p:cNvPr id="4" name="Content Placeholder 3"/>
          <p:cNvPicPr>
            <a:picLocks noGrp="1" noChangeAspect="1"/>
          </p:cNvPicPr>
          <p:nvPr>
            <p:ph sz="half" idx="2"/>
          </p:nvPr>
        </p:nvPicPr>
        <p:blipFill>
          <a:blip r:embed="rId3"/>
          <a:stretch>
            <a:fillRect/>
          </a:stretch>
        </p:blipFill>
        <p:spPr>
          <a:xfrm>
            <a:off x="381000" y="2930527"/>
            <a:ext cx="10847070" cy="3867785"/>
          </a:xfrm>
          <a:prstGeom prst="rect">
            <a:avLst/>
          </a:prstGeom>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8917" y="133351"/>
            <a:ext cx="9355023" cy="984885"/>
          </a:xfrm>
        </p:spPr>
        <p:txBody>
          <a:bodyPr/>
          <a:lstStyle/>
          <a:p>
            <a:r>
              <a:rPr lang="en-US" altLang="en-US"/>
              <a:t>The  AQI values and their associated health impacts are as follows:</a:t>
            </a:r>
          </a:p>
        </p:txBody>
      </p:sp>
      <p:pic>
        <p:nvPicPr>
          <p:cNvPr id="5" name="Content Placeholder 4"/>
          <p:cNvPicPr>
            <a:picLocks noGrp="1" noChangeAspect="1"/>
          </p:cNvPicPr>
          <p:nvPr>
            <p:ph sz="half" idx="2"/>
          </p:nvPr>
        </p:nvPicPr>
        <p:blipFill>
          <a:blip r:embed="rId3"/>
          <a:stretch>
            <a:fillRect/>
          </a:stretch>
        </p:blipFill>
        <p:spPr>
          <a:xfrm>
            <a:off x="990601" y="1752601"/>
            <a:ext cx="9855200" cy="3792220"/>
          </a:xfrm>
          <a:prstGeom prst="rect">
            <a:avLst/>
          </a:prstGeom>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8917" y="133351"/>
            <a:ext cx="9355023" cy="492126"/>
          </a:xfrm>
        </p:spPr>
        <p:txBody>
          <a:bodyPr/>
          <a:lstStyle/>
          <a:p>
            <a:r>
              <a:rPr lang="en-US">
                <a:sym typeface="+mn-ea"/>
              </a:rPr>
              <a:t>National Air Quality Index</a:t>
            </a:r>
            <a:endParaRPr lang="en-US"/>
          </a:p>
        </p:txBody>
      </p:sp>
      <p:sp>
        <p:nvSpPr>
          <p:cNvPr id="3" name="Content Placeholder 2"/>
          <p:cNvSpPr>
            <a:spLocks noGrp="1"/>
          </p:cNvSpPr>
          <p:nvPr>
            <p:ph sz="half" idx="2"/>
          </p:nvPr>
        </p:nvSpPr>
        <p:spPr>
          <a:xfrm>
            <a:off x="533401" y="1066800"/>
            <a:ext cx="10800715" cy="4961890"/>
          </a:xfrm>
        </p:spPr>
        <p:txBody>
          <a:bodyPr wrap="square">
            <a:noAutofit/>
          </a:bodyPr>
          <a:lstStyle/>
          <a:p>
            <a:pPr marL="342908" indent="-342908">
              <a:lnSpc>
                <a:spcPct val="150000"/>
              </a:lnSpc>
              <a:buFont typeface="Arial" panose="020B0604020202020204" pitchFamily="34" charset="0"/>
              <a:buChar char="•"/>
            </a:pPr>
            <a:r>
              <a:rPr lang="en-US" sz="2000" dirty="0"/>
              <a:t>The Air Quality Index (AQI) is designed to be a simple, intuitive tool for the common man </a:t>
            </a:r>
            <a:r>
              <a:rPr lang="en-US" altLang="en-US" sz="2000" dirty="0"/>
              <a:t>to judge the air quality within his vicinity</a:t>
            </a:r>
            <a:r>
              <a:rPr lang="en-US" sz="2000" dirty="0"/>
              <a:t>, often described as a system of </a:t>
            </a:r>
            <a:r>
              <a:rPr lang="en-US" sz="2000" b="1" dirty="0"/>
              <a:t>"One Number, One </a:t>
            </a:r>
            <a:r>
              <a:rPr lang="en-US" sz="2000" b="1" dirty="0" err="1"/>
              <a:t>Colour</a:t>
            </a:r>
            <a:r>
              <a:rPr lang="en-US" sz="2000" b="1" dirty="0"/>
              <a:t>, One Description"</a:t>
            </a:r>
            <a:r>
              <a:rPr lang="en-US" altLang="en-US" sz="2000" dirty="0"/>
              <a:t>.</a:t>
            </a:r>
          </a:p>
          <a:p>
            <a:pPr marL="342908" indent="-342908">
              <a:lnSpc>
                <a:spcPct val="150000"/>
              </a:lnSpc>
              <a:buFont typeface="Arial" panose="020B0604020202020204" pitchFamily="34" charset="0"/>
              <a:buChar char="•"/>
            </a:pPr>
            <a:r>
              <a:rPr lang="en-US" altLang="en-US" sz="2000" dirty="0"/>
              <a:t>AQI index values can </a:t>
            </a:r>
            <a:r>
              <a:rPr lang="en-US" altLang="en-US" sz="2000" b="1" dirty="0"/>
              <a:t>vary depending on the time of the day.</a:t>
            </a:r>
          </a:p>
          <a:p>
            <a:pPr marL="342908" indent="-342908">
              <a:lnSpc>
                <a:spcPct val="150000"/>
              </a:lnSpc>
              <a:buFont typeface="Arial" panose="020B0604020202020204" pitchFamily="34" charset="0"/>
              <a:buChar char="•"/>
            </a:pPr>
            <a:r>
              <a:rPr lang="en-US" sz="2000" dirty="0"/>
              <a:t>The final AQI value for a city reflects the status of the </a:t>
            </a:r>
            <a:r>
              <a:rPr lang="en-US" sz="2000" b="1" dirty="0"/>
              <a:t>worst-performing pollutant</a:t>
            </a:r>
            <a:r>
              <a:rPr lang="en-US" sz="2000" dirty="0"/>
              <a:t> among the eight monitored</a:t>
            </a:r>
            <a:r>
              <a:rPr lang="en-US" altLang="en-US" sz="2000" dirty="0"/>
              <a:t> i.e. higher reading in one city can be due to high concentration of PM whereas in some other city it may be due to SO2</a:t>
            </a:r>
          </a:p>
          <a:p>
            <a:pPr marL="342908" indent="-342908">
              <a:lnSpc>
                <a:spcPct val="150000"/>
              </a:lnSpc>
              <a:buFont typeface="Arial" panose="020B0604020202020204" pitchFamily="34" charset="0"/>
              <a:buChar char="•"/>
            </a:pPr>
            <a:r>
              <a:rPr lang="en-US" altLang="en-US" sz="2000" dirty="0"/>
              <a:t>Even if the other 7 pollutants have a safe or benign reading, if one pollutant is in the “poor” category then AQI will be in the “poor” category.</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78917" y="209550"/>
            <a:ext cx="9355023" cy="892423"/>
          </a:xfrm>
          <a:prstGeom prst="rect">
            <a:avLst/>
          </a:prstGeom>
        </p:spPr>
        <p:txBody>
          <a:bodyPr vert="horz" wrap="square" lIns="0" tIns="396112" rIns="0" bIns="0" rtlCol="0">
            <a:spAutoFit/>
          </a:bodyPr>
          <a:lstStyle/>
          <a:p>
            <a:pPr marL="131448">
              <a:spcBef>
                <a:spcPts val="105"/>
              </a:spcBef>
            </a:pPr>
            <a:r>
              <a:rPr dirty="0"/>
              <a:t>Emission</a:t>
            </a:r>
            <a:r>
              <a:rPr spc="-55" dirty="0"/>
              <a:t> </a:t>
            </a:r>
            <a:r>
              <a:rPr spc="-10" dirty="0"/>
              <a:t>Inventory</a:t>
            </a:r>
          </a:p>
        </p:txBody>
      </p:sp>
      <p:sp>
        <p:nvSpPr>
          <p:cNvPr id="3" name="object 3"/>
          <p:cNvSpPr txBox="1"/>
          <p:nvPr/>
        </p:nvSpPr>
        <p:spPr>
          <a:xfrm>
            <a:off x="555625" y="1143000"/>
            <a:ext cx="5648960" cy="5573577"/>
          </a:xfrm>
          <a:prstGeom prst="rect">
            <a:avLst/>
          </a:prstGeom>
        </p:spPr>
        <p:txBody>
          <a:bodyPr vert="horz" wrap="square" lIns="0" tIns="12700" rIns="0" bIns="0" rtlCol="0">
            <a:spAutoFit/>
          </a:bodyPr>
          <a:lstStyle/>
          <a:p>
            <a:pPr marL="240036" marR="5715" indent="-227336" algn="just">
              <a:spcBef>
                <a:spcPts val="100"/>
              </a:spcBef>
              <a:buChar char="•"/>
              <a:tabLst>
                <a:tab pos="241306" algn="l"/>
              </a:tabLst>
            </a:pPr>
            <a:r>
              <a:rPr sz="2400" dirty="0">
                <a:latin typeface="Cambria" panose="02040503050406030204" charset="0"/>
                <a:cs typeface="Cambria" panose="02040503050406030204" charset="0"/>
              </a:rPr>
              <a:t>An</a:t>
            </a:r>
            <a:r>
              <a:rPr sz="2400" spc="385" dirty="0">
                <a:latin typeface="Cambria" panose="02040503050406030204" charset="0"/>
                <a:cs typeface="Cambria" panose="02040503050406030204" charset="0"/>
              </a:rPr>
              <a:t>  </a:t>
            </a:r>
            <a:r>
              <a:rPr sz="2400" dirty="0">
                <a:latin typeface="Cambria" panose="02040503050406030204" charset="0"/>
                <a:cs typeface="Cambria" panose="02040503050406030204" charset="0"/>
              </a:rPr>
              <a:t>emissions</a:t>
            </a:r>
            <a:r>
              <a:rPr sz="2400" spc="385" dirty="0">
                <a:latin typeface="Cambria" panose="02040503050406030204" charset="0"/>
                <a:cs typeface="Cambria" panose="02040503050406030204" charset="0"/>
              </a:rPr>
              <a:t>  </a:t>
            </a:r>
            <a:r>
              <a:rPr sz="2400" dirty="0">
                <a:latin typeface="Cambria" panose="02040503050406030204" charset="0"/>
                <a:cs typeface="Cambria" panose="02040503050406030204" charset="0"/>
              </a:rPr>
              <a:t>inventory</a:t>
            </a:r>
            <a:r>
              <a:rPr sz="2400" spc="385" dirty="0">
                <a:latin typeface="Cambria" panose="02040503050406030204" charset="0"/>
                <a:cs typeface="Cambria" panose="02040503050406030204" charset="0"/>
              </a:rPr>
              <a:t>  </a:t>
            </a:r>
            <a:r>
              <a:rPr sz="2400" dirty="0">
                <a:latin typeface="Cambria" panose="02040503050406030204" charset="0"/>
                <a:cs typeface="Cambria" panose="02040503050406030204" charset="0"/>
              </a:rPr>
              <a:t>is</a:t>
            </a:r>
            <a:r>
              <a:rPr sz="2400" spc="390" dirty="0">
                <a:latin typeface="Cambria" panose="02040503050406030204" charset="0"/>
                <a:cs typeface="Cambria" panose="02040503050406030204" charset="0"/>
              </a:rPr>
              <a:t>  </a:t>
            </a:r>
            <a:r>
              <a:rPr sz="2400" spc="-50" dirty="0">
                <a:latin typeface="Cambria" panose="02040503050406030204" charset="0"/>
                <a:cs typeface="Cambria" panose="02040503050406030204" charset="0"/>
              </a:rPr>
              <a:t>a 	</a:t>
            </a:r>
            <a:r>
              <a:rPr sz="2400" dirty="0">
                <a:latin typeface="Cambria" panose="02040503050406030204" charset="0"/>
                <a:cs typeface="Cambria" panose="02040503050406030204" charset="0"/>
              </a:rPr>
              <a:t>database</a:t>
            </a:r>
            <a:r>
              <a:rPr sz="2400" spc="55" dirty="0">
                <a:latin typeface="Cambria" panose="02040503050406030204" charset="0"/>
                <a:cs typeface="Cambria" panose="02040503050406030204" charset="0"/>
              </a:rPr>
              <a:t>  </a:t>
            </a:r>
            <a:r>
              <a:rPr sz="2400" dirty="0">
                <a:latin typeface="Cambria" panose="02040503050406030204" charset="0"/>
                <a:cs typeface="Cambria" panose="02040503050406030204" charset="0"/>
              </a:rPr>
              <a:t>that</a:t>
            </a:r>
            <a:r>
              <a:rPr sz="2400" spc="70" dirty="0">
                <a:latin typeface="Cambria" panose="02040503050406030204" charset="0"/>
                <a:cs typeface="Cambria" panose="02040503050406030204" charset="0"/>
              </a:rPr>
              <a:t>  </a:t>
            </a:r>
            <a:r>
              <a:rPr sz="2400" dirty="0">
                <a:latin typeface="Cambria" panose="02040503050406030204" charset="0"/>
                <a:cs typeface="Cambria" panose="02040503050406030204" charset="0"/>
              </a:rPr>
              <a:t>lists,</a:t>
            </a:r>
            <a:r>
              <a:rPr sz="2400" spc="65" dirty="0">
                <a:latin typeface="Cambria" panose="02040503050406030204" charset="0"/>
                <a:cs typeface="Cambria" panose="02040503050406030204" charset="0"/>
              </a:rPr>
              <a:t>  </a:t>
            </a:r>
            <a:r>
              <a:rPr sz="2400" dirty="0">
                <a:latin typeface="Cambria" panose="02040503050406030204" charset="0"/>
                <a:cs typeface="Cambria" panose="02040503050406030204" charset="0"/>
              </a:rPr>
              <a:t>by</a:t>
            </a:r>
            <a:r>
              <a:rPr sz="2400" spc="60" dirty="0">
                <a:latin typeface="Cambria" panose="02040503050406030204" charset="0"/>
                <a:cs typeface="Cambria" panose="02040503050406030204" charset="0"/>
              </a:rPr>
              <a:t>  </a:t>
            </a:r>
            <a:r>
              <a:rPr sz="2400" spc="-10" dirty="0">
                <a:latin typeface="Cambria" panose="02040503050406030204" charset="0"/>
                <a:cs typeface="Cambria" panose="02040503050406030204" charset="0"/>
              </a:rPr>
              <a:t>source, 	</a:t>
            </a:r>
            <a:r>
              <a:rPr sz="2400" dirty="0">
                <a:latin typeface="Cambria" panose="02040503050406030204" charset="0"/>
                <a:cs typeface="Cambria" panose="02040503050406030204" charset="0"/>
              </a:rPr>
              <a:t>the</a:t>
            </a:r>
            <a:r>
              <a:rPr sz="2400" spc="409" dirty="0">
                <a:latin typeface="Cambria" panose="02040503050406030204" charset="0"/>
                <a:cs typeface="Cambria" panose="02040503050406030204" charset="0"/>
              </a:rPr>
              <a:t>  </a:t>
            </a:r>
            <a:r>
              <a:rPr sz="2400" dirty="0">
                <a:solidFill>
                  <a:srgbClr val="FF0000"/>
                </a:solidFill>
                <a:latin typeface="Cambria" panose="02040503050406030204" charset="0"/>
                <a:cs typeface="Cambria" panose="02040503050406030204" charset="0"/>
              </a:rPr>
              <a:t>amount</a:t>
            </a:r>
            <a:r>
              <a:rPr sz="2400" spc="409" dirty="0">
                <a:solidFill>
                  <a:srgbClr val="FF0000"/>
                </a:solidFill>
                <a:latin typeface="Cambria" panose="02040503050406030204" charset="0"/>
                <a:cs typeface="Cambria" panose="02040503050406030204" charset="0"/>
              </a:rPr>
              <a:t>  </a:t>
            </a:r>
            <a:r>
              <a:rPr sz="2400" dirty="0">
                <a:solidFill>
                  <a:srgbClr val="FF0000"/>
                </a:solidFill>
                <a:latin typeface="Cambria" panose="02040503050406030204" charset="0"/>
                <a:cs typeface="Cambria" panose="02040503050406030204" charset="0"/>
              </a:rPr>
              <a:t>of</a:t>
            </a:r>
            <a:r>
              <a:rPr sz="2400" spc="409" dirty="0">
                <a:solidFill>
                  <a:srgbClr val="FF0000"/>
                </a:solidFill>
                <a:latin typeface="Cambria" panose="02040503050406030204" charset="0"/>
                <a:cs typeface="Cambria" panose="02040503050406030204" charset="0"/>
              </a:rPr>
              <a:t>  </a:t>
            </a:r>
            <a:r>
              <a:rPr sz="2400" dirty="0">
                <a:solidFill>
                  <a:srgbClr val="FF0000"/>
                </a:solidFill>
                <a:latin typeface="Cambria" panose="02040503050406030204" charset="0"/>
                <a:cs typeface="Cambria" panose="02040503050406030204" charset="0"/>
              </a:rPr>
              <a:t>air</a:t>
            </a:r>
            <a:r>
              <a:rPr sz="2400" spc="409" dirty="0">
                <a:solidFill>
                  <a:srgbClr val="FF0000"/>
                </a:solidFill>
                <a:latin typeface="Cambria" panose="02040503050406030204" charset="0"/>
                <a:cs typeface="Cambria" panose="02040503050406030204" charset="0"/>
              </a:rPr>
              <a:t>  </a:t>
            </a:r>
            <a:r>
              <a:rPr sz="2400" spc="-10" dirty="0">
                <a:solidFill>
                  <a:srgbClr val="FF0000"/>
                </a:solidFill>
                <a:latin typeface="Cambria" panose="02040503050406030204" charset="0"/>
                <a:cs typeface="Cambria" panose="02040503050406030204" charset="0"/>
              </a:rPr>
              <a:t>pollutants 	</a:t>
            </a:r>
            <a:r>
              <a:rPr sz="2400" dirty="0">
                <a:solidFill>
                  <a:srgbClr val="FF0000"/>
                </a:solidFill>
                <a:latin typeface="Cambria" panose="02040503050406030204" charset="0"/>
                <a:cs typeface="Cambria" panose="02040503050406030204" charset="0"/>
              </a:rPr>
              <a:t>discharged</a:t>
            </a:r>
            <a:r>
              <a:rPr sz="2400" spc="405" dirty="0">
                <a:solidFill>
                  <a:srgbClr val="FF0000"/>
                </a:solidFill>
                <a:latin typeface="Cambria" panose="02040503050406030204" charset="0"/>
                <a:cs typeface="Cambria" panose="02040503050406030204" charset="0"/>
              </a:rPr>
              <a:t> </a:t>
            </a:r>
            <a:r>
              <a:rPr sz="2400" dirty="0">
                <a:solidFill>
                  <a:srgbClr val="FF0000"/>
                </a:solidFill>
                <a:latin typeface="Cambria" panose="02040503050406030204" charset="0"/>
                <a:cs typeface="Cambria" panose="02040503050406030204" charset="0"/>
              </a:rPr>
              <a:t>into</a:t>
            </a:r>
            <a:r>
              <a:rPr sz="2400" spc="395" dirty="0">
                <a:solidFill>
                  <a:srgbClr val="FF0000"/>
                </a:solidFill>
                <a:latin typeface="Cambria" panose="02040503050406030204" charset="0"/>
                <a:cs typeface="Cambria" panose="02040503050406030204" charset="0"/>
              </a:rPr>
              <a:t> </a:t>
            </a:r>
            <a:r>
              <a:rPr sz="2400" dirty="0">
                <a:solidFill>
                  <a:srgbClr val="FF0000"/>
                </a:solidFill>
                <a:latin typeface="Cambria" panose="02040503050406030204" charset="0"/>
                <a:cs typeface="Cambria" panose="02040503050406030204" charset="0"/>
              </a:rPr>
              <a:t>the</a:t>
            </a:r>
            <a:r>
              <a:rPr sz="2400" spc="415" dirty="0">
                <a:solidFill>
                  <a:srgbClr val="FF0000"/>
                </a:solidFill>
                <a:latin typeface="Cambria" panose="02040503050406030204" charset="0"/>
                <a:cs typeface="Cambria" panose="02040503050406030204" charset="0"/>
              </a:rPr>
              <a:t> </a:t>
            </a:r>
            <a:r>
              <a:rPr sz="2400" spc="-10" dirty="0">
                <a:solidFill>
                  <a:srgbClr val="FF0000"/>
                </a:solidFill>
                <a:latin typeface="Cambria" panose="02040503050406030204" charset="0"/>
                <a:cs typeface="Cambria" panose="02040503050406030204" charset="0"/>
              </a:rPr>
              <a:t>atmosphere 	</a:t>
            </a:r>
            <a:r>
              <a:rPr sz="2400" dirty="0">
                <a:solidFill>
                  <a:srgbClr val="FF0000"/>
                </a:solidFill>
                <a:latin typeface="Cambria" panose="02040503050406030204" charset="0"/>
                <a:cs typeface="Cambria" panose="02040503050406030204" charset="0"/>
              </a:rPr>
              <a:t>during</a:t>
            </a:r>
            <a:r>
              <a:rPr sz="2400" spc="330" dirty="0">
                <a:solidFill>
                  <a:srgbClr val="FF0000"/>
                </a:solidFill>
                <a:latin typeface="Cambria" panose="02040503050406030204" charset="0"/>
                <a:cs typeface="Cambria" panose="02040503050406030204" charset="0"/>
              </a:rPr>
              <a:t>  </a:t>
            </a:r>
            <a:r>
              <a:rPr sz="2400" dirty="0">
                <a:solidFill>
                  <a:srgbClr val="FF0000"/>
                </a:solidFill>
                <a:latin typeface="Cambria" panose="02040503050406030204" charset="0"/>
                <a:cs typeface="Cambria" panose="02040503050406030204" charset="0"/>
              </a:rPr>
              <a:t>a</a:t>
            </a:r>
            <a:r>
              <a:rPr sz="2400" spc="340" dirty="0">
                <a:solidFill>
                  <a:srgbClr val="FF0000"/>
                </a:solidFill>
                <a:latin typeface="Cambria" panose="02040503050406030204" charset="0"/>
                <a:cs typeface="Cambria" panose="02040503050406030204" charset="0"/>
              </a:rPr>
              <a:t>  </a:t>
            </a:r>
            <a:r>
              <a:rPr sz="2400" dirty="0">
                <a:solidFill>
                  <a:srgbClr val="FF0000"/>
                </a:solidFill>
                <a:latin typeface="Cambria" panose="02040503050406030204" charset="0"/>
                <a:cs typeface="Cambria" panose="02040503050406030204" charset="0"/>
              </a:rPr>
              <a:t>year</a:t>
            </a:r>
            <a:r>
              <a:rPr sz="2400" spc="335" dirty="0">
                <a:solidFill>
                  <a:srgbClr val="FF0000"/>
                </a:solidFill>
                <a:latin typeface="Cambria" panose="02040503050406030204" charset="0"/>
                <a:cs typeface="Cambria" panose="02040503050406030204" charset="0"/>
              </a:rPr>
              <a:t>  </a:t>
            </a:r>
            <a:r>
              <a:rPr sz="2400" dirty="0">
                <a:solidFill>
                  <a:srgbClr val="FF0000"/>
                </a:solidFill>
                <a:latin typeface="Cambria" panose="02040503050406030204" charset="0"/>
                <a:cs typeface="Cambria" panose="02040503050406030204" charset="0"/>
              </a:rPr>
              <a:t>or</a:t>
            </a:r>
            <a:r>
              <a:rPr sz="2400" spc="335" dirty="0">
                <a:solidFill>
                  <a:srgbClr val="FF0000"/>
                </a:solidFill>
                <a:latin typeface="Cambria" panose="02040503050406030204" charset="0"/>
                <a:cs typeface="Cambria" panose="02040503050406030204" charset="0"/>
              </a:rPr>
              <a:t>  </a:t>
            </a:r>
            <a:r>
              <a:rPr sz="2400" dirty="0">
                <a:solidFill>
                  <a:srgbClr val="FF0000"/>
                </a:solidFill>
                <a:latin typeface="Cambria" panose="02040503050406030204" charset="0"/>
                <a:cs typeface="Cambria" panose="02040503050406030204" charset="0"/>
              </a:rPr>
              <a:t>other</a:t>
            </a:r>
            <a:r>
              <a:rPr sz="2400" spc="335" dirty="0">
                <a:solidFill>
                  <a:srgbClr val="FF0000"/>
                </a:solidFill>
                <a:latin typeface="Cambria" panose="02040503050406030204" charset="0"/>
                <a:cs typeface="Cambria" panose="02040503050406030204" charset="0"/>
              </a:rPr>
              <a:t>  </a:t>
            </a:r>
            <a:r>
              <a:rPr sz="2400" spc="-20" dirty="0">
                <a:solidFill>
                  <a:srgbClr val="FF0000"/>
                </a:solidFill>
                <a:latin typeface="Cambria" panose="02040503050406030204" charset="0"/>
                <a:cs typeface="Cambria" panose="02040503050406030204" charset="0"/>
              </a:rPr>
              <a:t>time 	</a:t>
            </a:r>
            <a:r>
              <a:rPr sz="2400" spc="-10" dirty="0">
                <a:solidFill>
                  <a:srgbClr val="FF0000"/>
                </a:solidFill>
                <a:latin typeface="Cambria" panose="02040503050406030204" charset="0"/>
                <a:cs typeface="Cambria" panose="02040503050406030204" charset="0"/>
              </a:rPr>
              <a:t>period.</a:t>
            </a:r>
          </a:p>
          <a:p>
            <a:pPr marL="240036" marR="5715" indent="-227336" algn="just">
              <a:spcBef>
                <a:spcPts val="100"/>
              </a:spcBef>
              <a:buChar char="•"/>
              <a:tabLst>
                <a:tab pos="241306" algn="l"/>
              </a:tabLst>
            </a:pPr>
            <a:r>
              <a:rPr lang="en-US" altLang="en-US" sz="2400">
                <a:latin typeface="Cambria" panose="02040503050406030204" charset="0"/>
                <a:cs typeface="Cambria" panose="02040503050406030204" charset="0"/>
                <a:sym typeface="+mn-ea"/>
              </a:rPr>
              <a:t>An emission inventory usually contains the total emissions for one or more specific greenhouse gases or air pollutants, originating from all source categories in a certain geographical area and within a specified time span, usually a specific year.</a:t>
            </a:r>
            <a:endParaRPr lang="en-US" altLang="en-US" sz="2400">
              <a:latin typeface="Cambria" panose="02040503050406030204" charset="0"/>
              <a:cs typeface="Cambria" panose="02040503050406030204" charset="0"/>
            </a:endParaRPr>
          </a:p>
          <a:p>
            <a:pPr marL="240036" marR="5715" indent="-227336" algn="just">
              <a:lnSpc>
                <a:spcPct val="140000"/>
              </a:lnSpc>
              <a:spcBef>
                <a:spcPts val="100"/>
              </a:spcBef>
              <a:buChar char="•"/>
              <a:tabLst>
                <a:tab pos="241306" algn="l"/>
              </a:tabLst>
            </a:pPr>
            <a:endParaRPr sz="2400">
              <a:latin typeface="Arial MT"/>
              <a:cs typeface="Arial MT"/>
            </a:endParaRPr>
          </a:p>
          <a:p>
            <a:pPr marL="240036" marR="5081" indent="-227336" algn="just">
              <a:lnSpc>
                <a:spcPct val="140000"/>
              </a:lnSpc>
              <a:spcBef>
                <a:spcPts val="994"/>
              </a:spcBef>
              <a:buChar char="•"/>
              <a:tabLst>
                <a:tab pos="241306" algn="l"/>
              </a:tabLst>
            </a:pPr>
            <a:endParaRPr sz="2400">
              <a:latin typeface="Arial MT"/>
              <a:cs typeface="Arial MT"/>
            </a:endParaRPr>
          </a:p>
        </p:txBody>
      </p:sp>
      <p:pic>
        <p:nvPicPr>
          <p:cNvPr id="4" name="object 4"/>
          <p:cNvPicPr/>
          <p:nvPr/>
        </p:nvPicPr>
        <p:blipFill>
          <a:blip r:embed="rId3" cstate="print"/>
          <a:stretch>
            <a:fillRect/>
          </a:stretch>
        </p:blipFill>
        <p:spPr>
          <a:xfrm>
            <a:off x="6384927" y="986158"/>
            <a:ext cx="5342255" cy="4705985"/>
          </a:xfrm>
          <a:prstGeom prst="rect">
            <a:avLst/>
          </a:prstGeom>
        </p:spPr>
      </p:pic>
      <p:sp>
        <p:nvSpPr>
          <p:cNvPr id="5" name="object 5"/>
          <p:cNvSpPr txBox="1">
            <a:spLocks noGrp="1"/>
          </p:cNvSpPr>
          <p:nvPr>
            <p:ph type="sldNum" sz="quarter" idx="7"/>
          </p:nvPr>
        </p:nvSpPr>
        <p:spPr>
          <a:xfrm>
            <a:off x="8993409" y="6464911"/>
            <a:ext cx="198636" cy="156068"/>
          </a:xfrm>
          <a:prstGeom prst="rect">
            <a:avLst/>
          </a:prstGeom>
        </p:spPr>
        <p:txBody>
          <a:bodyPr vert="horz" wrap="square" lIns="0" tIns="0" rIns="0" bIns="0" rtlCol="0">
            <a:spAutoFit/>
          </a:bodyPr>
          <a:lstStyle/>
          <a:p>
            <a:pPr marL="38101">
              <a:lnSpc>
                <a:spcPts val="1239"/>
              </a:lnSpc>
            </a:pPr>
            <a:fld id="{81D60167-4931-47E6-BA6A-407CBD079E47}" type="slidenum">
              <a:rPr spc="-25" dirty="0"/>
              <a:pPr marL="38101">
                <a:lnSpc>
                  <a:spcPts val="1239"/>
                </a:lnSpc>
              </a:pPr>
              <a:t>81</a:t>
            </a:fld>
            <a:endParaRPr spc="-25"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8917" y="133351"/>
            <a:ext cx="9355023" cy="492443"/>
          </a:xfrm>
        </p:spPr>
        <p:txBody>
          <a:bodyPr/>
          <a:lstStyle/>
          <a:p>
            <a:r>
              <a:rPr dirty="0">
                <a:sym typeface="+mn-ea"/>
              </a:rPr>
              <a:t>Emission</a:t>
            </a:r>
            <a:r>
              <a:rPr spc="-55" dirty="0">
                <a:sym typeface="+mn-ea"/>
              </a:rPr>
              <a:t> </a:t>
            </a:r>
            <a:r>
              <a:rPr spc="-10" dirty="0">
                <a:sym typeface="+mn-ea"/>
              </a:rPr>
              <a:t>Inventory</a:t>
            </a:r>
            <a:endParaRPr lang="en-US"/>
          </a:p>
        </p:txBody>
      </p:sp>
      <p:sp>
        <p:nvSpPr>
          <p:cNvPr id="3" name="Text Placeholder 2"/>
          <p:cNvSpPr>
            <a:spLocks noGrp="1"/>
          </p:cNvSpPr>
          <p:nvPr>
            <p:ph type="body" idx="1"/>
          </p:nvPr>
        </p:nvSpPr>
        <p:spPr>
          <a:xfrm>
            <a:off x="555446" y="1243920"/>
            <a:ext cx="11038841" cy="4917500"/>
          </a:xfrm>
        </p:spPr>
        <p:txBody>
          <a:bodyPr/>
          <a:lstStyle/>
          <a:p>
            <a:pPr>
              <a:lnSpc>
                <a:spcPct val="150000"/>
              </a:lnSpc>
            </a:pPr>
            <a:r>
              <a:rPr lang="en-US" altLang="en-US"/>
              <a:t>An emission inventory is generally characterized by the following aspects:</a:t>
            </a:r>
          </a:p>
          <a:p>
            <a:pPr marL="342908" indent="-342908">
              <a:lnSpc>
                <a:spcPct val="150000"/>
              </a:lnSpc>
              <a:buFont typeface="Arial" panose="020B0604020202020204" pitchFamily="34" charset="0"/>
              <a:buChar char="•"/>
            </a:pPr>
            <a:r>
              <a:rPr lang="en-US" altLang="en-US">
                <a:solidFill>
                  <a:srgbClr val="FF0000"/>
                </a:solidFill>
              </a:rPr>
              <a:t>Why</a:t>
            </a:r>
            <a:r>
              <a:rPr lang="en-US" altLang="en-US"/>
              <a:t>: The types of activities that cause emissions</a:t>
            </a:r>
          </a:p>
          <a:p>
            <a:pPr marL="342908" indent="-342908">
              <a:lnSpc>
                <a:spcPct val="150000"/>
              </a:lnSpc>
              <a:buFont typeface="Arial" panose="020B0604020202020204" pitchFamily="34" charset="0"/>
              <a:buChar char="•"/>
            </a:pPr>
            <a:r>
              <a:rPr lang="en-US" altLang="en-US">
                <a:solidFill>
                  <a:srgbClr val="FF0000"/>
                </a:solidFill>
              </a:rPr>
              <a:t>What</a:t>
            </a:r>
            <a:r>
              <a:rPr lang="en-US" altLang="en-US"/>
              <a:t>: The chemical or physical identity of the pollutants included, and the quantity thereof</a:t>
            </a:r>
          </a:p>
          <a:p>
            <a:pPr marL="342908" indent="-342908">
              <a:lnSpc>
                <a:spcPct val="150000"/>
              </a:lnSpc>
              <a:buFont typeface="Arial" panose="020B0604020202020204" pitchFamily="34" charset="0"/>
              <a:buChar char="•"/>
            </a:pPr>
            <a:r>
              <a:rPr lang="en-US" altLang="en-US">
                <a:solidFill>
                  <a:srgbClr val="FF0000"/>
                </a:solidFill>
              </a:rPr>
              <a:t>Where</a:t>
            </a:r>
            <a:r>
              <a:rPr lang="en-US" altLang="en-US"/>
              <a:t>: The geographic area covered</a:t>
            </a:r>
          </a:p>
          <a:p>
            <a:pPr marL="342908" indent="-342908">
              <a:lnSpc>
                <a:spcPct val="150000"/>
              </a:lnSpc>
              <a:buFont typeface="Arial" panose="020B0604020202020204" pitchFamily="34" charset="0"/>
              <a:buChar char="•"/>
            </a:pPr>
            <a:r>
              <a:rPr lang="en-US" altLang="en-US">
                <a:solidFill>
                  <a:srgbClr val="FF0000"/>
                </a:solidFill>
              </a:rPr>
              <a:t>When</a:t>
            </a:r>
            <a:r>
              <a:rPr lang="en-US" altLang="en-US"/>
              <a:t>: The time period over which emissions are estimated</a:t>
            </a:r>
          </a:p>
          <a:p>
            <a:pPr marL="342908" indent="-342908">
              <a:lnSpc>
                <a:spcPct val="150000"/>
              </a:lnSpc>
              <a:buFont typeface="Arial" panose="020B0604020202020204" pitchFamily="34" charset="0"/>
              <a:buChar char="•"/>
            </a:pPr>
            <a:r>
              <a:rPr lang="en-US" altLang="en-US">
                <a:solidFill>
                  <a:srgbClr val="FF0000"/>
                </a:solidFill>
              </a:rPr>
              <a:t>How</a:t>
            </a:r>
            <a:r>
              <a:rPr lang="en-US" altLang="en-US"/>
              <a:t>: The methodology to use</a:t>
            </a:r>
          </a:p>
          <a:p>
            <a:pPr>
              <a:lnSpc>
                <a:spcPct val="150000"/>
              </a:lnSpc>
            </a:pPr>
            <a:r>
              <a:rPr lang="en-US" altLang="en-US"/>
              <a:t>Emission inventories are compiled for both scientific applications and for use in policy processes</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xfrm>
            <a:off x="8993409" y="6464911"/>
            <a:ext cx="198636" cy="156068"/>
          </a:xfrm>
          <a:prstGeom prst="rect">
            <a:avLst/>
          </a:prstGeom>
        </p:spPr>
        <p:txBody>
          <a:bodyPr vert="horz" wrap="square" lIns="0" tIns="0" rIns="0" bIns="0" rtlCol="0">
            <a:spAutoFit/>
          </a:bodyPr>
          <a:lstStyle/>
          <a:p>
            <a:pPr marL="38101">
              <a:lnSpc>
                <a:spcPts val="1239"/>
              </a:lnSpc>
            </a:pPr>
            <a:fld id="{81D60167-4931-47E6-BA6A-407CBD079E47}" type="slidenum">
              <a:rPr spc="-25" dirty="0"/>
              <a:pPr marL="38101">
                <a:lnSpc>
                  <a:spcPts val="1239"/>
                </a:lnSpc>
              </a:pPr>
              <a:t>83</a:t>
            </a:fld>
            <a:endParaRPr spc="-25" dirty="0"/>
          </a:p>
        </p:txBody>
      </p:sp>
      <p:sp>
        <p:nvSpPr>
          <p:cNvPr id="2" name="object 2"/>
          <p:cNvSpPr txBox="1">
            <a:spLocks noGrp="1"/>
          </p:cNvSpPr>
          <p:nvPr>
            <p:ph type="title"/>
          </p:nvPr>
        </p:nvSpPr>
        <p:spPr>
          <a:xfrm>
            <a:off x="470371" y="133352"/>
            <a:ext cx="7600956" cy="505908"/>
          </a:xfrm>
          <a:prstGeom prst="rect">
            <a:avLst/>
          </a:prstGeom>
        </p:spPr>
        <p:txBody>
          <a:bodyPr vert="horz" wrap="square" lIns="0" tIns="13335" rIns="0" bIns="0" rtlCol="0">
            <a:spAutoFit/>
          </a:bodyPr>
          <a:lstStyle/>
          <a:p>
            <a:pPr marL="12701">
              <a:spcBef>
                <a:spcPts val="105"/>
              </a:spcBef>
            </a:pPr>
            <a:r>
              <a:rPr dirty="0"/>
              <a:t>Emission</a:t>
            </a:r>
            <a:r>
              <a:rPr spc="-55" dirty="0"/>
              <a:t> </a:t>
            </a:r>
            <a:r>
              <a:rPr spc="-10" dirty="0"/>
              <a:t>Inventory</a:t>
            </a:r>
          </a:p>
        </p:txBody>
      </p:sp>
      <p:sp>
        <p:nvSpPr>
          <p:cNvPr id="3" name="object 3"/>
          <p:cNvSpPr txBox="1"/>
          <p:nvPr/>
        </p:nvSpPr>
        <p:spPr>
          <a:xfrm>
            <a:off x="533452" y="1142746"/>
            <a:ext cx="10636885" cy="3889013"/>
          </a:xfrm>
          <a:prstGeom prst="rect">
            <a:avLst/>
          </a:prstGeom>
        </p:spPr>
        <p:txBody>
          <a:bodyPr vert="horz" wrap="square" lIns="0" tIns="12700" rIns="0" bIns="0" rtlCol="0">
            <a:spAutoFit/>
          </a:bodyPr>
          <a:lstStyle/>
          <a:p>
            <a:pPr marL="240036" indent="-227336">
              <a:spcBef>
                <a:spcPts val="2435"/>
              </a:spcBef>
              <a:buChar char="•"/>
              <a:tabLst>
                <a:tab pos="239400" algn="l"/>
                <a:tab pos="2169215" algn="l"/>
                <a:tab pos="2638491" algn="l"/>
                <a:tab pos="3157299" algn="l"/>
                <a:tab pos="4137129" algn="l"/>
                <a:tab pos="5556389" algn="l"/>
                <a:tab pos="6839121" algn="l"/>
                <a:tab pos="7563040" algn="l"/>
                <a:tab pos="8761314" algn="l"/>
                <a:tab pos="10367905" algn="l"/>
              </a:tabLst>
            </a:pPr>
            <a:r>
              <a:rPr sz="2400" spc="-10" dirty="0">
                <a:solidFill>
                  <a:srgbClr val="FF0000"/>
                </a:solidFill>
                <a:latin typeface="Arial MT"/>
                <a:cs typeface="Arial MT"/>
              </a:rPr>
              <a:t>Identification</a:t>
            </a:r>
            <a:r>
              <a:rPr sz="2400" dirty="0">
                <a:solidFill>
                  <a:srgbClr val="FF0000"/>
                </a:solidFill>
                <a:latin typeface="Arial MT"/>
                <a:cs typeface="Arial MT"/>
              </a:rPr>
              <a:t>	</a:t>
            </a:r>
            <a:r>
              <a:rPr sz="2400" spc="-25" dirty="0">
                <a:solidFill>
                  <a:srgbClr val="FF0000"/>
                </a:solidFill>
                <a:latin typeface="Arial MT"/>
                <a:cs typeface="Arial MT"/>
              </a:rPr>
              <a:t>of</a:t>
            </a:r>
            <a:r>
              <a:rPr sz="2400" dirty="0">
                <a:solidFill>
                  <a:srgbClr val="FF0000"/>
                </a:solidFill>
                <a:latin typeface="Arial MT"/>
                <a:cs typeface="Arial MT"/>
              </a:rPr>
              <a:t>	</a:t>
            </a:r>
            <a:r>
              <a:rPr sz="2400" spc="-25" dirty="0">
                <a:solidFill>
                  <a:srgbClr val="FF0000"/>
                </a:solidFill>
                <a:latin typeface="Arial MT"/>
                <a:cs typeface="Arial MT"/>
              </a:rPr>
              <a:t>all</a:t>
            </a:r>
            <a:r>
              <a:rPr sz="2400" dirty="0">
                <a:solidFill>
                  <a:srgbClr val="FF0000"/>
                </a:solidFill>
                <a:latin typeface="Arial MT"/>
                <a:cs typeface="Arial MT"/>
              </a:rPr>
              <a:t>	</a:t>
            </a:r>
            <a:r>
              <a:rPr sz="2400" spc="-10" dirty="0">
                <a:solidFill>
                  <a:srgbClr val="FF0000"/>
                </a:solidFill>
                <a:latin typeface="Arial MT"/>
                <a:cs typeface="Arial MT"/>
              </a:rPr>
              <a:t>major</a:t>
            </a:r>
            <a:r>
              <a:rPr sz="2400" dirty="0">
                <a:solidFill>
                  <a:srgbClr val="FF0000"/>
                </a:solidFill>
                <a:latin typeface="Arial MT"/>
                <a:cs typeface="Arial MT"/>
              </a:rPr>
              <a:t>	</a:t>
            </a:r>
            <a:r>
              <a:rPr sz="2400" spc="-10" dirty="0">
                <a:solidFill>
                  <a:srgbClr val="FF0000"/>
                </a:solidFill>
                <a:latin typeface="Arial MT"/>
                <a:cs typeface="Arial MT"/>
              </a:rPr>
              <a:t>emission</a:t>
            </a:r>
            <a:r>
              <a:rPr sz="2400" dirty="0">
                <a:solidFill>
                  <a:srgbClr val="FF0000"/>
                </a:solidFill>
                <a:latin typeface="Arial MT"/>
                <a:cs typeface="Arial MT"/>
              </a:rPr>
              <a:t>	</a:t>
            </a:r>
            <a:r>
              <a:rPr sz="2400" spc="-10" dirty="0">
                <a:solidFill>
                  <a:srgbClr val="FF0000"/>
                </a:solidFill>
                <a:latin typeface="Arial MT"/>
                <a:cs typeface="Arial MT"/>
              </a:rPr>
              <a:t>sources</a:t>
            </a:r>
            <a:r>
              <a:rPr sz="2400" dirty="0">
                <a:solidFill>
                  <a:srgbClr val="FF0000"/>
                </a:solidFill>
                <a:latin typeface="Arial MT"/>
                <a:cs typeface="Arial MT"/>
              </a:rPr>
              <a:t>	</a:t>
            </a:r>
            <a:r>
              <a:rPr sz="2400" spc="-25" dirty="0">
                <a:latin typeface="Arial MT"/>
                <a:cs typeface="Arial MT"/>
              </a:rPr>
              <a:t>and</a:t>
            </a:r>
            <a:r>
              <a:rPr sz="2400" dirty="0">
                <a:latin typeface="Arial MT"/>
                <a:cs typeface="Arial MT"/>
              </a:rPr>
              <a:t>	</a:t>
            </a:r>
            <a:r>
              <a:rPr sz="2400" spc="-10" dirty="0">
                <a:solidFill>
                  <a:srgbClr val="FF0000"/>
                </a:solidFill>
                <a:latin typeface="Arial MT"/>
                <a:cs typeface="Arial MT"/>
              </a:rPr>
              <a:t>reliable</a:t>
            </a:r>
            <a:r>
              <a:rPr sz="2400" dirty="0">
                <a:solidFill>
                  <a:srgbClr val="FF0000"/>
                </a:solidFill>
                <a:latin typeface="Arial MT"/>
                <a:cs typeface="Arial MT"/>
              </a:rPr>
              <a:t>	</a:t>
            </a:r>
            <a:r>
              <a:rPr sz="2400" spc="-10" dirty="0">
                <a:solidFill>
                  <a:srgbClr val="FF0000"/>
                </a:solidFill>
                <a:latin typeface="Arial MT"/>
                <a:cs typeface="Arial MT"/>
              </a:rPr>
              <a:t>estimation</a:t>
            </a:r>
            <a:r>
              <a:rPr sz="2400" dirty="0">
                <a:solidFill>
                  <a:srgbClr val="FF0000"/>
                </a:solidFill>
                <a:latin typeface="Arial MT"/>
                <a:cs typeface="Arial MT"/>
              </a:rPr>
              <a:t>	</a:t>
            </a:r>
            <a:r>
              <a:rPr sz="2400" spc="-25" dirty="0">
                <a:solidFill>
                  <a:srgbClr val="FF0000"/>
                </a:solidFill>
                <a:latin typeface="Arial MT"/>
                <a:cs typeface="Arial MT"/>
              </a:rPr>
              <a:t>of</a:t>
            </a:r>
            <a:endParaRPr sz="2400">
              <a:latin typeface="Arial MT"/>
              <a:cs typeface="Arial MT"/>
            </a:endParaRPr>
          </a:p>
          <a:p>
            <a:pPr marL="241306" algn="just">
              <a:spcBef>
                <a:spcPts val="1440"/>
              </a:spcBef>
            </a:pPr>
            <a:r>
              <a:rPr sz="2400" dirty="0">
                <a:solidFill>
                  <a:srgbClr val="FF0000"/>
                </a:solidFill>
                <a:latin typeface="Arial MT"/>
                <a:cs typeface="Arial MT"/>
              </a:rPr>
              <a:t>emission</a:t>
            </a:r>
            <a:r>
              <a:rPr sz="2400" spc="-55" dirty="0">
                <a:solidFill>
                  <a:srgbClr val="FF0000"/>
                </a:solidFill>
                <a:latin typeface="Arial MT"/>
                <a:cs typeface="Arial MT"/>
              </a:rPr>
              <a:t> </a:t>
            </a:r>
            <a:r>
              <a:rPr sz="2400" dirty="0">
                <a:solidFill>
                  <a:srgbClr val="FF0000"/>
                </a:solidFill>
                <a:latin typeface="Arial MT"/>
                <a:cs typeface="Arial MT"/>
              </a:rPr>
              <a:t>quantities</a:t>
            </a:r>
            <a:r>
              <a:rPr sz="2400" spc="-50" dirty="0">
                <a:solidFill>
                  <a:srgbClr val="FF0000"/>
                </a:solidFill>
                <a:latin typeface="Arial MT"/>
                <a:cs typeface="Arial MT"/>
              </a:rPr>
              <a:t> </a:t>
            </a:r>
            <a:r>
              <a:rPr sz="2400" dirty="0">
                <a:solidFill>
                  <a:srgbClr val="FF0000"/>
                </a:solidFill>
                <a:latin typeface="Arial MT"/>
                <a:cs typeface="Arial MT"/>
              </a:rPr>
              <a:t>of</a:t>
            </a:r>
            <a:r>
              <a:rPr sz="2400" spc="-65" dirty="0">
                <a:solidFill>
                  <a:srgbClr val="FF0000"/>
                </a:solidFill>
                <a:latin typeface="Arial MT"/>
                <a:cs typeface="Arial MT"/>
              </a:rPr>
              <a:t> </a:t>
            </a:r>
            <a:r>
              <a:rPr sz="2400" dirty="0">
                <a:solidFill>
                  <a:srgbClr val="FF0000"/>
                </a:solidFill>
                <a:latin typeface="Arial MT"/>
                <a:cs typeface="Arial MT"/>
              </a:rPr>
              <a:t>significant</a:t>
            </a:r>
            <a:r>
              <a:rPr sz="2400" spc="-41" dirty="0">
                <a:solidFill>
                  <a:srgbClr val="FF0000"/>
                </a:solidFill>
                <a:latin typeface="Arial MT"/>
                <a:cs typeface="Arial MT"/>
              </a:rPr>
              <a:t> </a:t>
            </a:r>
            <a:r>
              <a:rPr sz="2400" dirty="0">
                <a:solidFill>
                  <a:srgbClr val="FF0000"/>
                </a:solidFill>
                <a:latin typeface="Arial MT"/>
                <a:cs typeface="Arial MT"/>
              </a:rPr>
              <a:t>pollutants</a:t>
            </a:r>
            <a:r>
              <a:rPr sz="2400" spc="-25" dirty="0">
                <a:solidFill>
                  <a:srgbClr val="FF0000"/>
                </a:solidFill>
                <a:latin typeface="Arial MT"/>
                <a:cs typeface="Arial MT"/>
              </a:rPr>
              <a:t> </a:t>
            </a:r>
            <a:r>
              <a:rPr sz="2400" dirty="0">
                <a:solidFill>
                  <a:srgbClr val="FF0000"/>
                </a:solidFill>
                <a:latin typeface="Arial MT"/>
                <a:cs typeface="Arial MT"/>
              </a:rPr>
              <a:t>like</a:t>
            </a:r>
            <a:r>
              <a:rPr sz="2400" spc="-55" dirty="0">
                <a:solidFill>
                  <a:srgbClr val="FF0000"/>
                </a:solidFill>
                <a:latin typeface="Arial MT"/>
                <a:cs typeface="Arial MT"/>
              </a:rPr>
              <a:t> </a:t>
            </a:r>
            <a:r>
              <a:rPr sz="2400" dirty="0">
                <a:solidFill>
                  <a:srgbClr val="FF0000"/>
                </a:solidFill>
                <a:latin typeface="Arial MT"/>
                <a:cs typeface="Arial MT"/>
              </a:rPr>
              <a:t>PM10,</a:t>
            </a:r>
            <a:r>
              <a:rPr sz="2400" spc="-65" dirty="0">
                <a:solidFill>
                  <a:srgbClr val="FF0000"/>
                </a:solidFill>
                <a:latin typeface="Arial MT"/>
                <a:cs typeface="Arial MT"/>
              </a:rPr>
              <a:t> </a:t>
            </a:r>
            <a:r>
              <a:rPr sz="2400" dirty="0">
                <a:solidFill>
                  <a:srgbClr val="FF0000"/>
                </a:solidFill>
                <a:latin typeface="Arial MT"/>
                <a:cs typeface="Arial MT"/>
              </a:rPr>
              <a:t>NOx,</a:t>
            </a:r>
            <a:r>
              <a:rPr sz="2400" spc="-50" dirty="0">
                <a:solidFill>
                  <a:srgbClr val="FF0000"/>
                </a:solidFill>
                <a:latin typeface="Arial MT"/>
                <a:cs typeface="Arial MT"/>
              </a:rPr>
              <a:t> </a:t>
            </a:r>
            <a:r>
              <a:rPr sz="2400" dirty="0">
                <a:solidFill>
                  <a:srgbClr val="FF0000"/>
                </a:solidFill>
                <a:latin typeface="Arial MT"/>
                <a:cs typeface="Arial MT"/>
              </a:rPr>
              <a:t>SO2,</a:t>
            </a:r>
            <a:r>
              <a:rPr sz="2400" spc="-75" dirty="0">
                <a:solidFill>
                  <a:srgbClr val="FF0000"/>
                </a:solidFill>
                <a:latin typeface="Arial MT"/>
                <a:cs typeface="Arial MT"/>
              </a:rPr>
              <a:t> </a:t>
            </a:r>
            <a:r>
              <a:rPr sz="2400" dirty="0">
                <a:solidFill>
                  <a:srgbClr val="FF0000"/>
                </a:solidFill>
                <a:latin typeface="Arial MT"/>
                <a:cs typeface="Arial MT"/>
              </a:rPr>
              <a:t>CO,</a:t>
            </a:r>
            <a:r>
              <a:rPr sz="2400" spc="-75" dirty="0">
                <a:solidFill>
                  <a:srgbClr val="FF0000"/>
                </a:solidFill>
                <a:latin typeface="Arial MT"/>
                <a:cs typeface="Arial MT"/>
              </a:rPr>
              <a:t> </a:t>
            </a:r>
            <a:r>
              <a:rPr sz="2400" spc="-20" dirty="0">
                <a:solidFill>
                  <a:srgbClr val="FF0000"/>
                </a:solidFill>
                <a:latin typeface="Arial MT"/>
                <a:cs typeface="Arial MT"/>
              </a:rPr>
              <a:t>etc.</a:t>
            </a:r>
            <a:endParaRPr sz="2400">
              <a:latin typeface="Arial MT"/>
              <a:cs typeface="Arial MT"/>
            </a:endParaRPr>
          </a:p>
          <a:p>
            <a:pPr marL="240036" marR="5081" indent="-227336" algn="just">
              <a:lnSpc>
                <a:spcPct val="150000"/>
              </a:lnSpc>
              <a:spcBef>
                <a:spcPts val="1010"/>
              </a:spcBef>
              <a:buChar char="•"/>
              <a:tabLst>
                <a:tab pos="241306" algn="l"/>
              </a:tabLst>
            </a:pPr>
            <a:r>
              <a:rPr sz="2400" dirty="0">
                <a:latin typeface="Arial MT"/>
                <a:cs typeface="Arial MT"/>
              </a:rPr>
              <a:t>Adequate</a:t>
            </a:r>
            <a:r>
              <a:rPr sz="2400" spc="229" dirty="0">
                <a:latin typeface="Arial MT"/>
                <a:cs typeface="Arial MT"/>
              </a:rPr>
              <a:t> </a:t>
            </a:r>
            <a:r>
              <a:rPr sz="2400" dirty="0">
                <a:latin typeface="Arial MT"/>
                <a:cs typeface="Arial MT"/>
              </a:rPr>
              <a:t>representation</a:t>
            </a:r>
            <a:r>
              <a:rPr sz="2400" spc="240" dirty="0">
                <a:latin typeface="Arial MT"/>
                <a:cs typeface="Arial MT"/>
              </a:rPr>
              <a:t> </a:t>
            </a:r>
            <a:r>
              <a:rPr sz="2400" dirty="0">
                <a:latin typeface="Arial MT"/>
                <a:cs typeface="Arial MT"/>
              </a:rPr>
              <a:t>of</a:t>
            </a:r>
            <a:r>
              <a:rPr sz="2400" spc="235" dirty="0">
                <a:latin typeface="Arial MT"/>
                <a:cs typeface="Arial MT"/>
              </a:rPr>
              <a:t> </a:t>
            </a:r>
            <a:r>
              <a:rPr sz="2400" dirty="0">
                <a:solidFill>
                  <a:srgbClr val="FF0000"/>
                </a:solidFill>
                <a:latin typeface="Arial MT"/>
                <a:cs typeface="Arial MT"/>
              </a:rPr>
              <a:t>various</a:t>
            </a:r>
            <a:r>
              <a:rPr sz="2400" spc="240" dirty="0">
                <a:solidFill>
                  <a:srgbClr val="FF0000"/>
                </a:solidFill>
                <a:latin typeface="Arial MT"/>
                <a:cs typeface="Arial MT"/>
              </a:rPr>
              <a:t> </a:t>
            </a:r>
            <a:r>
              <a:rPr sz="2400" dirty="0">
                <a:solidFill>
                  <a:srgbClr val="FF0000"/>
                </a:solidFill>
                <a:latin typeface="Arial MT"/>
                <a:cs typeface="Arial MT"/>
              </a:rPr>
              <a:t>factors</a:t>
            </a:r>
            <a:r>
              <a:rPr sz="2400" spc="235" dirty="0">
                <a:solidFill>
                  <a:srgbClr val="FF0000"/>
                </a:solidFill>
                <a:latin typeface="Arial MT"/>
                <a:cs typeface="Arial MT"/>
              </a:rPr>
              <a:t> </a:t>
            </a:r>
            <a:r>
              <a:rPr sz="2400" dirty="0">
                <a:solidFill>
                  <a:srgbClr val="FF0000"/>
                </a:solidFill>
                <a:latin typeface="Arial MT"/>
                <a:cs typeface="Arial MT"/>
              </a:rPr>
              <a:t>influencing</a:t>
            </a:r>
            <a:r>
              <a:rPr sz="2400" spc="240" dirty="0">
                <a:solidFill>
                  <a:srgbClr val="FF0000"/>
                </a:solidFill>
                <a:latin typeface="Arial MT"/>
                <a:cs typeface="Arial MT"/>
              </a:rPr>
              <a:t> </a:t>
            </a:r>
            <a:r>
              <a:rPr sz="2400" dirty="0">
                <a:solidFill>
                  <a:srgbClr val="FF0000"/>
                </a:solidFill>
                <a:latin typeface="Arial MT"/>
                <a:cs typeface="Arial MT"/>
              </a:rPr>
              <a:t>emissions,</a:t>
            </a:r>
            <a:r>
              <a:rPr sz="2400" spc="245" dirty="0">
                <a:solidFill>
                  <a:srgbClr val="FF0000"/>
                </a:solidFill>
                <a:latin typeface="Arial MT"/>
                <a:cs typeface="Arial MT"/>
              </a:rPr>
              <a:t> </a:t>
            </a:r>
            <a:r>
              <a:rPr sz="2400" dirty="0">
                <a:solidFill>
                  <a:srgbClr val="FF0000"/>
                </a:solidFill>
                <a:latin typeface="Arial MT"/>
                <a:cs typeface="Arial MT"/>
              </a:rPr>
              <a:t>such</a:t>
            </a:r>
            <a:r>
              <a:rPr sz="2400" spc="229" dirty="0">
                <a:solidFill>
                  <a:srgbClr val="FF0000"/>
                </a:solidFill>
                <a:latin typeface="Arial MT"/>
                <a:cs typeface="Arial MT"/>
              </a:rPr>
              <a:t> </a:t>
            </a:r>
            <a:r>
              <a:rPr sz="2400" spc="-25" dirty="0">
                <a:solidFill>
                  <a:srgbClr val="FF0000"/>
                </a:solidFill>
                <a:latin typeface="Arial MT"/>
                <a:cs typeface="Arial MT"/>
              </a:rPr>
              <a:t>as, 	</a:t>
            </a:r>
            <a:r>
              <a:rPr sz="2400" dirty="0">
                <a:solidFill>
                  <a:srgbClr val="FF0000"/>
                </a:solidFill>
                <a:latin typeface="Arial MT"/>
                <a:cs typeface="Arial MT"/>
              </a:rPr>
              <a:t>land</a:t>
            </a:r>
            <a:r>
              <a:rPr sz="2400" spc="70" dirty="0">
                <a:solidFill>
                  <a:srgbClr val="FF0000"/>
                </a:solidFill>
                <a:latin typeface="Arial MT"/>
                <a:cs typeface="Arial MT"/>
              </a:rPr>
              <a:t> </a:t>
            </a:r>
            <a:r>
              <a:rPr sz="2400" dirty="0">
                <a:solidFill>
                  <a:srgbClr val="FF0000"/>
                </a:solidFill>
                <a:latin typeface="Arial MT"/>
                <a:cs typeface="Arial MT"/>
              </a:rPr>
              <a:t>use,</a:t>
            </a:r>
            <a:r>
              <a:rPr sz="2400" spc="75" dirty="0">
                <a:solidFill>
                  <a:srgbClr val="FF0000"/>
                </a:solidFill>
                <a:latin typeface="Arial MT"/>
                <a:cs typeface="Arial MT"/>
              </a:rPr>
              <a:t> </a:t>
            </a:r>
            <a:r>
              <a:rPr sz="2400" spc="-20" dirty="0">
                <a:solidFill>
                  <a:srgbClr val="FF0000"/>
                </a:solidFill>
                <a:latin typeface="Arial MT"/>
                <a:cs typeface="Arial MT"/>
              </a:rPr>
              <a:t>socio-</a:t>
            </a:r>
            <a:r>
              <a:rPr sz="2400" dirty="0">
                <a:solidFill>
                  <a:srgbClr val="FF0000"/>
                </a:solidFill>
                <a:latin typeface="Arial MT"/>
                <a:cs typeface="Arial MT"/>
              </a:rPr>
              <a:t>economic</a:t>
            </a:r>
            <a:r>
              <a:rPr sz="2400" spc="75" dirty="0">
                <a:solidFill>
                  <a:srgbClr val="FF0000"/>
                </a:solidFill>
                <a:latin typeface="Arial MT"/>
                <a:cs typeface="Arial MT"/>
              </a:rPr>
              <a:t> </a:t>
            </a:r>
            <a:r>
              <a:rPr sz="2400" dirty="0">
                <a:solidFill>
                  <a:srgbClr val="FF0000"/>
                </a:solidFill>
                <a:latin typeface="Arial MT"/>
                <a:cs typeface="Arial MT"/>
              </a:rPr>
              <a:t>structure,</a:t>
            </a:r>
            <a:r>
              <a:rPr sz="2400" spc="70" dirty="0">
                <a:solidFill>
                  <a:srgbClr val="FF0000"/>
                </a:solidFill>
                <a:latin typeface="Arial MT"/>
                <a:cs typeface="Arial MT"/>
              </a:rPr>
              <a:t> </a:t>
            </a:r>
            <a:r>
              <a:rPr sz="2400" dirty="0">
                <a:solidFill>
                  <a:srgbClr val="FF0000"/>
                </a:solidFill>
                <a:latin typeface="Arial MT"/>
                <a:cs typeface="Arial MT"/>
              </a:rPr>
              <a:t>spatial</a:t>
            </a:r>
            <a:r>
              <a:rPr sz="2400" spc="65" dirty="0">
                <a:solidFill>
                  <a:srgbClr val="FF0000"/>
                </a:solidFill>
                <a:latin typeface="Arial MT"/>
                <a:cs typeface="Arial MT"/>
              </a:rPr>
              <a:t> </a:t>
            </a:r>
            <a:r>
              <a:rPr sz="2400" dirty="0">
                <a:solidFill>
                  <a:srgbClr val="FF0000"/>
                </a:solidFill>
                <a:latin typeface="Arial MT"/>
                <a:cs typeface="Arial MT"/>
              </a:rPr>
              <a:t>&amp;</a:t>
            </a:r>
            <a:r>
              <a:rPr sz="2400" spc="60" dirty="0">
                <a:solidFill>
                  <a:srgbClr val="FF0000"/>
                </a:solidFill>
                <a:latin typeface="Arial MT"/>
                <a:cs typeface="Arial MT"/>
              </a:rPr>
              <a:t> </a:t>
            </a:r>
            <a:r>
              <a:rPr sz="2400" dirty="0">
                <a:solidFill>
                  <a:srgbClr val="FF0000"/>
                </a:solidFill>
                <a:latin typeface="Arial MT"/>
                <a:cs typeface="Arial MT"/>
              </a:rPr>
              <a:t>temporal</a:t>
            </a:r>
            <a:r>
              <a:rPr sz="2400" spc="80" dirty="0">
                <a:solidFill>
                  <a:srgbClr val="FF0000"/>
                </a:solidFill>
                <a:latin typeface="Arial MT"/>
                <a:cs typeface="Arial MT"/>
              </a:rPr>
              <a:t> </a:t>
            </a:r>
            <a:r>
              <a:rPr sz="2400" dirty="0">
                <a:solidFill>
                  <a:srgbClr val="FF0000"/>
                </a:solidFill>
                <a:latin typeface="Arial MT"/>
                <a:cs typeface="Arial MT"/>
              </a:rPr>
              <a:t>distribution</a:t>
            </a:r>
            <a:r>
              <a:rPr sz="2400" spc="70" dirty="0">
                <a:solidFill>
                  <a:srgbClr val="FF0000"/>
                </a:solidFill>
                <a:latin typeface="Arial MT"/>
                <a:cs typeface="Arial MT"/>
              </a:rPr>
              <a:t> </a:t>
            </a:r>
            <a:r>
              <a:rPr sz="2400" dirty="0">
                <a:solidFill>
                  <a:srgbClr val="FF0000"/>
                </a:solidFill>
                <a:latin typeface="Arial MT"/>
                <a:cs typeface="Arial MT"/>
              </a:rPr>
              <a:t>of</a:t>
            </a:r>
            <a:r>
              <a:rPr sz="2400" spc="65" dirty="0">
                <a:solidFill>
                  <a:srgbClr val="FF0000"/>
                </a:solidFill>
                <a:latin typeface="Arial MT"/>
                <a:cs typeface="Arial MT"/>
              </a:rPr>
              <a:t> </a:t>
            </a:r>
            <a:r>
              <a:rPr sz="2400" spc="-10" dirty="0">
                <a:solidFill>
                  <a:srgbClr val="FF0000"/>
                </a:solidFill>
                <a:latin typeface="Arial MT"/>
                <a:cs typeface="Arial MT"/>
              </a:rPr>
              <a:t>source 	</a:t>
            </a:r>
            <a:r>
              <a:rPr sz="2400" dirty="0">
                <a:solidFill>
                  <a:srgbClr val="FF0000"/>
                </a:solidFill>
                <a:latin typeface="Arial MT"/>
                <a:cs typeface="Arial MT"/>
              </a:rPr>
              <a:t>activities</a:t>
            </a:r>
            <a:r>
              <a:rPr sz="2400" spc="-34" dirty="0">
                <a:solidFill>
                  <a:srgbClr val="FF0000"/>
                </a:solidFill>
                <a:latin typeface="Arial MT"/>
                <a:cs typeface="Arial MT"/>
              </a:rPr>
              <a:t> </a:t>
            </a:r>
            <a:r>
              <a:rPr sz="2400" spc="-20" dirty="0">
                <a:solidFill>
                  <a:srgbClr val="FF0000"/>
                </a:solidFill>
                <a:latin typeface="Arial MT"/>
                <a:cs typeface="Arial MT"/>
              </a:rPr>
              <a:t>vis-à-</a:t>
            </a:r>
            <a:r>
              <a:rPr sz="2400" dirty="0">
                <a:solidFill>
                  <a:srgbClr val="FF0000"/>
                </a:solidFill>
                <a:latin typeface="Arial MT"/>
                <a:cs typeface="Arial MT"/>
              </a:rPr>
              <a:t>vis</a:t>
            </a:r>
            <a:r>
              <a:rPr sz="2400" spc="-30" dirty="0">
                <a:solidFill>
                  <a:srgbClr val="FF0000"/>
                </a:solidFill>
                <a:latin typeface="Arial MT"/>
                <a:cs typeface="Arial MT"/>
              </a:rPr>
              <a:t> </a:t>
            </a:r>
            <a:r>
              <a:rPr sz="2400" spc="-10" dirty="0">
                <a:solidFill>
                  <a:srgbClr val="FF0000"/>
                </a:solidFill>
                <a:latin typeface="Arial MT"/>
                <a:cs typeface="Arial MT"/>
              </a:rPr>
              <a:t>pollutants.</a:t>
            </a:r>
            <a:endParaRPr sz="2400">
              <a:latin typeface="Arial MT"/>
              <a:cs typeface="Arial MT"/>
            </a:endParaRPr>
          </a:p>
          <a:p>
            <a:pPr marL="240036" marR="5081" indent="-227336" algn="just">
              <a:lnSpc>
                <a:spcPct val="150000"/>
              </a:lnSpc>
              <a:spcBef>
                <a:spcPts val="994"/>
              </a:spcBef>
              <a:buChar char="•"/>
              <a:tabLst>
                <a:tab pos="241306" algn="l"/>
              </a:tabLst>
            </a:pPr>
            <a:r>
              <a:rPr sz="2400" dirty="0">
                <a:latin typeface="Arial MT"/>
                <a:cs typeface="Arial MT"/>
              </a:rPr>
              <a:t>Evaluation</a:t>
            </a:r>
            <a:r>
              <a:rPr sz="2400" spc="400" dirty="0">
                <a:latin typeface="Arial MT"/>
                <a:cs typeface="Arial MT"/>
              </a:rPr>
              <a:t> </a:t>
            </a:r>
            <a:r>
              <a:rPr sz="2400" dirty="0">
                <a:latin typeface="Arial MT"/>
                <a:cs typeface="Arial MT"/>
              </a:rPr>
              <a:t>of</a:t>
            </a:r>
            <a:r>
              <a:rPr sz="2400" spc="380" dirty="0">
                <a:latin typeface="Arial MT"/>
                <a:cs typeface="Arial MT"/>
              </a:rPr>
              <a:t> </a:t>
            </a:r>
            <a:r>
              <a:rPr sz="2400" dirty="0">
                <a:latin typeface="Arial MT"/>
                <a:cs typeface="Arial MT"/>
              </a:rPr>
              <a:t>time</a:t>
            </a:r>
            <a:r>
              <a:rPr sz="2400" spc="390" dirty="0">
                <a:latin typeface="Arial MT"/>
                <a:cs typeface="Arial MT"/>
              </a:rPr>
              <a:t> </a:t>
            </a:r>
            <a:r>
              <a:rPr sz="2400" dirty="0">
                <a:latin typeface="Arial MT"/>
                <a:cs typeface="Arial MT"/>
              </a:rPr>
              <a:t>weighted</a:t>
            </a:r>
            <a:r>
              <a:rPr sz="2400" spc="400" dirty="0">
                <a:latin typeface="Arial MT"/>
                <a:cs typeface="Arial MT"/>
              </a:rPr>
              <a:t> </a:t>
            </a:r>
            <a:r>
              <a:rPr sz="2400" dirty="0">
                <a:latin typeface="Arial MT"/>
                <a:cs typeface="Arial MT"/>
              </a:rPr>
              <a:t>emissions</a:t>
            </a:r>
            <a:r>
              <a:rPr sz="2400" spc="400" dirty="0">
                <a:latin typeface="Arial MT"/>
                <a:cs typeface="Arial MT"/>
              </a:rPr>
              <a:t> </a:t>
            </a:r>
            <a:r>
              <a:rPr sz="2400" dirty="0">
                <a:latin typeface="Arial MT"/>
                <a:cs typeface="Arial MT"/>
              </a:rPr>
              <a:t>and</a:t>
            </a:r>
            <a:r>
              <a:rPr sz="2400" spc="395" dirty="0">
                <a:latin typeface="Arial MT"/>
                <a:cs typeface="Arial MT"/>
              </a:rPr>
              <a:t> </a:t>
            </a:r>
            <a:r>
              <a:rPr sz="2400" dirty="0">
                <a:latin typeface="Arial MT"/>
                <a:cs typeface="Arial MT"/>
              </a:rPr>
              <a:t>their</a:t>
            </a:r>
            <a:r>
              <a:rPr sz="2400" spc="400" dirty="0">
                <a:latin typeface="Arial MT"/>
                <a:cs typeface="Arial MT"/>
              </a:rPr>
              <a:t> </a:t>
            </a:r>
            <a:r>
              <a:rPr sz="2400" dirty="0">
                <a:latin typeface="Arial MT"/>
                <a:cs typeface="Arial MT"/>
              </a:rPr>
              <a:t>distribution</a:t>
            </a:r>
            <a:r>
              <a:rPr sz="2400" spc="395" dirty="0">
                <a:latin typeface="Arial MT"/>
                <a:cs typeface="Arial MT"/>
              </a:rPr>
              <a:t> </a:t>
            </a:r>
            <a:r>
              <a:rPr sz="2400" dirty="0">
                <a:latin typeface="Arial MT"/>
                <a:cs typeface="Arial MT"/>
              </a:rPr>
              <a:t>for</a:t>
            </a:r>
            <a:r>
              <a:rPr sz="2400" spc="409" dirty="0">
                <a:latin typeface="Arial MT"/>
                <a:cs typeface="Arial MT"/>
              </a:rPr>
              <a:t> </a:t>
            </a:r>
            <a:r>
              <a:rPr sz="2400" spc="-10" dirty="0">
                <a:latin typeface="Arial MT"/>
                <a:cs typeface="Arial MT"/>
              </a:rPr>
              <a:t>modelling 	needs.</a:t>
            </a:r>
            <a:endParaRPr sz="2400">
              <a:latin typeface="Arial MT"/>
              <a:cs typeface="Arial MT"/>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lum bright="-18000" contrast="36000"/>
          </a:blip>
          <a:stretch>
            <a:fillRect/>
          </a:stretch>
        </p:blipFill>
        <p:spPr>
          <a:xfrm>
            <a:off x="2153922" y="120652"/>
            <a:ext cx="7614921" cy="6659881"/>
          </a:xfrm>
          <a:prstGeom prst="rect">
            <a:avLst/>
          </a:prstGeom>
        </p:spPr>
      </p:pic>
      <p:sp>
        <p:nvSpPr>
          <p:cNvPr id="3" name="object 3"/>
          <p:cNvSpPr txBox="1">
            <a:spLocks noGrp="1"/>
          </p:cNvSpPr>
          <p:nvPr>
            <p:ph type="sldNum" sz="quarter" idx="7"/>
          </p:nvPr>
        </p:nvSpPr>
        <p:spPr>
          <a:xfrm>
            <a:off x="8993409" y="6464911"/>
            <a:ext cx="198636" cy="156068"/>
          </a:xfrm>
          <a:prstGeom prst="rect">
            <a:avLst/>
          </a:prstGeom>
        </p:spPr>
        <p:txBody>
          <a:bodyPr vert="horz" wrap="square" lIns="0" tIns="0" rIns="0" bIns="0" rtlCol="0">
            <a:spAutoFit/>
          </a:bodyPr>
          <a:lstStyle/>
          <a:p>
            <a:pPr marL="38101">
              <a:lnSpc>
                <a:spcPts val="1239"/>
              </a:lnSpc>
            </a:pPr>
            <a:fld id="{81D60167-4931-47E6-BA6A-407CBD079E47}" type="slidenum">
              <a:rPr spc="-25" dirty="0"/>
              <a:pPr marL="38101">
                <a:lnSpc>
                  <a:spcPts val="1239"/>
                </a:lnSpc>
              </a:pPr>
              <a:t>84</a:t>
            </a:fld>
            <a:endParaRPr spc="-25"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70371" y="133352"/>
            <a:ext cx="7600956" cy="505908"/>
          </a:xfrm>
          <a:prstGeom prst="rect">
            <a:avLst/>
          </a:prstGeom>
        </p:spPr>
        <p:txBody>
          <a:bodyPr vert="horz" wrap="square" lIns="0" tIns="13335" rIns="0" bIns="0" rtlCol="0">
            <a:spAutoFit/>
          </a:bodyPr>
          <a:lstStyle/>
          <a:p>
            <a:pPr marL="12701">
              <a:spcBef>
                <a:spcPts val="105"/>
              </a:spcBef>
            </a:pPr>
            <a:r>
              <a:rPr dirty="0"/>
              <a:t>Emission</a:t>
            </a:r>
            <a:r>
              <a:rPr spc="-55" dirty="0"/>
              <a:t> </a:t>
            </a:r>
            <a:r>
              <a:rPr spc="-10" dirty="0"/>
              <a:t>Inventory</a:t>
            </a:r>
          </a:p>
        </p:txBody>
      </p:sp>
      <p:sp>
        <p:nvSpPr>
          <p:cNvPr id="3" name="object 3"/>
          <p:cNvSpPr txBox="1"/>
          <p:nvPr/>
        </p:nvSpPr>
        <p:spPr>
          <a:xfrm>
            <a:off x="542341" y="1000505"/>
            <a:ext cx="10634345" cy="2351926"/>
          </a:xfrm>
          <a:prstGeom prst="rect">
            <a:avLst/>
          </a:prstGeom>
        </p:spPr>
        <p:txBody>
          <a:bodyPr vert="horz" wrap="square" lIns="0" tIns="12700" rIns="0" bIns="0" rtlCol="0">
            <a:spAutoFit/>
          </a:bodyPr>
          <a:lstStyle/>
          <a:p>
            <a:pPr marL="240036" marR="5081" indent="-227336" algn="just">
              <a:lnSpc>
                <a:spcPct val="150000"/>
              </a:lnSpc>
              <a:spcBef>
                <a:spcPts val="100"/>
              </a:spcBef>
              <a:buChar char="•"/>
              <a:tabLst>
                <a:tab pos="241306" algn="l"/>
              </a:tabLst>
            </a:pPr>
            <a:r>
              <a:rPr sz="2400" dirty="0">
                <a:latin typeface="Arial MT"/>
                <a:cs typeface="Arial MT"/>
              </a:rPr>
              <a:t>In</a:t>
            </a:r>
            <a:r>
              <a:rPr sz="2400" spc="290" dirty="0">
                <a:latin typeface="Arial MT"/>
                <a:cs typeface="Arial MT"/>
              </a:rPr>
              <a:t> </a:t>
            </a:r>
            <a:r>
              <a:rPr sz="2400" dirty="0">
                <a:latin typeface="Arial MT"/>
                <a:cs typeface="Arial MT"/>
              </a:rPr>
              <a:t>general,</a:t>
            </a:r>
            <a:r>
              <a:rPr sz="2400" spc="295" dirty="0">
                <a:latin typeface="Arial MT"/>
                <a:cs typeface="Arial MT"/>
              </a:rPr>
              <a:t> </a:t>
            </a:r>
            <a:r>
              <a:rPr sz="2400" dirty="0">
                <a:latin typeface="Arial MT"/>
                <a:cs typeface="Arial MT"/>
              </a:rPr>
              <a:t>anthropogenic</a:t>
            </a:r>
            <a:r>
              <a:rPr sz="2400" spc="300" dirty="0">
                <a:latin typeface="Arial MT"/>
                <a:cs typeface="Arial MT"/>
              </a:rPr>
              <a:t> </a:t>
            </a:r>
            <a:r>
              <a:rPr sz="2400" dirty="0">
                <a:latin typeface="Arial MT"/>
                <a:cs typeface="Arial MT"/>
              </a:rPr>
              <a:t>emissions</a:t>
            </a:r>
            <a:r>
              <a:rPr sz="2400" spc="295" dirty="0">
                <a:latin typeface="Arial MT"/>
                <a:cs typeface="Arial MT"/>
              </a:rPr>
              <a:t> </a:t>
            </a:r>
            <a:r>
              <a:rPr sz="2400" dirty="0">
                <a:latin typeface="Arial MT"/>
                <a:cs typeface="Arial MT"/>
              </a:rPr>
              <a:t>of</a:t>
            </a:r>
            <a:r>
              <a:rPr sz="2400" spc="295" dirty="0">
                <a:latin typeface="Arial MT"/>
                <a:cs typeface="Arial MT"/>
              </a:rPr>
              <a:t> </a:t>
            </a:r>
            <a:r>
              <a:rPr sz="2400" dirty="0">
                <a:latin typeface="Arial MT"/>
                <a:cs typeface="Arial MT"/>
              </a:rPr>
              <a:t>air</a:t>
            </a:r>
            <a:r>
              <a:rPr sz="2400" spc="295" dirty="0">
                <a:latin typeface="Arial MT"/>
                <a:cs typeface="Arial MT"/>
              </a:rPr>
              <a:t> </a:t>
            </a:r>
            <a:r>
              <a:rPr sz="2400" dirty="0">
                <a:latin typeface="Arial MT"/>
                <a:cs typeface="Arial MT"/>
              </a:rPr>
              <a:t>pollutants</a:t>
            </a:r>
            <a:r>
              <a:rPr sz="2400" spc="300" dirty="0">
                <a:latin typeface="Arial MT"/>
                <a:cs typeface="Arial MT"/>
              </a:rPr>
              <a:t> </a:t>
            </a:r>
            <a:r>
              <a:rPr sz="2400" dirty="0">
                <a:latin typeface="Arial MT"/>
                <a:cs typeface="Arial MT"/>
              </a:rPr>
              <a:t>are</a:t>
            </a:r>
            <a:r>
              <a:rPr sz="2400" spc="295" dirty="0">
                <a:latin typeface="Arial MT"/>
                <a:cs typeface="Arial MT"/>
              </a:rPr>
              <a:t> </a:t>
            </a:r>
            <a:r>
              <a:rPr sz="2400" dirty="0">
                <a:latin typeface="Arial MT"/>
                <a:cs typeface="Arial MT"/>
              </a:rPr>
              <a:t>estimated</a:t>
            </a:r>
            <a:r>
              <a:rPr sz="2400" spc="295" dirty="0">
                <a:latin typeface="Arial MT"/>
                <a:cs typeface="Arial MT"/>
              </a:rPr>
              <a:t> </a:t>
            </a:r>
            <a:r>
              <a:rPr sz="2400" dirty="0">
                <a:latin typeface="Arial MT"/>
                <a:cs typeface="Arial MT"/>
              </a:rPr>
              <a:t>by</a:t>
            </a:r>
            <a:r>
              <a:rPr sz="2400" spc="290" dirty="0">
                <a:latin typeface="Arial MT"/>
                <a:cs typeface="Arial MT"/>
              </a:rPr>
              <a:t> </a:t>
            </a:r>
            <a:r>
              <a:rPr sz="2400" spc="-25" dirty="0">
                <a:latin typeface="Arial MT"/>
                <a:cs typeface="Arial MT"/>
              </a:rPr>
              <a:t>the 	</a:t>
            </a:r>
            <a:r>
              <a:rPr sz="2400" dirty="0">
                <a:latin typeface="Arial MT"/>
                <a:cs typeface="Arial MT"/>
              </a:rPr>
              <a:t>following</a:t>
            </a:r>
            <a:r>
              <a:rPr sz="2400" spc="450" dirty="0">
                <a:latin typeface="Arial MT"/>
                <a:cs typeface="Arial MT"/>
              </a:rPr>
              <a:t> </a:t>
            </a:r>
            <a:r>
              <a:rPr sz="2400" dirty="0">
                <a:latin typeface="Arial MT"/>
                <a:cs typeface="Arial MT"/>
              </a:rPr>
              <a:t>basic</a:t>
            </a:r>
            <a:r>
              <a:rPr sz="2400" spc="450" dirty="0">
                <a:latin typeface="Arial MT"/>
                <a:cs typeface="Arial MT"/>
              </a:rPr>
              <a:t> </a:t>
            </a:r>
            <a:r>
              <a:rPr sz="2400" dirty="0">
                <a:latin typeface="Arial MT"/>
                <a:cs typeface="Arial MT"/>
              </a:rPr>
              <a:t>formula</a:t>
            </a:r>
            <a:r>
              <a:rPr sz="2400" spc="455" dirty="0">
                <a:latin typeface="Arial MT"/>
                <a:cs typeface="Arial MT"/>
              </a:rPr>
              <a:t> </a:t>
            </a:r>
            <a:r>
              <a:rPr sz="2400" dirty="0">
                <a:latin typeface="Arial MT"/>
                <a:cs typeface="Arial MT"/>
              </a:rPr>
              <a:t>for</a:t>
            </a:r>
            <a:r>
              <a:rPr sz="2400" spc="465" dirty="0">
                <a:latin typeface="Arial MT"/>
                <a:cs typeface="Arial MT"/>
              </a:rPr>
              <a:t> </a:t>
            </a:r>
            <a:r>
              <a:rPr sz="2400" dirty="0">
                <a:latin typeface="Arial MT"/>
                <a:cs typeface="Arial MT"/>
              </a:rPr>
              <a:t>each</a:t>
            </a:r>
            <a:r>
              <a:rPr sz="2400" spc="446" dirty="0">
                <a:latin typeface="Arial MT"/>
                <a:cs typeface="Arial MT"/>
              </a:rPr>
              <a:t> </a:t>
            </a:r>
            <a:r>
              <a:rPr sz="2400" dirty="0">
                <a:latin typeface="Arial MT"/>
                <a:cs typeface="Arial MT"/>
              </a:rPr>
              <a:t>source,</a:t>
            </a:r>
            <a:r>
              <a:rPr sz="2400" spc="455" dirty="0">
                <a:latin typeface="Arial MT"/>
                <a:cs typeface="Arial MT"/>
              </a:rPr>
              <a:t> </a:t>
            </a:r>
            <a:r>
              <a:rPr sz="2400" dirty="0">
                <a:latin typeface="Arial MT"/>
                <a:cs typeface="Arial MT"/>
              </a:rPr>
              <a:t>when</a:t>
            </a:r>
            <a:r>
              <a:rPr sz="2400" spc="459" dirty="0">
                <a:latin typeface="Arial MT"/>
                <a:cs typeface="Arial MT"/>
              </a:rPr>
              <a:t> </a:t>
            </a:r>
            <a:r>
              <a:rPr sz="2400" dirty="0">
                <a:latin typeface="Arial MT"/>
                <a:cs typeface="Arial MT"/>
              </a:rPr>
              <a:t>it</a:t>
            </a:r>
            <a:r>
              <a:rPr sz="2400" spc="459" dirty="0">
                <a:latin typeface="Arial MT"/>
                <a:cs typeface="Arial MT"/>
              </a:rPr>
              <a:t> </a:t>
            </a:r>
            <a:r>
              <a:rPr sz="2400" dirty="0">
                <a:latin typeface="Arial MT"/>
                <a:cs typeface="Arial MT"/>
              </a:rPr>
              <a:t>is</a:t>
            </a:r>
            <a:r>
              <a:rPr sz="2400" spc="455" dirty="0">
                <a:latin typeface="Arial MT"/>
                <a:cs typeface="Arial MT"/>
              </a:rPr>
              <a:t> </a:t>
            </a:r>
            <a:r>
              <a:rPr sz="2400" dirty="0">
                <a:latin typeface="Arial MT"/>
                <a:cs typeface="Arial MT"/>
              </a:rPr>
              <a:t>difficult</a:t>
            </a:r>
            <a:r>
              <a:rPr sz="2400" spc="455" dirty="0">
                <a:latin typeface="Arial MT"/>
                <a:cs typeface="Arial MT"/>
              </a:rPr>
              <a:t> </a:t>
            </a:r>
            <a:r>
              <a:rPr sz="2400" dirty="0">
                <a:latin typeface="Arial MT"/>
                <a:cs typeface="Arial MT"/>
              </a:rPr>
              <a:t>to</a:t>
            </a:r>
            <a:r>
              <a:rPr sz="2400" spc="446" dirty="0">
                <a:latin typeface="Arial MT"/>
                <a:cs typeface="Arial MT"/>
              </a:rPr>
              <a:t> </a:t>
            </a:r>
            <a:r>
              <a:rPr sz="2400" dirty="0">
                <a:latin typeface="Arial MT"/>
                <a:cs typeface="Arial MT"/>
              </a:rPr>
              <a:t>measure</a:t>
            </a:r>
            <a:r>
              <a:rPr sz="2400" spc="465" dirty="0">
                <a:latin typeface="Arial MT"/>
                <a:cs typeface="Arial MT"/>
              </a:rPr>
              <a:t> </a:t>
            </a:r>
            <a:r>
              <a:rPr sz="2400" spc="-25" dirty="0">
                <a:latin typeface="Arial MT"/>
                <a:cs typeface="Arial MT"/>
              </a:rPr>
              <a:t>it 	</a:t>
            </a:r>
            <a:r>
              <a:rPr sz="2400" spc="-10" dirty="0">
                <a:latin typeface="Arial MT"/>
                <a:cs typeface="Arial MT"/>
              </a:rPr>
              <a:t>directly.</a:t>
            </a:r>
            <a:endParaRPr sz="2400">
              <a:latin typeface="Arial MT"/>
              <a:cs typeface="Arial MT"/>
            </a:endParaRPr>
          </a:p>
          <a:p>
            <a:pPr marL="240036" indent="-227336">
              <a:spcBef>
                <a:spcPts val="2435"/>
              </a:spcBef>
              <a:buFont typeface="Arial MT"/>
              <a:buChar char="•"/>
              <a:tabLst>
                <a:tab pos="239400" algn="l"/>
              </a:tabLst>
            </a:pPr>
            <a:r>
              <a:rPr sz="2400" b="1" dirty="0">
                <a:solidFill>
                  <a:srgbClr val="C55A11"/>
                </a:solidFill>
                <a:latin typeface="Arial" panose="020B0604020202020204"/>
                <a:cs typeface="Arial" panose="020B0604020202020204"/>
              </a:rPr>
              <a:t>Emission</a:t>
            </a:r>
            <a:r>
              <a:rPr sz="2400" b="1" spc="-60" dirty="0">
                <a:solidFill>
                  <a:srgbClr val="C55A11"/>
                </a:solidFill>
                <a:latin typeface="Arial" panose="020B0604020202020204"/>
                <a:cs typeface="Arial" panose="020B0604020202020204"/>
              </a:rPr>
              <a:t> </a:t>
            </a:r>
            <a:r>
              <a:rPr sz="2400" b="1" dirty="0">
                <a:solidFill>
                  <a:srgbClr val="C55A11"/>
                </a:solidFill>
                <a:latin typeface="Arial" panose="020B0604020202020204"/>
                <a:cs typeface="Arial" panose="020B0604020202020204"/>
              </a:rPr>
              <a:t>=</a:t>
            </a:r>
            <a:r>
              <a:rPr sz="2400" b="1" spc="-46" dirty="0">
                <a:solidFill>
                  <a:srgbClr val="C55A11"/>
                </a:solidFill>
                <a:latin typeface="Arial" panose="020B0604020202020204"/>
                <a:cs typeface="Arial" panose="020B0604020202020204"/>
              </a:rPr>
              <a:t> </a:t>
            </a:r>
            <a:r>
              <a:rPr sz="2400" b="1" dirty="0">
                <a:solidFill>
                  <a:srgbClr val="C55A11"/>
                </a:solidFill>
                <a:latin typeface="Arial" panose="020B0604020202020204"/>
                <a:cs typeface="Arial" panose="020B0604020202020204"/>
              </a:rPr>
              <a:t>Emission</a:t>
            </a:r>
            <a:r>
              <a:rPr sz="2400" b="1" spc="-65" dirty="0">
                <a:solidFill>
                  <a:srgbClr val="C55A11"/>
                </a:solidFill>
                <a:latin typeface="Arial" panose="020B0604020202020204"/>
                <a:cs typeface="Arial" panose="020B0604020202020204"/>
              </a:rPr>
              <a:t> </a:t>
            </a:r>
            <a:r>
              <a:rPr sz="2400" b="1" dirty="0">
                <a:solidFill>
                  <a:srgbClr val="C55A11"/>
                </a:solidFill>
                <a:latin typeface="Arial" panose="020B0604020202020204"/>
                <a:cs typeface="Arial" panose="020B0604020202020204"/>
              </a:rPr>
              <a:t>Factor</a:t>
            </a:r>
            <a:r>
              <a:rPr sz="2400" b="1" spc="-34" dirty="0">
                <a:solidFill>
                  <a:srgbClr val="C55A11"/>
                </a:solidFill>
                <a:latin typeface="Arial" panose="020B0604020202020204"/>
                <a:cs typeface="Arial" panose="020B0604020202020204"/>
              </a:rPr>
              <a:t> </a:t>
            </a:r>
            <a:r>
              <a:rPr sz="2400" b="1" dirty="0">
                <a:solidFill>
                  <a:srgbClr val="C55A11"/>
                </a:solidFill>
                <a:latin typeface="Arial" panose="020B0604020202020204"/>
                <a:cs typeface="Arial" panose="020B0604020202020204"/>
              </a:rPr>
              <a:t>x</a:t>
            </a:r>
            <a:r>
              <a:rPr sz="2400" b="1" spc="-130" dirty="0">
                <a:solidFill>
                  <a:srgbClr val="C55A11"/>
                </a:solidFill>
                <a:latin typeface="Arial" panose="020B0604020202020204"/>
                <a:cs typeface="Arial" panose="020B0604020202020204"/>
              </a:rPr>
              <a:t> </a:t>
            </a:r>
            <a:r>
              <a:rPr sz="2400" b="1" dirty="0">
                <a:solidFill>
                  <a:srgbClr val="C55A11"/>
                </a:solidFill>
                <a:latin typeface="Arial" panose="020B0604020202020204"/>
                <a:cs typeface="Arial" panose="020B0604020202020204"/>
              </a:rPr>
              <a:t>Activity</a:t>
            </a:r>
            <a:r>
              <a:rPr sz="2400" b="1" spc="-46" dirty="0">
                <a:solidFill>
                  <a:srgbClr val="C55A11"/>
                </a:solidFill>
                <a:latin typeface="Arial" panose="020B0604020202020204"/>
                <a:cs typeface="Arial" panose="020B0604020202020204"/>
              </a:rPr>
              <a:t> </a:t>
            </a:r>
            <a:r>
              <a:rPr sz="2400" b="1" spc="-20" dirty="0">
                <a:solidFill>
                  <a:srgbClr val="C55A11"/>
                </a:solidFill>
                <a:latin typeface="Arial" panose="020B0604020202020204"/>
                <a:cs typeface="Arial" panose="020B0604020202020204"/>
              </a:rPr>
              <a:t>Data</a:t>
            </a:r>
            <a:endParaRPr sz="2400">
              <a:latin typeface="Arial" panose="020B0604020202020204"/>
              <a:cs typeface="Arial" panose="020B0604020202020204"/>
            </a:endParaRPr>
          </a:p>
        </p:txBody>
      </p:sp>
      <p:sp>
        <p:nvSpPr>
          <p:cNvPr id="4" name="object 4"/>
          <p:cNvSpPr txBox="1"/>
          <p:nvPr/>
        </p:nvSpPr>
        <p:spPr>
          <a:xfrm>
            <a:off x="11094212" y="6426809"/>
            <a:ext cx="180975" cy="197490"/>
          </a:xfrm>
          <a:prstGeom prst="rect">
            <a:avLst/>
          </a:prstGeom>
        </p:spPr>
        <p:txBody>
          <a:bodyPr vert="horz" wrap="square" lIns="0" tIns="12700" rIns="0" bIns="0" rtlCol="0">
            <a:spAutoFit/>
          </a:bodyPr>
          <a:lstStyle/>
          <a:p>
            <a:pPr marL="12701">
              <a:spcBef>
                <a:spcPts val="100"/>
              </a:spcBef>
            </a:pPr>
            <a:r>
              <a:rPr sz="1200" spc="-25" dirty="0">
                <a:solidFill>
                  <a:srgbClr val="888888"/>
                </a:solidFill>
                <a:latin typeface="Calibri" panose="020F0502020204030204"/>
                <a:cs typeface="Calibri" panose="020F0502020204030204"/>
              </a:rPr>
              <a:t>64</a:t>
            </a:r>
            <a:endParaRPr sz="1200">
              <a:latin typeface="Calibri" panose="020F0502020204030204"/>
              <a:cs typeface="Calibri" panose="020F0502020204030204"/>
            </a:endParaRPr>
          </a:p>
        </p:txBody>
      </p:sp>
      <p:sp>
        <p:nvSpPr>
          <p:cNvPr id="5" name="object 5"/>
          <p:cNvSpPr txBox="1"/>
          <p:nvPr/>
        </p:nvSpPr>
        <p:spPr>
          <a:xfrm>
            <a:off x="184507" y="3937509"/>
            <a:ext cx="871218" cy="258404"/>
          </a:xfrm>
          <a:prstGeom prst="rect">
            <a:avLst/>
          </a:prstGeom>
        </p:spPr>
        <p:txBody>
          <a:bodyPr vert="horz" wrap="square" lIns="0" tIns="12065" rIns="0" bIns="0" rtlCol="0">
            <a:spAutoFit/>
          </a:bodyPr>
          <a:lstStyle/>
          <a:p>
            <a:pPr marL="12701">
              <a:spcBef>
                <a:spcPts val="95"/>
              </a:spcBef>
            </a:pPr>
            <a:r>
              <a:rPr sz="1600" spc="-10" dirty="0">
                <a:latin typeface="Arial MT"/>
                <a:cs typeface="Arial MT"/>
              </a:rPr>
              <a:t>Example:</a:t>
            </a:r>
            <a:endParaRPr sz="1600">
              <a:latin typeface="Arial MT"/>
              <a:cs typeface="Arial MT"/>
            </a:endParaRPr>
          </a:p>
        </p:txBody>
      </p:sp>
      <p:sp>
        <p:nvSpPr>
          <p:cNvPr id="6" name="object 6"/>
          <p:cNvSpPr txBox="1"/>
          <p:nvPr/>
        </p:nvSpPr>
        <p:spPr>
          <a:xfrm>
            <a:off x="184505" y="4135019"/>
            <a:ext cx="5406390" cy="2526333"/>
          </a:xfrm>
          <a:prstGeom prst="rect">
            <a:avLst/>
          </a:prstGeom>
        </p:spPr>
        <p:txBody>
          <a:bodyPr vert="horz" wrap="square" lIns="0" tIns="12700" rIns="0" bIns="0" rtlCol="0">
            <a:spAutoFit/>
          </a:bodyPr>
          <a:lstStyle/>
          <a:p>
            <a:pPr marL="299093" marR="77471" indent="-287027">
              <a:lnSpc>
                <a:spcPct val="150000"/>
              </a:lnSpc>
              <a:spcBef>
                <a:spcPts val="100"/>
              </a:spcBef>
              <a:buChar char="•"/>
              <a:tabLst>
                <a:tab pos="299093" algn="l"/>
              </a:tabLst>
            </a:pPr>
            <a:r>
              <a:rPr sz="1600" dirty="0">
                <a:latin typeface="Arial MT"/>
                <a:cs typeface="Arial MT"/>
              </a:rPr>
              <a:t>SOx</a:t>
            </a:r>
            <a:r>
              <a:rPr sz="1600" spc="-25" dirty="0">
                <a:latin typeface="Arial MT"/>
                <a:cs typeface="Arial MT"/>
              </a:rPr>
              <a:t> </a:t>
            </a:r>
            <a:r>
              <a:rPr sz="1600" dirty="0">
                <a:latin typeface="Arial MT"/>
                <a:cs typeface="Arial MT"/>
              </a:rPr>
              <a:t>emission</a:t>
            </a:r>
            <a:r>
              <a:rPr sz="1600" spc="-60" dirty="0">
                <a:latin typeface="Arial MT"/>
                <a:cs typeface="Arial MT"/>
              </a:rPr>
              <a:t> </a:t>
            </a:r>
            <a:r>
              <a:rPr sz="1600" dirty="0">
                <a:latin typeface="Arial MT"/>
                <a:cs typeface="Arial MT"/>
              </a:rPr>
              <a:t>per</a:t>
            </a:r>
            <a:r>
              <a:rPr sz="1600" spc="-25" dirty="0">
                <a:latin typeface="Arial MT"/>
                <a:cs typeface="Arial MT"/>
              </a:rPr>
              <a:t> </a:t>
            </a:r>
            <a:r>
              <a:rPr sz="1600" dirty="0">
                <a:latin typeface="Arial MT"/>
                <a:cs typeface="Arial MT"/>
              </a:rPr>
              <a:t>the</a:t>
            </a:r>
            <a:r>
              <a:rPr sz="1600" spc="-30" dirty="0">
                <a:latin typeface="Arial MT"/>
                <a:cs typeface="Arial MT"/>
              </a:rPr>
              <a:t> </a:t>
            </a:r>
            <a:r>
              <a:rPr sz="1600" dirty="0">
                <a:latin typeface="Arial MT"/>
                <a:cs typeface="Arial MT"/>
              </a:rPr>
              <a:t>amount</a:t>
            </a:r>
            <a:r>
              <a:rPr sz="1600" spc="-30" dirty="0">
                <a:latin typeface="Arial MT"/>
                <a:cs typeface="Arial MT"/>
              </a:rPr>
              <a:t> </a:t>
            </a:r>
            <a:r>
              <a:rPr sz="1600" dirty="0">
                <a:latin typeface="Arial MT"/>
                <a:cs typeface="Arial MT"/>
              </a:rPr>
              <a:t>of</a:t>
            </a:r>
            <a:r>
              <a:rPr sz="1600" spc="-25" dirty="0">
                <a:latin typeface="Arial MT"/>
                <a:cs typeface="Arial MT"/>
              </a:rPr>
              <a:t> </a:t>
            </a:r>
            <a:r>
              <a:rPr sz="1600" dirty="0">
                <a:latin typeface="Arial MT"/>
                <a:cs typeface="Arial MT"/>
              </a:rPr>
              <a:t>fuel</a:t>
            </a:r>
            <a:r>
              <a:rPr sz="1600" spc="-34" dirty="0">
                <a:latin typeface="Arial MT"/>
                <a:cs typeface="Arial MT"/>
              </a:rPr>
              <a:t> </a:t>
            </a:r>
            <a:r>
              <a:rPr sz="1600" dirty="0">
                <a:latin typeface="Arial MT"/>
                <a:cs typeface="Arial MT"/>
              </a:rPr>
              <a:t>burnt,</a:t>
            </a:r>
            <a:r>
              <a:rPr sz="1600" spc="-20" dirty="0">
                <a:latin typeface="Arial MT"/>
                <a:cs typeface="Arial MT"/>
              </a:rPr>
              <a:t> </a:t>
            </a:r>
            <a:r>
              <a:rPr sz="1600" spc="-10" dirty="0">
                <a:latin typeface="Arial MT"/>
                <a:cs typeface="Arial MT"/>
              </a:rPr>
              <a:t>calculated </a:t>
            </a:r>
            <a:r>
              <a:rPr sz="1600" dirty="0">
                <a:latin typeface="Arial MT"/>
                <a:cs typeface="Arial MT"/>
              </a:rPr>
              <a:t>based</a:t>
            </a:r>
            <a:r>
              <a:rPr sz="1600" spc="-41" dirty="0">
                <a:latin typeface="Arial MT"/>
                <a:cs typeface="Arial MT"/>
              </a:rPr>
              <a:t> </a:t>
            </a:r>
            <a:r>
              <a:rPr sz="1600" dirty="0">
                <a:latin typeface="Arial MT"/>
                <a:cs typeface="Arial MT"/>
              </a:rPr>
              <a:t>on</a:t>
            </a:r>
            <a:r>
              <a:rPr sz="1600" spc="-41" dirty="0">
                <a:latin typeface="Arial MT"/>
                <a:cs typeface="Arial MT"/>
              </a:rPr>
              <a:t> </a:t>
            </a:r>
            <a:r>
              <a:rPr sz="1600" dirty="0">
                <a:latin typeface="Arial MT"/>
                <a:cs typeface="Arial MT"/>
              </a:rPr>
              <a:t>the</a:t>
            </a:r>
            <a:r>
              <a:rPr sz="1600" spc="-20" dirty="0">
                <a:latin typeface="Arial MT"/>
                <a:cs typeface="Arial MT"/>
              </a:rPr>
              <a:t> </a:t>
            </a:r>
            <a:r>
              <a:rPr sz="1600" dirty="0">
                <a:latin typeface="Arial MT"/>
                <a:cs typeface="Arial MT"/>
              </a:rPr>
              <a:t>sulfur</a:t>
            </a:r>
            <a:r>
              <a:rPr sz="1600" spc="-25" dirty="0">
                <a:latin typeface="Arial MT"/>
                <a:cs typeface="Arial MT"/>
              </a:rPr>
              <a:t> </a:t>
            </a:r>
            <a:r>
              <a:rPr sz="1600" dirty="0">
                <a:latin typeface="Arial MT"/>
                <a:cs typeface="Arial MT"/>
              </a:rPr>
              <a:t>content</a:t>
            </a:r>
            <a:r>
              <a:rPr sz="1600" spc="-25" dirty="0">
                <a:latin typeface="Arial MT"/>
                <a:cs typeface="Arial MT"/>
              </a:rPr>
              <a:t> </a:t>
            </a:r>
            <a:r>
              <a:rPr sz="1600" dirty="0">
                <a:latin typeface="Arial MT"/>
                <a:cs typeface="Arial MT"/>
              </a:rPr>
              <a:t>of</a:t>
            </a:r>
            <a:r>
              <a:rPr sz="1600" spc="-25" dirty="0">
                <a:latin typeface="Arial MT"/>
                <a:cs typeface="Arial MT"/>
              </a:rPr>
              <a:t> </a:t>
            </a:r>
            <a:r>
              <a:rPr sz="1600" dirty="0">
                <a:latin typeface="Arial MT"/>
                <a:cs typeface="Arial MT"/>
              </a:rPr>
              <a:t>fuel,</a:t>
            </a:r>
            <a:r>
              <a:rPr sz="1600" spc="-41" dirty="0">
                <a:latin typeface="Arial MT"/>
                <a:cs typeface="Arial MT"/>
              </a:rPr>
              <a:t> </a:t>
            </a:r>
            <a:r>
              <a:rPr sz="1600" dirty="0">
                <a:latin typeface="Arial MT"/>
                <a:cs typeface="Arial MT"/>
              </a:rPr>
              <a:t>the</a:t>
            </a:r>
            <a:r>
              <a:rPr sz="1600" spc="-15" dirty="0">
                <a:latin typeface="Arial MT"/>
                <a:cs typeface="Arial MT"/>
              </a:rPr>
              <a:t> </a:t>
            </a:r>
            <a:r>
              <a:rPr sz="1600" dirty="0">
                <a:latin typeface="Arial MT"/>
                <a:cs typeface="Arial MT"/>
              </a:rPr>
              <a:t>sulfur</a:t>
            </a:r>
            <a:r>
              <a:rPr sz="1600" spc="-25" dirty="0">
                <a:latin typeface="Arial MT"/>
                <a:cs typeface="Arial MT"/>
              </a:rPr>
              <a:t> </a:t>
            </a:r>
            <a:r>
              <a:rPr sz="1600" dirty="0">
                <a:latin typeface="Arial MT"/>
                <a:cs typeface="Arial MT"/>
              </a:rPr>
              <a:t>retained</a:t>
            </a:r>
            <a:r>
              <a:rPr sz="1600" spc="-25" dirty="0">
                <a:latin typeface="Arial MT"/>
                <a:cs typeface="Arial MT"/>
              </a:rPr>
              <a:t> in </a:t>
            </a:r>
            <a:r>
              <a:rPr sz="1600" dirty="0">
                <a:latin typeface="Arial MT"/>
                <a:cs typeface="Arial MT"/>
              </a:rPr>
              <a:t>the</a:t>
            </a:r>
            <a:r>
              <a:rPr sz="1600" spc="-20" dirty="0">
                <a:latin typeface="Arial MT"/>
                <a:cs typeface="Arial MT"/>
              </a:rPr>
              <a:t> </a:t>
            </a:r>
            <a:r>
              <a:rPr sz="1600" dirty="0">
                <a:latin typeface="Arial MT"/>
                <a:cs typeface="Arial MT"/>
              </a:rPr>
              <a:t>ash</a:t>
            </a:r>
            <a:r>
              <a:rPr sz="1600" spc="-30" dirty="0">
                <a:latin typeface="Arial MT"/>
                <a:cs typeface="Arial MT"/>
              </a:rPr>
              <a:t> </a:t>
            </a:r>
            <a:r>
              <a:rPr sz="1600" dirty="0">
                <a:latin typeface="Arial MT"/>
                <a:cs typeface="Arial MT"/>
              </a:rPr>
              <a:t>and</a:t>
            </a:r>
            <a:r>
              <a:rPr sz="1600" spc="-25" dirty="0">
                <a:latin typeface="Arial MT"/>
                <a:cs typeface="Arial MT"/>
              </a:rPr>
              <a:t> </a:t>
            </a:r>
            <a:r>
              <a:rPr sz="1600" dirty="0">
                <a:latin typeface="Arial MT"/>
                <a:cs typeface="Arial MT"/>
              </a:rPr>
              <a:t>the</a:t>
            </a:r>
            <a:r>
              <a:rPr sz="1600" spc="-20" dirty="0">
                <a:latin typeface="Arial MT"/>
                <a:cs typeface="Arial MT"/>
              </a:rPr>
              <a:t> </a:t>
            </a:r>
            <a:r>
              <a:rPr sz="1600" dirty="0">
                <a:latin typeface="Arial MT"/>
                <a:cs typeface="Arial MT"/>
              </a:rPr>
              <a:t>reduction</a:t>
            </a:r>
            <a:r>
              <a:rPr sz="1600" spc="-15" dirty="0">
                <a:latin typeface="Arial MT"/>
                <a:cs typeface="Arial MT"/>
              </a:rPr>
              <a:t> </a:t>
            </a:r>
            <a:r>
              <a:rPr sz="1600" dirty="0">
                <a:latin typeface="Arial MT"/>
                <a:cs typeface="Arial MT"/>
              </a:rPr>
              <a:t>achieved</a:t>
            </a:r>
            <a:r>
              <a:rPr sz="1600" spc="-34" dirty="0">
                <a:latin typeface="Arial MT"/>
                <a:cs typeface="Arial MT"/>
              </a:rPr>
              <a:t> </a:t>
            </a:r>
            <a:r>
              <a:rPr sz="1600" dirty="0">
                <a:latin typeface="Arial MT"/>
                <a:cs typeface="Arial MT"/>
              </a:rPr>
              <a:t>by</a:t>
            </a:r>
            <a:r>
              <a:rPr sz="1600" spc="-20" dirty="0">
                <a:latin typeface="Arial MT"/>
                <a:cs typeface="Arial MT"/>
              </a:rPr>
              <a:t> </a:t>
            </a:r>
            <a:r>
              <a:rPr sz="1600" dirty="0">
                <a:latin typeface="Arial MT"/>
                <a:cs typeface="Arial MT"/>
              </a:rPr>
              <a:t>emission</a:t>
            </a:r>
            <a:r>
              <a:rPr sz="1600" spc="-55" dirty="0">
                <a:latin typeface="Arial MT"/>
                <a:cs typeface="Arial MT"/>
              </a:rPr>
              <a:t> </a:t>
            </a:r>
            <a:r>
              <a:rPr sz="1600" spc="-10" dirty="0">
                <a:latin typeface="Arial MT"/>
                <a:cs typeface="Arial MT"/>
              </a:rPr>
              <a:t>control </a:t>
            </a:r>
            <a:r>
              <a:rPr sz="1600" dirty="0">
                <a:latin typeface="Arial MT"/>
                <a:cs typeface="Arial MT"/>
              </a:rPr>
              <a:t>technology</a:t>
            </a:r>
            <a:r>
              <a:rPr sz="1600" spc="-75" dirty="0">
                <a:latin typeface="Arial MT"/>
                <a:cs typeface="Arial MT"/>
              </a:rPr>
              <a:t> </a:t>
            </a:r>
            <a:r>
              <a:rPr sz="1600" dirty="0">
                <a:latin typeface="Arial MT"/>
                <a:cs typeface="Arial MT"/>
              </a:rPr>
              <a:t>(fuel</a:t>
            </a:r>
            <a:r>
              <a:rPr sz="1600" spc="-55" dirty="0">
                <a:latin typeface="Arial MT"/>
                <a:cs typeface="Arial MT"/>
              </a:rPr>
              <a:t> </a:t>
            </a:r>
            <a:r>
              <a:rPr sz="1600" dirty="0">
                <a:latin typeface="Arial MT"/>
                <a:cs typeface="Arial MT"/>
              </a:rPr>
              <a:t>combustion)</a:t>
            </a:r>
            <a:r>
              <a:rPr sz="1600" spc="-65" dirty="0">
                <a:latin typeface="Arial MT"/>
                <a:cs typeface="Arial MT"/>
              </a:rPr>
              <a:t> </a:t>
            </a:r>
            <a:r>
              <a:rPr sz="1600" spc="-50" dirty="0">
                <a:latin typeface="Arial MT"/>
                <a:cs typeface="Arial MT"/>
              </a:rPr>
              <a:t>.</a:t>
            </a:r>
            <a:endParaRPr sz="1600">
              <a:latin typeface="Arial MT"/>
              <a:cs typeface="Arial MT"/>
            </a:endParaRPr>
          </a:p>
          <a:p>
            <a:pPr marL="299093" marR="33021" indent="-287027">
              <a:spcBef>
                <a:spcPts val="361"/>
              </a:spcBef>
              <a:buChar char="•"/>
              <a:tabLst>
                <a:tab pos="299093" algn="l"/>
              </a:tabLst>
            </a:pPr>
            <a:r>
              <a:rPr sz="1600" dirty="0">
                <a:latin typeface="Arial MT"/>
                <a:cs typeface="Arial MT"/>
              </a:rPr>
              <a:t>NOx</a:t>
            </a:r>
            <a:r>
              <a:rPr sz="1600" spc="-34" dirty="0">
                <a:latin typeface="Arial MT"/>
                <a:cs typeface="Arial MT"/>
              </a:rPr>
              <a:t> </a:t>
            </a:r>
            <a:r>
              <a:rPr sz="1600" dirty="0">
                <a:latin typeface="Arial MT"/>
                <a:cs typeface="Arial MT"/>
              </a:rPr>
              <a:t>emission</a:t>
            </a:r>
            <a:r>
              <a:rPr sz="1600" spc="-60" dirty="0">
                <a:latin typeface="Arial MT"/>
                <a:cs typeface="Arial MT"/>
              </a:rPr>
              <a:t> </a:t>
            </a:r>
            <a:r>
              <a:rPr sz="1600" dirty="0">
                <a:latin typeface="Arial MT"/>
                <a:cs typeface="Arial MT"/>
              </a:rPr>
              <a:t>per</a:t>
            </a:r>
            <a:r>
              <a:rPr sz="1600" spc="-41" dirty="0">
                <a:latin typeface="Arial MT"/>
                <a:cs typeface="Arial MT"/>
              </a:rPr>
              <a:t> </a:t>
            </a:r>
            <a:r>
              <a:rPr sz="1600" dirty="0">
                <a:latin typeface="Arial MT"/>
                <a:cs typeface="Arial MT"/>
              </a:rPr>
              <a:t>distance</a:t>
            </a:r>
            <a:r>
              <a:rPr sz="1600" spc="-60" dirty="0">
                <a:latin typeface="Arial MT"/>
                <a:cs typeface="Arial MT"/>
              </a:rPr>
              <a:t> </a:t>
            </a:r>
            <a:r>
              <a:rPr sz="1600" dirty="0">
                <a:latin typeface="Arial MT"/>
                <a:cs typeface="Arial MT"/>
              </a:rPr>
              <a:t>(exhaust</a:t>
            </a:r>
            <a:r>
              <a:rPr sz="1600" spc="-25" dirty="0">
                <a:latin typeface="Arial MT"/>
                <a:cs typeface="Arial MT"/>
              </a:rPr>
              <a:t> </a:t>
            </a:r>
            <a:r>
              <a:rPr sz="1600" dirty="0">
                <a:latin typeface="Arial MT"/>
                <a:cs typeface="Arial MT"/>
              </a:rPr>
              <a:t>gas</a:t>
            </a:r>
            <a:r>
              <a:rPr sz="1600" spc="-41" dirty="0">
                <a:latin typeface="Arial MT"/>
                <a:cs typeface="Arial MT"/>
              </a:rPr>
              <a:t> </a:t>
            </a:r>
            <a:r>
              <a:rPr sz="1600" dirty="0">
                <a:latin typeface="Arial MT"/>
                <a:cs typeface="Arial MT"/>
              </a:rPr>
              <a:t>emissions</a:t>
            </a:r>
            <a:r>
              <a:rPr sz="1600" spc="-65" dirty="0">
                <a:latin typeface="Arial MT"/>
                <a:cs typeface="Arial MT"/>
              </a:rPr>
              <a:t> </a:t>
            </a:r>
            <a:r>
              <a:rPr sz="1600" spc="-20" dirty="0">
                <a:latin typeface="Arial MT"/>
                <a:cs typeface="Arial MT"/>
              </a:rPr>
              <a:t>from </a:t>
            </a:r>
            <a:r>
              <a:rPr sz="1600" spc="-10" dirty="0">
                <a:latin typeface="Arial MT"/>
                <a:cs typeface="Arial MT"/>
              </a:rPr>
              <a:t>vehicles).</a:t>
            </a:r>
            <a:endParaRPr sz="1600">
              <a:latin typeface="Arial MT"/>
              <a:cs typeface="Arial MT"/>
            </a:endParaRPr>
          </a:p>
          <a:p>
            <a:pPr marL="299093" marR="5081" indent="-287027">
              <a:buChar char="•"/>
              <a:tabLst>
                <a:tab pos="299093" algn="l"/>
              </a:tabLst>
            </a:pPr>
            <a:r>
              <a:rPr sz="1600" dirty="0">
                <a:latin typeface="Arial MT"/>
                <a:cs typeface="Arial MT"/>
              </a:rPr>
              <a:t>SOx</a:t>
            </a:r>
            <a:r>
              <a:rPr sz="1600" spc="-30" dirty="0">
                <a:latin typeface="Arial MT"/>
                <a:cs typeface="Arial MT"/>
              </a:rPr>
              <a:t> </a:t>
            </a:r>
            <a:r>
              <a:rPr sz="1600" dirty="0">
                <a:latin typeface="Arial MT"/>
                <a:cs typeface="Arial MT"/>
              </a:rPr>
              <a:t>emission</a:t>
            </a:r>
            <a:r>
              <a:rPr sz="1600" spc="-65" dirty="0">
                <a:latin typeface="Arial MT"/>
                <a:cs typeface="Arial MT"/>
              </a:rPr>
              <a:t> </a:t>
            </a:r>
            <a:r>
              <a:rPr sz="1600" dirty="0">
                <a:latin typeface="Arial MT"/>
                <a:cs typeface="Arial MT"/>
              </a:rPr>
              <a:t>per</a:t>
            </a:r>
            <a:r>
              <a:rPr sz="1600" spc="-30" dirty="0">
                <a:latin typeface="Arial MT"/>
                <a:cs typeface="Arial MT"/>
              </a:rPr>
              <a:t> </a:t>
            </a:r>
            <a:r>
              <a:rPr sz="1600" dirty="0">
                <a:latin typeface="Arial MT"/>
                <a:cs typeface="Arial MT"/>
              </a:rPr>
              <a:t>the</a:t>
            </a:r>
            <a:r>
              <a:rPr sz="1600" spc="-34" dirty="0">
                <a:latin typeface="Arial MT"/>
                <a:cs typeface="Arial MT"/>
              </a:rPr>
              <a:t> </a:t>
            </a:r>
            <a:r>
              <a:rPr sz="1600" dirty="0">
                <a:latin typeface="Arial MT"/>
                <a:cs typeface="Arial MT"/>
              </a:rPr>
              <a:t>amount</a:t>
            </a:r>
            <a:r>
              <a:rPr sz="1600" spc="-34" dirty="0">
                <a:latin typeface="Arial MT"/>
                <a:cs typeface="Arial MT"/>
              </a:rPr>
              <a:t> </a:t>
            </a:r>
            <a:r>
              <a:rPr sz="1600" dirty="0">
                <a:latin typeface="Arial MT"/>
                <a:cs typeface="Arial MT"/>
              </a:rPr>
              <a:t>of</a:t>
            </a:r>
            <a:r>
              <a:rPr sz="1600" spc="-34" dirty="0">
                <a:latin typeface="Arial MT"/>
                <a:cs typeface="Arial MT"/>
              </a:rPr>
              <a:t> </a:t>
            </a:r>
            <a:r>
              <a:rPr sz="1600" dirty="0">
                <a:latin typeface="Arial MT"/>
                <a:cs typeface="Arial MT"/>
              </a:rPr>
              <a:t>copper</a:t>
            </a:r>
            <a:r>
              <a:rPr sz="1600" spc="-34" dirty="0">
                <a:latin typeface="Arial MT"/>
                <a:cs typeface="Arial MT"/>
              </a:rPr>
              <a:t> </a:t>
            </a:r>
            <a:r>
              <a:rPr sz="1600" dirty="0">
                <a:latin typeface="Arial MT"/>
                <a:cs typeface="Arial MT"/>
              </a:rPr>
              <a:t>smelted</a:t>
            </a:r>
            <a:r>
              <a:rPr sz="1600" spc="-50" dirty="0">
                <a:latin typeface="Arial MT"/>
                <a:cs typeface="Arial MT"/>
              </a:rPr>
              <a:t> </a:t>
            </a:r>
            <a:r>
              <a:rPr sz="1600" spc="-10" dirty="0">
                <a:latin typeface="Arial MT"/>
                <a:cs typeface="Arial MT"/>
              </a:rPr>
              <a:t>(copper smelting)</a:t>
            </a:r>
            <a:endParaRPr sz="1600">
              <a:latin typeface="Arial MT"/>
              <a:cs typeface="Arial MT"/>
            </a:endParaRPr>
          </a:p>
        </p:txBody>
      </p:sp>
      <p:sp>
        <p:nvSpPr>
          <p:cNvPr id="7" name="object 7"/>
          <p:cNvSpPr txBox="1"/>
          <p:nvPr/>
        </p:nvSpPr>
        <p:spPr>
          <a:xfrm>
            <a:off x="6273168" y="3994176"/>
            <a:ext cx="4133215" cy="2183162"/>
          </a:xfrm>
          <a:prstGeom prst="rect">
            <a:avLst/>
          </a:prstGeom>
        </p:spPr>
        <p:txBody>
          <a:bodyPr vert="horz" wrap="square" lIns="0" tIns="134620" rIns="0" bIns="0" rtlCol="0">
            <a:spAutoFit/>
          </a:bodyPr>
          <a:lstStyle/>
          <a:p>
            <a:pPr marL="299093" indent="-286392">
              <a:spcBef>
                <a:spcPts val="1060"/>
              </a:spcBef>
              <a:buChar char="•"/>
              <a:tabLst>
                <a:tab pos="299093" algn="l"/>
              </a:tabLst>
            </a:pPr>
            <a:r>
              <a:rPr sz="1600" dirty="0">
                <a:latin typeface="Arial MT"/>
                <a:cs typeface="Arial MT"/>
              </a:rPr>
              <a:t>the</a:t>
            </a:r>
            <a:r>
              <a:rPr sz="1600" spc="-34" dirty="0">
                <a:latin typeface="Arial MT"/>
                <a:cs typeface="Arial MT"/>
              </a:rPr>
              <a:t> </a:t>
            </a:r>
            <a:r>
              <a:rPr sz="1600" dirty="0">
                <a:latin typeface="Arial MT"/>
                <a:cs typeface="Arial MT"/>
              </a:rPr>
              <a:t>amount</a:t>
            </a:r>
            <a:r>
              <a:rPr sz="1600" spc="-30" dirty="0">
                <a:latin typeface="Arial MT"/>
                <a:cs typeface="Arial MT"/>
              </a:rPr>
              <a:t> </a:t>
            </a:r>
            <a:r>
              <a:rPr sz="1600" dirty="0">
                <a:latin typeface="Arial MT"/>
                <a:cs typeface="Arial MT"/>
              </a:rPr>
              <a:t>of</a:t>
            </a:r>
            <a:r>
              <a:rPr sz="1600" spc="-34" dirty="0">
                <a:latin typeface="Arial MT"/>
                <a:cs typeface="Arial MT"/>
              </a:rPr>
              <a:t> </a:t>
            </a:r>
            <a:r>
              <a:rPr sz="1600" dirty="0">
                <a:latin typeface="Arial MT"/>
                <a:cs typeface="Arial MT"/>
              </a:rPr>
              <a:t>fuel</a:t>
            </a:r>
            <a:r>
              <a:rPr sz="1600" spc="-34" dirty="0">
                <a:latin typeface="Arial MT"/>
                <a:cs typeface="Arial MT"/>
              </a:rPr>
              <a:t> </a:t>
            </a:r>
            <a:r>
              <a:rPr sz="1600" dirty="0">
                <a:latin typeface="Arial MT"/>
                <a:cs typeface="Arial MT"/>
              </a:rPr>
              <a:t>burnt</a:t>
            </a:r>
            <a:r>
              <a:rPr sz="1600" spc="-20" dirty="0">
                <a:latin typeface="Arial MT"/>
                <a:cs typeface="Arial MT"/>
              </a:rPr>
              <a:t> </a:t>
            </a:r>
            <a:r>
              <a:rPr sz="1600" dirty="0">
                <a:latin typeface="Arial MT"/>
                <a:cs typeface="Arial MT"/>
              </a:rPr>
              <a:t>(fuel</a:t>
            </a:r>
            <a:r>
              <a:rPr sz="1600" spc="-34" dirty="0">
                <a:latin typeface="Arial MT"/>
                <a:cs typeface="Arial MT"/>
              </a:rPr>
              <a:t> </a:t>
            </a:r>
            <a:r>
              <a:rPr sz="1600" spc="-10" dirty="0">
                <a:latin typeface="Arial MT"/>
                <a:cs typeface="Arial MT"/>
              </a:rPr>
              <a:t>combustion).</a:t>
            </a:r>
            <a:endParaRPr sz="1600">
              <a:latin typeface="Arial MT"/>
              <a:cs typeface="Arial MT"/>
            </a:endParaRPr>
          </a:p>
          <a:p>
            <a:pPr marL="299093" marR="159389" indent="-287027">
              <a:lnSpc>
                <a:spcPct val="150000"/>
              </a:lnSpc>
              <a:buChar char="•"/>
              <a:tabLst>
                <a:tab pos="299093" algn="l"/>
              </a:tabLst>
            </a:pPr>
            <a:r>
              <a:rPr sz="1600" dirty="0">
                <a:latin typeface="Arial MT"/>
                <a:cs typeface="Arial MT"/>
              </a:rPr>
              <a:t>the</a:t>
            </a:r>
            <a:r>
              <a:rPr sz="1600" spc="-25" dirty="0">
                <a:latin typeface="Arial MT"/>
                <a:cs typeface="Arial MT"/>
              </a:rPr>
              <a:t> </a:t>
            </a:r>
            <a:r>
              <a:rPr sz="1600" dirty="0">
                <a:latin typeface="Arial MT"/>
                <a:cs typeface="Arial MT"/>
              </a:rPr>
              <a:t>distance</a:t>
            </a:r>
            <a:r>
              <a:rPr sz="1600" spc="-50" dirty="0">
                <a:latin typeface="Arial MT"/>
                <a:cs typeface="Arial MT"/>
              </a:rPr>
              <a:t> </a:t>
            </a:r>
            <a:r>
              <a:rPr sz="1600" dirty="0">
                <a:latin typeface="Arial MT"/>
                <a:cs typeface="Arial MT"/>
              </a:rPr>
              <a:t>of</a:t>
            </a:r>
            <a:r>
              <a:rPr sz="1600" spc="-25" dirty="0">
                <a:latin typeface="Arial MT"/>
                <a:cs typeface="Arial MT"/>
              </a:rPr>
              <a:t> </a:t>
            </a:r>
            <a:r>
              <a:rPr sz="1600" dirty="0">
                <a:latin typeface="Arial MT"/>
                <a:cs typeface="Arial MT"/>
              </a:rPr>
              <a:t>vehicle</a:t>
            </a:r>
            <a:r>
              <a:rPr sz="1600" spc="-55" dirty="0">
                <a:latin typeface="Arial MT"/>
                <a:cs typeface="Arial MT"/>
              </a:rPr>
              <a:t> </a:t>
            </a:r>
            <a:r>
              <a:rPr sz="1600" dirty="0">
                <a:latin typeface="Arial MT"/>
                <a:cs typeface="Arial MT"/>
              </a:rPr>
              <a:t>travelled</a:t>
            </a:r>
            <a:r>
              <a:rPr sz="1600" spc="-41" dirty="0">
                <a:latin typeface="Arial MT"/>
                <a:cs typeface="Arial MT"/>
              </a:rPr>
              <a:t> </a:t>
            </a:r>
            <a:r>
              <a:rPr sz="1600" spc="-10" dirty="0">
                <a:latin typeface="Arial MT"/>
                <a:cs typeface="Arial MT"/>
              </a:rPr>
              <a:t>(exhaust </a:t>
            </a:r>
            <a:r>
              <a:rPr sz="1600" dirty="0">
                <a:latin typeface="Arial MT"/>
                <a:cs typeface="Arial MT"/>
              </a:rPr>
              <a:t>gas</a:t>
            </a:r>
            <a:r>
              <a:rPr sz="1600" spc="-41" dirty="0">
                <a:latin typeface="Arial MT"/>
                <a:cs typeface="Arial MT"/>
              </a:rPr>
              <a:t> </a:t>
            </a:r>
            <a:r>
              <a:rPr sz="1600" dirty="0">
                <a:latin typeface="Arial MT"/>
                <a:cs typeface="Arial MT"/>
              </a:rPr>
              <a:t>emissions</a:t>
            </a:r>
            <a:r>
              <a:rPr sz="1600" spc="-60" dirty="0">
                <a:latin typeface="Arial MT"/>
                <a:cs typeface="Arial MT"/>
              </a:rPr>
              <a:t> </a:t>
            </a:r>
            <a:r>
              <a:rPr sz="1600" dirty="0">
                <a:latin typeface="Arial MT"/>
                <a:cs typeface="Arial MT"/>
              </a:rPr>
              <a:t>from</a:t>
            </a:r>
            <a:r>
              <a:rPr sz="1600" spc="-25" dirty="0">
                <a:latin typeface="Arial MT"/>
                <a:cs typeface="Arial MT"/>
              </a:rPr>
              <a:t> </a:t>
            </a:r>
            <a:r>
              <a:rPr sz="1600" spc="-10" dirty="0">
                <a:latin typeface="Arial MT"/>
                <a:cs typeface="Arial MT"/>
              </a:rPr>
              <a:t>vehicles).</a:t>
            </a:r>
            <a:endParaRPr sz="1600">
              <a:latin typeface="Arial MT"/>
              <a:cs typeface="Arial MT"/>
            </a:endParaRPr>
          </a:p>
          <a:p>
            <a:pPr marL="299093" marR="440701" indent="-287027">
              <a:lnSpc>
                <a:spcPct val="150000"/>
              </a:lnSpc>
              <a:buChar char="•"/>
              <a:tabLst>
                <a:tab pos="299093" algn="l"/>
              </a:tabLst>
            </a:pPr>
            <a:r>
              <a:rPr sz="1600" dirty="0">
                <a:latin typeface="Arial MT"/>
                <a:cs typeface="Arial MT"/>
              </a:rPr>
              <a:t>the</a:t>
            </a:r>
            <a:r>
              <a:rPr sz="1600" spc="-25" dirty="0">
                <a:latin typeface="Arial MT"/>
                <a:cs typeface="Arial MT"/>
              </a:rPr>
              <a:t> </a:t>
            </a:r>
            <a:r>
              <a:rPr sz="1600" dirty="0">
                <a:latin typeface="Arial MT"/>
                <a:cs typeface="Arial MT"/>
              </a:rPr>
              <a:t>rates</a:t>
            </a:r>
            <a:r>
              <a:rPr sz="1600" spc="-20" dirty="0">
                <a:latin typeface="Arial MT"/>
                <a:cs typeface="Arial MT"/>
              </a:rPr>
              <a:t> </a:t>
            </a:r>
            <a:r>
              <a:rPr sz="1600" dirty="0">
                <a:latin typeface="Arial MT"/>
                <a:cs typeface="Arial MT"/>
              </a:rPr>
              <a:t>of</a:t>
            </a:r>
            <a:r>
              <a:rPr sz="1600" spc="-25" dirty="0">
                <a:latin typeface="Arial MT"/>
                <a:cs typeface="Arial MT"/>
              </a:rPr>
              <a:t> </a:t>
            </a:r>
            <a:r>
              <a:rPr sz="1600" dirty="0">
                <a:latin typeface="Arial MT"/>
                <a:cs typeface="Arial MT"/>
              </a:rPr>
              <a:t>the</a:t>
            </a:r>
            <a:r>
              <a:rPr sz="1600" spc="-20" dirty="0">
                <a:latin typeface="Arial MT"/>
                <a:cs typeface="Arial MT"/>
              </a:rPr>
              <a:t> </a:t>
            </a:r>
            <a:r>
              <a:rPr sz="1600" dirty="0">
                <a:latin typeface="Arial MT"/>
                <a:cs typeface="Arial MT"/>
              </a:rPr>
              <a:t>production</a:t>
            </a:r>
            <a:r>
              <a:rPr sz="1600" spc="-25" dirty="0">
                <a:latin typeface="Arial MT"/>
                <a:cs typeface="Arial MT"/>
              </a:rPr>
              <a:t> </a:t>
            </a:r>
            <a:r>
              <a:rPr sz="1600" dirty="0">
                <a:latin typeface="Arial MT"/>
                <a:cs typeface="Arial MT"/>
              </a:rPr>
              <a:t>of</a:t>
            </a:r>
            <a:r>
              <a:rPr sz="1600" spc="-20" dirty="0">
                <a:latin typeface="Arial MT"/>
                <a:cs typeface="Arial MT"/>
              </a:rPr>
              <a:t> </a:t>
            </a:r>
            <a:r>
              <a:rPr sz="1600" spc="-25" dirty="0">
                <a:latin typeface="Arial MT"/>
                <a:cs typeface="Arial MT"/>
              </a:rPr>
              <a:t>the </a:t>
            </a:r>
            <a:r>
              <a:rPr sz="1600" dirty="0">
                <a:latin typeface="Arial MT"/>
                <a:cs typeface="Arial MT"/>
              </a:rPr>
              <a:t>commodity</a:t>
            </a:r>
            <a:r>
              <a:rPr sz="1600" spc="-70" dirty="0">
                <a:latin typeface="Arial MT"/>
                <a:cs typeface="Arial MT"/>
              </a:rPr>
              <a:t> </a:t>
            </a:r>
            <a:r>
              <a:rPr sz="1600" dirty="0">
                <a:latin typeface="Arial MT"/>
                <a:cs typeface="Arial MT"/>
              </a:rPr>
              <a:t>(industrial</a:t>
            </a:r>
            <a:r>
              <a:rPr sz="1600" spc="-60" dirty="0">
                <a:latin typeface="Arial MT"/>
                <a:cs typeface="Arial MT"/>
              </a:rPr>
              <a:t> </a:t>
            </a:r>
            <a:r>
              <a:rPr sz="1600" dirty="0">
                <a:latin typeface="Arial MT"/>
                <a:cs typeface="Arial MT"/>
              </a:rPr>
              <a:t>process</a:t>
            </a:r>
            <a:r>
              <a:rPr sz="1600" spc="-70" dirty="0">
                <a:latin typeface="Arial MT"/>
                <a:cs typeface="Arial MT"/>
              </a:rPr>
              <a:t> </a:t>
            </a:r>
            <a:r>
              <a:rPr sz="1600" spc="-10" dirty="0">
                <a:latin typeface="Arial MT"/>
                <a:cs typeface="Arial MT"/>
              </a:rPr>
              <a:t>without combustion)</a:t>
            </a:r>
            <a:endParaRPr sz="1600">
              <a:latin typeface="Arial MT"/>
              <a:cs typeface="Arial MT"/>
            </a:endParaRPr>
          </a:p>
        </p:txBody>
      </p:sp>
      <p:sp>
        <p:nvSpPr>
          <p:cNvPr id="8" name="object 8"/>
          <p:cNvSpPr/>
          <p:nvPr/>
        </p:nvSpPr>
        <p:spPr>
          <a:xfrm>
            <a:off x="1928625" y="3414904"/>
            <a:ext cx="904875" cy="725170"/>
          </a:xfrm>
          <a:custGeom>
            <a:avLst/>
            <a:gdLst/>
            <a:ahLst/>
            <a:cxnLst/>
            <a:rect l="l" t="t" r="r" b="b"/>
            <a:pathLst>
              <a:path w="904875" h="725170">
                <a:moveTo>
                  <a:pt x="53847" y="609092"/>
                </a:moveTo>
                <a:lnTo>
                  <a:pt x="0" y="725043"/>
                </a:lnTo>
                <a:lnTo>
                  <a:pt x="125094" y="698627"/>
                </a:lnTo>
                <a:lnTo>
                  <a:pt x="110744" y="680593"/>
                </a:lnTo>
                <a:lnTo>
                  <a:pt x="86359" y="680593"/>
                </a:lnTo>
                <a:lnTo>
                  <a:pt x="62737" y="650875"/>
                </a:lnTo>
                <a:lnTo>
                  <a:pt x="77656" y="639011"/>
                </a:lnTo>
                <a:lnTo>
                  <a:pt x="53847" y="609092"/>
                </a:lnTo>
                <a:close/>
              </a:path>
              <a:path w="904875" h="725170">
                <a:moveTo>
                  <a:pt x="77656" y="639011"/>
                </a:moveTo>
                <a:lnTo>
                  <a:pt x="62737" y="650875"/>
                </a:lnTo>
                <a:lnTo>
                  <a:pt x="86359" y="680593"/>
                </a:lnTo>
                <a:lnTo>
                  <a:pt x="101294" y="668717"/>
                </a:lnTo>
                <a:lnTo>
                  <a:pt x="77656" y="639011"/>
                </a:lnTo>
                <a:close/>
              </a:path>
              <a:path w="904875" h="725170">
                <a:moveTo>
                  <a:pt x="101294" y="668717"/>
                </a:moveTo>
                <a:lnTo>
                  <a:pt x="86359" y="680593"/>
                </a:lnTo>
                <a:lnTo>
                  <a:pt x="110744" y="680593"/>
                </a:lnTo>
                <a:lnTo>
                  <a:pt x="101294" y="668717"/>
                </a:lnTo>
                <a:close/>
              </a:path>
              <a:path w="904875" h="725170">
                <a:moveTo>
                  <a:pt x="881252" y="0"/>
                </a:moveTo>
                <a:lnTo>
                  <a:pt x="77656" y="639011"/>
                </a:lnTo>
                <a:lnTo>
                  <a:pt x="101294" y="668717"/>
                </a:lnTo>
                <a:lnTo>
                  <a:pt x="904875" y="29718"/>
                </a:lnTo>
                <a:lnTo>
                  <a:pt x="881252" y="0"/>
                </a:lnTo>
                <a:close/>
              </a:path>
            </a:pathLst>
          </a:custGeom>
          <a:solidFill>
            <a:srgbClr val="000000"/>
          </a:solidFill>
        </p:spPr>
        <p:txBody>
          <a:bodyPr wrap="square" lIns="0" tIns="0" rIns="0" bIns="0" rtlCol="0"/>
          <a:lstStyle/>
          <a:p>
            <a:endParaRPr/>
          </a:p>
        </p:txBody>
      </p:sp>
      <p:sp>
        <p:nvSpPr>
          <p:cNvPr id="9" name="object 9"/>
          <p:cNvSpPr/>
          <p:nvPr/>
        </p:nvSpPr>
        <p:spPr>
          <a:xfrm>
            <a:off x="6453888" y="3446272"/>
            <a:ext cx="1016635" cy="533401"/>
          </a:xfrm>
          <a:custGeom>
            <a:avLst/>
            <a:gdLst/>
            <a:ahLst/>
            <a:cxnLst/>
            <a:rect l="l" t="t" r="r" b="b"/>
            <a:pathLst>
              <a:path w="1016634" h="533400">
                <a:moveTo>
                  <a:pt x="905992" y="498188"/>
                </a:moveTo>
                <a:lnTo>
                  <a:pt x="888618" y="532129"/>
                </a:lnTo>
                <a:lnTo>
                  <a:pt x="1016381" y="533400"/>
                </a:lnTo>
                <a:lnTo>
                  <a:pt x="996874" y="506856"/>
                </a:lnTo>
                <a:lnTo>
                  <a:pt x="922909" y="506856"/>
                </a:lnTo>
                <a:lnTo>
                  <a:pt x="905992" y="498188"/>
                </a:lnTo>
                <a:close/>
              </a:path>
              <a:path w="1016634" h="533400">
                <a:moveTo>
                  <a:pt x="923357" y="464262"/>
                </a:moveTo>
                <a:lnTo>
                  <a:pt x="905992" y="498188"/>
                </a:lnTo>
                <a:lnTo>
                  <a:pt x="922909" y="506856"/>
                </a:lnTo>
                <a:lnTo>
                  <a:pt x="940308" y="472947"/>
                </a:lnTo>
                <a:lnTo>
                  <a:pt x="923357" y="464262"/>
                </a:lnTo>
                <a:close/>
              </a:path>
              <a:path w="1016634" h="533400">
                <a:moveTo>
                  <a:pt x="940688" y="430402"/>
                </a:moveTo>
                <a:lnTo>
                  <a:pt x="923357" y="464262"/>
                </a:lnTo>
                <a:lnTo>
                  <a:pt x="940308" y="472947"/>
                </a:lnTo>
                <a:lnTo>
                  <a:pt x="922909" y="506856"/>
                </a:lnTo>
                <a:lnTo>
                  <a:pt x="996874" y="506856"/>
                </a:lnTo>
                <a:lnTo>
                  <a:pt x="940688" y="430402"/>
                </a:lnTo>
                <a:close/>
              </a:path>
              <a:path w="1016634" h="533400">
                <a:moveTo>
                  <a:pt x="17272" y="0"/>
                </a:moveTo>
                <a:lnTo>
                  <a:pt x="0" y="33908"/>
                </a:lnTo>
                <a:lnTo>
                  <a:pt x="905992" y="498188"/>
                </a:lnTo>
                <a:lnTo>
                  <a:pt x="923357" y="464262"/>
                </a:lnTo>
                <a:lnTo>
                  <a:pt x="17272" y="0"/>
                </a:lnTo>
                <a:close/>
              </a:path>
            </a:pathLst>
          </a:custGeom>
          <a:solidFill>
            <a:srgbClr val="000000"/>
          </a:solidFill>
        </p:spPr>
        <p:txBody>
          <a:bodyPr wrap="square" lIns="0" tIns="0" rIns="0" bIns="0" rtlCol="0"/>
          <a:lstStyle/>
          <a:p>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xfrm>
            <a:off x="8993409" y="6464911"/>
            <a:ext cx="198636" cy="156068"/>
          </a:xfrm>
          <a:prstGeom prst="rect">
            <a:avLst/>
          </a:prstGeom>
        </p:spPr>
        <p:txBody>
          <a:bodyPr vert="horz" wrap="square" lIns="0" tIns="0" rIns="0" bIns="0" rtlCol="0">
            <a:spAutoFit/>
          </a:bodyPr>
          <a:lstStyle/>
          <a:p>
            <a:pPr marL="38101">
              <a:lnSpc>
                <a:spcPts val="1239"/>
              </a:lnSpc>
            </a:pPr>
            <a:fld id="{81D60167-4931-47E6-BA6A-407CBD079E47}" type="slidenum">
              <a:rPr spc="-25" dirty="0"/>
              <a:pPr marL="38101">
                <a:lnSpc>
                  <a:spcPts val="1239"/>
                </a:lnSpc>
              </a:pPr>
              <a:t>86</a:t>
            </a:fld>
            <a:endParaRPr spc="-25" dirty="0"/>
          </a:p>
        </p:txBody>
      </p:sp>
      <p:sp>
        <p:nvSpPr>
          <p:cNvPr id="2" name="object 2"/>
          <p:cNvSpPr txBox="1">
            <a:spLocks noGrp="1"/>
          </p:cNvSpPr>
          <p:nvPr>
            <p:ph type="title"/>
          </p:nvPr>
        </p:nvSpPr>
        <p:spPr>
          <a:xfrm>
            <a:off x="470371" y="133351"/>
            <a:ext cx="7600956" cy="892423"/>
          </a:xfrm>
          <a:prstGeom prst="rect">
            <a:avLst/>
          </a:prstGeom>
        </p:spPr>
        <p:txBody>
          <a:bodyPr vert="horz" wrap="square" lIns="0" tIns="396112" rIns="0" bIns="0" rtlCol="0">
            <a:spAutoFit/>
          </a:bodyPr>
          <a:lstStyle/>
          <a:p>
            <a:pPr marL="131448">
              <a:spcBef>
                <a:spcPts val="105"/>
              </a:spcBef>
            </a:pPr>
            <a:r>
              <a:rPr dirty="0"/>
              <a:t>Emission</a:t>
            </a:r>
            <a:r>
              <a:rPr spc="-55" dirty="0"/>
              <a:t> </a:t>
            </a:r>
            <a:r>
              <a:rPr spc="-10" dirty="0"/>
              <a:t>Inventory</a:t>
            </a:r>
          </a:p>
        </p:txBody>
      </p:sp>
      <p:sp>
        <p:nvSpPr>
          <p:cNvPr id="3" name="object 3"/>
          <p:cNvSpPr txBox="1"/>
          <p:nvPr/>
        </p:nvSpPr>
        <p:spPr>
          <a:xfrm>
            <a:off x="579171" y="1370788"/>
            <a:ext cx="10636250" cy="5077096"/>
          </a:xfrm>
          <a:prstGeom prst="rect">
            <a:avLst/>
          </a:prstGeom>
        </p:spPr>
        <p:txBody>
          <a:bodyPr vert="horz" wrap="square" lIns="0" tIns="12065" rIns="0" bIns="0" rtlCol="0">
            <a:spAutoFit/>
          </a:bodyPr>
          <a:lstStyle/>
          <a:p>
            <a:pPr marL="261626" indent="-250831">
              <a:spcBef>
                <a:spcPts val="95"/>
              </a:spcBef>
              <a:buSzPct val="95000"/>
              <a:buFont typeface="Wingdings" panose="05000000000000000000"/>
              <a:buChar char=""/>
              <a:tabLst>
                <a:tab pos="261626" algn="l"/>
              </a:tabLst>
            </a:pPr>
            <a:r>
              <a:rPr sz="2201" b="1" dirty="0">
                <a:solidFill>
                  <a:srgbClr val="C55A11"/>
                </a:solidFill>
                <a:latin typeface="Arial" panose="020B0604020202020204"/>
                <a:cs typeface="Arial" panose="020B0604020202020204"/>
              </a:rPr>
              <a:t>Emission</a:t>
            </a:r>
            <a:r>
              <a:rPr sz="2201" b="1" spc="-50" dirty="0">
                <a:solidFill>
                  <a:srgbClr val="C55A11"/>
                </a:solidFill>
                <a:latin typeface="Arial" panose="020B0604020202020204"/>
                <a:cs typeface="Arial" panose="020B0604020202020204"/>
              </a:rPr>
              <a:t> </a:t>
            </a:r>
            <a:r>
              <a:rPr sz="2201" b="1" spc="-10" dirty="0">
                <a:solidFill>
                  <a:srgbClr val="C55A11"/>
                </a:solidFill>
                <a:latin typeface="Arial" panose="020B0604020202020204"/>
                <a:cs typeface="Arial" panose="020B0604020202020204"/>
              </a:rPr>
              <a:t>factors</a:t>
            </a:r>
            <a:endParaRPr sz="2201">
              <a:latin typeface="Arial" panose="020B0604020202020204"/>
              <a:cs typeface="Arial" panose="020B0604020202020204"/>
            </a:endParaRPr>
          </a:p>
          <a:p>
            <a:pPr marL="241306" marR="6985" indent="-228606" algn="just">
              <a:lnSpc>
                <a:spcPct val="140000"/>
              </a:lnSpc>
              <a:spcBef>
                <a:spcPts val="1001"/>
              </a:spcBef>
              <a:buChar char="•"/>
              <a:tabLst>
                <a:tab pos="241306" algn="l"/>
              </a:tabLst>
            </a:pPr>
            <a:r>
              <a:rPr sz="2201" dirty="0">
                <a:latin typeface="Arial MT"/>
                <a:cs typeface="Arial MT"/>
              </a:rPr>
              <a:t>Emission</a:t>
            </a:r>
            <a:r>
              <a:rPr sz="2201" spc="126" dirty="0">
                <a:latin typeface="Arial MT"/>
                <a:cs typeface="Arial MT"/>
              </a:rPr>
              <a:t> </a:t>
            </a:r>
            <a:r>
              <a:rPr sz="2201" dirty="0">
                <a:latin typeface="Arial MT"/>
                <a:cs typeface="Arial MT"/>
              </a:rPr>
              <a:t>factors</a:t>
            </a:r>
            <a:r>
              <a:rPr sz="2201" spc="135" dirty="0">
                <a:latin typeface="Arial MT"/>
                <a:cs typeface="Arial MT"/>
              </a:rPr>
              <a:t> </a:t>
            </a:r>
            <a:r>
              <a:rPr sz="2201" dirty="0">
                <a:latin typeface="Arial MT"/>
                <a:cs typeface="Arial MT"/>
              </a:rPr>
              <a:t>are</a:t>
            </a:r>
            <a:r>
              <a:rPr sz="2201" spc="130" dirty="0">
                <a:latin typeface="Arial MT"/>
                <a:cs typeface="Arial MT"/>
              </a:rPr>
              <a:t> </a:t>
            </a:r>
            <a:r>
              <a:rPr sz="2201" dirty="0">
                <a:latin typeface="Arial MT"/>
                <a:cs typeface="Arial MT"/>
              </a:rPr>
              <a:t>the</a:t>
            </a:r>
            <a:r>
              <a:rPr sz="2201" spc="121" dirty="0">
                <a:latin typeface="Arial MT"/>
                <a:cs typeface="Arial MT"/>
              </a:rPr>
              <a:t> </a:t>
            </a:r>
            <a:r>
              <a:rPr sz="2201" dirty="0">
                <a:latin typeface="Arial MT"/>
                <a:cs typeface="Arial MT"/>
              </a:rPr>
              <a:t>average</a:t>
            </a:r>
            <a:r>
              <a:rPr sz="2201" spc="140" dirty="0">
                <a:latin typeface="Arial MT"/>
                <a:cs typeface="Arial MT"/>
              </a:rPr>
              <a:t> </a:t>
            </a:r>
            <a:r>
              <a:rPr sz="2201" dirty="0">
                <a:latin typeface="Arial MT"/>
                <a:cs typeface="Arial MT"/>
              </a:rPr>
              <a:t>rate</a:t>
            </a:r>
            <a:r>
              <a:rPr sz="2201" spc="135" dirty="0">
                <a:latin typeface="Arial MT"/>
                <a:cs typeface="Arial MT"/>
              </a:rPr>
              <a:t> </a:t>
            </a:r>
            <a:r>
              <a:rPr sz="2201" dirty="0">
                <a:latin typeface="Arial MT"/>
                <a:cs typeface="Arial MT"/>
              </a:rPr>
              <a:t>of</a:t>
            </a:r>
            <a:r>
              <a:rPr sz="2201" spc="121" dirty="0">
                <a:latin typeface="Arial MT"/>
                <a:cs typeface="Arial MT"/>
              </a:rPr>
              <a:t> </a:t>
            </a:r>
            <a:r>
              <a:rPr sz="2201" dirty="0">
                <a:latin typeface="Arial MT"/>
                <a:cs typeface="Arial MT"/>
              </a:rPr>
              <a:t>emission</a:t>
            </a:r>
            <a:r>
              <a:rPr sz="2201" spc="130" dirty="0">
                <a:latin typeface="Arial MT"/>
                <a:cs typeface="Arial MT"/>
              </a:rPr>
              <a:t> </a:t>
            </a:r>
            <a:r>
              <a:rPr sz="2201" dirty="0">
                <a:latin typeface="Arial MT"/>
                <a:cs typeface="Arial MT"/>
              </a:rPr>
              <a:t>of</a:t>
            </a:r>
            <a:r>
              <a:rPr sz="2201" spc="126" dirty="0">
                <a:latin typeface="Arial MT"/>
                <a:cs typeface="Arial MT"/>
              </a:rPr>
              <a:t> </a:t>
            </a:r>
            <a:r>
              <a:rPr sz="2201" dirty="0">
                <a:latin typeface="Arial MT"/>
                <a:cs typeface="Arial MT"/>
              </a:rPr>
              <a:t>a</a:t>
            </a:r>
            <a:r>
              <a:rPr sz="2201" spc="126" dirty="0">
                <a:latin typeface="Arial MT"/>
                <a:cs typeface="Arial MT"/>
              </a:rPr>
              <a:t> </a:t>
            </a:r>
            <a:r>
              <a:rPr sz="2201" dirty="0">
                <a:latin typeface="Arial MT"/>
                <a:cs typeface="Arial MT"/>
              </a:rPr>
              <a:t>pollutant</a:t>
            </a:r>
            <a:r>
              <a:rPr sz="2201" spc="130" dirty="0">
                <a:latin typeface="Arial MT"/>
                <a:cs typeface="Arial MT"/>
              </a:rPr>
              <a:t> </a:t>
            </a:r>
            <a:r>
              <a:rPr sz="2201" dirty="0">
                <a:latin typeface="Arial MT"/>
                <a:cs typeface="Arial MT"/>
              </a:rPr>
              <a:t>per</a:t>
            </a:r>
            <a:r>
              <a:rPr sz="2201" spc="135" dirty="0">
                <a:latin typeface="Arial MT"/>
                <a:cs typeface="Arial MT"/>
              </a:rPr>
              <a:t> </a:t>
            </a:r>
            <a:r>
              <a:rPr sz="2201" dirty="0">
                <a:latin typeface="Arial MT"/>
                <a:cs typeface="Arial MT"/>
              </a:rPr>
              <a:t>unit</a:t>
            </a:r>
            <a:r>
              <a:rPr sz="2201" spc="130" dirty="0">
                <a:latin typeface="Arial MT"/>
                <a:cs typeface="Arial MT"/>
              </a:rPr>
              <a:t> </a:t>
            </a:r>
            <a:r>
              <a:rPr sz="2201" dirty="0">
                <a:latin typeface="Arial MT"/>
                <a:cs typeface="Arial MT"/>
              </a:rPr>
              <a:t>of</a:t>
            </a:r>
            <a:r>
              <a:rPr sz="2201" spc="121" dirty="0">
                <a:latin typeface="Arial MT"/>
                <a:cs typeface="Arial MT"/>
              </a:rPr>
              <a:t> </a:t>
            </a:r>
            <a:r>
              <a:rPr sz="2201" spc="-10" dirty="0">
                <a:latin typeface="Arial MT"/>
                <a:cs typeface="Arial MT"/>
              </a:rPr>
              <a:t>activity </a:t>
            </a:r>
            <a:r>
              <a:rPr sz="2201" dirty="0">
                <a:latin typeface="Arial MT"/>
                <a:cs typeface="Arial MT"/>
              </a:rPr>
              <a:t>data</a:t>
            </a:r>
            <a:r>
              <a:rPr sz="2201" spc="-34" dirty="0">
                <a:latin typeface="Arial MT"/>
                <a:cs typeface="Arial MT"/>
              </a:rPr>
              <a:t> </a:t>
            </a:r>
            <a:r>
              <a:rPr sz="2201" dirty="0">
                <a:latin typeface="Arial MT"/>
                <a:cs typeface="Arial MT"/>
              </a:rPr>
              <a:t>for</a:t>
            </a:r>
            <a:r>
              <a:rPr sz="2201" spc="-25" dirty="0">
                <a:latin typeface="Arial MT"/>
                <a:cs typeface="Arial MT"/>
              </a:rPr>
              <a:t> </a:t>
            </a:r>
            <a:r>
              <a:rPr sz="2201" dirty="0">
                <a:latin typeface="Arial MT"/>
                <a:cs typeface="Arial MT"/>
              </a:rPr>
              <a:t>a</a:t>
            </a:r>
            <a:r>
              <a:rPr sz="2201" spc="-34" dirty="0">
                <a:latin typeface="Arial MT"/>
                <a:cs typeface="Arial MT"/>
              </a:rPr>
              <a:t> </a:t>
            </a:r>
            <a:r>
              <a:rPr sz="2201" dirty="0">
                <a:latin typeface="Arial MT"/>
                <a:cs typeface="Arial MT"/>
              </a:rPr>
              <a:t>given</a:t>
            </a:r>
            <a:r>
              <a:rPr sz="2201" spc="-25" dirty="0">
                <a:latin typeface="Arial MT"/>
                <a:cs typeface="Arial MT"/>
              </a:rPr>
              <a:t> </a:t>
            </a:r>
            <a:r>
              <a:rPr sz="2201" spc="-10" dirty="0">
                <a:latin typeface="Arial MT"/>
                <a:cs typeface="Arial MT"/>
              </a:rPr>
              <a:t>sector.</a:t>
            </a:r>
            <a:endParaRPr sz="2201">
              <a:latin typeface="Arial MT"/>
              <a:cs typeface="Arial MT"/>
            </a:endParaRPr>
          </a:p>
          <a:p>
            <a:pPr marL="241306" marR="6350" indent="-228606" algn="just">
              <a:lnSpc>
                <a:spcPct val="140000"/>
              </a:lnSpc>
              <a:spcBef>
                <a:spcPts val="1010"/>
              </a:spcBef>
              <a:buChar char="•"/>
              <a:tabLst>
                <a:tab pos="241306" algn="l"/>
              </a:tabLst>
            </a:pPr>
            <a:r>
              <a:rPr sz="2201" dirty="0">
                <a:latin typeface="Arial MT"/>
                <a:cs typeface="Arial MT"/>
              </a:rPr>
              <a:t>When</a:t>
            </a:r>
            <a:r>
              <a:rPr sz="2201" spc="34" dirty="0">
                <a:latin typeface="Arial MT"/>
                <a:cs typeface="Arial MT"/>
              </a:rPr>
              <a:t> </a:t>
            </a:r>
            <a:r>
              <a:rPr sz="2201" dirty="0">
                <a:latin typeface="Arial MT"/>
                <a:cs typeface="Arial MT"/>
              </a:rPr>
              <a:t>there</a:t>
            </a:r>
            <a:r>
              <a:rPr sz="2201" spc="55" dirty="0">
                <a:latin typeface="Arial MT"/>
                <a:cs typeface="Arial MT"/>
              </a:rPr>
              <a:t> </a:t>
            </a:r>
            <a:r>
              <a:rPr sz="2201" dirty="0">
                <a:latin typeface="Arial MT"/>
                <a:cs typeface="Arial MT"/>
              </a:rPr>
              <a:t>is</a:t>
            </a:r>
            <a:r>
              <a:rPr sz="2201" spc="46" dirty="0">
                <a:latin typeface="Arial MT"/>
                <a:cs typeface="Arial MT"/>
              </a:rPr>
              <a:t> </a:t>
            </a:r>
            <a:r>
              <a:rPr sz="2201" dirty="0">
                <a:latin typeface="Arial MT"/>
                <a:cs typeface="Arial MT"/>
              </a:rPr>
              <a:t>no</a:t>
            </a:r>
            <a:r>
              <a:rPr sz="2201" spc="34" dirty="0">
                <a:latin typeface="Arial MT"/>
                <a:cs typeface="Arial MT"/>
              </a:rPr>
              <a:t> </a:t>
            </a:r>
            <a:r>
              <a:rPr sz="2201" dirty="0">
                <a:latin typeface="Arial MT"/>
                <a:cs typeface="Arial MT"/>
              </a:rPr>
              <a:t>emission</a:t>
            </a:r>
            <a:r>
              <a:rPr sz="2201" spc="50" dirty="0">
                <a:latin typeface="Arial MT"/>
                <a:cs typeface="Arial MT"/>
              </a:rPr>
              <a:t> </a:t>
            </a:r>
            <a:r>
              <a:rPr sz="2201" dirty="0">
                <a:latin typeface="Arial MT"/>
                <a:cs typeface="Arial MT"/>
              </a:rPr>
              <a:t>factor</a:t>
            </a:r>
            <a:r>
              <a:rPr sz="2201" spc="55" dirty="0">
                <a:latin typeface="Arial MT"/>
                <a:cs typeface="Arial MT"/>
              </a:rPr>
              <a:t> </a:t>
            </a:r>
            <a:r>
              <a:rPr sz="2201" dirty="0">
                <a:latin typeface="Arial MT"/>
                <a:cs typeface="Arial MT"/>
              </a:rPr>
              <a:t>reflecting</a:t>
            </a:r>
            <a:r>
              <a:rPr sz="2201" spc="50" dirty="0">
                <a:latin typeface="Arial MT"/>
                <a:cs typeface="Arial MT"/>
              </a:rPr>
              <a:t> </a:t>
            </a:r>
            <a:r>
              <a:rPr sz="2201" dirty="0">
                <a:latin typeface="Arial MT"/>
                <a:cs typeface="Arial MT"/>
              </a:rPr>
              <a:t>the</a:t>
            </a:r>
            <a:r>
              <a:rPr sz="2201" spc="41" dirty="0">
                <a:latin typeface="Arial MT"/>
                <a:cs typeface="Arial MT"/>
              </a:rPr>
              <a:t> </a:t>
            </a:r>
            <a:r>
              <a:rPr sz="2201" dirty="0">
                <a:latin typeface="Arial MT"/>
                <a:cs typeface="Arial MT"/>
              </a:rPr>
              <a:t>actual</a:t>
            </a:r>
            <a:r>
              <a:rPr sz="2201" spc="50" dirty="0">
                <a:latin typeface="Arial MT"/>
                <a:cs typeface="Arial MT"/>
              </a:rPr>
              <a:t> </a:t>
            </a:r>
            <a:r>
              <a:rPr sz="2201" dirty="0">
                <a:latin typeface="Arial MT"/>
                <a:cs typeface="Arial MT"/>
              </a:rPr>
              <a:t>local</a:t>
            </a:r>
            <a:r>
              <a:rPr sz="2201" spc="46" dirty="0">
                <a:latin typeface="Arial MT"/>
                <a:cs typeface="Arial MT"/>
              </a:rPr>
              <a:t> </a:t>
            </a:r>
            <a:r>
              <a:rPr sz="2201" dirty="0">
                <a:latin typeface="Arial MT"/>
                <a:cs typeface="Arial MT"/>
              </a:rPr>
              <a:t>situation,</a:t>
            </a:r>
            <a:r>
              <a:rPr sz="2201" spc="46" dirty="0">
                <a:latin typeface="Arial MT"/>
                <a:cs typeface="Arial MT"/>
              </a:rPr>
              <a:t> </a:t>
            </a:r>
            <a:r>
              <a:rPr sz="2201" dirty="0">
                <a:latin typeface="Arial MT"/>
                <a:cs typeface="Arial MT"/>
              </a:rPr>
              <a:t>default</a:t>
            </a:r>
            <a:r>
              <a:rPr sz="2201" spc="50" dirty="0">
                <a:latin typeface="Arial MT"/>
                <a:cs typeface="Arial MT"/>
              </a:rPr>
              <a:t> </a:t>
            </a:r>
            <a:r>
              <a:rPr sz="2201" spc="-10" dirty="0">
                <a:latin typeface="Arial MT"/>
                <a:cs typeface="Arial MT"/>
              </a:rPr>
              <a:t>values </a:t>
            </a:r>
            <a:r>
              <a:rPr sz="2201" dirty="0">
                <a:latin typeface="Arial MT"/>
                <a:cs typeface="Arial MT"/>
              </a:rPr>
              <a:t>in</a:t>
            </a:r>
            <a:r>
              <a:rPr sz="2201" spc="-50" dirty="0">
                <a:latin typeface="Arial MT"/>
                <a:cs typeface="Arial MT"/>
              </a:rPr>
              <a:t> </a:t>
            </a:r>
            <a:r>
              <a:rPr sz="2201" dirty="0">
                <a:latin typeface="Arial MT"/>
                <a:cs typeface="Arial MT"/>
              </a:rPr>
              <a:t>manuals</a:t>
            </a:r>
            <a:r>
              <a:rPr sz="2201" spc="-30" dirty="0">
                <a:latin typeface="Arial MT"/>
                <a:cs typeface="Arial MT"/>
              </a:rPr>
              <a:t> </a:t>
            </a:r>
            <a:r>
              <a:rPr sz="2201" dirty="0">
                <a:latin typeface="Arial MT"/>
                <a:cs typeface="Arial MT"/>
              </a:rPr>
              <a:t>are</a:t>
            </a:r>
            <a:r>
              <a:rPr sz="2201" spc="-50" dirty="0">
                <a:latin typeface="Arial MT"/>
                <a:cs typeface="Arial MT"/>
              </a:rPr>
              <a:t> </a:t>
            </a:r>
            <a:r>
              <a:rPr sz="2201" spc="-20" dirty="0">
                <a:latin typeface="Arial MT"/>
                <a:cs typeface="Arial MT"/>
              </a:rPr>
              <a:t>used.</a:t>
            </a:r>
            <a:endParaRPr sz="2201">
              <a:latin typeface="Arial MT"/>
              <a:cs typeface="Arial MT"/>
            </a:endParaRPr>
          </a:p>
          <a:p>
            <a:pPr marL="241306" marR="6985" indent="-228606" algn="just">
              <a:lnSpc>
                <a:spcPct val="140000"/>
              </a:lnSpc>
              <a:spcBef>
                <a:spcPts val="994"/>
              </a:spcBef>
              <a:buChar char="•"/>
              <a:tabLst>
                <a:tab pos="241306" algn="l"/>
              </a:tabLst>
            </a:pPr>
            <a:r>
              <a:rPr sz="2201" dirty="0">
                <a:latin typeface="Arial MT"/>
                <a:cs typeface="Arial MT"/>
              </a:rPr>
              <a:t>However,</a:t>
            </a:r>
            <a:r>
              <a:rPr sz="2201" spc="215" dirty="0">
                <a:latin typeface="Arial MT"/>
                <a:cs typeface="Arial MT"/>
              </a:rPr>
              <a:t> </a:t>
            </a:r>
            <a:r>
              <a:rPr sz="2201" dirty="0">
                <a:latin typeface="Arial MT"/>
                <a:cs typeface="Arial MT"/>
              </a:rPr>
              <a:t>if</a:t>
            </a:r>
            <a:r>
              <a:rPr sz="2201" spc="220" dirty="0">
                <a:latin typeface="Arial MT"/>
                <a:cs typeface="Arial MT"/>
              </a:rPr>
              <a:t> </a:t>
            </a:r>
            <a:r>
              <a:rPr sz="2201" dirty="0">
                <a:latin typeface="Arial MT"/>
                <a:cs typeface="Arial MT"/>
              </a:rPr>
              <a:t>the</a:t>
            </a:r>
            <a:r>
              <a:rPr sz="2201" spc="225" dirty="0">
                <a:latin typeface="Arial MT"/>
                <a:cs typeface="Arial MT"/>
              </a:rPr>
              <a:t> </a:t>
            </a:r>
            <a:r>
              <a:rPr sz="2201" dirty="0">
                <a:latin typeface="Arial MT"/>
                <a:cs typeface="Arial MT"/>
              </a:rPr>
              <a:t>default</a:t>
            </a:r>
            <a:r>
              <a:rPr sz="2201" spc="229" dirty="0">
                <a:latin typeface="Arial MT"/>
                <a:cs typeface="Arial MT"/>
              </a:rPr>
              <a:t> </a:t>
            </a:r>
            <a:r>
              <a:rPr sz="2201" dirty="0">
                <a:latin typeface="Arial MT"/>
                <a:cs typeface="Arial MT"/>
              </a:rPr>
              <a:t>factor</a:t>
            </a:r>
            <a:r>
              <a:rPr sz="2201" spc="225" dirty="0">
                <a:latin typeface="Arial MT"/>
                <a:cs typeface="Arial MT"/>
              </a:rPr>
              <a:t> </a:t>
            </a:r>
            <a:r>
              <a:rPr sz="2201" dirty="0">
                <a:latin typeface="Arial MT"/>
                <a:cs typeface="Arial MT"/>
              </a:rPr>
              <a:t>is</a:t>
            </a:r>
            <a:r>
              <a:rPr sz="2201" spc="225" dirty="0">
                <a:latin typeface="Arial MT"/>
                <a:cs typeface="Arial MT"/>
              </a:rPr>
              <a:t> </a:t>
            </a:r>
            <a:r>
              <a:rPr sz="2201" dirty="0">
                <a:latin typeface="Arial MT"/>
                <a:cs typeface="Arial MT"/>
              </a:rPr>
              <a:t>considered</a:t>
            </a:r>
            <a:r>
              <a:rPr sz="2201" spc="229" dirty="0">
                <a:latin typeface="Arial MT"/>
                <a:cs typeface="Arial MT"/>
              </a:rPr>
              <a:t> </a:t>
            </a:r>
            <a:r>
              <a:rPr sz="2201" dirty="0">
                <a:latin typeface="Arial MT"/>
                <a:cs typeface="Arial MT"/>
              </a:rPr>
              <a:t>to</a:t>
            </a:r>
            <a:r>
              <a:rPr sz="2201" spc="225" dirty="0">
                <a:latin typeface="Arial MT"/>
                <a:cs typeface="Arial MT"/>
              </a:rPr>
              <a:t> </a:t>
            </a:r>
            <a:r>
              <a:rPr sz="2201" dirty="0">
                <a:latin typeface="Arial MT"/>
                <a:cs typeface="Arial MT"/>
              </a:rPr>
              <a:t>be</a:t>
            </a:r>
            <a:r>
              <a:rPr sz="2201" spc="220" dirty="0">
                <a:latin typeface="Arial MT"/>
                <a:cs typeface="Arial MT"/>
              </a:rPr>
              <a:t> </a:t>
            </a:r>
            <a:r>
              <a:rPr sz="2201" dirty="0">
                <a:latin typeface="Arial MT"/>
                <a:cs typeface="Arial MT"/>
              </a:rPr>
              <a:t>inappropriate,</a:t>
            </a:r>
            <a:r>
              <a:rPr sz="2201" spc="235" dirty="0">
                <a:latin typeface="Arial MT"/>
                <a:cs typeface="Arial MT"/>
              </a:rPr>
              <a:t> </a:t>
            </a:r>
            <a:r>
              <a:rPr sz="2201" dirty="0">
                <a:latin typeface="Arial MT"/>
                <a:cs typeface="Arial MT"/>
              </a:rPr>
              <a:t>it</a:t>
            </a:r>
            <a:r>
              <a:rPr sz="2201" spc="220" dirty="0">
                <a:latin typeface="Arial MT"/>
                <a:cs typeface="Arial MT"/>
              </a:rPr>
              <a:t> </a:t>
            </a:r>
            <a:r>
              <a:rPr sz="2201" dirty="0">
                <a:latin typeface="Arial MT"/>
                <a:cs typeface="Arial MT"/>
              </a:rPr>
              <a:t>is</a:t>
            </a:r>
            <a:r>
              <a:rPr sz="2201" spc="220" dirty="0">
                <a:latin typeface="Arial MT"/>
                <a:cs typeface="Arial MT"/>
              </a:rPr>
              <a:t> </a:t>
            </a:r>
            <a:r>
              <a:rPr sz="2201" dirty="0">
                <a:latin typeface="Arial MT"/>
                <a:cs typeface="Arial MT"/>
              </a:rPr>
              <a:t>preferable</a:t>
            </a:r>
            <a:r>
              <a:rPr sz="2201" spc="235" dirty="0">
                <a:latin typeface="Arial MT"/>
                <a:cs typeface="Arial MT"/>
              </a:rPr>
              <a:t> </a:t>
            </a:r>
            <a:r>
              <a:rPr sz="2201" spc="-25" dirty="0">
                <a:latin typeface="Arial MT"/>
                <a:cs typeface="Arial MT"/>
              </a:rPr>
              <a:t>to </a:t>
            </a:r>
            <a:r>
              <a:rPr sz="2201" dirty="0">
                <a:latin typeface="Arial MT"/>
                <a:cs typeface="Arial MT"/>
              </a:rPr>
              <a:t>obtain</a:t>
            </a:r>
            <a:r>
              <a:rPr sz="2201" spc="-50" dirty="0">
                <a:latin typeface="Arial MT"/>
                <a:cs typeface="Arial MT"/>
              </a:rPr>
              <a:t> </a:t>
            </a:r>
            <a:r>
              <a:rPr sz="2201" dirty="0">
                <a:latin typeface="Arial MT"/>
                <a:cs typeface="Arial MT"/>
              </a:rPr>
              <a:t>an</a:t>
            </a:r>
            <a:r>
              <a:rPr sz="2201" spc="-55" dirty="0">
                <a:latin typeface="Arial MT"/>
                <a:cs typeface="Arial MT"/>
              </a:rPr>
              <a:t> </a:t>
            </a:r>
            <a:r>
              <a:rPr sz="2201" dirty="0">
                <a:latin typeface="Arial MT"/>
                <a:cs typeface="Arial MT"/>
              </a:rPr>
              <a:t>emission</a:t>
            </a:r>
            <a:r>
              <a:rPr sz="2201" spc="-46" dirty="0">
                <a:latin typeface="Arial MT"/>
                <a:cs typeface="Arial MT"/>
              </a:rPr>
              <a:t> </a:t>
            </a:r>
            <a:r>
              <a:rPr sz="2201" dirty="0">
                <a:latin typeface="Arial MT"/>
                <a:cs typeface="Arial MT"/>
              </a:rPr>
              <a:t>factor</a:t>
            </a:r>
            <a:r>
              <a:rPr sz="2201" spc="-46" dirty="0">
                <a:latin typeface="Arial MT"/>
                <a:cs typeface="Arial MT"/>
              </a:rPr>
              <a:t> </a:t>
            </a:r>
            <a:r>
              <a:rPr sz="2201" dirty="0">
                <a:latin typeface="Arial MT"/>
                <a:cs typeface="Arial MT"/>
              </a:rPr>
              <a:t>that</a:t>
            </a:r>
            <a:r>
              <a:rPr sz="2201" spc="-50" dirty="0">
                <a:latin typeface="Arial MT"/>
                <a:cs typeface="Arial MT"/>
              </a:rPr>
              <a:t> </a:t>
            </a:r>
            <a:r>
              <a:rPr sz="2201" dirty="0">
                <a:latin typeface="Arial MT"/>
                <a:cs typeface="Arial MT"/>
              </a:rPr>
              <a:t>reflects</a:t>
            </a:r>
            <a:r>
              <a:rPr sz="2201" spc="-41" dirty="0">
                <a:latin typeface="Arial MT"/>
                <a:cs typeface="Arial MT"/>
              </a:rPr>
              <a:t> </a:t>
            </a:r>
            <a:r>
              <a:rPr sz="2201" dirty="0">
                <a:latin typeface="Arial MT"/>
                <a:cs typeface="Arial MT"/>
              </a:rPr>
              <a:t>the</a:t>
            </a:r>
            <a:r>
              <a:rPr sz="2201" spc="-50" dirty="0">
                <a:latin typeface="Arial MT"/>
                <a:cs typeface="Arial MT"/>
              </a:rPr>
              <a:t> </a:t>
            </a:r>
            <a:r>
              <a:rPr sz="2201" dirty="0">
                <a:latin typeface="Arial MT"/>
                <a:cs typeface="Arial MT"/>
              </a:rPr>
              <a:t>real</a:t>
            </a:r>
            <a:r>
              <a:rPr sz="2201" spc="-50" dirty="0">
                <a:latin typeface="Arial MT"/>
                <a:cs typeface="Arial MT"/>
              </a:rPr>
              <a:t> </a:t>
            </a:r>
            <a:r>
              <a:rPr sz="2201" dirty="0">
                <a:latin typeface="Arial MT"/>
                <a:cs typeface="Arial MT"/>
              </a:rPr>
              <a:t>situation</a:t>
            </a:r>
            <a:r>
              <a:rPr sz="2201" spc="-46" dirty="0">
                <a:latin typeface="Arial MT"/>
                <a:cs typeface="Arial MT"/>
              </a:rPr>
              <a:t> </a:t>
            </a:r>
            <a:r>
              <a:rPr sz="2201" dirty="0">
                <a:latin typeface="Arial MT"/>
                <a:cs typeface="Arial MT"/>
              </a:rPr>
              <a:t>by</a:t>
            </a:r>
            <a:r>
              <a:rPr sz="2201" spc="-60" dirty="0">
                <a:latin typeface="Arial MT"/>
                <a:cs typeface="Arial MT"/>
              </a:rPr>
              <a:t> </a:t>
            </a:r>
            <a:r>
              <a:rPr sz="2201" dirty="0">
                <a:latin typeface="Arial MT"/>
                <a:cs typeface="Arial MT"/>
              </a:rPr>
              <a:t>direct</a:t>
            </a:r>
            <a:r>
              <a:rPr sz="2201" spc="-50" dirty="0">
                <a:latin typeface="Arial MT"/>
                <a:cs typeface="Arial MT"/>
              </a:rPr>
              <a:t> </a:t>
            </a:r>
            <a:r>
              <a:rPr sz="2201" spc="-10" dirty="0">
                <a:latin typeface="Arial MT"/>
                <a:cs typeface="Arial MT"/>
              </a:rPr>
              <a:t>measurement.</a:t>
            </a:r>
            <a:endParaRPr sz="2201">
              <a:latin typeface="Arial MT"/>
              <a:cs typeface="Arial MT"/>
            </a:endParaRPr>
          </a:p>
          <a:p>
            <a:pPr marL="241306" marR="5081" indent="-228606" algn="just">
              <a:lnSpc>
                <a:spcPct val="140000"/>
              </a:lnSpc>
              <a:spcBef>
                <a:spcPts val="994"/>
              </a:spcBef>
              <a:buChar char="•"/>
              <a:tabLst>
                <a:tab pos="241306" algn="l"/>
              </a:tabLst>
            </a:pPr>
            <a:r>
              <a:rPr sz="2201" dirty="0">
                <a:latin typeface="Arial MT"/>
                <a:cs typeface="Arial MT"/>
              </a:rPr>
              <a:t>The</a:t>
            </a:r>
            <a:r>
              <a:rPr sz="2201" spc="90" dirty="0">
                <a:latin typeface="Arial MT"/>
                <a:cs typeface="Arial MT"/>
              </a:rPr>
              <a:t> </a:t>
            </a:r>
            <a:r>
              <a:rPr sz="2201" dirty="0">
                <a:latin typeface="Arial MT"/>
                <a:cs typeface="Arial MT"/>
              </a:rPr>
              <a:t>rates</a:t>
            </a:r>
            <a:r>
              <a:rPr sz="2201" spc="100" dirty="0">
                <a:latin typeface="Arial MT"/>
                <a:cs typeface="Arial MT"/>
              </a:rPr>
              <a:t> </a:t>
            </a:r>
            <a:r>
              <a:rPr sz="2201" dirty="0">
                <a:latin typeface="Arial MT"/>
                <a:cs typeface="Arial MT"/>
              </a:rPr>
              <a:t>of</a:t>
            </a:r>
            <a:r>
              <a:rPr sz="2201" spc="100" dirty="0">
                <a:latin typeface="Arial MT"/>
                <a:cs typeface="Arial MT"/>
              </a:rPr>
              <a:t> </a:t>
            </a:r>
            <a:r>
              <a:rPr sz="2201" dirty="0">
                <a:latin typeface="Arial MT"/>
                <a:cs typeface="Arial MT"/>
              </a:rPr>
              <a:t>reduction</a:t>
            </a:r>
            <a:r>
              <a:rPr sz="2201" spc="100" dirty="0">
                <a:latin typeface="Arial MT"/>
                <a:cs typeface="Arial MT"/>
              </a:rPr>
              <a:t> </a:t>
            </a:r>
            <a:r>
              <a:rPr sz="2201" dirty="0">
                <a:latin typeface="Arial MT"/>
                <a:cs typeface="Arial MT"/>
              </a:rPr>
              <a:t>and</a:t>
            </a:r>
            <a:r>
              <a:rPr sz="2201" spc="100" dirty="0">
                <a:latin typeface="Arial MT"/>
                <a:cs typeface="Arial MT"/>
              </a:rPr>
              <a:t> </a:t>
            </a:r>
            <a:r>
              <a:rPr sz="2201" dirty="0">
                <a:latin typeface="Arial MT"/>
                <a:cs typeface="Arial MT"/>
              </a:rPr>
              <a:t>propagation</a:t>
            </a:r>
            <a:r>
              <a:rPr sz="2201" spc="100" dirty="0">
                <a:latin typeface="Arial MT"/>
                <a:cs typeface="Arial MT"/>
              </a:rPr>
              <a:t> </a:t>
            </a:r>
            <a:r>
              <a:rPr sz="2201" dirty="0">
                <a:latin typeface="Arial MT"/>
                <a:cs typeface="Arial MT"/>
              </a:rPr>
              <a:t>of</a:t>
            </a:r>
            <a:r>
              <a:rPr sz="2201" spc="95" dirty="0">
                <a:latin typeface="Arial MT"/>
                <a:cs typeface="Arial MT"/>
              </a:rPr>
              <a:t> </a:t>
            </a:r>
            <a:r>
              <a:rPr sz="2201" dirty="0">
                <a:latin typeface="Arial MT"/>
                <a:cs typeface="Arial MT"/>
              </a:rPr>
              <a:t>technical</a:t>
            </a:r>
            <a:r>
              <a:rPr sz="2201" spc="100" dirty="0">
                <a:latin typeface="Arial MT"/>
                <a:cs typeface="Arial MT"/>
              </a:rPr>
              <a:t> </a:t>
            </a:r>
            <a:r>
              <a:rPr sz="2201" dirty="0">
                <a:latin typeface="Arial MT"/>
                <a:cs typeface="Arial MT"/>
              </a:rPr>
              <a:t>measures</a:t>
            </a:r>
            <a:r>
              <a:rPr sz="2201" spc="105" dirty="0">
                <a:latin typeface="Arial MT"/>
                <a:cs typeface="Arial MT"/>
              </a:rPr>
              <a:t> </a:t>
            </a:r>
            <a:r>
              <a:rPr sz="2201" dirty="0">
                <a:latin typeface="Arial MT"/>
                <a:cs typeface="Arial MT"/>
              </a:rPr>
              <a:t>have</a:t>
            </a:r>
            <a:r>
              <a:rPr sz="2201" spc="90" dirty="0">
                <a:latin typeface="Arial MT"/>
                <a:cs typeface="Arial MT"/>
              </a:rPr>
              <a:t> </a:t>
            </a:r>
            <a:r>
              <a:rPr sz="2201" dirty="0">
                <a:latin typeface="Arial MT"/>
                <a:cs typeface="Arial MT"/>
              </a:rPr>
              <a:t>to</a:t>
            </a:r>
            <a:r>
              <a:rPr sz="2201" spc="110" dirty="0">
                <a:latin typeface="Arial MT"/>
                <a:cs typeface="Arial MT"/>
              </a:rPr>
              <a:t> </a:t>
            </a:r>
            <a:r>
              <a:rPr sz="2201" dirty="0">
                <a:latin typeface="Arial MT"/>
                <a:cs typeface="Arial MT"/>
              </a:rPr>
              <a:t>be</a:t>
            </a:r>
            <a:r>
              <a:rPr sz="2201" spc="90" dirty="0">
                <a:latin typeface="Arial MT"/>
                <a:cs typeface="Arial MT"/>
              </a:rPr>
              <a:t> </a:t>
            </a:r>
            <a:r>
              <a:rPr sz="2201" spc="-10" dirty="0">
                <a:latin typeface="Arial MT"/>
                <a:cs typeface="Arial MT"/>
              </a:rPr>
              <a:t>reflected </a:t>
            </a:r>
            <a:r>
              <a:rPr sz="2201" dirty="0">
                <a:latin typeface="Arial MT"/>
                <a:cs typeface="Arial MT"/>
              </a:rPr>
              <a:t>in</a:t>
            </a:r>
            <a:r>
              <a:rPr sz="2201" spc="140" dirty="0">
                <a:latin typeface="Arial MT"/>
                <a:cs typeface="Arial MT"/>
              </a:rPr>
              <a:t> </a:t>
            </a:r>
            <a:r>
              <a:rPr sz="2201" dirty="0">
                <a:latin typeface="Arial MT"/>
                <a:cs typeface="Arial MT"/>
              </a:rPr>
              <a:t>the</a:t>
            </a:r>
            <a:r>
              <a:rPr sz="2201" spc="150" dirty="0">
                <a:latin typeface="Arial MT"/>
                <a:cs typeface="Arial MT"/>
              </a:rPr>
              <a:t> </a:t>
            </a:r>
            <a:r>
              <a:rPr sz="2201" dirty="0">
                <a:latin typeface="Arial MT"/>
                <a:cs typeface="Arial MT"/>
              </a:rPr>
              <a:t>factor</a:t>
            </a:r>
            <a:r>
              <a:rPr sz="2201" spc="150" dirty="0">
                <a:latin typeface="Arial MT"/>
                <a:cs typeface="Arial MT"/>
              </a:rPr>
              <a:t> </a:t>
            </a:r>
            <a:r>
              <a:rPr sz="2201" dirty="0">
                <a:latin typeface="Arial MT"/>
                <a:cs typeface="Arial MT"/>
              </a:rPr>
              <a:t>or</a:t>
            </a:r>
            <a:r>
              <a:rPr sz="2201" spc="145" dirty="0">
                <a:latin typeface="Arial MT"/>
                <a:cs typeface="Arial MT"/>
              </a:rPr>
              <a:t> </a:t>
            </a:r>
            <a:r>
              <a:rPr sz="2201" dirty="0">
                <a:latin typeface="Arial MT"/>
                <a:cs typeface="Arial MT"/>
              </a:rPr>
              <a:t>the</a:t>
            </a:r>
            <a:r>
              <a:rPr sz="2201" spc="150" dirty="0">
                <a:latin typeface="Arial MT"/>
                <a:cs typeface="Arial MT"/>
              </a:rPr>
              <a:t> </a:t>
            </a:r>
            <a:r>
              <a:rPr sz="2201" dirty="0">
                <a:latin typeface="Arial MT"/>
                <a:cs typeface="Arial MT"/>
              </a:rPr>
              <a:t>formula,</a:t>
            </a:r>
            <a:r>
              <a:rPr sz="2201" spc="150" dirty="0">
                <a:latin typeface="Arial MT"/>
                <a:cs typeface="Arial MT"/>
              </a:rPr>
              <a:t> </a:t>
            </a:r>
            <a:r>
              <a:rPr sz="2201" dirty="0">
                <a:latin typeface="Arial MT"/>
                <a:cs typeface="Arial MT"/>
              </a:rPr>
              <a:t>because</a:t>
            </a:r>
            <a:r>
              <a:rPr sz="2201" spc="150" dirty="0">
                <a:latin typeface="Arial MT"/>
                <a:cs typeface="Arial MT"/>
              </a:rPr>
              <a:t> </a:t>
            </a:r>
            <a:r>
              <a:rPr sz="2201" dirty="0">
                <a:latin typeface="Arial MT"/>
                <a:cs typeface="Arial MT"/>
              </a:rPr>
              <a:t>introduction</a:t>
            </a:r>
            <a:r>
              <a:rPr sz="2201" spc="145" dirty="0">
                <a:latin typeface="Arial MT"/>
                <a:cs typeface="Arial MT"/>
              </a:rPr>
              <a:t> </a:t>
            </a:r>
            <a:r>
              <a:rPr sz="2201" dirty="0">
                <a:latin typeface="Arial MT"/>
                <a:cs typeface="Arial MT"/>
              </a:rPr>
              <a:t>of</a:t>
            </a:r>
            <a:r>
              <a:rPr sz="2201" spc="145" dirty="0">
                <a:latin typeface="Arial MT"/>
                <a:cs typeface="Arial MT"/>
              </a:rPr>
              <a:t> </a:t>
            </a:r>
            <a:r>
              <a:rPr sz="2201" dirty="0">
                <a:latin typeface="Arial MT"/>
                <a:cs typeface="Arial MT"/>
              </a:rPr>
              <a:t>countermeasures</a:t>
            </a:r>
            <a:r>
              <a:rPr sz="2201" spc="160" dirty="0">
                <a:latin typeface="Arial MT"/>
                <a:cs typeface="Arial MT"/>
              </a:rPr>
              <a:t> </a:t>
            </a:r>
            <a:r>
              <a:rPr sz="2201" dirty="0">
                <a:latin typeface="Arial MT"/>
                <a:cs typeface="Arial MT"/>
              </a:rPr>
              <a:t>reduces</a:t>
            </a:r>
            <a:r>
              <a:rPr sz="2201" spc="155" dirty="0">
                <a:latin typeface="Arial MT"/>
                <a:cs typeface="Arial MT"/>
              </a:rPr>
              <a:t> </a:t>
            </a:r>
            <a:r>
              <a:rPr sz="2201" spc="-25" dirty="0">
                <a:latin typeface="Arial MT"/>
                <a:cs typeface="Arial MT"/>
              </a:rPr>
              <a:t>the </a:t>
            </a:r>
            <a:r>
              <a:rPr sz="2201" spc="-10" dirty="0">
                <a:latin typeface="Arial MT"/>
                <a:cs typeface="Arial MT"/>
              </a:rPr>
              <a:t>emission.</a:t>
            </a:r>
            <a:endParaRPr sz="2201">
              <a:latin typeface="Arial MT"/>
              <a:cs typeface="Arial MT"/>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xfrm>
            <a:off x="8993409" y="6464911"/>
            <a:ext cx="198636" cy="156068"/>
          </a:xfrm>
          <a:prstGeom prst="rect">
            <a:avLst/>
          </a:prstGeom>
        </p:spPr>
        <p:txBody>
          <a:bodyPr vert="horz" wrap="square" lIns="0" tIns="0" rIns="0" bIns="0" rtlCol="0">
            <a:spAutoFit/>
          </a:bodyPr>
          <a:lstStyle/>
          <a:p>
            <a:pPr marL="38101">
              <a:lnSpc>
                <a:spcPts val="1239"/>
              </a:lnSpc>
            </a:pPr>
            <a:fld id="{81D60167-4931-47E6-BA6A-407CBD079E47}" type="slidenum">
              <a:rPr spc="-25" dirty="0"/>
              <a:pPr marL="38101">
                <a:lnSpc>
                  <a:spcPts val="1239"/>
                </a:lnSpc>
              </a:pPr>
              <a:t>87</a:t>
            </a:fld>
            <a:endParaRPr spc="-25" dirty="0"/>
          </a:p>
        </p:txBody>
      </p:sp>
      <p:sp>
        <p:nvSpPr>
          <p:cNvPr id="2" name="object 2"/>
          <p:cNvSpPr txBox="1">
            <a:spLocks noGrp="1"/>
          </p:cNvSpPr>
          <p:nvPr>
            <p:ph type="title"/>
          </p:nvPr>
        </p:nvSpPr>
        <p:spPr>
          <a:xfrm>
            <a:off x="470371" y="133351"/>
            <a:ext cx="7600956" cy="892423"/>
          </a:xfrm>
          <a:prstGeom prst="rect">
            <a:avLst/>
          </a:prstGeom>
        </p:spPr>
        <p:txBody>
          <a:bodyPr vert="horz" wrap="square" lIns="0" tIns="396112" rIns="0" bIns="0" rtlCol="0">
            <a:spAutoFit/>
          </a:bodyPr>
          <a:lstStyle/>
          <a:p>
            <a:pPr marL="131448">
              <a:spcBef>
                <a:spcPts val="105"/>
              </a:spcBef>
            </a:pPr>
            <a:r>
              <a:rPr dirty="0"/>
              <a:t>Emission</a:t>
            </a:r>
            <a:r>
              <a:rPr spc="-55" dirty="0"/>
              <a:t> </a:t>
            </a:r>
            <a:r>
              <a:rPr spc="-10" dirty="0"/>
              <a:t>Inventory</a:t>
            </a:r>
          </a:p>
        </p:txBody>
      </p:sp>
      <p:sp>
        <p:nvSpPr>
          <p:cNvPr id="3" name="object 3"/>
          <p:cNvSpPr txBox="1"/>
          <p:nvPr/>
        </p:nvSpPr>
        <p:spPr>
          <a:xfrm>
            <a:off x="542342" y="1672286"/>
            <a:ext cx="10233025" cy="1736373"/>
          </a:xfrm>
          <a:prstGeom prst="rect">
            <a:avLst/>
          </a:prstGeom>
        </p:spPr>
        <p:txBody>
          <a:bodyPr vert="horz" wrap="square" lIns="0" tIns="12700" rIns="0" bIns="0" rtlCol="0">
            <a:spAutoFit/>
          </a:bodyPr>
          <a:lstStyle/>
          <a:p>
            <a:pPr marL="283852" indent="-273057">
              <a:spcBef>
                <a:spcPts val="100"/>
              </a:spcBef>
              <a:buSzPct val="96000"/>
              <a:buFont typeface="Wingdings" panose="05000000000000000000"/>
              <a:buChar char=""/>
              <a:tabLst>
                <a:tab pos="283852" algn="l"/>
              </a:tabLst>
            </a:pPr>
            <a:r>
              <a:rPr sz="2400" b="1" dirty="0">
                <a:solidFill>
                  <a:srgbClr val="C55A11"/>
                </a:solidFill>
                <a:latin typeface="Arial" panose="020B0604020202020204"/>
                <a:cs typeface="Arial" panose="020B0604020202020204"/>
              </a:rPr>
              <a:t>Activity</a:t>
            </a:r>
            <a:r>
              <a:rPr sz="2400" b="1" spc="-65" dirty="0">
                <a:solidFill>
                  <a:srgbClr val="C55A11"/>
                </a:solidFill>
                <a:latin typeface="Arial" panose="020B0604020202020204"/>
                <a:cs typeface="Arial" panose="020B0604020202020204"/>
              </a:rPr>
              <a:t> </a:t>
            </a:r>
            <a:r>
              <a:rPr sz="2400" b="1" spc="-20" dirty="0">
                <a:solidFill>
                  <a:srgbClr val="C55A11"/>
                </a:solidFill>
                <a:latin typeface="Arial" panose="020B0604020202020204"/>
                <a:cs typeface="Arial" panose="020B0604020202020204"/>
              </a:rPr>
              <a:t>data</a:t>
            </a:r>
            <a:endParaRPr sz="2400">
              <a:latin typeface="Arial" panose="020B0604020202020204"/>
              <a:cs typeface="Arial" panose="020B0604020202020204"/>
            </a:endParaRPr>
          </a:p>
          <a:p>
            <a:pPr marL="240036" indent="-227336">
              <a:spcBef>
                <a:spcPts val="2441"/>
              </a:spcBef>
              <a:buChar char="•"/>
              <a:tabLst>
                <a:tab pos="239400" algn="l"/>
              </a:tabLst>
            </a:pPr>
            <a:r>
              <a:rPr sz="2400" dirty="0">
                <a:latin typeface="Arial MT"/>
                <a:cs typeface="Arial MT"/>
              </a:rPr>
              <a:t>Activity</a:t>
            </a:r>
            <a:r>
              <a:rPr sz="2400" spc="-55" dirty="0">
                <a:latin typeface="Arial MT"/>
                <a:cs typeface="Arial MT"/>
              </a:rPr>
              <a:t> </a:t>
            </a:r>
            <a:r>
              <a:rPr sz="2400" dirty="0">
                <a:latin typeface="Arial MT"/>
                <a:cs typeface="Arial MT"/>
              </a:rPr>
              <a:t>data</a:t>
            </a:r>
            <a:r>
              <a:rPr sz="2400" spc="-60" dirty="0">
                <a:latin typeface="Arial MT"/>
                <a:cs typeface="Arial MT"/>
              </a:rPr>
              <a:t> </a:t>
            </a:r>
            <a:r>
              <a:rPr sz="2400" dirty="0">
                <a:latin typeface="Arial MT"/>
                <a:cs typeface="Arial MT"/>
              </a:rPr>
              <a:t>give</a:t>
            </a:r>
            <a:r>
              <a:rPr sz="2400" spc="-46" dirty="0">
                <a:latin typeface="Arial MT"/>
                <a:cs typeface="Arial MT"/>
              </a:rPr>
              <a:t> </a:t>
            </a:r>
            <a:r>
              <a:rPr sz="2400" dirty="0">
                <a:latin typeface="Arial MT"/>
                <a:cs typeface="Arial MT"/>
              </a:rPr>
              <a:t>a</a:t>
            </a:r>
            <a:r>
              <a:rPr sz="2400" spc="-50" dirty="0">
                <a:latin typeface="Arial MT"/>
                <a:cs typeface="Arial MT"/>
              </a:rPr>
              <a:t> </a:t>
            </a:r>
            <a:r>
              <a:rPr sz="2400" dirty="0">
                <a:latin typeface="Arial MT"/>
                <a:cs typeface="Arial MT"/>
              </a:rPr>
              <a:t>measure</a:t>
            </a:r>
            <a:r>
              <a:rPr sz="2400" spc="-50" dirty="0">
                <a:latin typeface="Arial MT"/>
                <a:cs typeface="Arial MT"/>
              </a:rPr>
              <a:t> </a:t>
            </a:r>
            <a:r>
              <a:rPr sz="2400" dirty="0">
                <a:latin typeface="Arial MT"/>
                <a:cs typeface="Arial MT"/>
              </a:rPr>
              <a:t>of</a:t>
            </a:r>
            <a:r>
              <a:rPr sz="2400" spc="-55" dirty="0">
                <a:latin typeface="Arial MT"/>
                <a:cs typeface="Arial MT"/>
              </a:rPr>
              <a:t> </a:t>
            </a:r>
            <a:r>
              <a:rPr sz="2400" dirty="0">
                <a:latin typeface="Arial MT"/>
                <a:cs typeface="Arial MT"/>
              </a:rPr>
              <a:t>the</a:t>
            </a:r>
            <a:r>
              <a:rPr sz="2400" spc="-50" dirty="0">
                <a:latin typeface="Arial MT"/>
                <a:cs typeface="Arial MT"/>
              </a:rPr>
              <a:t> </a:t>
            </a:r>
            <a:r>
              <a:rPr sz="2400" dirty="0">
                <a:latin typeface="Arial MT"/>
                <a:cs typeface="Arial MT"/>
              </a:rPr>
              <a:t>scale</a:t>
            </a:r>
            <a:r>
              <a:rPr sz="2400" spc="-55" dirty="0">
                <a:latin typeface="Arial MT"/>
                <a:cs typeface="Arial MT"/>
              </a:rPr>
              <a:t> </a:t>
            </a:r>
            <a:r>
              <a:rPr sz="2400" dirty="0">
                <a:latin typeface="Arial MT"/>
                <a:cs typeface="Arial MT"/>
              </a:rPr>
              <a:t>of</a:t>
            </a:r>
            <a:r>
              <a:rPr sz="2400" spc="-55" dirty="0">
                <a:latin typeface="Arial MT"/>
                <a:cs typeface="Arial MT"/>
              </a:rPr>
              <a:t> </a:t>
            </a:r>
            <a:r>
              <a:rPr sz="2400" dirty="0">
                <a:latin typeface="Arial MT"/>
                <a:cs typeface="Arial MT"/>
              </a:rPr>
              <a:t>activity</a:t>
            </a:r>
            <a:r>
              <a:rPr sz="2400" spc="-55" dirty="0">
                <a:latin typeface="Arial MT"/>
                <a:cs typeface="Arial MT"/>
              </a:rPr>
              <a:t> </a:t>
            </a:r>
            <a:r>
              <a:rPr sz="2400" dirty="0">
                <a:latin typeface="Arial MT"/>
                <a:cs typeface="Arial MT"/>
              </a:rPr>
              <a:t>causing</a:t>
            </a:r>
            <a:r>
              <a:rPr sz="2400" spc="-30" dirty="0">
                <a:latin typeface="Arial MT"/>
                <a:cs typeface="Arial MT"/>
              </a:rPr>
              <a:t> </a:t>
            </a:r>
            <a:r>
              <a:rPr sz="2400" dirty="0">
                <a:latin typeface="Arial MT"/>
                <a:cs typeface="Arial MT"/>
              </a:rPr>
              <a:t>the</a:t>
            </a:r>
            <a:r>
              <a:rPr sz="2400" spc="-60" dirty="0">
                <a:latin typeface="Arial MT"/>
                <a:cs typeface="Arial MT"/>
              </a:rPr>
              <a:t> </a:t>
            </a:r>
            <a:r>
              <a:rPr sz="2400" spc="-10" dirty="0">
                <a:latin typeface="Arial MT"/>
                <a:cs typeface="Arial MT"/>
              </a:rPr>
              <a:t>emissions.</a:t>
            </a:r>
            <a:endParaRPr sz="2400">
              <a:latin typeface="Arial MT"/>
              <a:cs typeface="Arial MT"/>
            </a:endParaRPr>
          </a:p>
          <a:p>
            <a:pPr marL="240036" indent="-227336">
              <a:spcBef>
                <a:spcPts val="2446"/>
              </a:spcBef>
              <a:buChar char="•"/>
              <a:tabLst>
                <a:tab pos="239400" algn="l"/>
              </a:tabLst>
            </a:pPr>
            <a:r>
              <a:rPr sz="2400" dirty="0">
                <a:latin typeface="Arial MT"/>
                <a:cs typeface="Arial MT"/>
              </a:rPr>
              <a:t>The</a:t>
            </a:r>
            <a:r>
              <a:rPr sz="2400" spc="-60" dirty="0">
                <a:latin typeface="Arial MT"/>
                <a:cs typeface="Arial MT"/>
              </a:rPr>
              <a:t> </a:t>
            </a:r>
            <a:r>
              <a:rPr sz="2400" dirty="0">
                <a:latin typeface="Arial MT"/>
                <a:cs typeface="Arial MT"/>
              </a:rPr>
              <a:t>necessary</a:t>
            </a:r>
            <a:r>
              <a:rPr sz="2400" spc="-50" dirty="0">
                <a:latin typeface="Arial MT"/>
                <a:cs typeface="Arial MT"/>
              </a:rPr>
              <a:t> </a:t>
            </a:r>
            <a:r>
              <a:rPr sz="2400" dirty="0">
                <a:latin typeface="Arial MT"/>
                <a:cs typeface="Arial MT"/>
              </a:rPr>
              <a:t>data</a:t>
            </a:r>
            <a:r>
              <a:rPr sz="2400" spc="-46" dirty="0">
                <a:latin typeface="Arial MT"/>
                <a:cs typeface="Arial MT"/>
              </a:rPr>
              <a:t> </a:t>
            </a:r>
            <a:r>
              <a:rPr sz="2400" dirty="0">
                <a:latin typeface="Arial MT"/>
                <a:cs typeface="Arial MT"/>
              </a:rPr>
              <a:t>basically</a:t>
            </a:r>
            <a:r>
              <a:rPr sz="2400" spc="-34" dirty="0">
                <a:latin typeface="Arial MT"/>
                <a:cs typeface="Arial MT"/>
              </a:rPr>
              <a:t> </a:t>
            </a:r>
            <a:r>
              <a:rPr sz="2400" dirty="0">
                <a:latin typeface="Arial MT"/>
                <a:cs typeface="Arial MT"/>
              </a:rPr>
              <a:t>can</a:t>
            </a:r>
            <a:r>
              <a:rPr sz="2400" spc="-50" dirty="0">
                <a:latin typeface="Arial MT"/>
                <a:cs typeface="Arial MT"/>
              </a:rPr>
              <a:t> </a:t>
            </a:r>
            <a:r>
              <a:rPr sz="2400" dirty="0">
                <a:latin typeface="Arial MT"/>
                <a:cs typeface="Arial MT"/>
              </a:rPr>
              <a:t>be</a:t>
            </a:r>
            <a:r>
              <a:rPr sz="2400" spc="-50" dirty="0">
                <a:latin typeface="Arial MT"/>
                <a:cs typeface="Arial MT"/>
              </a:rPr>
              <a:t> </a:t>
            </a:r>
            <a:r>
              <a:rPr sz="2400" dirty="0">
                <a:latin typeface="Arial MT"/>
                <a:cs typeface="Arial MT"/>
              </a:rPr>
              <a:t>collected</a:t>
            </a:r>
            <a:r>
              <a:rPr sz="2400" spc="-30" dirty="0">
                <a:latin typeface="Arial MT"/>
                <a:cs typeface="Arial MT"/>
              </a:rPr>
              <a:t> </a:t>
            </a:r>
            <a:r>
              <a:rPr sz="2400" dirty="0">
                <a:latin typeface="Arial MT"/>
                <a:cs typeface="Arial MT"/>
              </a:rPr>
              <a:t>from</a:t>
            </a:r>
            <a:r>
              <a:rPr sz="2400" spc="-80" dirty="0">
                <a:latin typeface="Arial MT"/>
                <a:cs typeface="Arial MT"/>
              </a:rPr>
              <a:t> </a:t>
            </a:r>
            <a:r>
              <a:rPr sz="2400" dirty="0">
                <a:latin typeface="Arial MT"/>
                <a:cs typeface="Arial MT"/>
              </a:rPr>
              <a:t>statistics</a:t>
            </a:r>
            <a:r>
              <a:rPr sz="2400" spc="-70" dirty="0">
                <a:latin typeface="Arial MT"/>
                <a:cs typeface="Arial MT"/>
              </a:rPr>
              <a:t> </a:t>
            </a:r>
            <a:r>
              <a:rPr sz="2400" dirty="0">
                <a:latin typeface="Arial MT"/>
                <a:cs typeface="Arial MT"/>
              </a:rPr>
              <a:t>and</a:t>
            </a:r>
            <a:r>
              <a:rPr sz="2400" spc="-55" dirty="0">
                <a:latin typeface="Arial MT"/>
                <a:cs typeface="Arial MT"/>
              </a:rPr>
              <a:t> </a:t>
            </a:r>
            <a:r>
              <a:rPr sz="2400" spc="-10" dirty="0">
                <a:latin typeface="Arial MT"/>
                <a:cs typeface="Arial MT"/>
              </a:rPr>
              <a:t>surveys</a:t>
            </a:r>
            <a:endParaRPr sz="2400">
              <a:latin typeface="Arial MT"/>
              <a:cs typeface="Arial MT"/>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xfrm>
            <a:off x="8993409" y="6464911"/>
            <a:ext cx="198636" cy="156068"/>
          </a:xfrm>
          <a:prstGeom prst="rect">
            <a:avLst/>
          </a:prstGeom>
        </p:spPr>
        <p:txBody>
          <a:bodyPr vert="horz" wrap="square" lIns="0" tIns="0" rIns="0" bIns="0" rtlCol="0">
            <a:spAutoFit/>
          </a:bodyPr>
          <a:lstStyle/>
          <a:p>
            <a:pPr marL="38101">
              <a:lnSpc>
                <a:spcPts val="1239"/>
              </a:lnSpc>
            </a:pPr>
            <a:fld id="{81D60167-4931-47E6-BA6A-407CBD079E47}" type="slidenum">
              <a:rPr spc="-25" dirty="0"/>
              <a:pPr marL="38101">
                <a:lnSpc>
                  <a:spcPts val="1239"/>
                </a:lnSpc>
              </a:pPr>
              <a:t>88</a:t>
            </a:fld>
            <a:endParaRPr spc="-25" dirty="0"/>
          </a:p>
        </p:txBody>
      </p:sp>
      <p:sp>
        <p:nvSpPr>
          <p:cNvPr id="2" name="object 2"/>
          <p:cNvSpPr txBox="1">
            <a:spLocks noGrp="1"/>
          </p:cNvSpPr>
          <p:nvPr>
            <p:ph type="title"/>
          </p:nvPr>
        </p:nvSpPr>
        <p:spPr>
          <a:xfrm>
            <a:off x="470371" y="133351"/>
            <a:ext cx="7600956" cy="892423"/>
          </a:xfrm>
          <a:prstGeom prst="rect">
            <a:avLst/>
          </a:prstGeom>
        </p:spPr>
        <p:txBody>
          <a:bodyPr vert="horz" wrap="square" lIns="0" tIns="396112" rIns="0" bIns="0" rtlCol="0">
            <a:spAutoFit/>
          </a:bodyPr>
          <a:lstStyle/>
          <a:p>
            <a:pPr marL="131448">
              <a:spcBef>
                <a:spcPts val="105"/>
              </a:spcBef>
            </a:pPr>
            <a:r>
              <a:rPr dirty="0"/>
              <a:t>Emission</a:t>
            </a:r>
            <a:r>
              <a:rPr spc="-55" dirty="0"/>
              <a:t> </a:t>
            </a:r>
            <a:r>
              <a:rPr spc="-10" dirty="0"/>
              <a:t>Inventory</a:t>
            </a:r>
          </a:p>
        </p:txBody>
      </p:sp>
      <p:sp>
        <p:nvSpPr>
          <p:cNvPr id="3" name="object 3"/>
          <p:cNvSpPr txBox="1"/>
          <p:nvPr/>
        </p:nvSpPr>
        <p:spPr>
          <a:xfrm>
            <a:off x="542340" y="1427176"/>
            <a:ext cx="10405110" cy="4571251"/>
          </a:xfrm>
          <a:prstGeom prst="rect">
            <a:avLst/>
          </a:prstGeom>
        </p:spPr>
        <p:txBody>
          <a:bodyPr vert="horz" wrap="square" lIns="0" tIns="12700" rIns="0" bIns="0" rtlCol="0">
            <a:spAutoFit/>
          </a:bodyPr>
          <a:lstStyle/>
          <a:p>
            <a:pPr marL="12701">
              <a:spcBef>
                <a:spcPts val="100"/>
              </a:spcBef>
            </a:pPr>
            <a:r>
              <a:rPr sz="2400" b="1" dirty="0">
                <a:solidFill>
                  <a:srgbClr val="C55A11"/>
                </a:solidFill>
                <a:latin typeface="Arial" panose="020B0604020202020204"/>
                <a:cs typeface="Arial" panose="020B0604020202020204"/>
              </a:rPr>
              <a:t>An</a:t>
            </a:r>
            <a:r>
              <a:rPr sz="2400" b="1" spc="-25" dirty="0">
                <a:solidFill>
                  <a:srgbClr val="C55A11"/>
                </a:solidFill>
                <a:latin typeface="Arial" panose="020B0604020202020204"/>
                <a:cs typeface="Arial" panose="020B0604020202020204"/>
              </a:rPr>
              <a:t> </a:t>
            </a:r>
            <a:r>
              <a:rPr sz="2400" b="1" dirty="0">
                <a:solidFill>
                  <a:srgbClr val="C55A11"/>
                </a:solidFill>
                <a:latin typeface="Arial" panose="020B0604020202020204"/>
                <a:cs typeface="Arial" panose="020B0604020202020204"/>
              </a:rPr>
              <a:t>emission</a:t>
            </a:r>
            <a:r>
              <a:rPr sz="2400" b="1" spc="-25" dirty="0">
                <a:solidFill>
                  <a:srgbClr val="C55A11"/>
                </a:solidFill>
                <a:latin typeface="Arial" panose="020B0604020202020204"/>
                <a:cs typeface="Arial" panose="020B0604020202020204"/>
              </a:rPr>
              <a:t> </a:t>
            </a:r>
            <a:r>
              <a:rPr sz="2400" b="1" dirty="0">
                <a:solidFill>
                  <a:srgbClr val="C55A11"/>
                </a:solidFill>
                <a:latin typeface="Arial" panose="020B0604020202020204"/>
                <a:cs typeface="Arial" panose="020B0604020202020204"/>
              </a:rPr>
              <a:t>inventory</a:t>
            </a:r>
            <a:r>
              <a:rPr sz="2400" b="1" spc="-30" dirty="0">
                <a:solidFill>
                  <a:srgbClr val="C55A11"/>
                </a:solidFill>
                <a:latin typeface="Arial" panose="020B0604020202020204"/>
                <a:cs typeface="Arial" panose="020B0604020202020204"/>
              </a:rPr>
              <a:t> </a:t>
            </a:r>
            <a:r>
              <a:rPr sz="2400" b="1" dirty="0">
                <a:solidFill>
                  <a:srgbClr val="C55A11"/>
                </a:solidFill>
                <a:latin typeface="Arial" panose="020B0604020202020204"/>
                <a:cs typeface="Arial" panose="020B0604020202020204"/>
              </a:rPr>
              <a:t>can</a:t>
            </a:r>
            <a:r>
              <a:rPr sz="2400" b="1" spc="-10" dirty="0">
                <a:solidFill>
                  <a:srgbClr val="C55A11"/>
                </a:solidFill>
                <a:latin typeface="Arial" panose="020B0604020202020204"/>
                <a:cs typeface="Arial" panose="020B0604020202020204"/>
              </a:rPr>
              <a:t> </a:t>
            </a:r>
            <a:r>
              <a:rPr sz="2400" b="1" dirty="0">
                <a:solidFill>
                  <a:srgbClr val="C55A11"/>
                </a:solidFill>
                <a:latin typeface="Arial" panose="020B0604020202020204"/>
                <a:cs typeface="Arial" panose="020B0604020202020204"/>
              </a:rPr>
              <a:t>be</a:t>
            </a:r>
            <a:r>
              <a:rPr sz="2400" b="1" spc="-20" dirty="0">
                <a:solidFill>
                  <a:srgbClr val="C55A11"/>
                </a:solidFill>
                <a:latin typeface="Arial" panose="020B0604020202020204"/>
                <a:cs typeface="Arial" panose="020B0604020202020204"/>
              </a:rPr>
              <a:t> </a:t>
            </a:r>
            <a:r>
              <a:rPr sz="2400" b="1" dirty="0">
                <a:solidFill>
                  <a:srgbClr val="C55A11"/>
                </a:solidFill>
                <a:latin typeface="Arial" panose="020B0604020202020204"/>
                <a:cs typeface="Arial" panose="020B0604020202020204"/>
              </a:rPr>
              <a:t>utilized</a:t>
            </a:r>
            <a:r>
              <a:rPr sz="2400" b="1" spc="-70" dirty="0">
                <a:solidFill>
                  <a:srgbClr val="C55A11"/>
                </a:solidFill>
                <a:latin typeface="Arial" panose="020B0604020202020204"/>
                <a:cs typeface="Arial" panose="020B0604020202020204"/>
              </a:rPr>
              <a:t> </a:t>
            </a:r>
            <a:r>
              <a:rPr sz="2400" b="1" dirty="0">
                <a:solidFill>
                  <a:srgbClr val="C55A11"/>
                </a:solidFill>
                <a:latin typeface="Arial" panose="020B0604020202020204"/>
                <a:cs typeface="Arial" panose="020B0604020202020204"/>
              </a:rPr>
              <a:t>for</a:t>
            </a:r>
            <a:r>
              <a:rPr sz="2400" b="1" spc="-10" dirty="0">
                <a:solidFill>
                  <a:srgbClr val="C55A11"/>
                </a:solidFill>
                <a:latin typeface="Arial" panose="020B0604020202020204"/>
                <a:cs typeface="Arial" panose="020B0604020202020204"/>
              </a:rPr>
              <a:t> </a:t>
            </a:r>
            <a:r>
              <a:rPr sz="2400" b="1" dirty="0">
                <a:solidFill>
                  <a:srgbClr val="C55A11"/>
                </a:solidFill>
                <a:latin typeface="Arial" panose="020B0604020202020204"/>
                <a:cs typeface="Arial" panose="020B0604020202020204"/>
              </a:rPr>
              <a:t>the</a:t>
            </a:r>
            <a:r>
              <a:rPr sz="2400" b="1" spc="-34" dirty="0">
                <a:solidFill>
                  <a:srgbClr val="C55A11"/>
                </a:solidFill>
                <a:latin typeface="Arial" panose="020B0604020202020204"/>
                <a:cs typeface="Arial" panose="020B0604020202020204"/>
              </a:rPr>
              <a:t> </a:t>
            </a:r>
            <a:r>
              <a:rPr sz="2400" b="1" dirty="0">
                <a:solidFill>
                  <a:srgbClr val="C55A11"/>
                </a:solidFill>
                <a:latin typeface="Arial" panose="020B0604020202020204"/>
                <a:cs typeface="Arial" panose="020B0604020202020204"/>
              </a:rPr>
              <a:t>following</a:t>
            </a:r>
            <a:r>
              <a:rPr sz="2400" b="1" spc="-46" dirty="0">
                <a:solidFill>
                  <a:srgbClr val="C55A11"/>
                </a:solidFill>
                <a:latin typeface="Arial" panose="020B0604020202020204"/>
                <a:cs typeface="Arial" panose="020B0604020202020204"/>
              </a:rPr>
              <a:t> </a:t>
            </a:r>
            <a:r>
              <a:rPr sz="2400" b="1" spc="-10" dirty="0">
                <a:solidFill>
                  <a:srgbClr val="C55A11"/>
                </a:solidFill>
                <a:latin typeface="Arial" panose="020B0604020202020204"/>
                <a:cs typeface="Arial" panose="020B0604020202020204"/>
              </a:rPr>
              <a:t>purposes</a:t>
            </a:r>
            <a:endParaRPr sz="2400">
              <a:latin typeface="Arial" panose="020B0604020202020204"/>
              <a:cs typeface="Arial" panose="020B0604020202020204"/>
            </a:endParaRPr>
          </a:p>
          <a:p>
            <a:pPr marL="553734" indent="-541034">
              <a:spcBef>
                <a:spcPts val="2441"/>
              </a:spcBef>
              <a:buClr>
                <a:srgbClr val="000000"/>
              </a:buClr>
              <a:buFont typeface="Arial MT"/>
              <a:buAutoNum type="arabicPeriod"/>
              <a:tabLst>
                <a:tab pos="553734" algn="l"/>
              </a:tabLst>
            </a:pPr>
            <a:r>
              <a:rPr sz="2400" b="1" dirty="0">
                <a:solidFill>
                  <a:srgbClr val="6F2F9F"/>
                </a:solidFill>
                <a:latin typeface="Arial" panose="020B0604020202020204"/>
                <a:cs typeface="Arial" panose="020B0604020202020204"/>
              </a:rPr>
              <a:t>Quantitative</a:t>
            </a:r>
            <a:r>
              <a:rPr sz="2400" b="1" spc="-55" dirty="0">
                <a:solidFill>
                  <a:srgbClr val="6F2F9F"/>
                </a:solidFill>
                <a:latin typeface="Arial" panose="020B0604020202020204"/>
                <a:cs typeface="Arial" panose="020B0604020202020204"/>
              </a:rPr>
              <a:t> </a:t>
            </a:r>
            <a:r>
              <a:rPr sz="2400" b="1" dirty="0">
                <a:solidFill>
                  <a:srgbClr val="6F2F9F"/>
                </a:solidFill>
                <a:latin typeface="Arial" panose="020B0604020202020204"/>
                <a:cs typeface="Arial" panose="020B0604020202020204"/>
              </a:rPr>
              <a:t>understanding</a:t>
            </a:r>
            <a:r>
              <a:rPr sz="2400" b="1" spc="-60" dirty="0">
                <a:solidFill>
                  <a:srgbClr val="6F2F9F"/>
                </a:solidFill>
                <a:latin typeface="Arial" panose="020B0604020202020204"/>
                <a:cs typeface="Arial" panose="020B0604020202020204"/>
              </a:rPr>
              <a:t> </a:t>
            </a:r>
            <a:r>
              <a:rPr sz="2400" b="1" dirty="0">
                <a:solidFill>
                  <a:srgbClr val="6F2F9F"/>
                </a:solidFill>
                <a:latin typeface="Arial" panose="020B0604020202020204"/>
                <a:cs typeface="Arial" panose="020B0604020202020204"/>
              </a:rPr>
              <a:t>of</a:t>
            </a:r>
            <a:r>
              <a:rPr sz="2400" b="1" spc="-34" dirty="0">
                <a:solidFill>
                  <a:srgbClr val="6F2F9F"/>
                </a:solidFill>
                <a:latin typeface="Arial" panose="020B0604020202020204"/>
                <a:cs typeface="Arial" panose="020B0604020202020204"/>
              </a:rPr>
              <a:t> </a:t>
            </a:r>
            <a:r>
              <a:rPr sz="2400" b="1" dirty="0">
                <a:solidFill>
                  <a:srgbClr val="6F2F9F"/>
                </a:solidFill>
                <a:latin typeface="Arial" panose="020B0604020202020204"/>
                <a:cs typeface="Arial" panose="020B0604020202020204"/>
              </a:rPr>
              <a:t>actual</a:t>
            </a:r>
            <a:r>
              <a:rPr sz="2400" b="1" spc="-30" dirty="0">
                <a:solidFill>
                  <a:srgbClr val="6F2F9F"/>
                </a:solidFill>
                <a:latin typeface="Arial" panose="020B0604020202020204"/>
                <a:cs typeface="Arial" panose="020B0604020202020204"/>
              </a:rPr>
              <a:t> </a:t>
            </a:r>
            <a:r>
              <a:rPr sz="2400" b="1" spc="-10" dirty="0">
                <a:solidFill>
                  <a:srgbClr val="6F2F9F"/>
                </a:solidFill>
                <a:latin typeface="Arial" panose="020B0604020202020204"/>
                <a:cs typeface="Arial" panose="020B0604020202020204"/>
              </a:rPr>
              <a:t>emissions</a:t>
            </a:r>
            <a:endParaRPr sz="2400">
              <a:latin typeface="Arial" panose="020B0604020202020204"/>
              <a:cs typeface="Arial" panose="020B0604020202020204"/>
            </a:endParaRPr>
          </a:p>
          <a:p>
            <a:pPr marL="240036" marR="431176" lvl="1" indent="-227336">
              <a:lnSpc>
                <a:spcPct val="150000"/>
              </a:lnSpc>
              <a:spcBef>
                <a:spcPts val="1006"/>
              </a:spcBef>
              <a:buChar char="•"/>
              <a:tabLst>
                <a:tab pos="241306" algn="l"/>
              </a:tabLst>
            </a:pPr>
            <a:r>
              <a:rPr sz="2400" dirty="0">
                <a:latin typeface="Arial MT"/>
                <a:cs typeface="Arial MT"/>
              </a:rPr>
              <a:t>The</a:t>
            </a:r>
            <a:r>
              <a:rPr sz="2400" spc="-85" dirty="0">
                <a:latin typeface="Arial MT"/>
                <a:cs typeface="Arial MT"/>
              </a:rPr>
              <a:t> </a:t>
            </a:r>
            <a:r>
              <a:rPr sz="2400" dirty="0">
                <a:latin typeface="Arial MT"/>
                <a:cs typeface="Arial MT"/>
              </a:rPr>
              <a:t>quantitative</a:t>
            </a:r>
            <a:r>
              <a:rPr sz="2400" spc="-70" dirty="0">
                <a:latin typeface="Arial MT"/>
                <a:cs typeface="Arial MT"/>
              </a:rPr>
              <a:t> </a:t>
            </a:r>
            <a:r>
              <a:rPr sz="2400" dirty="0">
                <a:latin typeface="Arial MT"/>
                <a:cs typeface="Arial MT"/>
              </a:rPr>
              <a:t>emission</a:t>
            </a:r>
            <a:r>
              <a:rPr sz="2400" spc="-65" dirty="0">
                <a:latin typeface="Arial MT"/>
                <a:cs typeface="Arial MT"/>
              </a:rPr>
              <a:t> </a:t>
            </a:r>
            <a:r>
              <a:rPr sz="2400" dirty="0">
                <a:latin typeface="Arial MT"/>
                <a:cs typeface="Arial MT"/>
              </a:rPr>
              <a:t>estimates</a:t>
            </a:r>
            <a:r>
              <a:rPr sz="2400" spc="-85" dirty="0">
                <a:latin typeface="Arial MT"/>
                <a:cs typeface="Arial MT"/>
              </a:rPr>
              <a:t> </a:t>
            </a:r>
            <a:r>
              <a:rPr sz="2400" dirty="0">
                <a:latin typeface="Arial MT"/>
                <a:cs typeface="Arial MT"/>
              </a:rPr>
              <a:t>provided</a:t>
            </a:r>
            <a:r>
              <a:rPr sz="2400" spc="-65" dirty="0">
                <a:latin typeface="Arial MT"/>
                <a:cs typeface="Arial MT"/>
              </a:rPr>
              <a:t> </a:t>
            </a:r>
            <a:r>
              <a:rPr sz="2400" dirty="0">
                <a:latin typeface="Arial MT"/>
                <a:cs typeface="Arial MT"/>
              </a:rPr>
              <a:t>by</a:t>
            </a:r>
            <a:r>
              <a:rPr sz="2400" spc="-85" dirty="0">
                <a:latin typeface="Arial MT"/>
                <a:cs typeface="Arial MT"/>
              </a:rPr>
              <a:t> </a:t>
            </a:r>
            <a:r>
              <a:rPr sz="2400" dirty="0">
                <a:latin typeface="Arial MT"/>
                <a:cs typeface="Arial MT"/>
              </a:rPr>
              <a:t>an</a:t>
            </a:r>
            <a:r>
              <a:rPr sz="2400" spc="-80" dirty="0">
                <a:latin typeface="Arial MT"/>
                <a:cs typeface="Arial MT"/>
              </a:rPr>
              <a:t> </a:t>
            </a:r>
            <a:r>
              <a:rPr sz="2400" dirty="0">
                <a:latin typeface="Arial MT"/>
                <a:cs typeface="Arial MT"/>
              </a:rPr>
              <a:t>inventory</a:t>
            </a:r>
            <a:r>
              <a:rPr sz="2400" spc="-70" dirty="0">
                <a:latin typeface="Arial MT"/>
                <a:cs typeface="Arial MT"/>
              </a:rPr>
              <a:t> </a:t>
            </a:r>
            <a:r>
              <a:rPr sz="2400" dirty="0">
                <a:latin typeface="Arial MT"/>
                <a:cs typeface="Arial MT"/>
              </a:rPr>
              <a:t>promote</a:t>
            </a:r>
            <a:r>
              <a:rPr sz="2400" spc="-75" dirty="0">
                <a:latin typeface="Arial MT"/>
                <a:cs typeface="Arial MT"/>
              </a:rPr>
              <a:t> </a:t>
            </a:r>
            <a:r>
              <a:rPr sz="2400" spc="-50" dirty="0">
                <a:latin typeface="Arial MT"/>
                <a:cs typeface="Arial MT"/>
              </a:rPr>
              <a:t>a 	</a:t>
            </a:r>
            <a:r>
              <a:rPr sz="2400" dirty="0">
                <a:solidFill>
                  <a:srgbClr val="FF0000"/>
                </a:solidFill>
                <a:latin typeface="Arial MT"/>
                <a:cs typeface="Arial MT"/>
              </a:rPr>
              <a:t>better</a:t>
            </a:r>
            <a:r>
              <a:rPr sz="2400" spc="-65" dirty="0">
                <a:solidFill>
                  <a:srgbClr val="FF0000"/>
                </a:solidFill>
                <a:latin typeface="Arial MT"/>
                <a:cs typeface="Arial MT"/>
              </a:rPr>
              <a:t> </a:t>
            </a:r>
            <a:r>
              <a:rPr sz="2400" dirty="0">
                <a:solidFill>
                  <a:srgbClr val="FF0000"/>
                </a:solidFill>
                <a:latin typeface="Arial MT"/>
                <a:cs typeface="Arial MT"/>
              </a:rPr>
              <a:t>understanding</a:t>
            </a:r>
            <a:r>
              <a:rPr sz="2400" spc="-34" dirty="0">
                <a:solidFill>
                  <a:srgbClr val="FF0000"/>
                </a:solidFill>
                <a:latin typeface="Arial MT"/>
                <a:cs typeface="Arial MT"/>
              </a:rPr>
              <a:t> </a:t>
            </a:r>
            <a:r>
              <a:rPr sz="2400" dirty="0">
                <a:solidFill>
                  <a:srgbClr val="FF0000"/>
                </a:solidFill>
                <a:latin typeface="Arial MT"/>
                <a:cs typeface="Arial MT"/>
              </a:rPr>
              <a:t>of</a:t>
            </a:r>
            <a:r>
              <a:rPr sz="2400" spc="-60" dirty="0">
                <a:solidFill>
                  <a:srgbClr val="FF0000"/>
                </a:solidFill>
                <a:latin typeface="Arial MT"/>
                <a:cs typeface="Arial MT"/>
              </a:rPr>
              <a:t> </a:t>
            </a:r>
            <a:r>
              <a:rPr sz="2400" dirty="0">
                <a:solidFill>
                  <a:srgbClr val="FF0000"/>
                </a:solidFill>
                <a:latin typeface="Arial MT"/>
                <a:cs typeface="Arial MT"/>
              </a:rPr>
              <a:t>the</a:t>
            </a:r>
            <a:r>
              <a:rPr sz="2400" spc="-60" dirty="0">
                <a:solidFill>
                  <a:srgbClr val="FF0000"/>
                </a:solidFill>
                <a:latin typeface="Arial MT"/>
                <a:cs typeface="Arial MT"/>
              </a:rPr>
              <a:t> </a:t>
            </a:r>
            <a:r>
              <a:rPr sz="2400" dirty="0">
                <a:solidFill>
                  <a:srgbClr val="FF0000"/>
                </a:solidFill>
                <a:latin typeface="Arial MT"/>
                <a:cs typeface="Arial MT"/>
              </a:rPr>
              <a:t>actual</a:t>
            </a:r>
            <a:r>
              <a:rPr sz="2400" spc="-65" dirty="0">
                <a:solidFill>
                  <a:srgbClr val="FF0000"/>
                </a:solidFill>
                <a:latin typeface="Arial MT"/>
                <a:cs typeface="Arial MT"/>
              </a:rPr>
              <a:t> </a:t>
            </a:r>
            <a:r>
              <a:rPr sz="2400" dirty="0">
                <a:solidFill>
                  <a:srgbClr val="FF0000"/>
                </a:solidFill>
                <a:latin typeface="Arial MT"/>
                <a:cs typeface="Arial MT"/>
              </a:rPr>
              <a:t>emissions</a:t>
            </a:r>
            <a:r>
              <a:rPr sz="2400" spc="-90" dirty="0">
                <a:solidFill>
                  <a:srgbClr val="FF0000"/>
                </a:solidFill>
                <a:latin typeface="Arial MT"/>
                <a:cs typeface="Arial MT"/>
              </a:rPr>
              <a:t> </a:t>
            </a:r>
            <a:r>
              <a:rPr sz="2400" dirty="0">
                <a:latin typeface="Arial MT"/>
                <a:cs typeface="Arial MT"/>
              </a:rPr>
              <a:t>and</a:t>
            </a:r>
            <a:r>
              <a:rPr sz="2400" spc="-50" dirty="0">
                <a:latin typeface="Arial MT"/>
                <a:cs typeface="Arial MT"/>
              </a:rPr>
              <a:t> </a:t>
            </a:r>
            <a:r>
              <a:rPr sz="2400" dirty="0">
                <a:solidFill>
                  <a:srgbClr val="FF0000"/>
                </a:solidFill>
                <a:latin typeface="Arial MT"/>
                <a:cs typeface="Arial MT"/>
              </a:rPr>
              <a:t>help</a:t>
            </a:r>
            <a:r>
              <a:rPr sz="2400" spc="-55" dirty="0">
                <a:solidFill>
                  <a:srgbClr val="FF0000"/>
                </a:solidFill>
                <a:latin typeface="Arial MT"/>
                <a:cs typeface="Arial MT"/>
              </a:rPr>
              <a:t> </a:t>
            </a:r>
            <a:r>
              <a:rPr sz="2400" dirty="0">
                <a:solidFill>
                  <a:srgbClr val="FF0000"/>
                </a:solidFill>
                <a:latin typeface="Arial MT"/>
                <a:cs typeface="Arial MT"/>
              </a:rPr>
              <a:t>to</a:t>
            </a:r>
            <a:r>
              <a:rPr sz="2400" spc="-60" dirty="0">
                <a:solidFill>
                  <a:srgbClr val="FF0000"/>
                </a:solidFill>
                <a:latin typeface="Arial MT"/>
                <a:cs typeface="Arial MT"/>
              </a:rPr>
              <a:t> </a:t>
            </a:r>
            <a:r>
              <a:rPr sz="2400" dirty="0">
                <a:solidFill>
                  <a:srgbClr val="FF0000"/>
                </a:solidFill>
                <a:latin typeface="Arial MT"/>
                <a:cs typeface="Arial MT"/>
              </a:rPr>
              <a:t>raise</a:t>
            </a:r>
            <a:r>
              <a:rPr sz="2400" spc="-55" dirty="0">
                <a:solidFill>
                  <a:srgbClr val="FF0000"/>
                </a:solidFill>
                <a:latin typeface="Arial MT"/>
                <a:cs typeface="Arial MT"/>
              </a:rPr>
              <a:t> </a:t>
            </a:r>
            <a:r>
              <a:rPr sz="2400" spc="-25" dirty="0">
                <a:solidFill>
                  <a:srgbClr val="FF0000"/>
                </a:solidFill>
                <a:latin typeface="Arial MT"/>
                <a:cs typeface="Arial MT"/>
              </a:rPr>
              <a:t>the 	</a:t>
            </a:r>
            <a:r>
              <a:rPr sz="2400" dirty="0">
                <a:solidFill>
                  <a:srgbClr val="FF0000"/>
                </a:solidFill>
                <a:latin typeface="Arial MT"/>
                <a:cs typeface="Arial MT"/>
              </a:rPr>
              <a:t>awareness</a:t>
            </a:r>
            <a:r>
              <a:rPr sz="2400" spc="-30" dirty="0">
                <a:solidFill>
                  <a:srgbClr val="FF0000"/>
                </a:solidFill>
                <a:latin typeface="Arial MT"/>
                <a:cs typeface="Arial MT"/>
              </a:rPr>
              <a:t> </a:t>
            </a:r>
            <a:r>
              <a:rPr sz="2400" dirty="0">
                <a:solidFill>
                  <a:srgbClr val="FF0000"/>
                </a:solidFill>
                <a:latin typeface="Arial MT"/>
                <a:cs typeface="Arial MT"/>
              </a:rPr>
              <a:t>of</a:t>
            </a:r>
            <a:r>
              <a:rPr sz="2400" spc="-60" dirty="0">
                <a:solidFill>
                  <a:srgbClr val="FF0000"/>
                </a:solidFill>
                <a:latin typeface="Arial MT"/>
                <a:cs typeface="Arial MT"/>
              </a:rPr>
              <a:t> </a:t>
            </a:r>
            <a:r>
              <a:rPr sz="2400" dirty="0">
                <a:solidFill>
                  <a:srgbClr val="FF0000"/>
                </a:solidFill>
                <a:latin typeface="Arial MT"/>
                <a:cs typeface="Arial MT"/>
              </a:rPr>
              <a:t>both</a:t>
            </a:r>
            <a:r>
              <a:rPr sz="2400" spc="-55" dirty="0">
                <a:solidFill>
                  <a:srgbClr val="FF0000"/>
                </a:solidFill>
                <a:latin typeface="Arial MT"/>
                <a:cs typeface="Arial MT"/>
              </a:rPr>
              <a:t> </a:t>
            </a:r>
            <a:r>
              <a:rPr sz="2400" dirty="0">
                <a:solidFill>
                  <a:srgbClr val="FF0000"/>
                </a:solidFill>
                <a:latin typeface="Arial MT"/>
                <a:cs typeface="Arial MT"/>
              </a:rPr>
              <a:t>policy</a:t>
            </a:r>
            <a:r>
              <a:rPr sz="2400" spc="-46" dirty="0">
                <a:solidFill>
                  <a:srgbClr val="FF0000"/>
                </a:solidFill>
                <a:latin typeface="Arial MT"/>
                <a:cs typeface="Arial MT"/>
              </a:rPr>
              <a:t> </a:t>
            </a:r>
            <a:r>
              <a:rPr sz="2400" dirty="0">
                <a:solidFill>
                  <a:srgbClr val="FF0000"/>
                </a:solidFill>
                <a:latin typeface="Arial MT"/>
                <a:cs typeface="Arial MT"/>
              </a:rPr>
              <a:t>makers</a:t>
            </a:r>
            <a:r>
              <a:rPr sz="2400" spc="-55" dirty="0">
                <a:solidFill>
                  <a:srgbClr val="FF0000"/>
                </a:solidFill>
                <a:latin typeface="Arial MT"/>
                <a:cs typeface="Arial MT"/>
              </a:rPr>
              <a:t> </a:t>
            </a:r>
            <a:r>
              <a:rPr sz="2400" dirty="0">
                <a:solidFill>
                  <a:srgbClr val="FF0000"/>
                </a:solidFill>
                <a:latin typeface="Arial MT"/>
                <a:cs typeface="Arial MT"/>
              </a:rPr>
              <a:t>and</a:t>
            </a:r>
            <a:r>
              <a:rPr sz="2400" spc="-55" dirty="0">
                <a:solidFill>
                  <a:srgbClr val="FF0000"/>
                </a:solidFill>
                <a:latin typeface="Arial MT"/>
                <a:cs typeface="Arial MT"/>
              </a:rPr>
              <a:t> </a:t>
            </a:r>
            <a:r>
              <a:rPr sz="2400" dirty="0">
                <a:solidFill>
                  <a:srgbClr val="FF0000"/>
                </a:solidFill>
                <a:latin typeface="Arial MT"/>
                <a:cs typeface="Arial MT"/>
              </a:rPr>
              <a:t>the</a:t>
            </a:r>
            <a:r>
              <a:rPr sz="2400" spc="-60" dirty="0">
                <a:solidFill>
                  <a:srgbClr val="FF0000"/>
                </a:solidFill>
                <a:latin typeface="Arial MT"/>
                <a:cs typeface="Arial MT"/>
              </a:rPr>
              <a:t> </a:t>
            </a:r>
            <a:r>
              <a:rPr sz="2400" dirty="0">
                <a:solidFill>
                  <a:srgbClr val="FF0000"/>
                </a:solidFill>
                <a:latin typeface="Arial MT"/>
                <a:cs typeface="Arial MT"/>
              </a:rPr>
              <a:t>general</a:t>
            </a:r>
            <a:r>
              <a:rPr sz="2400" spc="-34" dirty="0">
                <a:solidFill>
                  <a:srgbClr val="FF0000"/>
                </a:solidFill>
                <a:latin typeface="Arial MT"/>
                <a:cs typeface="Arial MT"/>
              </a:rPr>
              <a:t> </a:t>
            </a:r>
            <a:r>
              <a:rPr sz="2400" spc="-10" dirty="0">
                <a:solidFill>
                  <a:srgbClr val="FF0000"/>
                </a:solidFill>
                <a:latin typeface="Arial MT"/>
                <a:cs typeface="Arial MT"/>
              </a:rPr>
              <a:t>public.</a:t>
            </a:r>
            <a:endParaRPr sz="2400">
              <a:latin typeface="Arial MT"/>
              <a:cs typeface="Arial MT"/>
            </a:endParaRPr>
          </a:p>
          <a:p>
            <a:pPr marL="240036" marR="5081" lvl="1" indent="-227336">
              <a:lnSpc>
                <a:spcPct val="150000"/>
              </a:lnSpc>
              <a:spcBef>
                <a:spcPts val="994"/>
              </a:spcBef>
              <a:buChar char="•"/>
              <a:tabLst>
                <a:tab pos="241306" algn="l"/>
              </a:tabLst>
            </a:pPr>
            <a:r>
              <a:rPr sz="2400" dirty="0">
                <a:latin typeface="Arial MT"/>
                <a:cs typeface="Arial MT"/>
              </a:rPr>
              <a:t>Through</a:t>
            </a:r>
            <a:r>
              <a:rPr sz="2400" spc="-46" dirty="0">
                <a:latin typeface="Arial MT"/>
                <a:cs typeface="Arial MT"/>
              </a:rPr>
              <a:t> </a:t>
            </a:r>
            <a:r>
              <a:rPr sz="2400" dirty="0">
                <a:latin typeface="Arial MT"/>
                <a:cs typeface="Arial MT"/>
              </a:rPr>
              <a:t>this</a:t>
            </a:r>
            <a:r>
              <a:rPr sz="2400" spc="-41" dirty="0">
                <a:latin typeface="Arial MT"/>
                <a:cs typeface="Arial MT"/>
              </a:rPr>
              <a:t> </a:t>
            </a:r>
            <a:r>
              <a:rPr sz="2400" dirty="0">
                <a:latin typeface="Arial MT"/>
                <a:cs typeface="Arial MT"/>
              </a:rPr>
              <a:t>process,</a:t>
            </a:r>
            <a:r>
              <a:rPr sz="2400" spc="-46" dirty="0">
                <a:latin typeface="Arial MT"/>
                <a:cs typeface="Arial MT"/>
              </a:rPr>
              <a:t> </a:t>
            </a:r>
            <a:r>
              <a:rPr sz="2400" dirty="0">
                <a:latin typeface="Arial MT"/>
                <a:cs typeface="Arial MT"/>
              </a:rPr>
              <a:t>the</a:t>
            </a:r>
            <a:r>
              <a:rPr sz="2400" spc="-41" dirty="0">
                <a:latin typeface="Arial MT"/>
                <a:cs typeface="Arial MT"/>
              </a:rPr>
              <a:t> </a:t>
            </a:r>
            <a:r>
              <a:rPr sz="2400" dirty="0">
                <a:latin typeface="Arial MT"/>
                <a:cs typeface="Arial MT"/>
              </a:rPr>
              <a:t>major</a:t>
            </a:r>
            <a:r>
              <a:rPr sz="2400" spc="-46" dirty="0">
                <a:latin typeface="Arial MT"/>
                <a:cs typeface="Arial MT"/>
              </a:rPr>
              <a:t> </a:t>
            </a:r>
            <a:r>
              <a:rPr sz="2400" dirty="0">
                <a:latin typeface="Arial MT"/>
                <a:cs typeface="Arial MT"/>
              </a:rPr>
              <a:t>emission</a:t>
            </a:r>
            <a:r>
              <a:rPr sz="2400" spc="-30" dirty="0">
                <a:latin typeface="Arial MT"/>
                <a:cs typeface="Arial MT"/>
              </a:rPr>
              <a:t> </a:t>
            </a:r>
            <a:r>
              <a:rPr sz="2400" dirty="0">
                <a:latin typeface="Arial MT"/>
                <a:cs typeface="Arial MT"/>
              </a:rPr>
              <a:t>sources</a:t>
            </a:r>
            <a:r>
              <a:rPr sz="2400" spc="-34" dirty="0">
                <a:latin typeface="Arial MT"/>
                <a:cs typeface="Arial MT"/>
              </a:rPr>
              <a:t> </a:t>
            </a:r>
            <a:r>
              <a:rPr sz="2400" dirty="0">
                <a:latin typeface="Arial MT"/>
                <a:cs typeface="Arial MT"/>
              </a:rPr>
              <a:t>can</a:t>
            </a:r>
            <a:r>
              <a:rPr sz="2400" spc="-41" dirty="0">
                <a:latin typeface="Arial MT"/>
                <a:cs typeface="Arial MT"/>
              </a:rPr>
              <a:t> </a:t>
            </a:r>
            <a:r>
              <a:rPr sz="2400" dirty="0">
                <a:latin typeface="Arial MT"/>
                <a:cs typeface="Arial MT"/>
              </a:rPr>
              <a:t>be</a:t>
            </a:r>
            <a:r>
              <a:rPr sz="2400" spc="-41" dirty="0">
                <a:latin typeface="Arial MT"/>
                <a:cs typeface="Arial MT"/>
              </a:rPr>
              <a:t> </a:t>
            </a:r>
            <a:r>
              <a:rPr sz="2400" spc="-10" dirty="0">
                <a:latin typeface="Arial MT"/>
                <a:cs typeface="Arial MT"/>
              </a:rPr>
              <a:t>identified, 	</a:t>
            </a:r>
            <a:r>
              <a:rPr sz="2400" dirty="0">
                <a:latin typeface="Arial MT"/>
                <a:cs typeface="Arial MT"/>
              </a:rPr>
              <a:t>priorities</a:t>
            </a:r>
            <a:r>
              <a:rPr sz="2400" spc="-65" dirty="0">
                <a:latin typeface="Arial MT"/>
                <a:cs typeface="Arial MT"/>
              </a:rPr>
              <a:t> </a:t>
            </a:r>
            <a:r>
              <a:rPr sz="2400" dirty="0">
                <a:latin typeface="Arial MT"/>
                <a:cs typeface="Arial MT"/>
              </a:rPr>
              <a:t>for</a:t>
            </a:r>
            <a:r>
              <a:rPr sz="2400" spc="-70" dirty="0">
                <a:latin typeface="Arial MT"/>
                <a:cs typeface="Arial MT"/>
              </a:rPr>
              <a:t> </a:t>
            </a:r>
            <a:r>
              <a:rPr sz="2400" dirty="0">
                <a:latin typeface="Arial MT"/>
                <a:cs typeface="Arial MT"/>
              </a:rPr>
              <a:t>emission</a:t>
            </a:r>
            <a:r>
              <a:rPr sz="2400" spc="-55" dirty="0">
                <a:latin typeface="Arial MT"/>
                <a:cs typeface="Arial MT"/>
              </a:rPr>
              <a:t> </a:t>
            </a:r>
            <a:r>
              <a:rPr sz="2400" dirty="0">
                <a:latin typeface="Arial MT"/>
                <a:cs typeface="Arial MT"/>
              </a:rPr>
              <a:t>reduction</a:t>
            </a:r>
            <a:r>
              <a:rPr sz="2400" spc="-65" dirty="0">
                <a:latin typeface="Arial MT"/>
                <a:cs typeface="Arial MT"/>
              </a:rPr>
              <a:t> </a:t>
            </a:r>
            <a:r>
              <a:rPr sz="2400" dirty="0">
                <a:latin typeface="Arial MT"/>
                <a:cs typeface="Arial MT"/>
              </a:rPr>
              <a:t>defined</a:t>
            </a:r>
            <a:r>
              <a:rPr sz="2400" spc="-55" dirty="0">
                <a:latin typeface="Arial MT"/>
                <a:cs typeface="Arial MT"/>
              </a:rPr>
              <a:t> </a:t>
            </a:r>
            <a:r>
              <a:rPr sz="2400" dirty="0">
                <a:latin typeface="Arial MT"/>
                <a:cs typeface="Arial MT"/>
              </a:rPr>
              <a:t>and</a:t>
            </a:r>
            <a:r>
              <a:rPr sz="2400" spc="-75" dirty="0">
                <a:latin typeface="Arial MT"/>
                <a:cs typeface="Arial MT"/>
              </a:rPr>
              <a:t> </a:t>
            </a:r>
            <a:r>
              <a:rPr sz="2400" dirty="0">
                <a:latin typeface="Arial MT"/>
                <a:cs typeface="Arial MT"/>
              </a:rPr>
              <a:t>any</a:t>
            </a:r>
            <a:r>
              <a:rPr sz="2400" spc="-70" dirty="0">
                <a:latin typeface="Arial MT"/>
                <a:cs typeface="Arial MT"/>
              </a:rPr>
              <a:t> </a:t>
            </a:r>
            <a:r>
              <a:rPr sz="2400" dirty="0">
                <a:latin typeface="Arial MT"/>
                <a:cs typeface="Arial MT"/>
              </a:rPr>
              <a:t>data</a:t>
            </a:r>
            <a:r>
              <a:rPr sz="2400" spc="-75" dirty="0">
                <a:latin typeface="Arial MT"/>
                <a:cs typeface="Arial MT"/>
              </a:rPr>
              <a:t> </a:t>
            </a:r>
            <a:r>
              <a:rPr sz="2400" dirty="0">
                <a:latin typeface="Arial MT"/>
                <a:cs typeface="Arial MT"/>
              </a:rPr>
              <a:t>gaps</a:t>
            </a:r>
            <a:r>
              <a:rPr sz="2400" spc="-60" dirty="0">
                <a:latin typeface="Arial MT"/>
                <a:cs typeface="Arial MT"/>
              </a:rPr>
              <a:t> </a:t>
            </a:r>
            <a:r>
              <a:rPr sz="2400" dirty="0">
                <a:latin typeface="Arial MT"/>
                <a:cs typeface="Arial MT"/>
              </a:rPr>
              <a:t>requiring</a:t>
            </a:r>
            <a:r>
              <a:rPr sz="2400" spc="-50" dirty="0">
                <a:latin typeface="Arial MT"/>
                <a:cs typeface="Arial MT"/>
              </a:rPr>
              <a:t> </a:t>
            </a:r>
            <a:r>
              <a:rPr sz="2400" spc="-10" dirty="0">
                <a:latin typeface="Arial MT"/>
                <a:cs typeface="Arial MT"/>
              </a:rPr>
              <a:t>further 	</a:t>
            </a:r>
            <a:r>
              <a:rPr sz="2400" dirty="0">
                <a:latin typeface="Arial MT"/>
                <a:cs typeface="Arial MT"/>
              </a:rPr>
              <a:t>work</a:t>
            </a:r>
            <a:r>
              <a:rPr sz="2400" spc="-46" dirty="0">
                <a:latin typeface="Arial MT"/>
                <a:cs typeface="Arial MT"/>
              </a:rPr>
              <a:t> </a:t>
            </a:r>
            <a:r>
              <a:rPr sz="2400" dirty="0">
                <a:latin typeface="Arial MT"/>
                <a:cs typeface="Arial MT"/>
              </a:rPr>
              <a:t>are</a:t>
            </a:r>
            <a:r>
              <a:rPr sz="2400" spc="-46" dirty="0">
                <a:latin typeface="Arial MT"/>
                <a:cs typeface="Arial MT"/>
              </a:rPr>
              <a:t> </a:t>
            </a:r>
            <a:r>
              <a:rPr sz="2400" spc="-10" dirty="0">
                <a:latin typeface="Arial MT"/>
                <a:cs typeface="Arial MT"/>
              </a:rPr>
              <a:t>revealed</a:t>
            </a:r>
            <a:endParaRPr sz="2400">
              <a:latin typeface="Arial MT"/>
              <a:cs typeface="Arial MT"/>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xfrm>
            <a:off x="8993409" y="6464911"/>
            <a:ext cx="198636" cy="156068"/>
          </a:xfrm>
          <a:prstGeom prst="rect">
            <a:avLst/>
          </a:prstGeom>
        </p:spPr>
        <p:txBody>
          <a:bodyPr vert="horz" wrap="square" lIns="0" tIns="0" rIns="0" bIns="0" rtlCol="0">
            <a:spAutoFit/>
          </a:bodyPr>
          <a:lstStyle/>
          <a:p>
            <a:pPr marL="38101">
              <a:lnSpc>
                <a:spcPts val="1239"/>
              </a:lnSpc>
            </a:pPr>
            <a:fld id="{81D60167-4931-47E6-BA6A-407CBD079E47}" type="slidenum">
              <a:rPr spc="-25" dirty="0"/>
              <a:pPr marL="38101">
                <a:lnSpc>
                  <a:spcPts val="1239"/>
                </a:lnSpc>
              </a:pPr>
              <a:t>89</a:t>
            </a:fld>
            <a:endParaRPr spc="-25" dirty="0"/>
          </a:p>
        </p:txBody>
      </p:sp>
      <p:sp>
        <p:nvSpPr>
          <p:cNvPr id="2" name="object 2"/>
          <p:cNvSpPr txBox="1">
            <a:spLocks noGrp="1"/>
          </p:cNvSpPr>
          <p:nvPr>
            <p:ph type="title"/>
          </p:nvPr>
        </p:nvSpPr>
        <p:spPr>
          <a:xfrm>
            <a:off x="470371" y="133351"/>
            <a:ext cx="7600956" cy="892423"/>
          </a:xfrm>
          <a:prstGeom prst="rect">
            <a:avLst/>
          </a:prstGeom>
        </p:spPr>
        <p:txBody>
          <a:bodyPr vert="horz" wrap="square" lIns="0" tIns="396112" rIns="0" bIns="0" rtlCol="0">
            <a:spAutoFit/>
          </a:bodyPr>
          <a:lstStyle/>
          <a:p>
            <a:pPr marL="131448">
              <a:spcBef>
                <a:spcPts val="105"/>
              </a:spcBef>
            </a:pPr>
            <a:r>
              <a:rPr dirty="0"/>
              <a:t>Emission</a:t>
            </a:r>
            <a:r>
              <a:rPr spc="-55" dirty="0"/>
              <a:t> </a:t>
            </a:r>
            <a:r>
              <a:rPr spc="-10" dirty="0"/>
              <a:t>Inventory</a:t>
            </a:r>
          </a:p>
        </p:txBody>
      </p:sp>
      <p:sp>
        <p:nvSpPr>
          <p:cNvPr id="3" name="object 3"/>
          <p:cNvSpPr txBox="1"/>
          <p:nvPr/>
        </p:nvSpPr>
        <p:spPr>
          <a:xfrm>
            <a:off x="542341" y="1369568"/>
            <a:ext cx="10426065" cy="4652620"/>
          </a:xfrm>
          <a:prstGeom prst="rect">
            <a:avLst/>
          </a:prstGeom>
        </p:spPr>
        <p:txBody>
          <a:bodyPr vert="horz" wrap="square" lIns="0" tIns="12065" rIns="0" bIns="0" rtlCol="0">
            <a:spAutoFit/>
          </a:bodyPr>
          <a:lstStyle/>
          <a:p>
            <a:pPr marL="469912" indent="-457211">
              <a:spcBef>
                <a:spcPts val="95"/>
              </a:spcBef>
              <a:buAutoNum type="arabicPeriod" startAt="2"/>
              <a:tabLst>
                <a:tab pos="469912" algn="l"/>
              </a:tabLst>
            </a:pPr>
            <a:r>
              <a:rPr sz="2201" b="1" dirty="0">
                <a:solidFill>
                  <a:srgbClr val="6F2F9F"/>
                </a:solidFill>
                <a:latin typeface="Arial" panose="020B0604020202020204"/>
                <a:cs typeface="Arial" panose="020B0604020202020204"/>
              </a:rPr>
              <a:t>Use</a:t>
            </a:r>
            <a:r>
              <a:rPr sz="2201" b="1" spc="-65" dirty="0">
                <a:solidFill>
                  <a:srgbClr val="6F2F9F"/>
                </a:solidFill>
                <a:latin typeface="Arial" panose="020B0604020202020204"/>
                <a:cs typeface="Arial" panose="020B0604020202020204"/>
              </a:rPr>
              <a:t> </a:t>
            </a:r>
            <a:r>
              <a:rPr sz="2201" b="1" dirty="0">
                <a:solidFill>
                  <a:srgbClr val="6F2F9F"/>
                </a:solidFill>
                <a:latin typeface="Arial" panose="020B0604020202020204"/>
                <a:cs typeface="Arial" panose="020B0604020202020204"/>
              </a:rPr>
              <a:t>for</a:t>
            </a:r>
            <a:r>
              <a:rPr sz="2201" b="1" spc="-60" dirty="0">
                <a:solidFill>
                  <a:srgbClr val="6F2F9F"/>
                </a:solidFill>
                <a:latin typeface="Arial" panose="020B0604020202020204"/>
                <a:cs typeface="Arial" panose="020B0604020202020204"/>
              </a:rPr>
              <a:t> </a:t>
            </a:r>
            <a:r>
              <a:rPr sz="2201" b="1" dirty="0">
                <a:solidFill>
                  <a:srgbClr val="6F2F9F"/>
                </a:solidFill>
                <a:latin typeface="Arial" panose="020B0604020202020204"/>
                <a:cs typeface="Arial" panose="020B0604020202020204"/>
              </a:rPr>
              <a:t>modelling</a:t>
            </a:r>
            <a:r>
              <a:rPr sz="2201" b="1" spc="-34" dirty="0">
                <a:solidFill>
                  <a:srgbClr val="6F2F9F"/>
                </a:solidFill>
                <a:latin typeface="Arial" panose="020B0604020202020204"/>
                <a:cs typeface="Arial" panose="020B0604020202020204"/>
              </a:rPr>
              <a:t> </a:t>
            </a:r>
            <a:r>
              <a:rPr sz="2201" b="1" spc="-10" dirty="0">
                <a:solidFill>
                  <a:srgbClr val="6F2F9F"/>
                </a:solidFill>
                <a:latin typeface="Arial" panose="020B0604020202020204"/>
                <a:cs typeface="Arial" panose="020B0604020202020204"/>
              </a:rPr>
              <a:t>activity</a:t>
            </a:r>
            <a:endParaRPr sz="2201">
              <a:latin typeface="Arial" panose="020B0604020202020204"/>
              <a:cs typeface="Arial" panose="020B0604020202020204"/>
            </a:endParaRPr>
          </a:p>
          <a:p>
            <a:pPr marL="241306" marR="5081" lvl="1" indent="-228606">
              <a:lnSpc>
                <a:spcPct val="130000"/>
              </a:lnSpc>
              <a:spcBef>
                <a:spcPts val="1001"/>
              </a:spcBef>
              <a:buChar char="•"/>
              <a:tabLst>
                <a:tab pos="241306" algn="l"/>
              </a:tabLst>
            </a:pPr>
            <a:r>
              <a:rPr sz="2201" dirty="0">
                <a:solidFill>
                  <a:srgbClr val="FF0000"/>
                </a:solidFill>
                <a:latin typeface="Arial MT"/>
                <a:cs typeface="Arial MT"/>
              </a:rPr>
              <a:t>Emissions</a:t>
            </a:r>
            <a:r>
              <a:rPr sz="2201" spc="-70" dirty="0">
                <a:solidFill>
                  <a:srgbClr val="FF0000"/>
                </a:solidFill>
                <a:latin typeface="Arial MT"/>
                <a:cs typeface="Arial MT"/>
              </a:rPr>
              <a:t> </a:t>
            </a:r>
            <a:r>
              <a:rPr sz="2201" dirty="0">
                <a:solidFill>
                  <a:srgbClr val="FF0000"/>
                </a:solidFill>
                <a:latin typeface="Arial MT"/>
                <a:cs typeface="Arial MT"/>
              </a:rPr>
              <a:t>data</a:t>
            </a:r>
            <a:r>
              <a:rPr sz="2201" spc="-50" dirty="0">
                <a:solidFill>
                  <a:srgbClr val="FF0000"/>
                </a:solidFill>
                <a:latin typeface="Arial MT"/>
                <a:cs typeface="Arial MT"/>
              </a:rPr>
              <a:t> </a:t>
            </a:r>
            <a:r>
              <a:rPr sz="2201" dirty="0">
                <a:solidFill>
                  <a:srgbClr val="FF0000"/>
                </a:solidFill>
                <a:latin typeface="Arial MT"/>
                <a:cs typeface="Arial MT"/>
              </a:rPr>
              <a:t>allocated</a:t>
            </a:r>
            <a:r>
              <a:rPr sz="2201" spc="-70" dirty="0">
                <a:solidFill>
                  <a:srgbClr val="FF0000"/>
                </a:solidFill>
                <a:latin typeface="Arial MT"/>
                <a:cs typeface="Arial MT"/>
              </a:rPr>
              <a:t> </a:t>
            </a:r>
            <a:r>
              <a:rPr sz="2201" dirty="0">
                <a:solidFill>
                  <a:srgbClr val="FF0000"/>
                </a:solidFill>
                <a:latin typeface="Arial MT"/>
                <a:cs typeface="Arial MT"/>
              </a:rPr>
              <a:t>geographically</a:t>
            </a:r>
            <a:r>
              <a:rPr sz="2201" spc="-60" dirty="0">
                <a:solidFill>
                  <a:srgbClr val="FF0000"/>
                </a:solidFill>
                <a:latin typeface="Arial MT"/>
                <a:cs typeface="Arial MT"/>
              </a:rPr>
              <a:t> </a:t>
            </a:r>
            <a:r>
              <a:rPr sz="2201" dirty="0">
                <a:solidFill>
                  <a:srgbClr val="FF0000"/>
                </a:solidFill>
                <a:latin typeface="Arial MT"/>
                <a:cs typeface="Arial MT"/>
              </a:rPr>
              <a:t>and</a:t>
            </a:r>
            <a:r>
              <a:rPr sz="2201" spc="-65" dirty="0">
                <a:solidFill>
                  <a:srgbClr val="FF0000"/>
                </a:solidFill>
                <a:latin typeface="Arial MT"/>
                <a:cs typeface="Arial MT"/>
              </a:rPr>
              <a:t> </a:t>
            </a:r>
            <a:r>
              <a:rPr sz="2201" dirty="0">
                <a:solidFill>
                  <a:srgbClr val="FF0000"/>
                </a:solidFill>
                <a:latin typeface="Arial MT"/>
                <a:cs typeface="Arial MT"/>
              </a:rPr>
              <a:t>temporally</a:t>
            </a:r>
            <a:r>
              <a:rPr sz="2201" spc="-46" dirty="0">
                <a:solidFill>
                  <a:srgbClr val="FF0000"/>
                </a:solidFill>
                <a:latin typeface="Arial MT"/>
                <a:cs typeface="Arial MT"/>
              </a:rPr>
              <a:t> </a:t>
            </a:r>
            <a:r>
              <a:rPr sz="2201" dirty="0">
                <a:solidFill>
                  <a:srgbClr val="FF0000"/>
                </a:solidFill>
                <a:latin typeface="Arial MT"/>
                <a:cs typeface="Arial MT"/>
              </a:rPr>
              <a:t>can</a:t>
            </a:r>
            <a:r>
              <a:rPr sz="2201" spc="-65" dirty="0">
                <a:solidFill>
                  <a:srgbClr val="FF0000"/>
                </a:solidFill>
                <a:latin typeface="Arial MT"/>
                <a:cs typeface="Arial MT"/>
              </a:rPr>
              <a:t> </a:t>
            </a:r>
            <a:r>
              <a:rPr sz="2201" dirty="0">
                <a:solidFill>
                  <a:srgbClr val="FF0000"/>
                </a:solidFill>
                <a:latin typeface="Arial MT"/>
                <a:cs typeface="Arial MT"/>
              </a:rPr>
              <a:t>be</a:t>
            </a:r>
            <a:r>
              <a:rPr sz="2201" spc="-60" dirty="0">
                <a:solidFill>
                  <a:srgbClr val="FF0000"/>
                </a:solidFill>
                <a:latin typeface="Arial MT"/>
                <a:cs typeface="Arial MT"/>
              </a:rPr>
              <a:t> </a:t>
            </a:r>
            <a:r>
              <a:rPr sz="2201" dirty="0">
                <a:solidFill>
                  <a:srgbClr val="FF0000"/>
                </a:solidFill>
                <a:latin typeface="Arial MT"/>
                <a:cs typeface="Arial MT"/>
              </a:rPr>
              <a:t>used</a:t>
            </a:r>
            <a:r>
              <a:rPr sz="2201" spc="-65" dirty="0">
                <a:solidFill>
                  <a:srgbClr val="FF0000"/>
                </a:solidFill>
                <a:latin typeface="Arial MT"/>
                <a:cs typeface="Arial MT"/>
              </a:rPr>
              <a:t> </a:t>
            </a:r>
            <a:r>
              <a:rPr sz="2201" dirty="0">
                <a:solidFill>
                  <a:srgbClr val="FF0000"/>
                </a:solidFill>
                <a:latin typeface="Arial MT"/>
                <a:cs typeface="Arial MT"/>
              </a:rPr>
              <a:t>as</a:t>
            </a:r>
            <a:r>
              <a:rPr sz="2201" spc="-60" dirty="0">
                <a:solidFill>
                  <a:srgbClr val="FF0000"/>
                </a:solidFill>
                <a:latin typeface="Arial MT"/>
                <a:cs typeface="Arial MT"/>
              </a:rPr>
              <a:t> </a:t>
            </a:r>
            <a:r>
              <a:rPr sz="2201" dirty="0">
                <a:solidFill>
                  <a:srgbClr val="FF0000"/>
                </a:solidFill>
                <a:latin typeface="Arial MT"/>
                <a:cs typeface="Arial MT"/>
              </a:rPr>
              <a:t>input</a:t>
            </a:r>
            <a:r>
              <a:rPr sz="2201" spc="-70" dirty="0">
                <a:solidFill>
                  <a:srgbClr val="FF0000"/>
                </a:solidFill>
                <a:latin typeface="Arial MT"/>
                <a:cs typeface="Arial MT"/>
              </a:rPr>
              <a:t> </a:t>
            </a:r>
            <a:r>
              <a:rPr sz="2201" spc="-20" dirty="0">
                <a:solidFill>
                  <a:srgbClr val="FF0000"/>
                </a:solidFill>
                <a:latin typeface="Arial MT"/>
                <a:cs typeface="Arial MT"/>
              </a:rPr>
              <a:t>data </a:t>
            </a:r>
            <a:r>
              <a:rPr sz="2201" dirty="0">
                <a:solidFill>
                  <a:srgbClr val="FF0000"/>
                </a:solidFill>
                <a:latin typeface="Arial MT"/>
                <a:cs typeface="Arial MT"/>
              </a:rPr>
              <a:t>for</a:t>
            </a:r>
            <a:r>
              <a:rPr sz="2201" spc="-70" dirty="0">
                <a:solidFill>
                  <a:srgbClr val="FF0000"/>
                </a:solidFill>
                <a:latin typeface="Arial MT"/>
                <a:cs typeface="Arial MT"/>
              </a:rPr>
              <a:t> </a:t>
            </a:r>
            <a:r>
              <a:rPr sz="2201" dirty="0">
                <a:solidFill>
                  <a:srgbClr val="FF0000"/>
                </a:solidFill>
                <a:latin typeface="Arial MT"/>
                <a:cs typeface="Arial MT"/>
              </a:rPr>
              <a:t>atmospheric</a:t>
            </a:r>
            <a:r>
              <a:rPr sz="2201" spc="-65" dirty="0">
                <a:solidFill>
                  <a:srgbClr val="FF0000"/>
                </a:solidFill>
                <a:latin typeface="Arial MT"/>
                <a:cs typeface="Arial MT"/>
              </a:rPr>
              <a:t> </a:t>
            </a:r>
            <a:r>
              <a:rPr sz="2201" dirty="0">
                <a:solidFill>
                  <a:srgbClr val="FF0000"/>
                </a:solidFill>
                <a:latin typeface="Arial MT"/>
                <a:cs typeface="Arial MT"/>
              </a:rPr>
              <a:t>transport</a:t>
            </a:r>
            <a:r>
              <a:rPr sz="2201" spc="-65" dirty="0">
                <a:solidFill>
                  <a:srgbClr val="FF0000"/>
                </a:solidFill>
                <a:latin typeface="Arial MT"/>
                <a:cs typeface="Arial MT"/>
              </a:rPr>
              <a:t> </a:t>
            </a:r>
            <a:r>
              <a:rPr sz="2201" dirty="0">
                <a:solidFill>
                  <a:srgbClr val="FF0000"/>
                </a:solidFill>
                <a:latin typeface="Arial MT"/>
                <a:cs typeface="Arial MT"/>
              </a:rPr>
              <a:t>and</a:t>
            </a:r>
            <a:r>
              <a:rPr sz="2201" spc="-75" dirty="0">
                <a:solidFill>
                  <a:srgbClr val="FF0000"/>
                </a:solidFill>
                <a:latin typeface="Arial MT"/>
                <a:cs typeface="Arial MT"/>
              </a:rPr>
              <a:t> </a:t>
            </a:r>
            <a:r>
              <a:rPr sz="2201" dirty="0">
                <a:solidFill>
                  <a:srgbClr val="FF0000"/>
                </a:solidFill>
                <a:latin typeface="Arial MT"/>
                <a:cs typeface="Arial MT"/>
              </a:rPr>
              <a:t>deposition</a:t>
            </a:r>
            <a:r>
              <a:rPr sz="2201" spc="-75" dirty="0">
                <a:solidFill>
                  <a:srgbClr val="FF0000"/>
                </a:solidFill>
                <a:latin typeface="Arial MT"/>
                <a:cs typeface="Arial MT"/>
              </a:rPr>
              <a:t> </a:t>
            </a:r>
            <a:r>
              <a:rPr sz="2201" spc="-10" dirty="0">
                <a:solidFill>
                  <a:srgbClr val="FF0000"/>
                </a:solidFill>
                <a:latin typeface="Arial MT"/>
                <a:cs typeface="Arial MT"/>
              </a:rPr>
              <a:t>models.</a:t>
            </a:r>
            <a:endParaRPr sz="2201">
              <a:latin typeface="Arial MT"/>
              <a:cs typeface="Arial MT"/>
            </a:endParaRPr>
          </a:p>
          <a:p>
            <a:pPr marL="241306" marR="361959" lvl="1" indent="-228606">
              <a:lnSpc>
                <a:spcPct val="130000"/>
              </a:lnSpc>
              <a:spcBef>
                <a:spcPts val="994"/>
              </a:spcBef>
              <a:buChar char="•"/>
              <a:tabLst>
                <a:tab pos="241306" algn="l"/>
              </a:tabLst>
            </a:pPr>
            <a:r>
              <a:rPr sz="2201" dirty="0">
                <a:latin typeface="Arial MT"/>
                <a:cs typeface="Arial MT"/>
              </a:rPr>
              <a:t>The</a:t>
            </a:r>
            <a:r>
              <a:rPr sz="2201" spc="-60" dirty="0">
                <a:latin typeface="Arial MT"/>
                <a:cs typeface="Arial MT"/>
              </a:rPr>
              <a:t> </a:t>
            </a:r>
            <a:r>
              <a:rPr sz="2201" dirty="0">
                <a:latin typeface="Arial MT"/>
                <a:cs typeface="Arial MT"/>
              </a:rPr>
              <a:t>resulting</a:t>
            </a:r>
            <a:r>
              <a:rPr sz="2201" spc="-70" dirty="0">
                <a:latin typeface="Arial MT"/>
                <a:cs typeface="Arial MT"/>
              </a:rPr>
              <a:t> </a:t>
            </a:r>
            <a:r>
              <a:rPr sz="2201" dirty="0">
                <a:latin typeface="Arial MT"/>
                <a:cs typeface="Arial MT"/>
              </a:rPr>
              <a:t>air</a:t>
            </a:r>
            <a:r>
              <a:rPr sz="2201" spc="-75" dirty="0">
                <a:latin typeface="Arial MT"/>
                <a:cs typeface="Arial MT"/>
              </a:rPr>
              <a:t> </a:t>
            </a:r>
            <a:r>
              <a:rPr sz="2201" dirty="0">
                <a:latin typeface="Arial MT"/>
                <a:cs typeface="Arial MT"/>
              </a:rPr>
              <a:t>concentration</a:t>
            </a:r>
            <a:r>
              <a:rPr sz="2201" spc="-70" dirty="0">
                <a:latin typeface="Arial MT"/>
                <a:cs typeface="Arial MT"/>
              </a:rPr>
              <a:t> </a:t>
            </a:r>
            <a:r>
              <a:rPr sz="2201" dirty="0">
                <a:latin typeface="Arial MT"/>
                <a:cs typeface="Arial MT"/>
              </a:rPr>
              <a:t>and</a:t>
            </a:r>
            <a:r>
              <a:rPr sz="2201" spc="-70" dirty="0">
                <a:latin typeface="Arial MT"/>
                <a:cs typeface="Arial MT"/>
              </a:rPr>
              <a:t> </a:t>
            </a:r>
            <a:r>
              <a:rPr sz="2201" dirty="0">
                <a:latin typeface="Arial MT"/>
                <a:cs typeface="Arial MT"/>
              </a:rPr>
              <a:t>deposition</a:t>
            </a:r>
            <a:r>
              <a:rPr sz="2201" spc="-70" dirty="0">
                <a:latin typeface="Arial MT"/>
                <a:cs typeface="Arial MT"/>
              </a:rPr>
              <a:t> </a:t>
            </a:r>
            <a:r>
              <a:rPr sz="2201" dirty="0">
                <a:latin typeface="Arial MT"/>
                <a:cs typeface="Arial MT"/>
              </a:rPr>
              <a:t>estimates</a:t>
            </a:r>
            <a:r>
              <a:rPr sz="2201" spc="-70" dirty="0">
                <a:latin typeface="Arial MT"/>
                <a:cs typeface="Arial MT"/>
              </a:rPr>
              <a:t> </a:t>
            </a:r>
            <a:r>
              <a:rPr sz="2201" dirty="0">
                <a:latin typeface="Arial MT"/>
                <a:cs typeface="Arial MT"/>
              </a:rPr>
              <a:t>obtained</a:t>
            </a:r>
            <a:r>
              <a:rPr sz="2201" spc="-65" dirty="0">
                <a:latin typeface="Arial MT"/>
                <a:cs typeface="Arial MT"/>
              </a:rPr>
              <a:t> </a:t>
            </a:r>
            <a:r>
              <a:rPr sz="2201" dirty="0">
                <a:latin typeface="Arial MT"/>
                <a:cs typeface="Arial MT"/>
              </a:rPr>
              <a:t>by</a:t>
            </a:r>
            <a:r>
              <a:rPr sz="2201" spc="-70" dirty="0">
                <a:latin typeface="Arial MT"/>
                <a:cs typeface="Arial MT"/>
              </a:rPr>
              <a:t> </a:t>
            </a:r>
            <a:r>
              <a:rPr sz="2201" spc="-10" dirty="0">
                <a:latin typeface="Arial MT"/>
                <a:cs typeface="Arial MT"/>
              </a:rPr>
              <a:t>modelling, </a:t>
            </a:r>
            <a:r>
              <a:rPr sz="2201" dirty="0">
                <a:latin typeface="Arial MT"/>
                <a:cs typeface="Arial MT"/>
              </a:rPr>
              <a:t>after</a:t>
            </a:r>
            <a:r>
              <a:rPr sz="2201" spc="-55" dirty="0">
                <a:latin typeface="Arial MT"/>
                <a:cs typeface="Arial MT"/>
              </a:rPr>
              <a:t> </a:t>
            </a:r>
            <a:r>
              <a:rPr sz="2201" dirty="0">
                <a:latin typeface="Arial MT"/>
                <a:cs typeface="Arial MT"/>
              </a:rPr>
              <a:t>verification</a:t>
            </a:r>
            <a:r>
              <a:rPr sz="2201" spc="-60" dirty="0">
                <a:latin typeface="Arial MT"/>
                <a:cs typeface="Arial MT"/>
              </a:rPr>
              <a:t> </a:t>
            </a:r>
            <a:r>
              <a:rPr sz="2201" dirty="0">
                <a:latin typeface="Arial MT"/>
                <a:cs typeface="Arial MT"/>
              </a:rPr>
              <a:t>with</a:t>
            </a:r>
            <a:r>
              <a:rPr sz="2201" spc="-60" dirty="0">
                <a:latin typeface="Arial MT"/>
                <a:cs typeface="Arial MT"/>
              </a:rPr>
              <a:t> </a:t>
            </a:r>
            <a:r>
              <a:rPr sz="2201" dirty="0">
                <a:latin typeface="Arial MT"/>
                <a:cs typeface="Arial MT"/>
              </a:rPr>
              <a:t>monitoring</a:t>
            </a:r>
            <a:r>
              <a:rPr sz="2201" spc="-50" dirty="0">
                <a:latin typeface="Arial MT"/>
                <a:cs typeface="Arial MT"/>
              </a:rPr>
              <a:t> </a:t>
            </a:r>
            <a:r>
              <a:rPr sz="2201" dirty="0">
                <a:latin typeface="Arial MT"/>
                <a:cs typeface="Arial MT"/>
              </a:rPr>
              <a:t>data</a:t>
            </a:r>
            <a:r>
              <a:rPr sz="2201" spc="-50" dirty="0">
                <a:latin typeface="Arial MT"/>
                <a:cs typeface="Arial MT"/>
              </a:rPr>
              <a:t> </a:t>
            </a:r>
            <a:r>
              <a:rPr sz="2201" dirty="0">
                <a:latin typeface="Arial MT"/>
                <a:cs typeface="Arial MT"/>
              </a:rPr>
              <a:t>on</a:t>
            </a:r>
            <a:r>
              <a:rPr sz="2201" spc="-55" dirty="0">
                <a:latin typeface="Arial MT"/>
                <a:cs typeface="Arial MT"/>
              </a:rPr>
              <a:t> </a:t>
            </a:r>
            <a:r>
              <a:rPr sz="2201" dirty="0">
                <a:latin typeface="Arial MT"/>
                <a:cs typeface="Arial MT"/>
              </a:rPr>
              <a:t>the</a:t>
            </a:r>
            <a:r>
              <a:rPr sz="2201" spc="-60" dirty="0">
                <a:latin typeface="Arial MT"/>
                <a:cs typeface="Arial MT"/>
              </a:rPr>
              <a:t> </a:t>
            </a:r>
            <a:r>
              <a:rPr sz="2201" dirty="0">
                <a:latin typeface="Arial MT"/>
                <a:cs typeface="Arial MT"/>
              </a:rPr>
              <a:t>ground</a:t>
            </a:r>
            <a:r>
              <a:rPr sz="2201" spc="-50" dirty="0">
                <a:latin typeface="Arial MT"/>
                <a:cs typeface="Arial MT"/>
              </a:rPr>
              <a:t> </a:t>
            </a:r>
            <a:r>
              <a:rPr sz="2201" dirty="0">
                <a:latin typeface="Arial MT"/>
                <a:cs typeface="Arial MT"/>
              </a:rPr>
              <a:t>and/or</a:t>
            </a:r>
            <a:r>
              <a:rPr sz="2201" spc="-46" dirty="0">
                <a:latin typeface="Arial MT"/>
                <a:cs typeface="Arial MT"/>
              </a:rPr>
              <a:t> </a:t>
            </a:r>
            <a:r>
              <a:rPr sz="2201" dirty="0">
                <a:latin typeface="Arial MT"/>
                <a:cs typeface="Arial MT"/>
              </a:rPr>
              <a:t>data</a:t>
            </a:r>
            <a:r>
              <a:rPr sz="2201" spc="-65" dirty="0">
                <a:latin typeface="Arial MT"/>
                <a:cs typeface="Arial MT"/>
              </a:rPr>
              <a:t> </a:t>
            </a:r>
            <a:r>
              <a:rPr sz="2201" dirty="0">
                <a:latin typeface="Arial MT"/>
                <a:cs typeface="Arial MT"/>
              </a:rPr>
              <a:t>from</a:t>
            </a:r>
            <a:r>
              <a:rPr sz="2201" spc="-46" dirty="0">
                <a:latin typeface="Arial MT"/>
                <a:cs typeface="Arial MT"/>
              </a:rPr>
              <a:t> </a:t>
            </a:r>
            <a:r>
              <a:rPr sz="2201" spc="-10" dirty="0">
                <a:latin typeface="Arial MT"/>
                <a:cs typeface="Arial MT"/>
              </a:rPr>
              <a:t>satellite </a:t>
            </a:r>
            <a:r>
              <a:rPr sz="2201" dirty="0">
                <a:latin typeface="Arial MT"/>
                <a:cs typeface="Arial MT"/>
              </a:rPr>
              <a:t>observations,</a:t>
            </a:r>
            <a:r>
              <a:rPr sz="2201" spc="-70" dirty="0">
                <a:latin typeface="Arial MT"/>
                <a:cs typeface="Arial MT"/>
              </a:rPr>
              <a:t> </a:t>
            </a:r>
            <a:r>
              <a:rPr sz="2201" dirty="0">
                <a:latin typeface="Arial MT"/>
                <a:cs typeface="Arial MT"/>
              </a:rPr>
              <a:t>will</a:t>
            </a:r>
            <a:r>
              <a:rPr sz="2201" spc="-85" dirty="0">
                <a:latin typeface="Arial MT"/>
                <a:cs typeface="Arial MT"/>
              </a:rPr>
              <a:t> </a:t>
            </a:r>
            <a:r>
              <a:rPr sz="2201" dirty="0">
                <a:latin typeface="Arial MT"/>
                <a:cs typeface="Arial MT"/>
              </a:rPr>
              <a:t>be</a:t>
            </a:r>
            <a:r>
              <a:rPr sz="2201" spc="-80" dirty="0">
                <a:latin typeface="Arial MT"/>
                <a:cs typeface="Arial MT"/>
              </a:rPr>
              <a:t> </a:t>
            </a:r>
            <a:r>
              <a:rPr sz="2201" dirty="0">
                <a:latin typeface="Arial MT"/>
                <a:cs typeface="Arial MT"/>
              </a:rPr>
              <a:t>important</a:t>
            </a:r>
            <a:r>
              <a:rPr sz="2201" spc="-55" dirty="0">
                <a:latin typeface="Arial MT"/>
                <a:cs typeface="Arial MT"/>
              </a:rPr>
              <a:t> </a:t>
            </a:r>
            <a:r>
              <a:rPr sz="2201" dirty="0">
                <a:latin typeface="Arial MT"/>
                <a:cs typeface="Arial MT"/>
              </a:rPr>
              <a:t>information</a:t>
            </a:r>
            <a:r>
              <a:rPr sz="2201" spc="-65" dirty="0">
                <a:latin typeface="Arial MT"/>
                <a:cs typeface="Arial MT"/>
              </a:rPr>
              <a:t> </a:t>
            </a:r>
            <a:r>
              <a:rPr sz="2201" dirty="0">
                <a:latin typeface="Arial MT"/>
                <a:cs typeface="Arial MT"/>
              </a:rPr>
              <a:t>for</a:t>
            </a:r>
            <a:r>
              <a:rPr sz="2201" spc="-70" dirty="0">
                <a:latin typeface="Arial MT"/>
                <a:cs typeface="Arial MT"/>
              </a:rPr>
              <a:t> </a:t>
            </a:r>
            <a:r>
              <a:rPr sz="2201" dirty="0">
                <a:solidFill>
                  <a:srgbClr val="FF0000"/>
                </a:solidFill>
                <a:latin typeface="Arial MT"/>
                <a:cs typeface="Arial MT"/>
              </a:rPr>
              <a:t>air</a:t>
            </a:r>
            <a:r>
              <a:rPr sz="2201" spc="-80" dirty="0">
                <a:solidFill>
                  <a:srgbClr val="FF0000"/>
                </a:solidFill>
                <a:latin typeface="Arial MT"/>
                <a:cs typeface="Arial MT"/>
              </a:rPr>
              <a:t> </a:t>
            </a:r>
            <a:r>
              <a:rPr sz="2201" dirty="0">
                <a:solidFill>
                  <a:srgbClr val="FF0000"/>
                </a:solidFill>
                <a:latin typeface="Arial MT"/>
                <a:cs typeface="Arial MT"/>
              </a:rPr>
              <a:t>quality</a:t>
            </a:r>
            <a:r>
              <a:rPr sz="2201" spc="-85" dirty="0">
                <a:solidFill>
                  <a:srgbClr val="FF0000"/>
                </a:solidFill>
                <a:latin typeface="Arial MT"/>
                <a:cs typeface="Arial MT"/>
              </a:rPr>
              <a:t> </a:t>
            </a:r>
            <a:r>
              <a:rPr sz="2201" dirty="0">
                <a:solidFill>
                  <a:srgbClr val="FF0000"/>
                </a:solidFill>
                <a:latin typeface="Arial MT"/>
                <a:cs typeface="Arial MT"/>
              </a:rPr>
              <a:t>management</a:t>
            </a:r>
            <a:r>
              <a:rPr sz="2201" spc="-41" dirty="0">
                <a:solidFill>
                  <a:srgbClr val="FF0000"/>
                </a:solidFill>
                <a:latin typeface="Arial MT"/>
                <a:cs typeface="Arial MT"/>
              </a:rPr>
              <a:t> </a:t>
            </a:r>
            <a:r>
              <a:rPr sz="2201" spc="-10" dirty="0">
                <a:solidFill>
                  <a:srgbClr val="FF0000"/>
                </a:solidFill>
                <a:latin typeface="Arial MT"/>
                <a:cs typeface="Arial MT"/>
              </a:rPr>
              <a:t>decision- making</a:t>
            </a:r>
            <a:r>
              <a:rPr sz="2201" spc="-10" dirty="0">
                <a:latin typeface="Arial MT"/>
                <a:cs typeface="Arial MT"/>
              </a:rPr>
              <a:t>.</a:t>
            </a:r>
            <a:endParaRPr sz="2201">
              <a:latin typeface="Arial MT"/>
              <a:cs typeface="Arial MT"/>
            </a:endParaRPr>
          </a:p>
          <a:p>
            <a:pPr marL="241306" marR="720108" lvl="1" indent="-228606" algn="just">
              <a:lnSpc>
                <a:spcPct val="130000"/>
              </a:lnSpc>
              <a:spcBef>
                <a:spcPts val="1006"/>
              </a:spcBef>
              <a:buChar char="•"/>
              <a:tabLst>
                <a:tab pos="241306" algn="l"/>
              </a:tabLst>
            </a:pPr>
            <a:r>
              <a:rPr sz="2201" dirty="0">
                <a:latin typeface="Arial MT"/>
                <a:cs typeface="Arial MT"/>
              </a:rPr>
              <a:t>Further</a:t>
            </a:r>
            <a:r>
              <a:rPr sz="2201" spc="-41" dirty="0">
                <a:latin typeface="Arial MT"/>
                <a:cs typeface="Arial MT"/>
              </a:rPr>
              <a:t> </a:t>
            </a:r>
            <a:r>
              <a:rPr sz="2201" dirty="0">
                <a:latin typeface="Arial MT"/>
                <a:cs typeface="Arial MT"/>
              </a:rPr>
              <a:t>useful</a:t>
            </a:r>
            <a:r>
              <a:rPr sz="2201" spc="-70" dirty="0">
                <a:latin typeface="Arial MT"/>
                <a:cs typeface="Arial MT"/>
              </a:rPr>
              <a:t> </a:t>
            </a:r>
            <a:r>
              <a:rPr sz="2201" dirty="0">
                <a:latin typeface="Arial MT"/>
                <a:cs typeface="Arial MT"/>
              </a:rPr>
              <a:t>information</a:t>
            </a:r>
            <a:r>
              <a:rPr sz="2201" spc="-34" dirty="0">
                <a:latin typeface="Arial MT"/>
                <a:cs typeface="Arial MT"/>
              </a:rPr>
              <a:t> </a:t>
            </a:r>
            <a:r>
              <a:rPr sz="2201" dirty="0">
                <a:latin typeface="Arial MT"/>
                <a:cs typeface="Arial MT"/>
              </a:rPr>
              <a:t>can</a:t>
            </a:r>
            <a:r>
              <a:rPr sz="2201" spc="-60" dirty="0">
                <a:latin typeface="Arial MT"/>
                <a:cs typeface="Arial MT"/>
              </a:rPr>
              <a:t> </a:t>
            </a:r>
            <a:r>
              <a:rPr sz="2201" dirty="0">
                <a:latin typeface="Arial MT"/>
                <a:cs typeface="Arial MT"/>
              </a:rPr>
              <a:t>be</a:t>
            </a:r>
            <a:r>
              <a:rPr sz="2201" spc="-65" dirty="0">
                <a:latin typeface="Arial MT"/>
                <a:cs typeface="Arial MT"/>
              </a:rPr>
              <a:t> </a:t>
            </a:r>
            <a:r>
              <a:rPr sz="2201" dirty="0">
                <a:latin typeface="Arial MT"/>
                <a:cs typeface="Arial MT"/>
              </a:rPr>
              <a:t>provided</a:t>
            </a:r>
            <a:r>
              <a:rPr sz="2201" spc="-46" dirty="0">
                <a:latin typeface="Arial MT"/>
                <a:cs typeface="Arial MT"/>
              </a:rPr>
              <a:t> </a:t>
            </a:r>
            <a:r>
              <a:rPr sz="2201" dirty="0">
                <a:latin typeface="Arial MT"/>
                <a:cs typeface="Arial MT"/>
              </a:rPr>
              <a:t>by</a:t>
            </a:r>
            <a:r>
              <a:rPr sz="2201" spc="-50" dirty="0">
                <a:latin typeface="Arial MT"/>
                <a:cs typeface="Arial MT"/>
              </a:rPr>
              <a:t> </a:t>
            </a:r>
            <a:r>
              <a:rPr sz="2201" dirty="0">
                <a:latin typeface="Arial MT"/>
                <a:cs typeface="Arial MT"/>
              </a:rPr>
              <a:t>estimates</a:t>
            </a:r>
            <a:r>
              <a:rPr sz="2201" spc="-65" dirty="0">
                <a:latin typeface="Arial MT"/>
                <a:cs typeface="Arial MT"/>
              </a:rPr>
              <a:t> </a:t>
            </a:r>
            <a:r>
              <a:rPr sz="2201" dirty="0">
                <a:latin typeface="Arial MT"/>
                <a:cs typeface="Arial MT"/>
              </a:rPr>
              <a:t>of</a:t>
            </a:r>
            <a:r>
              <a:rPr sz="2201" spc="-55" dirty="0">
                <a:latin typeface="Arial MT"/>
                <a:cs typeface="Arial MT"/>
              </a:rPr>
              <a:t> </a:t>
            </a:r>
            <a:r>
              <a:rPr sz="2201" dirty="0">
                <a:latin typeface="Arial MT"/>
                <a:cs typeface="Arial MT"/>
              </a:rPr>
              <a:t>the</a:t>
            </a:r>
            <a:r>
              <a:rPr sz="2201" spc="-46" dirty="0">
                <a:latin typeface="Arial MT"/>
                <a:cs typeface="Arial MT"/>
              </a:rPr>
              <a:t> </a:t>
            </a:r>
            <a:r>
              <a:rPr sz="2201" dirty="0">
                <a:latin typeface="Arial MT"/>
                <a:cs typeface="Arial MT"/>
              </a:rPr>
              <a:t>likely</a:t>
            </a:r>
            <a:r>
              <a:rPr sz="2201" spc="-75" dirty="0">
                <a:latin typeface="Arial MT"/>
                <a:cs typeface="Arial MT"/>
              </a:rPr>
              <a:t> </a:t>
            </a:r>
            <a:r>
              <a:rPr sz="2201" spc="-10" dirty="0">
                <a:latin typeface="Arial MT"/>
                <a:cs typeface="Arial MT"/>
              </a:rPr>
              <a:t>adverse </a:t>
            </a:r>
            <a:r>
              <a:rPr sz="2201" dirty="0">
                <a:latin typeface="Arial MT"/>
                <a:cs typeface="Arial MT"/>
              </a:rPr>
              <a:t>impacts</a:t>
            </a:r>
            <a:r>
              <a:rPr sz="2201" spc="-70" dirty="0">
                <a:latin typeface="Arial MT"/>
                <a:cs typeface="Arial MT"/>
              </a:rPr>
              <a:t> </a:t>
            </a:r>
            <a:r>
              <a:rPr sz="2201" dirty="0">
                <a:latin typeface="Arial MT"/>
                <a:cs typeface="Arial MT"/>
              </a:rPr>
              <a:t>(to</a:t>
            </a:r>
            <a:r>
              <a:rPr sz="2201" spc="-55" dirty="0">
                <a:latin typeface="Arial MT"/>
                <a:cs typeface="Arial MT"/>
              </a:rPr>
              <a:t> </a:t>
            </a:r>
            <a:r>
              <a:rPr sz="2201" dirty="0">
                <a:latin typeface="Arial MT"/>
                <a:cs typeface="Arial MT"/>
              </a:rPr>
              <a:t>humans,</a:t>
            </a:r>
            <a:r>
              <a:rPr sz="2201" spc="-60" dirty="0">
                <a:latin typeface="Arial MT"/>
                <a:cs typeface="Arial MT"/>
              </a:rPr>
              <a:t> </a:t>
            </a:r>
            <a:r>
              <a:rPr sz="2201" dirty="0">
                <a:latin typeface="Arial MT"/>
                <a:cs typeface="Arial MT"/>
              </a:rPr>
              <a:t>animals,</a:t>
            </a:r>
            <a:r>
              <a:rPr sz="2201" spc="-65" dirty="0">
                <a:latin typeface="Arial MT"/>
                <a:cs typeface="Arial MT"/>
              </a:rPr>
              <a:t> </a:t>
            </a:r>
            <a:r>
              <a:rPr sz="2201" dirty="0">
                <a:latin typeface="Arial MT"/>
                <a:cs typeface="Arial MT"/>
              </a:rPr>
              <a:t>crops</a:t>
            </a:r>
            <a:r>
              <a:rPr sz="2201" spc="-65" dirty="0">
                <a:latin typeface="Arial MT"/>
                <a:cs typeface="Arial MT"/>
              </a:rPr>
              <a:t> </a:t>
            </a:r>
            <a:r>
              <a:rPr sz="2201" dirty="0">
                <a:latin typeface="Arial MT"/>
                <a:cs typeface="Arial MT"/>
              </a:rPr>
              <a:t>and</a:t>
            </a:r>
            <a:r>
              <a:rPr sz="2201" spc="-70" dirty="0">
                <a:latin typeface="Arial MT"/>
                <a:cs typeface="Arial MT"/>
              </a:rPr>
              <a:t> </a:t>
            </a:r>
            <a:r>
              <a:rPr sz="2201" dirty="0">
                <a:latin typeface="Arial MT"/>
                <a:cs typeface="Arial MT"/>
              </a:rPr>
              <a:t>natural</a:t>
            </a:r>
            <a:r>
              <a:rPr sz="2201" spc="-65" dirty="0">
                <a:latin typeface="Arial MT"/>
                <a:cs typeface="Arial MT"/>
              </a:rPr>
              <a:t> </a:t>
            </a:r>
            <a:r>
              <a:rPr sz="2201" dirty="0">
                <a:latin typeface="Arial MT"/>
                <a:cs typeface="Arial MT"/>
              </a:rPr>
              <a:t>ecosystems),</a:t>
            </a:r>
            <a:r>
              <a:rPr sz="2201" spc="-46" dirty="0">
                <a:latin typeface="Arial MT"/>
                <a:cs typeface="Arial MT"/>
              </a:rPr>
              <a:t> </a:t>
            </a:r>
            <a:r>
              <a:rPr sz="2201" dirty="0">
                <a:latin typeface="Arial MT"/>
                <a:cs typeface="Arial MT"/>
              </a:rPr>
              <a:t>which</a:t>
            </a:r>
            <a:r>
              <a:rPr sz="2201" spc="-75" dirty="0">
                <a:latin typeface="Arial MT"/>
                <a:cs typeface="Arial MT"/>
              </a:rPr>
              <a:t> </a:t>
            </a:r>
            <a:r>
              <a:rPr sz="2201" dirty="0">
                <a:latin typeface="Arial MT"/>
                <a:cs typeface="Arial MT"/>
              </a:rPr>
              <a:t>may</a:t>
            </a:r>
            <a:r>
              <a:rPr sz="2201" spc="-55" dirty="0">
                <a:latin typeface="Arial MT"/>
                <a:cs typeface="Arial MT"/>
              </a:rPr>
              <a:t> </a:t>
            </a:r>
            <a:r>
              <a:rPr sz="2201" spc="-25" dirty="0">
                <a:latin typeface="Arial MT"/>
                <a:cs typeface="Arial MT"/>
              </a:rPr>
              <a:t>be </a:t>
            </a:r>
            <a:r>
              <a:rPr sz="2201" dirty="0">
                <a:latin typeface="Arial MT"/>
                <a:cs typeface="Arial MT"/>
              </a:rPr>
              <a:t>assessed</a:t>
            </a:r>
            <a:r>
              <a:rPr sz="2201" spc="-50" dirty="0">
                <a:latin typeface="Arial MT"/>
                <a:cs typeface="Arial MT"/>
              </a:rPr>
              <a:t> </a:t>
            </a:r>
            <a:r>
              <a:rPr sz="2201" dirty="0">
                <a:latin typeface="Arial MT"/>
                <a:cs typeface="Arial MT"/>
              </a:rPr>
              <a:t>from</a:t>
            </a:r>
            <a:r>
              <a:rPr sz="2201" spc="-34" dirty="0">
                <a:latin typeface="Arial MT"/>
                <a:cs typeface="Arial MT"/>
              </a:rPr>
              <a:t> </a:t>
            </a:r>
            <a:r>
              <a:rPr sz="2201" dirty="0">
                <a:latin typeface="Arial MT"/>
                <a:cs typeface="Arial MT"/>
              </a:rPr>
              <a:t>the</a:t>
            </a:r>
            <a:r>
              <a:rPr sz="2201" spc="-46" dirty="0">
                <a:latin typeface="Arial MT"/>
                <a:cs typeface="Arial MT"/>
              </a:rPr>
              <a:t> </a:t>
            </a:r>
            <a:r>
              <a:rPr sz="2201" dirty="0">
                <a:latin typeface="Arial MT"/>
                <a:cs typeface="Arial MT"/>
              </a:rPr>
              <a:t>modelled</a:t>
            </a:r>
            <a:r>
              <a:rPr sz="2201" spc="-41" dirty="0">
                <a:latin typeface="Arial MT"/>
                <a:cs typeface="Arial MT"/>
              </a:rPr>
              <a:t> </a:t>
            </a:r>
            <a:r>
              <a:rPr sz="2201" dirty="0">
                <a:latin typeface="Arial MT"/>
                <a:cs typeface="Arial MT"/>
              </a:rPr>
              <a:t>deposition</a:t>
            </a:r>
            <a:r>
              <a:rPr sz="2201" spc="-55" dirty="0">
                <a:latin typeface="Arial MT"/>
                <a:cs typeface="Arial MT"/>
              </a:rPr>
              <a:t> </a:t>
            </a:r>
            <a:r>
              <a:rPr sz="2201" dirty="0">
                <a:latin typeface="Arial MT"/>
                <a:cs typeface="Arial MT"/>
              </a:rPr>
              <a:t>and</a:t>
            </a:r>
            <a:r>
              <a:rPr sz="2201" spc="-34" dirty="0">
                <a:latin typeface="Arial MT"/>
                <a:cs typeface="Arial MT"/>
              </a:rPr>
              <a:t> </a:t>
            </a:r>
            <a:r>
              <a:rPr sz="2201" dirty="0">
                <a:latin typeface="Arial MT"/>
                <a:cs typeface="Arial MT"/>
              </a:rPr>
              <a:t>concentration</a:t>
            </a:r>
            <a:r>
              <a:rPr sz="2201" spc="-41" dirty="0">
                <a:latin typeface="Arial MT"/>
                <a:cs typeface="Arial MT"/>
              </a:rPr>
              <a:t> </a:t>
            </a:r>
            <a:r>
              <a:rPr sz="2201" dirty="0">
                <a:latin typeface="Arial MT"/>
                <a:cs typeface="Arial MT"/>
              </a:rPr>
              <a:t>of</a:t>
            </a:r>
            <a:r>
              <a:rPr sz="2201" spc="-46" dirty="0">
                <a:latin typeface="Arial MT"/>
                <a:cs typeface="Arial MT"/>
              </a:rPr>
              <a:t> </a:t>
            </a:r>
            <a:r>
              <a:rPr sz="2201" spc="-10" dirty="0">
                <a:latin typeface="Arial MT"/>
                <a:cs typeface="Arial MT"/>
              </a:rPr>
              <a:t>pollutants.</a:t>
            </a:r>
            <a:endParaRPr sz="2201">
              <a:latin typeface="Arial MT"/>
              <a:cs typeface="Arial MT"/>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xfrm>
            <a:off x="8993409" y="6464911"/>
            <a:ext cx="198636" cy="156068"/>
          </a:xfrm>
          <a:prstGeom prst="rect">
            <a:avLst/>
          </a:prstGeom>
        </p:spPr>
        <p:txBody>
          <a:bodyPr vert="horz" wrap="square" lIns="0" tIns="0" rIns="0" bIns="0" rtlCol="0">
            <a:spAutoFit/>
          </a:bodyPr>
          <a:lstStyle/>
          <a:p>
            <a:pPr marL="38101">
              <a:lnSpc>
                <a:spcPts val="1239"/>
              </a:lnSpc>
            </a:pPr>
            <a:fld id="{81D60167-4931-47E6-BA6A-407CBD079E47}" type="slidenum">
              <a:rPr spc="-25" dirty="0"/>
              <a:pPr marL="38101">
                <a:lnSpc>
                  <a:spcPts val="1239"/>
                </a:lnSpc>
              </a:pPr>
              <a:t>90</a:t>
            </a:fld>
            <a:endParaRPr spc="-25" dirty="0"/>
          </a:p>
        </p:txBody>
      </p:sp>
      <p:sp>
        <p:nvSpPr>
          <p:cNvPr id="2" name="object 2"/>
          <p:cNvSpPr txBox="1">
            <a:spLocks noGrp="1"/>
          </p:cNvSpPr>
          <p:nvPr>
            <p:ph type="title"/>
          </p:nvPr>
        </p:nvSpPr>
        <p:spPr>
          <a:xfrm>
            <a:off x="470371" y="133351"/>
            <a:ext cx="7600956" cy="892423"/>
          </a:xfrm>
          <a:prstGeom prst="rect">
            <a:avLst/>
          </a:prstGeom>
        </p:spPr>
        <p:txBody>
          <a:bodyPr vert="horz" wrap="square" lIns="0" tIns="396112" rIns="0" bIns="0" rtlCol="0">
            <a:spAutoFit/>
          </a:bodyPr>
          <a:lstStyle/>
          <a:p>
            <a:pPr marL="131448">
              <a:spcBef>
                <a:spcPts val="105"/>
              </a:spcBef>
            </a:pPr>
            <a:r>
              <a:rPr dirty="0"/>
              <a:t>Emission</a:t>
            </a:r>
            <a:r>
              <a:rPr spc="-55" dirty="0"/>
              <a:t> </a:t>
            </a:r>
            <a:r>
              <a:rPr spc="-10" dirty="0"/>
              <a:t>Inventory</a:t>
            </a:r>
          </a:p>
        </p:txBody>
      </p:sp>
      <p:sp>
        <p:nvSpPr>
          <p:cNvPr id="3" name="object 3"/>
          <p:cNvSpPr txBox="1"/>
          <p:nvPr/>
        </p:nvSpPr>
        <p:spPr>
          <a:xfrm>
            <a:off x="542341" y="1427175"/>
            <a:ext cx="10321925" cy="4448141"/>
          </a:xfrm>
          <a:prstGeom prst="rect">
            <a:avLst/>
          </a:prstGeom>
        </p:spPr>
        <p:txBody>
          <a:bodyPr vert="horz" wrap="square" lIns="0" tIns="12700" rIns="0" bIns="0" rtlCol="0">
            <a:spAutoFit/>
          </a:bodyPr>
          <a:lstStyle/>
          <a:p>
            <a:pPr marL="469912" indent="-457211">
              <a:spcBef>
                <a:spcPts val="100"/>
              </a:spcBef>
              <a:buAutoNum type="arabicPeriod" startAt="3"/>
              <a:tabLst>
                <a:tab pos="469912" algn="l"/>
              </a:tabLst>
            </a:pPr>
            <a:r>
              <a:rPr sz="2400" b="1" dirty="0">
                <a:solidFill>
                  <a:srgbClr val="6F2F9F"/>
                </a:solidFill>
                <a:latin typeface="Arial" panose="020B0604020202020204"/>
                <a:cs typeface="Arial" panose="020B0604020202020204"/>
              </a:rPr>
              <a:t>Use</a:t>
            </a:r>
            <a:r>
              <a:rPr sz="2400" b="1" spc="-20" dirty="0">
                <a:solidFill>
                  <a:srgbClr val="6F2F9F"/>
                </a:solidFill>
                <a:latin typeface="Arial" panose="020B0604020202020204"/>
                <a:cs typeface="Arial" panose="020B0604020202020204"/>
              </a:rPr>
              <a:t> </a:t>
            </a:r>
            <a:r>
              <a:rPr sz="2400" b="1" dirty="0">
                <a:solidFill>
                  <a:srgbClr val="6F2F9F"/>
                </a:solidFill>
                <a:latin typeface="Arial" panose="020B0604020202020204"/>
                <a:cs typeface="Arial" panose="020B0604020202020204"/>
              </a:rPr>
              <a:t>for</a:t>
            </a:r>
            <a:r>
              <a:rPr sz="2400" b="1" spc="-30" dirty="0">
                <a:solidFill>
                  <a:srgbClr val="6F2F9F"/>
                </a:solidFill>
                <a:latin typeface="Arial" panose="020B0604020202020204"/>
                <a:cs typeface="Arial" panose="020B0604020202020204"/>
              </a:rPr>
              <a:t> </a:t>
            </a:r>
            <a:r>
              <a:rPr sz="2400" b="1" dirty="0">
                <a:solidFill>
                  <a:srgbClr val="6F2F9F"/>
                </a:solidFill>
                <a:latin typeface="Arial" panose="020B0604020202020204"/>
                <a:cs typeface="Arial" panose="020B0604020202020204"/>
              </a:rPr>
              <a:t>future</a:t>
            </a:r>
            <a:r>
              <a:rPr sz="2400" b="1" spc="-46" dirty="0">
                <a:solidFill>
                  <a:srgbClr val="6F2F9F"/>
                </a:solidFill>
                <a:latin typeface="Arial" panose="020B0604020202020204"/>
                <a:cs typeface="Arial" panose="020B0604020202020204"/>
              </a:rPr>
              <a:t> </a:t>
            </a:r>
            <a:r>
              <a:rPr sz="2400" b="1" dirty="0">
                <a:solidFill>
                  <a:srgbClr val="6F2F9F"/>
                </a:solidFill>
                <a:latin typeface="Arial" panose="020B0604020202020204"/>
                <a:cs typeface="Arial" panose="020B0604020202020204"/>
              </a:rPr>
              <a:t>projections</a:t>
            </a:r>
            <a:r>
              <a:rPr sz="2400" b="1" spc="-50" dirty="0">
                <a:solidFill>
                  <a:srgbClr val="6F2F9F"/>
                </a:solidFill>
                <a:latin typeface="Arial" panose="020B0604020202020204"/>
                <a:cs typeface="Arial" panose="020B0604020202020204"/>
              </a:rPr>
              <a:t> </a:t>
            </a:r>
            <a:r>
              <a:rPr sz="2400" b="1" dirty="0">
                <a:solidFill>
                  <a:srgbClr val="6F2F9F"/>
                </a:solidFill>
                <a:latin typeface="Arial" panose="020B0604020202020204"/>
                <a:cs typeface="Arial" panose="020B0604020202020204"/>
              </a:rPr>
              <a:t>and</a:t>
            </a:r>
            <a:r>
              <a:rPr sz="2400" b="1" spc="-46" dirty="0">
                <a:solidFill>
                  <a:srgbClr val="6F2F9F"/>
                </a:solidFill>
                <a:latin typeface="Arial" panose="020B0604020202020204"/>
                <a:cs typeface="Arial" panose="020B0604020202020204"/>
              </a:rPr>
              <a:t> </a:t>
            </a:r>
            <a:r>
              <a:rPr sz="2400" b="1" dirty="0">
                <a:solidFill>
                  <a:srgbClr val="6F2F9F"/>
                </a:solidFill>
                <a:latin typeface="Arial" panose="020B0604020202020204"/>
                <a:cs typeface="Arial" panose="020B0604020202020204"/>
              </a:rPr>
              <a:t>setting</a:t>
            </a:r>
            <a:r>
              <a:rPr sz="2400" b="1" spc="-46" dirty="0">
                <a:solidFill>
                  <a:srgbClr val="6F2F9F"/>
                </a:solidFill>
                <a:latin typeface="Arial" panose="020B0604020202020204"/>
                <a:cs typeface="Arial" panose="020B0604020202020204"/>
              </a:rPr>
              <a:t> </a:t>
            </a:r>
            <a:r>
              <a:rPr sz="2400" b="1" dirty="0">
                <a:solidFill>
                  <a:srgbClr val="6F2F9F"/>
                </a:solidFill>
                <a:latin typeface="Arial" panose="020B0604020202020204"/>
                <a:cs typeface="Arial" panose="020B0604020202020204"/>
              </a:rPr>
              <a:t>of</a:t>
            </a:r>
            <a:r>
              <a:rPr sz="2400" b="1" spc="-34" dirty="0">
                <a:solidFill>
                  <a:srgbClr val="6F2F9F"/>
                </a:solidFill>
                <a:latin typeface="Arial" panose="020B0604020202020204"/>
                <a:cs typeface="Arial" panose="020B0604020202020204"/>
              </a:rPr>
              <a:t> </a:t>
            </a:r>
            <a:r>
              <a:rPr sz="2400" b="1" spc="-10" dirty="0">
                <a:solidFill>
                  <a:srgbClr val="6F2F9F"/>
                </a:solidFill>
                <a:latin typeface="Arial" panose="020B0604020202020204"/>
                <a:cs typeface="Arial" panose="020B0604020202020204"/>
              </a:rPr>
              <a:t>targets</a:t>
            </a:r>
            <a:endParaRPr sz="2400">
              <a:latin typeface="Arial" panose="020B0604020202020204"/>
              <a:cs typeface="Arial" panose="020B0604020202020204"/>
            </a:endParaRPr>
          </a:p>
          <a:p>
            <a:pPr marL="240036" marR="5081" lvl="1" indent="-227336">
              <a:lnSpc>
                <a:spcPct val="150000"/>
              </a:lnSpc>
              <a:spcBef>
                <a:spcPts val="1001"/>
              </a:spcBef>
              <a:buChar char="•"/>
              <a:tabLst>
                <a:tab pos="241306" algn="l"/>
              </a:tabLst>
            </a:pPr>
            <a:r>
              <a:rPr sz="2400" dirty="0">
                <a:latin typeface="Arial MT"/>
                <a:cs typeface="Arial MT"/>
              </a:rPr>
              <a:t>A</a:t>
            </a:r>
            <a:r>
              <a:rPr sz="2400" spc="-170" dirty="0">
                <a:latin typeface="Arial MT"/>
                <a:cs typeface="Arial MT"/>
              </a:rPr>
              <a:t> </a:t>
            </a:r>
            <a:r>
              <a:rPr sz="2400" dirty="0">
                <a:latin typeface="Arial MT"/>
                <a:cs typeface="Arial MT"/>
              </a:rPr>
              <a:t>current</a:t>
            </a:r>
            <a:r>
              <a:rPr sz="2400" spc="-65" dirty="0">
                <a:latin typeface="Arial MT"/>
                <a:cs typeface="Arial MT"/>
              </a:rPr>
              <a:t> </a:t>
            </a:r>
            <a:r>
              <a:rPr sz="2400" dirty="0">
                <a:latin typeface="Arial MT"/>
                <a:cs typeface="Arial MT"/>
              </a:rPr>
              <a:t>emission</a:t>
            </a:r>
            <a:r>
              <a:rPr sz="2400" spc="-55" dirty="0">
                <a:latin typeface="Arial MT"/>
                <a:cs typeface="Arial MT"/>
              </a:rPr>
              <a:t> </a:t>
            </a:r>
            <a:r>
              <a:rPr sz="2400" dirty="0">
                <a:latin typeface="Arial MT"/>
                <a:cs typeface="Arial MT"/>
              </a:rPr>
              <a:t>inventory</a:t>
            </a:r>
            <a:r>
              <a:rPr sz="2400" spc="-46" dirty="0">
                <a:latin typeface="Arial MT"/>
                <a:cs typeface="Arial MT"/>
              </a:rPr>
              <a:t> </a:t>
            </a:r>
            <a:r>
              <a:rPr sz="2400" dirty="0">
                <a:latin typeface="Arial MT"/>
                <a:cs typeface="Arial MT"/>
              </a:rPr>
              <a:t>can</a:t>
            </a:r>
            <a:r>
              <a:rPr sz="2400" spc="-55" dirty="0">
                <a:latin typeface="Arial MT"/>
                <a:cs typeface="Arial MT"/>
              </a:rPr>
              <a:t> </a:t>
            </a:r>
            <a:r>
              <a:rPr sz="2400" dirty="0">
                <a:latin typeface="Arial MT"/>
                <a:cs typeface="Arial MT"/>
              </a:rPr>
              <a:t>be</a:t>
            </a:r>
            <a:r>
              <a:rPr sz="2400" spc="-55" dirty="0">
                <a:latin typeface="Arial MT"/>
                <a:cs typeface="Arial MT"/>
              </a:rPr>
              <a:t> </a:t>
            </a:r>
            <a:r>
              <a:rPr sz="2400" dirty="0">
                <a:latin typeface="Arial MT"/>
                <a:cs typeface="Arial MT"/>
              </a:rPr>
              <a:t>used</a:t>
            </a:r>
            <a:r>
              <a:rPr sz="2400" spc="-46" dirty="0">
                <a:latin typeface="Arial MT"/>
                <a:cs typeface="Arial MT"/>
              </a:rPr>
              <a:t> </a:t>
            </a:r>
            <a:r>
              <a:rPr sz="2400" dirty="0">
                <a:latin typeface="Arial MT"/>
                <a:cs typeface="Arial MT"/>
              </a:rPr>
              <a:t>as</a:t>
            </a:r>
            <a:r>
              <a:rPr sz="2400" spc="-55" dirty="0">
                <a:latin typeface="Arial MT"/>
                <a:cs typeface="Arial MT"/>
              </a:rPr>
              <a:t> </a:t>
            </a:r>
            <a:r>
              <a:rPr sz="2400" dirty="0">
                <a:latin typeface="Arial MT"/>
                <a:cs typeface="Arial MT"/>
              </a:rPr>
              <a:t>the</a:t>
            </a:r>
            <a:r>
              <a:rPr sz="2400" spc="-70" dirty="0">
                <a:latin typeface="Arial MT"/>
                <a:cs typeface="Arial MT"/>
              </a:rPr>
              <a:t> </a:t>
            </a:r>
            <a:r>
              <a:rPr sz="2400" dirty="0">
                <a:latin typeface="Arial MT"/>
                <a:cs typeface="Arial MT"/>
              </a:rPr>
              <a:t>basis</a:t>
            </a:r>
            <a:r>
              <a:rPr sz="2400" spc="-50" dirty="0">
                <a:latin typeface="Arial MT"/>
                <a:cs typeface="Arial MT"/>
              </a:rPr>
              <a:t> </a:t>
            </a:r>
            <a:r>
              <a:rPr sz="2400" dirty="0">
                <a:latin typeface="Arial MT"/>
                <a:cs typeface="Arial MT"/>
              </a:rPr>
              <a:t>for</a:t>
            </a:r>
            <a:r>
              <a:rPr sz="2400" spc="-121" dirty="0">
                <a:latin typeface="Arial MT"/>
                <a:cs typeface="Arial MT"/>
              </a:rPr>
              <a:t> </a:t>
            </a:r>
            <a:r>
              <a:rPr sz="2400" dirty="0">
                <a:solidFill>
                  <a:srgbClr val="FF0000"/>
                </a:solidFill>
                <a:latin typeface="Arial MT"/>
                <a:cs typeface="Arial MT"/>
              </a:rPr>
              <a:t>estimating</a:t>
            </a:r>
            <a:r>
              <a:rPr sz="2400" spc="-55" dirty="0">
                <a:solidFill>
                  <a:srgbClr val="FF0000"/>
                </a:solidFill>
                <a:latin typeface="Arial MT"/>
                <a:cs typeface="Arial MT"/>
              </a:rPr>
              <a:t> </a:t>
            </a:r>
            <a:r>
              <a:rPr sz="2400" spc="-10" dirty="0">
                <a:solidFill>
                  <a:srgbClr val="FF0000"/>
                </a:solidFill>
                <a:latin typeface="Arial MT"/>
                <a:cs typeface="Arial MT"/>
              </a:rPr>
              <a:t>future 	</a:t>
            </a:r>
            <a:r>
              <a:rPr sz="2400" dirty="0">
                <a:solidFill>
                  <a:srgbClr val="FF0000"/>
                </a:solidFill>
                <a:latin typeface="Arial MT"/>
                <a:cs typeface="Arial MT"/>
              </a:rPr>
              <a:t>emissions</a:t>
            </a:r>
            <a:r>
              <a:rPr sz="2400" spc="-80" dirty="0">
                <a:solidFill>
                  <a:srgbClr val="FF0000"/>
                </a:solidFill>
                <a:latin typeface="Arial MT"/>
                <a:cs typeface="Arial MT"/>
              </a:rPr>
              <a:t> </a:t>
            </a:r>
            <a:r>
              <a:rPr sz="2400" dirty="0">
                <a:latin typeface="Arial MT"/>
                <a:cs typeface="Arial MT"/>
              </a:rPr>
              <a:t>according</a:t>
            </a:r>
            <a:r>
              <a:rPr sz="2400" spc="-65" dirty="0">
                <a:latin typeface="Arial MT"/>
                <a:cs typeface="Arial MT"/>
              </a:rPr>
              <a:t> </a:t>
            </a:r>
            <a:r>
              <a:rPr sz="2400" dirty="0">
                <a:latin typeface="Arial MT"/>
                <a:cs typeface="Arial MT"/>
              </a:rPr>
              <a:t>to</a:t>
            </a:r>
            <a:r>
              <a:rPr sz="2400" spc="-85" dirty="0">
                <a:latin typeface="Arial MT"/>
                <a:cs typeface="Arial MT"/>
              </a:rPr>
              <a:t> </a:t>
            </a:r>
            <a:r>
              <a:rPr sz="2400" dirty="0">
                <a:latin typeface="Arial MT"/>
                <a:cs typeface="Arial MT"/>
              </a:rPr>
              <a:t>projected</a:t>
            </a:r>
            <a:r>
              <a:rPr sz="2400" spc="-90" dirty="0">
                <a:latin typeface="Arial MT"/>
                <a:cs typeface="Arial MT"/>
              </a:rPr>
              <a:t> </a:t>
            </a:r>
            <a:r>
              <a:rPr sz="2400" dirty="0">
                <a:latin typeface="Arial MT"/>
                <a:cs typeface="Arial MT"/>
              </a:rPr>
              <a:t>likely</a:t>
            </a:r>
            <a:r>
              <a:rPr sz="2400" spc="-70" dirty="0">
                <a:latin typeface="Arial MT"/>
                <a:cs typeface="Arial MT"/>
              </a:rPr>
              <a:t> </a:t>
            </a:r>
            <a:r>
              <a:rPr sz="2400" dirty="0">
                <a:latin typeface="Arial MT"/>
                <a:cs typeface="Arial MT"/>
              </a:rPr>
              <a:t>changes</a:t>
            </a:r>
            <a:r>
              <a:rPr sz="2400" spc="-75" dirty="0">
                <a:latin typeface="Arial MT"/>
                <a:cs typeface="Arial MT"/>
              </a:rPr>
              <a:t> </a:t>
            </a:r>
            <a:r>
              <a:rPr sz="2400" dirty="0">
                <a:latin typeface="Arial MT"/>
                <a:cs typeface="Arial MT"/>
              </a:rPr>
              <a:t>in</a:t>
            </a:r>
            <a:r>
              <a:rPr sz="2400" spc="-85" dirty="0">
                <a:latin typeface="Arial MT"/>
                <a:cs typeface="Arial MT"/>
              </a:rPr>
              <a:t> </a:t>
            </a:r>
            <a:r>
              <a:rPr sz="2400" spc="-20" dirty="0">
                <a:latin typeface="Arial MT"/>
                <a:cs typeface="Arial MT"/>
              </a:rPr>
              <a:t>socio-</a:t>
            </a:r>
            <a:r>
              <a:rPr sz="2400" dirty="0">
                <a:latin typeface="Arial MT"/>
                <a:cs typeface="Arial MT"/>
              </a:rPr>
              <a:t>economic</a:t>
            </a:r>
            <a:r>
              <a:rPr sz="2400" spc="-55" dirty="0">
                <a:latin typeface="Arial MT"/>
                <a:cs typeface="Arial MT"/>
              </a:rPr>
              <a:t> </a:t>
            </a:r>
            <a:r>
              <a:rPr sz="2400" spc="-10" dirty="0">
                <a:latin typeface="Arial MT"/>
                <a:cs typeface="Arial MT"/>
              </a:rPr>
              <a:t>indices 	</a:t>
            </a:r>
            <a:r>
              <a:rPr sz="2400" dirty="0">
                <a:latin typeface="Arial MT"/>
                <a:cs typeface="Arial MT"/>
              </a:rPr>
              <a:t>(e.g.</a:t>
            </a:r>
            <a:r>
              <a:rPr sz="2400" spc="-70" dirty="0">
                <a:latin typeface="Arial MT"/>
                <a:cs typeface="Arial MT"/>
              </a:rPr>
              <a:t> </a:t>
            </a:r>
            <a:r>
              <a:rPr sz="2400" dirty="0">
                <a:latin typeface="Arial MT"/>
                <a:cs typeface="Arial MT"/>
              </a:rPr>
              <a:t>population</a:t>
            </a:r>
            <a:r>
              <a:rPr sz="2400" spc="-25" dirty="0">
                <a:latin typeface="Arial MT"/>
                <a:cs typeface="Arial MT"/>
              </a:rPr>
              <a:t> </a:t>
            </a:r>
            <a:r>
              <a:rPr sz="2400" dirty="0">
                <a:latin typeface="Arial MT"/>
                <a:cs typeface="Arial MT"/>
              </a:rPr>
              <a:t>growth,</a:t>
            </a:r>
            <a:r>
              <a:rPr sz="2400" spc="-50" dirty="0">
                <a:latin typeface="Arial MT"/>
                <a:cs typeface="Arial MT"/>
              </a:rPr>
              <a:t> </a:t>
            </a:r>
            <a:r>
              <a:rPr sz="2400" dirty="0">
                <a:latin typeface="Arial MT"/>
                <a:cs typeface="Arial MT"/>
              </a:rPr>
              <a:t>economic</a:t>
            </a:r>
            <a:r>
              <a:rPr sz="2400" spc="-41" dirty="0">
                <a:latin typeface="Arial MT"/>
                <a:cs typeface="Arial MT"/>
              </a:rPr>
              <a:t> </a:t>
            </a:r>
            <a:r>
              <a:rPr sz="2400" dirty="0">
                <a:latin typeface="Arial MT"/>
                <a:cs typeface="Arial MT"/>
              </a:rPr>
              <a:t>growth,</a:t>
            </a:r>
            <a:r>
              <a:rPr sz="2400" spc="-50" dirty="0">
                <a:latin typeface="Arial MT"/>
                <a:cs typeface="Arial MT"/>
              </a:rPr>
              <a:t> </a:t>
            </a:r>
            <a:r>
              <a:rPr sz="2400" dirty="0">
                <a:latin typeface="Arial MT"/>
                <a:cs typeface="Arial MT"/>
              </a:rPr>
              <a:t>changes</a:t>
            </a:r>
            <a:r>
              <a:rPr sz="2400" spc="-46" dirty="0">
                <a:latin typeface="Arial MT"/>
                <a:cs typeface="Arial MT"/>
              </a:rPr>
              <a:t> </a:t>
            </a:r>
            <a:r>
              <a:rPr sz="2400" dirty="0">
                <a:latin typeface="Arial MT"/>
                <a:cs typeface="Arial MT"/>
              </a:rPr>
              <a:t>in</a:t>
            </a:r>
            <a:r>
              <a:rPr sz="2400" spc="-50" dirty="0">
                <a:latin typeface="Arial MT"/>
                <a:cs typeface="Arial MT"/>
              </a:rPr>
              <a:t> </a:t>
            </a:r>
            <a:r>
              <a:rPr sz="2400" dirty="0">
                <a:latin typeface="Arial MT"/>
                <a:cs typeface="Arial MT"/>
              </a:rPr>
              <a:t>energy</a:t>
            </a:r>
            <a:r>
              <a:rPr sz="2400" spc="-34" dirty="0">
                <a:latin typeface="Arial MT"/>
                <a:cs typeface="Arial MT"/>
              </a:rPr>
              <a:t> </a:t>
            </a:r>
            <a:r>
              <a:rPr sz="2400" dirty="0">
                <a:latin typeface="Arial MT"/>
                <a:cs typeface="Arial MT"/>
              </a:rPr>
              <a:t>use</a:t>
            </a:r>
            <a:r>
              <a:rPr sz="2400" spc="-55" dirty="0">
                <a:latin typeface="Arial MT"/>
                <a:cs typeface="Arial MT"/>
              </a:rPr>
              <a:t> </a:t>
            </a:r>
            <a:r>
              <a:rPr sz="2400" dirty="0">
                <a:latin typeface="Arial MT"/>
                <a:cs typeface="Arial MT"/>
              </a:rPr>
              <a:t>per</a:t>
            </a:r>
            <a:r>
              <a:rPr sz="2400" spc="-55" dirty="0">
                <a:latin typeface="Arial MT"/>
                <a:cs typeface="Arial MT"/>
              </a:rPr>
              <a:t> </a:t>
            </a:r>
            <a:r>
              <a:rPr sz="2400" spc="-20" dirty="0">
                <a:latin typeface="Arial MT"/>
                <a:cs typeface="Arial MT"/>
              </a:rPr>
              <a:t>unit 	</a:t>
            </a:r>
            <a:r>
              <a:rPr sz="2400" dirty="0">
                <a:latin typeface="Arial MT"/>
                <a:cs typeface="Arial MT"/>
              </a:rPr>
              <a:t>activity),</a:t>
            </a:r>
            <a:r>
              <a:rPr sz="2400" spc="-50" dirty="0">
                <a:latin typeface="Arial MT"/>
                <a:cs typeface="Arial MT"/>
              </a:rPr>
              <a:t> </a:t>
            </a:r>
            <a:r>
              <a:rPr sz="2400" dirty="0">
                <a:latin typeface="Arial MT"/>
                <a:cs typeface="Arial MT"/>
              </a:rPr>
              <a:t>lower</a:t>
            </a:r>
            <a:r>
              <a:rPr sz="2400" spc="-34" dirty="0">
                <a:latin typeface="Arial MT"/>
                <a:cs typeface="Arial MT"/>
              </a:rPr>
              <a:t> </a:t>
            </a:r>
            <a:r>
              <a:rPr sz="2400" dirty="0">
                <a:latin typeface="Arial MT"/>
                <a:cs typeface="Arial MT"/>
              </a:rPr>
              <a:t>emission</a:t>
            </a:r>
            <a:r>
              <a:rPr sz="2400" spc="-34" dirty="0">
                <a:latin typeface="Arial MT"/>
                <a:cs typeface="Arial MT"/>
              </a:rPr>
              <a:t> </a:t>
            </a:r>
            <a:r>
              <a:rPr sz="2400" dirty="0">
                <a:latin typeface="Arial MT"/>
                <a:cs typeface="Arial MT"/>
              </a:rPr>
              <a:t>factors</a:t>
            </a:r>
            <a:r>
              <a:rPr sz="2400" spc="-65" dirty="0">
                <a:latin typeface="Arial MT"/>
                <a:cs typeface="Arial MT"/>
              </a:rPr>
              <a:t> </a:t>
            </a:r>
            <a:r>
              <a:rPr sz="2400" dirty="0">
                <a:latin typeface="Arial MT"/>
                <a:cs typeface="Arial MT"/>
              </a:rPr>
              <a:t>(e.g.</a:t>
            </a:r>
            <a:r>
              <a:rPr sz="2400" spc="-65" dirty="0">
                <a:latin typeface="Arial MT"/>
                <a:cs typeface="Arial MT"/>
              </a:rPr>
              <a:t> </a:t>
            </a:r>
            <a:r>
              <a:rPr sz="2400" dirty="0">
                <a:latin typeface="Arial MT"/>
                <a:cs typeface="Arial MT"/>
              </a:rPr>
              <a:t>by</a:t>
            </a:r>
            <a:r>
              <a:rPr sz="2400" spc="-50" dirty="0">
                <a:latin typeface="Arial MT"/>
                <a:cs typeface="Arial MT"/>
              </a:rPr>
              <a:t> </a:t>
            </a:r>
            <a:r>
              <a:rPr sz="2400" dirty="0">
                <a:latin typeface="Arial MT"/>
                <a:cs typeface="Arial MT"/>
              </a:rPr>
              <a:t>introduction</a:t>
            </a:r>
            <a:r>
              <a:rPr sz="2400" spc="-41" dirty="0">
                <a:latin typeface="Arial MT"/>
                <a:cs typeface="Arial MT"/>
              </a:rPr>
              <a:t> </a:t>
            </a:r>
            <a:r>
              <a:rPr sz="2400" dirty="0">
                <a:latin typeface="Arial MT"/>
                <a:cs typeface="Arial MT"/>
              </a:rPr>
              <a:t>of</a:t>
            </a:r>
            <a:r>
              <a:rPr sz="2400" spc="-50" dirty="0">
                <a:latin typeface="Arial MT"/>
                <a:cs typeface="Arial MT"/>
              </a:rPr>
              <a:t> </a:t>
            </a:r>
            <a:r>
              <a:rPr sz="2400" dirty="0">
                <a:latin typeface="Arial MT"/>
                <a:cs typeface="Arial MT"/>
              </a:rPr>
              <a:t>better</a:t>
            </a:r>
            <a:r>
              <a:rPr sz="2400" spc="-55" dirty="0">
                <a:latin typeface="Arial MT"/>
                <a:cs typeface="Arial MT"/>
              </a:rPr>
              <a:t> </a:t>
            </a:r>
            <a:r>
              <a:rPr sz="2400" spc="-10" dirty="0">
                <a:latin typeface="Arial MT"/>
                <a:cs typeface="Arial MT"/>
              </a:rPr>
              <a:t>control 	</a:t>
            </a:r>
            <a:r>
              <a:rPr sz="2400" dirty="0">
                <a:latin typeface="Arial MT"/>
                <a:cs typeface="Arial MT"/>
              </a:rPr>
              <a:t>measures),</a:t>
            </a:r>
            <a:r>
              <a:rPr sz="2400" spc="-80" dirty="0">
                <a:latin typeface="Arial MT"/>
                <a:cs typeface="Arial MT"/>
              </a:rPr>
              <a:t> </a:t>
            </a:r>
            <a:r>
              <a:rPr sz="2400" dirty="0">
                <a:latin typeface="Arial MT"/>
                <a:cs typeface="Arial MT"/>
              </a:rPr>
              <a:t>fuel</a:t>
            </a:r>
            <a:r>
              <a:rPr sz="2400" spc="-75" dirty="0">
                <a:latin typeface="Arial MT"/>
                <a:cs typeface="Arial MT"/>
              </a:rPr>
              <a:t> </a:t>
            </a:r>
            <a:r>
              <a:rPr sz="2400" dirty="0">
                <a:latin typeface="Arial MT"/>
                <a:cs typeface="Arial MT"/>
              </a:rPr>
              <a:t>switching</a:t>
            </a:r>
            <a:r>
              <a:rPr sz="2400" spc="-46" dirty="0">
                <a:latin typeface="Arial MT"/>
                <a:cs typeface="Arial MT"/>
              </a:rPr>
              <a:t> </a:t>
            </a:r>
            <a:r>
              <a:rPr sz="2400" dirty="0">
                <a:latin typeface="Arial MT"/>
                <a:cs typeface="Arial MT"/>
              </a:rPr>
              <a:t>and</a:t>
            </a:r>
            <a:r>
              <a:rPr sz="2400" spc="-75" dirty="0">
                <a:latin typeface="Arial MT"/>
                <a:cs typeface="Arial MT"/>
              </a:rPr>
              <a:t> </a:t>
            </a:r>
            <a:r>
              <a:rPr sz="2400" dirty="0">
                <a:latin typeface="Arial MT"/>
                <a:cs typeface="Arial MT"/>
              </a:rPr>
              <a:t>so</a:t>
            </a:r>
            <a:r>
              <a:rPr sz="2400" spc="-75" dirty="0">
                <a:latin typeface="Arial MT"/>
                <a:cs typeface="Arial MT"/>
              </a:rPr>
              <a:t> </a:t>
            </a:r>
            <a:r>
              <a:rPr sz="2400" spc="-10" dirty="0">
                <a:latin typeface="Arial MT"/>
                <a:cs typeface="Arial MT"/>
              </a:rPr>
              <a:t>forth.</a:t>
            </a:r>
            <a:endParaRPr sz="2400">
              <a:latin typeface="Arial MT"/>
              <a:cs typeface="Arial MT"/>
            </a:endParaRPr>
          </a:p>
          <a:p>
            <a:pPr marL="240036" marR="946809" lvl="1" indent="-227336">
              <a:lnSpc>
                <a:spcPct val="150000"/>
              </a:lnSpc>
              <a:spcBef>
                <a:spcPts val="1010"/>
              </a:spcBef>
              <a:buChar char="•"/>
              <a:tabLst>
                <a:tab pos="241306" algn="l"/>
              </a:tabLst>
            </a:pPr>
            <a:r>
              <a:rPr sz="2400" dirty="0">
                <a:latin typeface="Arial MT"/>
                <a:cs typeface="Arial MT"/>
              </a:rPr>
              <a:t>Estimated</a:t>
            </a:r>
            <a:r>
              <a:rPr sz="2400" spc="-70" dirty="0">
                <a:latin typeface="Arial MT"/>
                <a:cs typeface="Arial MT"/>
              </a:rPr>
              <a:t> </a:t>
            </a:r>
            <a:r>
              <a:rPr sz="2400" dirty="0">
                <a:latin typeface="Arial MT"/>
                <a:cs typeface="Arial MT"/>
              </a:rPr>
              <a:t>future</a:t>
            </a:r>
            <a:r>
              <a:rPr sz="2400" spc="-85" dirty="0">
                <a:latin typeface="Arial MT"/>
                <a:cs typeface="Arial MT"/>
              </a:rPr>
              <a:t> </a:t>
            </a:r>
            <a:r>
              <a:rPr sz="2400" dirty="0">
                <a:latin typeface="Arial MT"/>
                <a:cs typeface="Arial MT"/>
              </a:rPr>
              <a:t>emissions</a:t>
            </a:r>
            <a:r>
              <a:rPr sz="2400" spc="-55" dirty="0">
                <a:latin typeface="Arial MT"/>
                <a:cs typeface="Arial MT"/>
              </a:rPr>
              <a:t> </a:t>
            </a:r>
            <a:r>
              <a:rPr sz="2400" dirty="0">
                <a:latin typeface="Arial MT"/>
                <a:cs typeface="Arial MT"/>
              </a:rPr>
              <a:t>provide</a:t>
            </a:r>
            <a:r>
              <a:rPr sz="2400" spc="-50" dirty="0">
                <a:latin typeface="Arial MT"/>
                <a:cs typeface="Arial MT"/>
              </a:rPr>
              <a:t> </a:t>
            </a:r>
            <a:r>
              <a:rPr sz="2400" dirty="0">
                <a:latin typeface="Arial MT"/>
                <a:cs typeface="Arial MT"/>
              </a:rPr>
              <a:t>important</a:t>
            </a:r>
            <a:r>
              <a:rPr sz="2400" spc="-70" dirty="0">
                <a:latin typeface="Arial MT"/>
                <a:cs typeface="Arial MT"/>
              </a:rPr>
              <a:t> </a:t>
            </a:r>
            <a:r>
              <a:rPr sz="2400" dirty="0">
                <a:latin typeface="Arial MT"/>
                <a:cs typeface="Arial MT"/>
              </a:rPr>
              <a:t>information</a:t>
            </a:r>
            <a:r>
              <a:rPr sz="2400" spc="-60" dirty="0">
                <a:latin typeface="Arial MT"/>
                <a:cs typeface="Arial MT"/>
              </a:rPr>
              <a:t> </a:t>
            </a:r>
            <a:r>
              <a:rPr sz="2400" dirty="0">
                <a:latin typeface="Arial MT"/>
                <a:cs typeface="Arial MT"/>
              </a:rPr>
              <a:t>for</a:t>
            </a:r>
            <a:r>
              <a:rPr sz="2400" spc="-70" dirty="0">
                <a:latin typeface="Arial MT"/>
                <a:cs typeface="Arial MT"/>
              </a:rPr>
              <a:t> </a:t>
            </a:r>
            <a:r>
              <a:rPr sz="2400" spc="-10" dirty="0">
                <a:latin typeface="Arial MT"/>
                <a:cs typeface="Arial MT"/>
              </a:rPr>
              <a:t>setting 	</a:t>
            </a:r>
            <a:r>
              <a:rPr sz="2400" dirty="0">
                <a:latin typeface="Arial MT"/>
                <a:cs typeface="Arial MT"/>
              </a:rPr>
              <a:t>emissions</a:t>
            </a:r>
            <a:r>
              <a:rPr sz="2400" spc="-90" dirty="0">
                <a:latin typeface="Arial MT"/>
                <a:cs typeface="Arial MT"/>
              </a:rPr>
              <a:t> </a:t>
            </a:r>
            <a:r>
              <a:rPr sz="2400" spc="-10" dirty="0">
                <a:latin typeface="Arial MT"/>
                <a:cs typeface="Arial MT"/>
              </a:rPr>
              <a:t>targets.</a:t>
            </a:r>
            <a:endParaRPr sz="2400">
              <a:latin typeface="Arial MT"/>
              <a:cs typeface="Arial MT"/>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xfrm>
            <a:off x="8993409" y="6464911"/>
            <a:ext cx="198636" cy="156068"/>
          </a:xfrm>
          <a:prstGeom prst="rect">
            <a:avLst/>
          </a:prstGeom>
        </p:spPr>
        <p:txBody>
          <a:bodyPr vert="horz" wrap="square" lIns="0" tIns="0" rIns="0" bIns="0" rtlCol="0">
            <a:spAutoFit/>
          </a:bodyPr>
          <a:lstStyle/>
          <a:p>
            <a:pPr marL="38101">
              <a:lnSpc>
                <a:spcPts val="1239"/>
              </a:lnSpc>
            </a:pPr>
            <a:fld id="{81D60167-4931-47E6-BA6A-407CBD079E47}" type="slidenum">
              <a:rPr spc="-25" dirty="0"/>
              <a:pPr marL="38101">
                <a:lnSpc>
                  <a:spcPts val="1239"/>
                </a:lnSpc>
              </a:pPr>
              <a:t>91</a:t>
            </a:fld>
            <a:endParaRPr spc="-25" dirty="0"/>
          </a:p>
        </p:txBody>
      </p:sp>
      <p:sp>
        <p:nvSpPr>
          <p:cNvPr id="2" name="object 2"/>
          <p:cNvSpPr txBox="1">
            <a:spLocks noGrp="1"/>
          </p:cNvSpPr>
          <p:nvPr>
            <p:ph type="title"/>
          </p:nvPr>
        </p:nvSpPr>
        <p:spPr>
          <a:xfrm>
            <a:off x="578917" y="76200"/>
            <a:ext cx="9355023" cy="892423"/>
          </a:xfrm>
          <a:prstGeom prst="rect">
            <a:avLst/>
          </a:prstGeom>
        </p:spPr>
        <p:txBody>
          <a:bodyPr vert="horz" wrap="square" lIns="0" tIns="396112" rIns="0" bIns="0" rtlCol="0">
            <a:spAutoFit/>
          </a:bodyPr>
          <a:lstStyle/>
          <a:p>
            <a:pPr marL="131448">
              <a:spcBef>
                <a:spcPts val="105"/>
              </a:spcBef>
            </a:pPr>
            <a:r>
              <a:rPr dirty="0"/>
              <a:t>Emission</a:t>
            </a:r>
            <a:r>
              <a:rPr spc="-55" dirty="0"/>
              <a:t> </a:t>
            </a:r>
            <a:r>
              <a:rPr spc="-10" dirty="0"/>
              <a:t>Inventory</a:t>
            </a:r>
          </a:p>
        </p:txBody>
      </p:sp>
      <p:sp>
        <p:nvSpPr>
          <p:cNvPr id="3" name="object 3"/>
          <p:cNvSpPr txBox="1"/>
          <p:nvPr/>
        </p:nvSpPr>
        <p:spPr>
          <a:xfrm>
            <a:off x="542342" y="1427175"/>
            <a:ext cx="9624695" cy="3894143"/>
          </a:xfrm>
          <a:prstGeom prst="rect">
            <a:avLst/>
          </a:prstGeom>
        </p:spPr>
        <p:txBody>
          <a:bodyPr vert="horz" wrap="square" lIns="0" tIns="12700" rIns="0" bIns="0" rtlCol="0">
            <a:spAutoFit/>
          </a:bodyPr>
          <a:lstStyle/>
          <a:p>
            <a:pPr marL="469912" indent="-457211">
              <a:spcBef>
                <a:spcPts val="100"/>
              </a:spcBef>
              <a:buAutoNum type="arabicPeriod" startAt="4"/>
              <a:tabLst>
                <a:tab pos="469912" algn="l"/>
              </a:tabLst>
            </a:pPr>
            <a:r>
              <a:rPr sz="2400" b="1" dirty="0">
                <a:solidFill>
                  <a:srgbClr val="6F2F9F"/>
                </a:solidFill>
                <a:latin typeface="Arial" panose="020B0604020202020204"/>
                <a:cs typeface="Arial" panose="020B0604020202020204"/>
              </a:rPr>
              <a:t>Use</a:t>
            </a:r>
            <a:r>
              <a:rPr sz="2400" b="1" spc="-25" dirty="0">
                <a:solidFill>
                  <a:srgbClr val="6F2F9F"/>
                </a:solidFill>
                <a:latin typeface="Arial" panose="020B0604020202020204"/>
                <a:cs typeface="Arial" panose="020B0604020202020204"/>
              </a:rPr>
              <a:t> </a:t>
            </a:r>
            <a:r>
              <a:rPr sz="2400" b="1" dirty="0">
                <a:solidFill>
                  <a:srgbClr val="6F2F9F"/>
                </a:solidFill>
                <a:latin typeface="Arial" panose="020B0604020202020204"/>
                <a:cs typeface="Arial" panose="020B0604020202020204"/>
              </a:rPr>
              <a:t>for</a:t>
            </a:r>
            <a:r>
              <a:rPr sz="2400" b="1" spc="-30" dirty="0">
                <a:solidFill>
                  <a:srgbClr val="6F2F9F"/>
                </a:solidFill>
                <a:latin typeface="Arial" panose="020B0604020202020204"/>
                <a:cs typeface="Arial" panose="020B0604020202020204"/>
              </a:rPr>
              <a:t> </a:t>
            </a:r>
            <a:r>
              <a:rPr sz="2400" b="1" dirty="0">
                <a:solidFill>
                  <a:srgbClr val="6F2F9F"/>
                </a:solidFill>
                <a:latin typeface="Arial" panose="020B0604020202020204"/>
                <a:cs typeface="Arial" panose="020B0604020202020204"/>
              </a:rPr>
              <a:t>the</a:t>
            </a:r>
            <a:r>
              <a:rPr sz="2400" b="1" spc="-50" dirty="0">
                <a:solidFill>
                  <a:srgbClr val="6F2F9F"/>
                </a:solidFill>
                <a:latin typeface="Arial" panose="020B0604020202020204"/>
                <a:cs typeface="Arial" panose="020B0604020202020204"/>
              </a:rPr>
              <a:t> </a:t>
            </a:r>
            <a:r>
              <a:rPr sz="2400" b="1" dirty="0">
                <a:solidFill>
                  <a:srgbClr val="6F2F9F"/>
                </a:solidFill>
                <a:latin typeface="Arial" panose="020B0604020202020204"/>
                <a:cs typeface="Arial" panose="020B0604020202020204"/>
              </a:rPr>
              <a:t>consideration</a:t>
            </a:r>
            <a:r>
              <a:rPr sz="2400" b="1" spc="-50" dirty="0">
                <a:solidFill>
                  <a:srgbClr val="6F2F9F"/>
                </a:solidFill>
                <a:latin typeface="Arial" panose="020B0604020202020204"/>
                <a:cs typeface="Arial" panose="020B0604020202020204"/>
              </a:rPr>
              <a:t> </a:t>
            </a:r>
            <a:r>
              <a:rPr sz="2400" b="1" dirty="0">
                <a:solidFill>
                  <a:srgbClr val="6F2F9F"/>
                </a:solidFill>
                <a:latin typeface="Arial" panose="020B0604020202020204"/>
                <a:cs typeface="Arial" panose="020B0604020202020204"/>
              </a:rPr>
              <a:t>of</a:t>
            </a:r>
            <a:r>
              <a:rPr sz="2400" b="1" spc="-50" dirty="0">
                <a:solidFill>
                  <a:srgbClr val="6F2F9F"/>
                </a:solidFill>
                <a:latin typeface="Arial" panose="020B0604020202020204"/>
                <a:cs typeface="Arial" panose="020B0604020202020204"/>
              </a:rPr>
              <a:t> </a:t>
            </a:r>
            <a:r>
              <a:rPr sz="2400" b="1" dirty="0">
                <a:solidFill>
                  <a:srgbClr val="6F2F9F"/>
                </a:solidFill>
                <a:latin typeface="Arial" panose="020B0604020202020204"/>
                <a:cs typeface="Arial" panose="020B0604020202020204"/>
              </a:rPr>
              <a:t>possible</a:t>
            </a:r>
            <a:r>
              <a:rPr sz="2400" b="1" spc="-30" dirty="0">
                <a:solidFill>
                  <a:srgbClr val="6F2F9F"/>
                </a:solidFill>
                <a:latin typeface="Arial" panose="020B0604020202020204"/>
                <a:cs typeface="Arial" panose="020B0604020202020204"/>
              </a:rPr>
              <a:t> </a:t>
            </a:r>
            <a:r>
              <a:rPr sz="2400" b="1" dirty="0">
                <a:solidFill>
                  <a:srgbClr val="6F2F9F"/>
                </a:solidFill>
                <a:latin typeface="Arial" panose="020B0604020202020204"/>
                <a:cs typeface="Arial" panose="020B0604020202020204"/>
              </a:rPr>
              <a:t>reduction</a:t>
            </a:r>
            <a:r>
              <a:rPr sz="2400" b="1" spc="-46" dirty="0">
                <a:solidFill>
                  <a:srgbClr val="6F2F9F"/>
                </a:solidFill>
                <a:latin typeface="Arial" panose="020B0604020202020204"/>
                <a:cs typeface="Arial" panose="020B0604020202020204"/>
              </a:rPr>
              <a:t> </a:t>
            </a:r>
            <a:r>
              <a:rPr sz="2400" b="1" spc="-10" dirty="0">
                <a:solidFill>
                  <a:srgbClr val="6F2F9F"/>
                </a:solidFill>
                <a:latin typeface="Arial" panose="020B0604020202020204"/>
                <a:cs typeface="Arial" panose="020B0604020202020204"/>
              </a:rPr>
              <a:t>measures</a:t>
            </a:r>
            <a:endParaRPr sz="2400">
              <a:latin typeface="Arial" panose="020B0604020202020204"/>
              <a:cs typeface="Arial" panose="020B0604020202020204"/>
            </a:endParaRPr>
          </a:p>
          <a:p>
            <a:pPr marL="240036" marR="5081" lvl="1" indent="-227336" algn="just">
              <a:lnSpc>
                <a:spcPct val="150000"/>
              </a:lnSpc>
              <a:spcBef>
                <a:spcPts val="1001"/>
              </a:spcBef>
              <a:buChar char="•"/>
              <a:tabLst>
                <a:tab pos="241306" algn="l"/>
              </a:tabLst>
            </a:pPr>
            <a:r>
              <a:rPr sz="2400" dirty="0">
                <a:latin typeface="Arial MT"/>
                <a:cs typeface="Arial MT"/>
              </a:rPr>
              <a:t>An</a:t>
            </a:r>
            <a:r>
              <a:rPr sz="2400" spc="-70" dirty="0">
                <a:latin typeface="Arial MT"/>
                <a:cs typeface="Arial MT"/>
              </a:rPr>
              <a:t> </a:t>
            </a:r>
            <a:r>
              <a:rPr sz="2400" dirty="0">
                <a:latin typeface="Arial MT"/>
                <a:cs typeface="Arial MT"/>
              </a:rPr>
              <a:t>emission</a:t>
            </a:r>
            <a:r>
              <a:rPr sz="2400" spc="-46" dirty="0">
                <a:latin typeface="Arial MT"/>
                <a:cs typeface="Arial MT"/>
              </a:rPr>
              <a:t> </a:t>
            </a:r>
            <a:r>
              <a:rPr sz="2400" dirty="0">
                <a:latin typeface="Arial MT"/>
                <a:cs typeface="Arial MT"/>
              </a:rPr>
              <a:t>inventory</a:t>
            </a:r>
            <a:r>
              <a:rPr sz="2400" spc="-55" dirty="0">
                <a:latin typeface="Arial MT"/>
                <a:cs typeface="Arial MT"/>
              </a:rPr>
              <a:t> </a:t>
            </a:r>
            <a:r>
              <a:rPr sz="2400" dirty="0">
                <a:latin typeface="Arial MT"/>
                <a:cs typeface="Arial MT"/>
              </a:rPr>
              <a:t>enables</a:t>
            </a:r>
            <a:r>
              <a:rPr sz="2400" spc="-50" dirty="0">
                <a:latin typeface="Arial MT"/>
                <a:cs typeface="Arial MT"/>
              </a:rPr>
              <a:t> </a:t>
            </a:r>
            <a:r>
              <a:rPr sz="2400" dirty="0">
                <a:latin typeface="Arial MT"/>
                <a:cs typeface="Arial MT"/>
              </a:rPr>
              <a:t>the</a:t>
            </a:r>
            <a:r>
              <a:rPr sz="2400" spc="-65" dirty="0">
                <a:latin typeface="Arial MT"/>
                <a:cs typeface="Arial MT"/>
              </a:rPr>
              <a:t> </a:t>
            </a:r>
            <a:r>
              <a:rPr sz="2400" dirty="0">
                <a:latin typeface="Arial MT"/>
                <a:cs typeface="Arial MT"/>
              </a:rPr>
              <a:t>likely</a:t>
            </a:r>
            <a:r>
              <a:rPr sz="2400" spc="-41" dirty="0">
                <a:latin typeface="Arial MT"/>
                <a:cs typeface="Arial MT"/>
              </a:rPr>
              <a:t> </a:t>
            </a:r>
            <a:r>
              <a:rPr sz="2400" dirty="0">
                <a:latin typeface="Arial MT"/>
                <a:cs typeface="Arial MT"/>
              </a:rPr>
              <a:t>effects</a:t>
            </a:r>
            <a:r>
              <a:rPr sz="2400" spc="-85" dirty="0">
                <a:latin typeface="Arial MT"/>
                <a:cs typeface="Arial MT"/>
              </a:rPr>
              <a:t> </a:t>
            </a:r>
            <a:r>
              <a:rPr sz="2400" dirty="0">
                <a:latin typeface="Arial MT"/>
                <a:cs typeface="Arial MT"/>
              </a:rPr>
              <a:t>of</a:t>
            </a:r>
            <a:r>
              <a:rPr sz="2400" spc="-70" dirty="0">
                <a:latin typeface="Arial MT"/>
                <a:cs typeface="Arial MT"/>
              </a:rPr>
              <a:t> </a:t>
            </a:r>
            <a:r>
              <a:rPr sz="2400" dirty="0">
                <a:latin typeface="Arial MT"/>
                <a:cs typeface="Arial MT"/>
              </a:rPr>
              <a:t>introducing</a:t>
            </a:r>
            <a:r>
              <a:rPr sz="2400" spc="-90" dirty="0">
                <a:latin typeface="Arial MT"/>
                <a:cs typeface="Arial MT"/>
              </a:rPr>
              <a:t> </a:t>
            </a:r>
            <a:r>
              <a:rPr sz="2400" spc="-10" dirty="0">
                <a:solidFill>
                  <a:srgbClr val="FF0000"/>
                </a:solidFill>
                <a:latin typeface="Arial MT"/>
                <a:cs typeface="Arial MT"/>
              </a:rPr>
              <a:t>various 	</a:t>
            </a:r>
            <a:r>
              <a:rPr sz="2400" dirty="0">
                <a:solidFill>
                  <a:srgbClr val="FF0000"/>
                </a:solidFill>
                <a:latin typeface="Arial MT"/>
                <a:cs typeface="Arial MT"/>
              </a:rPr>
              <a:t>prevention</a:t>
            </a:r>
            <a:r>
              <a:rPr sz="2400" spc="-55" dirty="0">
                <a:solidFill>
                  <a:srgbClr val="FF0000"/>
                </a:solidFill>
                <a:latin typeface="Arial MT"/>
                <a:cs typeface="Arial MT"/>
              </a:rPr>
              <a:t> </a:t>
            </a:r>
            <a:r>
              <a:rPr sz="2400" dirty="0">
                <a:solidFill>
                  <a:srgbClr val="FF0000"/>
                </a:solidFill>
                <a:latin typeface="Arial MT"/>
                <a:cs typeface="Arial MT"/>
              </a:rPr>
              <a:t>and</a:t>
            </a:r>
            <a:r>
              <a:rPr sz="2400" spc="-70" dirty="0">
                <a:solidFill>
                  <a:srgbClr val="FF0000"/>
                </a:solidFill>
                <a:latin typeface="Arial MT"/>
                <a:cs typeface="Arial MT"/>
              </a:rPr>
              <a:t> </a:t>
            </a:r>
            <a:r>
              <a:rPr sz="2400" dirty="0">
                <a:solidFill>
                  <a:srgbClr val="FF0000"/>
                </a:solidFill>
                <a:latin typeface="Arial MT"/>
                <a:cs typeface="Arial MT"/>
              </a:rPr>
              <a:t>control</a:t>
            </a:r>
            <a:r>
              <a:rPr sz="2400" spc="-75" dirty="0">
                <a:solidFill>
                  <a:srgbClr val="FF0000"/>
                </a:solidFill>
                <a:latin typeface="Arial MT"/>
                <a:cs typeface="Arial MT"/>
              </a:rPr>
              <a:t> </a:t>
            </a:r>
            <a:r>
              <a:rPr sz="2400" dirty="0">
                <a:solidFill>
                  <a:srgbClr val="FF0000"/>
                </a:solidFill>
                <a:latin typeface="Arial MT"/>
                <a:cs typeface="Arial MT"/>
              </a:rPr>
              <a:t>measures</a:t>
            </a:r>
            <a:r>
              <a:rPr sz="2400" spc="-55" dirty="0">
                <a:solidFill>
                  <a:srgbClr val="FF0000"/>
                </a:solidFill>
                <a:latin typeface="Arial MT"/>
                <a:cs typeface="Arial MT"/>
              </a:rPr>
              <a:t> </a:t>
            </a:r>
            <a:r>
              <a:rPr sz="2400" dirty="0">
                <a:solidFill>
                  <a:srgbClr val="FF0000"/>
                </a:solidFill>
                <a:latin typeface="Arial MT"/>
                <a:cs typeface="Arial MT"/>
              </a:rPr>
              <a:t>within</a:t>
            </a:r>
            <a:r>
              <a:rPr sz="2400" spc="-55" dirty="0">
                <a:solidFill>
                  <a:srgbClr val="FF0000"/>
                </a:solidFill>
                <a:latin typeface="Arial MT"/>
                <a:cs typeface="Arial MT"/>
              </a:rPr>
              <a:t> </a:t>
            </a:r>
            <a:r>
              <a:rPr sz="2400" dirty="0">
                <a:solidFill>
                  <a:srgbClr val="FF0000"/>
                </a:solidFill>
                <a:latin typeface="Arial MT"/>
                <a:cs typeface="Arial MT"/>
              </a:rPr>
              <a:t>different</a:t>
            </a:r>
            <a:r>
              <a:rPr sz="2400" spc="-70" dirty="0">
                <a:solidFill>
                  <a:srgbClr val="FF0000"/>
                </a:solidFill>
                <a:latin typeface="Arial MT"/>
                <a:cs typeface="Arial MT"/>
              </a:rPr>
              <a:t> </a:t>
            </a:r>
            <a:r>
              <a:rPr sz="2400" dirty="0">
                <a:solidFill>
                  <a:srgbClr val="FF0000"/>
                </a:solidFill>
                <a:latin typeface="Arial MT"/>
                <a:cs typeface="Arial MT"/>
              </a:rPr>
              <a:t>source</a:t>
            </a:r>
            <a:r>
              <a:rPr sz="2400" spc="-75" dirty="0">
                <a:solidFill>
                  <a:srgbClr val="FF0000"/>
                </a:solidFill>
                <a:latin typeface="Arial MT"/>
                <a:cs typeface="Arial MT"/>
              </a:rPr>
              <a:t> </a:t>
            </a:r>
            <a:r>
              <a:rPr sz="2400" dirty="0">
                <a:solidFill>
                  <a:srgbClr val="FF0000"/>
                </a:solidFill>
                <a:latin typeface="Arial MT"/>
                <a:cs typeface="Arial MT"/>
              </a:rPr>
              <a:t>sectors</a:t>
            </a:r>
            <a:r>
              <a:rPr sz="2400" spc="-70" dirty="0">
                <a:solidFill>
                  <a:srgbClr val="FF0000"/>
                </a:solidFill>
                <a:latin typeface="Arial MT"/>
                <a:cs typeface="Arial MT"/>
              </a:rPr>
              <a:t> </a:t>
            </a:r>
            <a:r>
              <a:rPr sz="2400" dirty="0">
                <a:solidFill>
                  <a:srgbClr val="FF0000"/>
                </a:solidFill>
                <a:latin typeface="Arial MT"/>
                <a:cs typeface="Arial MT"/>
              </a:rPr>
              <a:t>to</a:t>
            </a:r>
            <a:r>
              <a:rPr sz="2400" spc="-80" dirty="0">
                <a:solidFill>
                  <a:srgbClr val="FF0000"/>
                </a:solidFill>
                <a:latin typeface="Arial MT"/>
                <a:cs typeface="Arial MT"/>
              </a:rPr>
              <a:t> </a:t>
            </a:r>
            <a:r>
              <a:rPr sz="2400" spc="-25" dirty="0">
                <a:solidFill>
                  <a:srgbClr val="FF0000"/>
                </a:solidFill>
                <a:latin typeface="Arial MT"/>
                <a:cs typeface="Arial MT"/>
              </a:rPr>
              <a:t>be 	</a:t>
            </a:r>
            <a:r>
              <a:rPr sz="2400" dirty="0">
                <a:solidFill>
                  <a:srgbClr val="FF0000"/>
                </a:solidFill>
                <a:latin typeface="Arial MT"/>
                <a:cs typeface="Arial MT"/>
              </a:rPr>
              <a:t>assessed</a:t>
            </a:r>
            <a:r>
              <a:rPr sz="2400" spc="-60" dirty="0">
                <a:solidFill>
                  <a:srgbClr val="FF0000"/>
                </a:solidFill>
                <a:latin typeface="Arial MT"/>
                <a:cs typeface="Arial MT"/>
              </a:rPr>
              <a:t> </a:t>
            </a:r>
            <a:r>
              <a:rPr sz="2400" dirty="0">
                <a:solidFill>
                  <a:srgbClr val="FF0000"/>
                </a:solidFill>
                <a:latin typeface="Arial MT"/>
                <a:cs typeface="Arial MT"/>
              </a:rPr>
              <a:t>and</a:t>
            </a:r>
            <a:r>
              <a:rPr sz="2400" spc="-55" dirty="0">
                <a:solidFill>
                  <a:srgbClr val="FF0000"/>
                </a:solidFill>
                <a:latin typeface="Arial MT"/>
                <a:cs typeface="Arial MT"/>
              </a:rPr>
              <a:t> </a:t>
            </a:r>
            <a:r>
              <a:rPr sz="2400" spc="-10" dirty="0">
                <a:solidFill>
                  <a:srgbClr val="FF0000"/>
                </a:solidFill>
                <a:latin typeface="Arial MT"/>
                <a:cs typeface="Arial MT"/>
              </a:rPr>
              <a:t>compared</a:t>
            </a:r>
            <a:r>
              <a:rPr sz="2400" spc="-10" dirty="0">
                <a:latin typeface="Arial MT"/>
                <a:cs typeface="Arial MT"/>
              </a:rPr>
              <a:t>,</a:t>
            </a:r>
            <a:r>
              <a:rPr sz="2400" spc="-55" dirty="0">
                <a:latin typeface="Arial MT"/>
                <a:cs typeface="Arial MT"/>
              </a:rPr>
              <a:t> </a:t>
            </a:r>
            <a:r>
              <a:rPr sz="2400" dirty="0">
                <a:latin typeface="Arial MT"/>
                <a:cs typeface="Arial MT"/>
              </a:rPr>
              <a:t>both</a:t>
            </a:r>
            <a:r>
              <a:rPr sz="2400" spc="-65" dirty="0">
                <a:latin typeface="Arial MT"/>
                <a:cs typeface="Arial MT"/>
              </a:rPr>
              <a:t> </a:t>
            </a:r>
            <a:r>
              <a:rPr sz="2400" dirty="0">
                <a:latin typeface="Arial MT"/>
                <a:cs typeface="Arial MT"/>
              </a:rPr>
              <a:t>now</a:t>
            </a:r>
            <a:r>
              <a:rPr sz="2400" spc="-55" dirty="0">
                <a:latin typeface="Arial MT"/>
                <a:cs typeface="Arial MT"/>
              </a:rPr>
              <a:t> </a:t>
            </a:r>
            <a:r>
              <a:rPr sz="2400" dirty="0">
                <a:latin typeface="Arial MT"/>
                <a:cs typeface="Arial MT"/>
              </a:rPr>
              <a:t>and</a:t>
            </a:r>
            <a:r>
              <a:rPr sz="2400" spc="-50" dirty="0">
                <a:latin typeface="Arial MT"/>
                <a:cs typeface="Arial MT"/>
              </a:rPr>
              <a:t> </a:t>
            </a:r>
            <a:r>
              <a:rPr sz="2400" dirty="0">
                <a:latin typeface="Arial MT"/>
                <a:cs typeface="Arial MT"/>
              </a:rPr>
              <a:t>in</a:t>
            </a:r>
            <a:r>
              <a:rPr sz="2400" spc="-70" dirty="0">
                <a:latin typeface="Arial MT"/>
                <a:cs typeface="Arial MT"/>
              </a:rPr>
              <a:t> </a:t>
            </a:r>
            <a:r>
              <a:rPr sz="2400" dirty="0">
                <a:latin typeface="Arial MT"/>
                <a:cs typeface="Arial MT"/>
              </a:rPr>
              <a:t>the</a:t>
            </a:r>
            <a:r>
              <a:rPr sz="2400" spc="-70" dirty="0">
                <a:latin typeface="Arial MT"/>
                <a:cs typeface="Arial MT"/>
              </a:rPr>
              <a:t> </a:t>
            </a:r>
            <a:r>
              <a:rPr sz="2400" spc="-10" dirty="0">
                <a:latin typeface="Arial MT"/>
                <a:cs typeface="Arial MT"/>
              </a:rPr>
              <a:t>future.</a:t>
            </a:r>
            <a:endParaRPr sz="2400">
              <a:latin typeface="Arial MT"/>
              <a:cs typeface="Arial MT"/>
            </a:endParaRPr>
          </a:p>
          <a:p>
            <a:pPr marL="241306" marR="215271" lvl="1" indent="-228606">
              <a:lnSpc>
                <a:spcPct val="150000"/>
              </a:lnSpc>
              <a:spcBef>
                <a:spcPts val="1010"/>
              </a:spcBef>
              <a:buChar char="•"/>
              <a:tabLst>
                <a:tab pos="241306" algn="l"/>
                <a:tab pos="325128" algn="l"/>
              </a:tabLst>
            </a:pPr>
            <a:r>
              <a:rPr sz="2400" dirty="0">
                <a:latin typeface="Arial MT"/>
                <a:cs typeface="Arial MT"/>
              </a:rPr>
              <a:t>	Combined</a:t>
            </a:r>
            <a:r>
              <a:rPr sz="2400" spc="-46" dirty="0">
                <a:latin typeface="Arial MT"/>
                <a:cs typeface="Arial MT"/>
              </a:rPr>
              <a:t> </a:t>
            </a:r>
            <a:r>
              <a:rPr sz="2400" dirty="0">
                <a:latin typeface="Arial MT"/>
                <a:cs typeface="Arial MT"/>
              </a:rPr>
              <a:t>with</a:t>
            </a:r>
            <a:r>
              <a:rPr sz="2400" spc="-70" dirty="0">
                <a:latin typeface="Arial MT"/>
                <a:cs typeface="Arial MT"/>
              </a:rPr>
              <a:t> </a:t>
            </a:r>
            <a:r>
              <a:rPr sz="2400" dirty="0">
                <a:latin typeface="Arial MT"/>
                <a:cs typeface="Arial MT"/>
              </a:rPr>
              <a:t>knowledge</a:t>
            </a:r>
            <a:r>
              <a:rPr sz="2400" spc="-30" dirty="0">
                <a:latin typeface="Arial MT"/>
                <a:cs typeface="Arial MT"/>
              </a:rPr>
              <a:t> </a:t>
            </a:r>
            <a:r>
              <a:rPr sz="2400" dirty="0">
                <a:latin typeface="Arial MT"/>
                <a:cs typeface="Arial MT"/>
              </a:rPr>
              <a:t>of</a:t>
            </a:r>
            <a:r>
              <a:rPr sz="2400" spc="-65" dirty="0">
                <a:latin typeface="Arial MT"/>
                <a:cs typeface="Arial MT"/>
              </a:rPr>
              <a:t> </a:t>
            </a:r>
            <a:r>
              <a:rPr sz="2400" dirty="0">
                <a:latin typeface="Arial MT"/>
                <a:cs typeface="Arial MT"/>
              </a:rPr>
              <a:t>costs</a:t>
            </a:r>
            <a:r>
              <a:rPr sz="2400" spc="-70" dirty="0">
                <a:latin typeface="Arial MT"/>
                <a:cs typeface="Arial MT"/>
              </a:rPr>
              <a:t> </a:t>
            </a:r>
            <a:r>
              <a:rPr sz="2400" dirty="0">
                <a:latin typeface="Arial MT"/>
                <a:cs typeface="Arial MT"/>
              </a:rPr>
              <a:t>of</a:t>
            </a:r>
            <a:r>
              <a:rPr sz="2400" spc="-65" dirty="0">
                <a:latin typeface="Arial MT"/>
                <a:cs typeface="Arial MT"/>
              </a:rPr>
              <a:t> </a:t>
            </a:r>
            <a:r>
              <a:rPr sz="2400" dirty="0">
                <a:latin typeface="Arial MT"/>
                <a:cs typeface="Arial MT"/>
              </a:rPr>
              <a:t>the</a:t>
            </a:r>
            <a:r>
              <a:rPr sz="2400" spc="-80" dirty="0">
                <a:latin typeface="Arial MT"/>
                <a:cs typeface="Arial MT"/>
              </a:rPr>
              <a:t> </a:t>
            </a:r>
            <a:r>
              <a:rPr sz="2400" dirty="0">
                <a:latin typeface="Arial MT"/>
                <a:cs typeface="Arial MT"/>
              </a:rPr>
              <a:t>different</a:t>
            </a:r>
            <a:r>
              <a:rPr sz="2400" spc="-75" dirty="0">
                <a:latin typeface="Arial MT"/>
                <a:cs typeface="Arial MT"/>
              </a:rPr>
              <a:t> </a:t>
            </a:r>
            <a:r>
              <a:rPr sz="2400" dirty="0">
                <a:latin typeface="Arial MT"/>
                <a:cs typeface="Arial MT"/>
              </a:rPr>
              <a:t>options,</a:t>
            </a:r>
            <a:r>
              <a:rPr sz="2400" spc="-55" dirty="0">
                <a:latin typeface="Arial MT"/>
                <a:cs typeface="Arial MT"/>
              </a:rPr>
              <a:t> </a:t>
            </a:r>
            <a:r>
              <a:rPr sz="2400" dirty="0">
                <a:latin typeface="Arial MT"/>
                <a:cs typeface="Arial MT"/>
              </a:rPr>
              <a:t>this</a:t>
            </a:r>
            <a:r>
              <a:rPr sz="2400" spc="-75" dirty="0">
                <a:latin typeface="Arial MT"/>
                <a:cs typeface="Arial MT"/>
              </a:rPr>
              <a:t> </a:t>
            </a:r>
            <a:r>
              <a:rPr sz="2400" spc="-20" dirty="0">
                <a:latin typeface="Arial MT"/>
                <a:cs typeface="Arial MT"/>
              </a:rPr>
              <a:t>also </a:t>
            </a:r>
            <a:r>
              <a:rPr sz="2400" dirty="0">
                <a:latin typeface="Arial MT"/>
                <a:cs typeface="Arial MT"/>
              </a:rPr>
              <a:t>enables</a:t>
            </a:r>
            <a:r>
              <a:rPr sz="2400" spc="-60" dirty="0">
                <a:latin typeface="Arial MT"/>
                <a:cs typeface="Arial MT"/>
              </a:rPr>
              <a:t> </a:t>
            </a:r>
            <a:r>
              <a:rPr sz="2400" dirty="0">
                <a:latin typeface="Arial MT"/>
                <a:cs typeface="Arial MT"/>
              </a:rPr>
              <a:t>the</a:t>
            </a:r>
            <a:r>
              <a:rPr sz="2400" spc="-70" dirty="0">
                <a:latin typeface="Arial MT"/>
                <a:cs typeface="Arial MT"/>
              </a:rPr>
              <a:t> </a:t>
            </a:r>
            <a:r>
              <a:rPr sz="2400" dirty="0">
                <a:latin typeface="Arial MT"/>
                <a:cs typeface="Arial MT"/>
              </a:rPr>
              <a:t>most</a:t>
            </a:r>
            <a:r>
              <a:rPr sz="2400" spc="-90" dirty="0">
                <a:latin typeface="Arial MT"/>
                <a:cs typeface="Arial MT"/>
              </a:rPr>
              <a:t> </a:t>
            </a:r>
            <a:r>
              <a:rPr sz="2400" spc="-10" dirty="0">
                <a:latin typeface="Arial MT"/>
                <a:cs typeface="Arial MT"/>
              </a:rPr>
              <a:t>cost-</a:t>
            </a:r>
            <a:r>
              <a:rPr sz="2400" dirty="0">
                <a:latin typeface="Arial MT"/>
                <a:cs typeface="Arial MT"/>
              </a:rPr>
              <a:t>effective</a:t>
            </a:r>
            <a:r>
              <a:rPr sz="2400" spc="-80" dirty="0">
                <a:latin typeface="Arial MT"/>
                <a:cs typeface="Arial MT"/>
              </a:rPr>
              <a:t> </a:t>
            </a:r>
            <a:r>
              <a:rPr sz="2400" dirty="0">
                <a:latin typeface="Arial MT"/>
                <a:cs typeface="Arial MT"/>
              </a:rPr>
              <a:t>emission</a:t>
            </a:r>
            <a:r>
              <a:rPr sz="2400" spc="-65" dirty="0">
                <a:latin typeface="Arial MT"/>
                <a:cs typeface="Arial MT"/>
              </a:rPr>
              <a:t> </a:t>
            </a:r>
            <a:r>
              <a:rPr sz="2400" dirty="0">
                <a:latin typeface="Arial MT"/>
                <a:cs typeface="Arial MT"/>
              </a:rPr>
              <a:t>reduction</a:t>
            </a:r>
            <a:r>
              <a:rPr sz="2400" spc="-70" dirty="0">
                <a:latin typeface="Arial MT"/>
                <a:cs typeface="Arial MT"/>
              </a:rPr>
              <a:t> </a:t>
            </a:r>
            <a:r>
              <a:rPr sz="2400" dirty="0">
                <a:latin typeface="Arial MT"/>
                <a:cs typeface="Arial MT"/>
              </a:rPr>
              <a:t>measures</a:t>
            </a:r>
            <a:r>
              <a:rPr sz="2400" spc="-75" dirty="0">
                <a:latin typeface="Arial MT"/>
                <a:cs typeface="Arial MT"/>
              </a:rPr>
              <a:t> </a:t>
            </a:r>
            <a:r>
              <a:rPr sz="2400" dirty="0">
                <a:latin typeface="Arial MT"/>
                <a:cs typeface="Arial MT"/>
              </a:rPr>
              <a:t>to</a:t>
            </a:r>
            <a:r>
              <a:rPr sz="2400" spc="-80" dirty="0">
                <a:latin typeface="Arial MT"/>
                <a:cs typeface="Arial MT"/>
              </a:rPr>
              <a:t> </a:t>
            </a:r>
            <a:r>
              <a:rPr sz="2400" spc="-25" dirty="0">
                <a:latin typeface="Arial MT"/>
                <a:cs typeface="Arial MT"/>
              </a:rPr>
              <a:t>be </a:t>
            </a:r>
            <a:r>
              <a:rPr sz="2400" spc="-10" dirty="0">
                <a:latin typeface="Arial MT"/>
                <a:cs typeface="Arial MT"/>
              </a:rPr>
              <a:t>identified.</a:t>
            </a:r>
            <a:endParaRPr sz="2400">
              <a:latin typeface="Arial MT"/>
              <a:cs typeface="Arial MT"/>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xfrm>
            <a:off x="8993409" y="6464911"/>
            <a:ext cx="198636" cy="156068"/>
          </a:xfrm>
          <a:prstGeom prst="rect">
            <a:avLst/>
          </a:prstGeom>
        </p:spPr>
        <p:txBody>
          <a:bodyPr vert="horz" wrap="square" lIns="0" tIns="0" rIns="0" bIns="0" rtlCol="0">
            <a:spAutoFit/>
          </a:bodyPr>
          <a:lstStyle/>
          <a:p>
            <a:pPr marL="38101">
              <a:lnSpc>
                <a:spcPts val="1239"/>
              </a:lnSpc>
            </a:pPr>
            <a:fld id="{81D60167-4931-47E6-BA6A-407CBD079E47}" type="slidenum">
              <a:rPr spc="-25" dirty="0"/>
              <a:pPr marL="38101">
                <a:lnSpc>
                  <a:spcPts val="1239"/>
                </a:lnSpc>
              </a:pPr>
              <a:t>92</a:t>
            </a:fld>
            <a:endParaRPr spc="-25" dirty="0"/>
          </a:p>
        </p:txBody>
      </p:sp>
      <p:sp>
        <p:nvSpPr>
          <p:cNvPr id="2" name="object 2"/>
          <p:cNvSpPr txBox="1">
            <a:spLocks noGrp="1"/>
          </p:cNvSpPr>
          <p:nvPr>
            <p:ph type="title"/>
          </p:nvPr>
        </p:nvSpPr>
        <p:spPr>
          <a:xfrm>
            <a:off x="470371" y="133351"/>
            <a:ext cx="7600956" cy="892423"/>
          </a:xfrm>
          <a:prstGeom prst="rect">
            <a:avLst/>
          </a:prstGeom>
        </p:spPr>
        <p:txBody>
          <a:bodyPr vert="horz" wrap="square" lIns="0" tIns="396112" rIns="0" bIns="0" rtlCol="0">
            <a:spAutoFit/>
          </a:bodyPr>
          <a:lstStyle/>
          <a:p>
            <a:pPr marL="131448">
              <a:spcBef>
                <a:spcPts val="105"/>
              </a:spcBef>
            </a:pPr>
            <a:r>
              <a:rPr dirty="0"/>
              <a:t>Emission</a:t>
            </a:r>
            <a:r>
              <a:rPr spc="-55" dirty="0"/>
              <a:t> </a:t>
            </a:r>
            <a:r>
              <a:rPr spc="-10" dirty="0"/>
              <a:t>Inventory</a:t>
            </a:r>
          </a:p>
        </p:txBody>
      </p:sp>
      <p:sp>
        <p:nvSpPr>
          <p:cNvPr id="3" name="object 3"/>
          <p:cNvSpPr txBox="1"/>
          <p:nvPr/>
        </p:nvSpPr>
        <p:spPr>
          <a:xfrm>
            <a:off x="542342" y="1427176"/>
            <a:ext cx="10415905" cy="3340145"/>
          </a:xfrm>
          <a:prstGeom prst="rect">
            <a:avLst/>
          </a:prstGeom>
        </p:spPr>
        <p:txBody>
          <a:bodyPr vert="horz" wrap="square" lIns="0" tIns="12700" rIns="0" bIns="0" rtlCol="0">
            <a:spAutoFit/>
          </a:bodyPr>
          <a:lstStyle/>
          <a:p>
            <a:pPr marL="469912" indent="-457211">
              <a:spcBef>
                <a:spcPts val="100"/>
              </a:spcBef>
              <a:buAutoNum type="arabicPeriod" startAt="5"/>
              <a:tabLst>
                <a:tab pos="469912" algn="l"/>
              </a:tabLst>
            </a:pPr>
            <a:r>
              <a:rPr sz="2400" b="1" dirty="0">
                <a:solidFill>
                  <a:srgbClr val="6F2F9F"/>
                </a:solidFill>
                <a:latin typeface="Arial" panose="020B0604020202020204"/>
                <a:cs typeface="Arial" panose="020B0604020202020204"/>
              </a:rPr>
              <a:t>Use</a:t>
            </a:r>
            <a:r>
              <a:rPr sz="2400" b="1" spc="-15" dirty="0">
                <a:solidFill>
                  <a:srgbClr val="6F2F9F"/>
                </a:solidFill>
                <a:latin typeface="Arial" panose="020B0604020202020204"/>
                <a:cs typeface="Arial" panose="020B0604020202020204"/>
              </a:rPr>
              <a:t> </a:t>
            </a:r>
            <a:r>
              <a:rPr sz="2400" b="1" dirty="0">
                <a:solidFill>
                  <a:srgbClr val="6F2F9F"/>
                </a:solidFill>
                <a:latin typeface="Arial" panose="020B0604020202020204"/>
                <a:cs typeface="Arial" panose="020B0604020202020204"/>
              </a:rPr>
              <a:t>for</a:t>
            </a:r>
            <a:r>
              <a:rPr sz="2400" b="1" spc="-20" dirty="0">
                <a:solidFill>
                  <a:srgbClr val="6F2F9F"/>
                </a:solidFill>
                <a:latin typeface="Arial" panose="020B0604020202020204"/>
                <a:cs typeface="Arial" panose="020B0604020202020204"/>
              </a:rPr>
              <a:t> </a:t>
            </a:r>
            <a:r>
              <a:rPr sz="2400" b="1" dirty="0">
                <a:solidFill>
                  <a:srgbClr val="6F2F9F"/>
                </a:solidFill>
                <a:latin typeface="Arial" panose="020B0604020202020204"/>
                <a:cs typeface="Arial" panose="020B0604020202020204"/>
              </a:rPr>
              <a:t>planning</a:t>
            </a:r>
            <a:r>
              <a:rPr sz="2400" b="1" spc="-60" dirty="0">
                <a:solidFill>
                  <a:srgbClr val="6F2F9F"/>
                </a:solidFill>
                <a:latin typeface="Arial" panose="020B0604020202020204"/>
                <a:cs typeface="Arial" panose="020B0604020202020204"/>
              </a:rPr>
              <a:t> </a:t>
            </a:r>
            <a:r>
              <a:rPr sz="2400" b="1" dirty="0">
                <a:solidFill>
                  <a:srgbClr val="6F2F9F"/>
                </a:solidFill>
                <a:latin typeface="Arial" panose="020B0604020202020204"/>
                <a:cs typeface="Arial" panose="020B0604020202020204"/>
              </a:rPr>
              <a:t>of</a:t>
            </a:r>
            <a:r>
              <a:rPr sz="2400" b="1" spc="-30" dirty="0">
                <a:solidFill>
                  <a:srgbClr val="6F2F9F"/>
                </a:solidFill>
                <a:latin typeface="Arial" panose="020B0604020202020204"/>
                <a:cs typeface="Arial" panose="020B0604020202020204"/>
              </a:rPr>
              <a:t> </a:t>
            </a:r>
            <a:r>
              <a:rPr sz="2400" b="1" dirty="0">
                <a:solidFill>
                  <a:srgbClr val="6F2F9F"/>
                </a:solidFill>
                <a:latin typeface="Arial" panose="020B0604020202020204"/>
                <a:cs typeface="Arial" panose="020B0604020202020204"/>
              </a:rPr>
              <a:t>policy</a:t>
            </a:r>
            <a:r>
              <a:rPr sz="2400" b="1" spc="-55" dirty="0">
                <a:solidFill>
                  <a:srgbClr val="6F2F9F"/>
                </a:solidFill>
                <a:latin typeface="Arial" panose="020B0604020202020204"/>
                <a:cs typeface="Arial" panose="020B0604020202020204"/>
              </a:rPr>
              <a:t> </a:t>
            </a:r>
            <a:r>
              <a:rPr sz="2400" b="1" dirty="0">
                <a:solidFill>
                  <a:srgbClr val="6F2F9F"/>
                </a:solidFill>
                <a:latin typeface="Arial" panose="020B0604020202020204"/>
                <a:cs typeface="Arial" panose="020B0604020202020204"/>
              </a:rPr>
              <a:t>and</a:t>
            </a:r>
            <a:r>
              <a:rPr sz="2400" b="1" spc="-34" dirty="0">
                <a:solidFill>
                  <a:srgbClr val="6F2F9F"/>
                </a:solidFill>
                <a:latin typeface="Arial" panose="020B0604020202020204"/>
                <a:cs typeface="Arial" panose="020B0604020202020204"/>
              </a:rPr>
              <a:t> </a:t>
            </a:r>
            <a:r>
              <a:rPr sz="2400" b="1" dirty="0">
                <a:solidFill>
                  <a:srgbClr val="6F2F9F"/>
                </a:solidFill>
                <a:latin typeface="Arial" panose="020B0604020202020204"/>
                <a:cs typeface="Arial" panose="020B0604020202020204"/>
              </a:rPr>
              <a:t>measures</a:t>
            </a:r>
            <a:r>
              <a:rPr sz="2400" b="1" spc="-15" dirty="0">
                <a:solidFill>
                  <a:srgbClr val="6F2F9F"/>
                </a:solidFill>
                <a:latin typeface="Arial" panose="020B0604020202020204"/>
                <a:cs typeface="Arial" panose="020B0604020202020204"/>
              </a:rPr>
              <a:t> </a:t>
            </a:r>
            <a:r>
              <a:rPr sz="2400" b="1" dirty="0">
                <a:solidFill>
                  <a:srgbClr val="6F2F9F"/>
                </a:solidFill>
                <a:latin typeface="Arial" panose="020B0604020202020204"/>
                <a:cs typeface="Arial" panose="020B0604020202020204"/>
              </a:rPr>
              <a:t>and</a:t>
            </a:r>
            <a:r>
              <a:rPr sz="2400" b="1" spc="-25" dirty="0">
                <a:solidFill>
                  <a:srgbClr val="6F2F9F"/>
                </a:solidFill>
                <a:latin typeface="Arial" panose="020B0604020202020204"/>
                <a:cs typeface="Arial" panose="020B0604020202020204"/>
              </a:rPr>
              <a:t> </a:t>
            </a:r>
            <a:r>
              <a:rPr sz="2400" b="1" dirty="0">
                <a:solidFill>
                  <a:srgbClr val="6F2F9F"/>
                </a:solidFill>
                <a:latin typeface="Arial" panose="020B0604020202020204"/>
                <a:cs typeface="Arial" panose="020B0604020202020204"/>
              </a:rPr>
              <a:t>their</a:t>
            </a:r>
            <a:r>
              <a:rPr sz="2400" b="1" spc="-41" dirty="0">
                <a:solidFill>
                  <a:srgbClr val="6F2F9F"/>
                </a:solidFill>
                <a:latin typeface="Arial" panose="020B0604020202020204"/>
                <a:cs typeface="Arial" panose="020B0604020202020204"/>
              </a:rPr>
              <a:t> </a:t>
            </a:r>
            <a:r>
              <a:rPr sz="2400" b="1" dirty="0">
                <a:solidFill>
                  <a:srgbClr val="6F2F9F"/>
                </a:solidFill>
                <a:latin typeface="Arial" panose="020B0604020202020204"/>
                <a:cs typeface="Arial" panose="020B0604020202020204"/>
              </a:rPr>
              <a:t>follow-</a:t>
            </a:r>
            <a:r>
              <a:rPr sz="2400" b="1" spc="-25" dirty="0">
                <a:solidFill>
                  <a:srgbClr val="6F2F9F"/>
                </a:solidFill>
                <a:latin typeface="Arial" panose="020B0604020202020204"/>
                <a:cs typeface="Arial" panose="020B0604020202020204"/>
              </a:rPr>
              <a:t>up</a:t>
            </a:r>
            <a:endParaRPr sz="2400">
              <a:latin typeface="Arial" panose="020B0604020202020204"/>
              <a:cs typeface="Arial" panose="020B0604020202020204"/>
            </a:endParaRPr>
          </a:p>
          <a:p>
            <a:pPr marL="240036" marR="86363" lvl="1" indent="-227336">
              <a:lnSpc>
                <a:spcPct val="150000"/>
              </a:lnSpc>
              <a:spcBef>
                <a:spcPts val="1001"/>
              </a:spcBef>
              <a:buChar char="•"/>
              <a:tabLst>
                <a:tab pos="241306" algn="l"/>
              </a:tabLst>
            </a:pPr>
            <a:r>
              <a:rPr sz="2400" dirty="0">
                <a:latin typeface="Arial MT"/>
                <a:cs typeface="Arial MT"/>
              </a:rPr>
              <a:t>Emission</a:t>
            </a:r>
            <a:r>
              <a:rPr sz="2400" spc="-34" dirty="0">
                <a:latin typeface="Arial MT"/>
                <a:cs typeface="Arial MT"/>
              </a:rPr>
              <a:t> </a:t>
            </a:r>
            <a:r>
              <a:rPr sz="2400" dirty="0">
                <a:latin typeface="Arial MT"/>
                <a:cs typeface="Arial MT"/>
              </a:rPr>
              <a:t>inventory</a:t>
            </a:r>
            <a:r>
              <a:rPr sz="2400" spc="-55" dirty="0">
                <a:latin typeface="Arial MT"/>
                <a:cs typeface="Arial MT"/>
              </a:rPr>
              <a:t> </a:t>
            </a:r>
            <a:r>
              <a:rPr sz="2400" dirty="0">
                <a:latin typeface="Arial MT"/>
                <a:cs typeface="Arial MT"/>
              </a:rPr>
              <a:t>data</a:t>
            </a:r>
            <a:r>
              <a:rPr sz="2400" spc="-50" dirty="0">
                <a:latin typeface="Arial MT"/>
                <a:cs typeface="Arial MT"/>
              </a:rPr>
              <a:t> </a:t>
            </a:r>
            <a:r>
              <a:rPr sz="2400" dirty="0">
                <a:latin typeface="Arial MT"/>
                <a:cs typeface="Arial MT"/>
              </a:rPr>
              <a:t>can</a:t>
            </a:r>
            <a:r>
              <a:rPr sz="2400" spc="-60" dirty="0">
                <a:latin typeface="Arial MT"/>
                <a:cs typeface="Arial MT"/>
              </a:rPr>
              <a:t> </a:t>
            </a:r>
            <a:r>
              <a:rPr sz="2400" dirty="0">
                <a:latin typeface="Arial MT"/>
                <a:cs typeface="Arial MT"/>
              </a:rPr>
              <a:t>be</a:t>
            </a:r>
            <a:r>
              <a:rPr sz="2400" spc="-50" dirty="0">
                <a:latin typeface="Arial MT"/>
                <a:cs typeface="Arial MT"/>
              </a:rPr>
              <a:t> </a:t>
            </a:r>
            <a:r>
              <a:rPr sz="2400" dirty="0">
                <a:latin typeface="Arial MT"/>
                <a:cs typeface="Arial MT"/>
              </a:rPr>
              <a:t>regarded</a:t>
            </a:r>
            <a:r>
              <a:rPr sz="2400" spc="-34" dirty="0">
                <a:latin typeface="Arial MT"/>
                <a:cs typeface="Arial MT"/>
              </a:rPr>
              <a:t> </a:t>
            </a:r>
            <a:r>
              <a:rPr sz="2400" dirty="0">
                <a:latin typeface="Arial MT"/>
                <a:cs typeface="Arial MT"/>
              </a:rPr>
              <a:t>as</a:t>
            </a:r>
            <a:r>
              <a:rPr sz="2400" spc="-60" dirty="0">
                <a:latin typeface="Arial MT"/>
                <a:cs typeface="Arial MT"/>
              </a:rPr>
              <a:t> </a:t>
            </a:r>
            <a:r>
              <a:rPr sz="2400" dirty="0">
                <a:latin typeface="Arial MT"/>
                <a:cs typeface="Arial MT"/>
              </a:rPr>
              <a:t>an</a:t>
            </a:r>
            <a:r>
              <a:rPr sz="2400" spc="-50" dirty="0">
                <a:latin typeface="Arial MT"/>
                <a:cs typeface="Arial MT"/>
              </a:rPr>
              <a:t> </a:t>
            </a:r>
            <a:r>
              <a:rPr sz="2400" dirty="0">
                <a:latin typeface="Arial MT"/>
                <a:cs typeface="Arial MT"/>
              </a:rPr>
              <a:t>index</a:t>
            </a:r>
            <a:r>
              <a:rPr sz="2400" spc="-50" dirty="0">
                <a:latin typeface="Arial MT"/>
                <a:cs typeface="Arial MT"/>
              </a:rPr>
              <a:t> </a:t>
            </a:r>
            <a:r>
              <a:rPr sz="2400" dirty="0">
                <a:latin typeface="Arial MT"/>
                <a:cs typeface="Arial MT"/>
              </a:rPr>
              <a:t>similar</a:t>
            </a:r>
            <a:r>
              <a:rPr sz="2400" spc="-46" dirty="0">
                <a:latin typeface="Arial MT"/>
                <a:cs typeface="Arial MT"/>
              </a:rPr>
              <a:t> </a:t>
            </a:r>
            <a:r>
              <a:rPr sz="2400" dirty="0">
                <a:latin typeface="Arial MT"/>
                <a:cs typeface="Arial MT"/>
              </a:rPr>
              <a:t>to</a:t>
            </a:r>
            <a:r>
              <a:rPr sz="2400" spc="-60" dirty="0">
                <a:latin typeface="Arial MT"/>
                <a:cs typeface="Arial MT"/>
              </a:rPr>
              <a:t> </a:t>
            </a:r>
            <a:r>
              <a:rPr sz="2400" dirty="0">
                <a:latin typeface="Arial MT"/>
                <a:cs typeface="Arial MT"/>
              </a:rPr>
              <a:t>the</a:t>
            </a:r>
            <a:r>
              <a:rPr sz="2400" spc="-55" dirty="0">
                <a:latin typeface="Arial MT"/>
                <a:cs typeface="Arial MT"/>
              </a:rPr>
              <a:t> </a:t>
            </a:r>
            <a:r>
              <a:rPr sz="2400" spc="-10" dirty="0">
                <a:latin typeface="Arial MT"/>
                <a:cs typeface="Arial MT"/>
              </a:rPr>
              <a:t>various 	</a:t>
            </a:r>
            <a:r>
              <a:rPr sz="2400" dirty="0">
                <a:latin typeface="Arial MT"/>
                <a:cs typeface="Arial MT"/>
              </a:rPr>
              <a:t>indices</a:t>
            </a:r>
            <a:r>
              <a:rPr sz="2400" spc="-46" dirty="0">
                <a:latin typeface="Arial MT"/>
                <a:cs typeface="Arial MT"/>
              </a:rPr>
              <a:t> </a:t>
            </a:r>
            <a:r>
              <a:rPr sz="2400" dirty="0">
                <a:latin typeface="Arial MT"/>
                <a:cs typeface="Arial MT"/>
              </a:rPr>
              <a:t>used</a:t>
            </a:r>
            <a:r>
              <a:rPr sz="2400" spc="-55" dirty="0">
                <a:latin typeface="Arial MT"/>
                <a:cs typeface="Arial MT"/>
              </a:rPr>
              <a:t> </a:t>
            </a:r>
            <a:r>
              <a:rPr sz="2400" dirty="0">
                <a:latin typeface="Arial MT"/>
                <a:cs typeface="Arial MT"/>
              </a:rPr>
              <a:t>for</a:t>
            </a:r>
            <a:r>
              <a:rPr sz="2400" spc="-85" dirty="0">
                <a:latin typeface="Arial MT"/>
                <a:cs typeface="Arial MT"/>
              </a:rPr>
              <a:t> </a:t>
            </a:r>
            <a:r>
              <a:rPr sz="2400" dirty="0">
                <a:latin typeface="Arial MT"/>
                <a:cs typeface="Arial MT"/>
              </a:rPr>
              <a:t>gauging</a:t>
            </a:r>
            <a:r>
              <a:rPr sz="2400" spc="-41" dirty="0">
                <a:latin typeface="Arial MT"/>
                <a:cs typeface="Arial MT"/>
              </a:rPr>
              <a:t> </a:t>
            </a:r>
            <a:r>
              <a:rPr sz="2400" dirty="0">
                <a:latin typeface="Arial MT"/>
                <a:cs typeface="Arial MT"/>
              </a:rPr>
              <a:t>changes</a:t>
            </a:r>
            <a:r>
              <a:rPr sz="2400" spc="-41" dirty="0">
                <a:latin typeface="Arial MT"/>
                <a:cs typeface="Arial MT"/>
              </a:rPr>
              <a:t> </a:t>
            </a:r>
            <a:r>
              <a:rPr sz="2400" dirty="0">
                <a:latin typeface="Arial MT"/>
                <a:cs typeface="Arial MT"/>
              </a:rPr>
              <a:t>in</a:t>
            </a:r>
            <a:r>
              <a:rPr sz="2400" spc="-70" dirty="0">
                <a:latin typeface="Arial MT"/>
                <a:cs typeface="Arial MT"/>
              </a:rPr>
              <a:t> </a:t>
            </a:r>
            <a:r>
              <a:rPr sz="2400" dirty="0">
                <a:latin typeface="Arial MT"/>
                <a:cs typeface="Arial MT"/>
              </a:rPr>
              <a:t>economic</a:t>
            </a:r>
            <a:r>
              <a:rPr sz="2400" spc="-55" dirty="0">
                <a:latin typeface="Arial MT"/>
                <a:cs typeface="Arial MT"/>
              </a:rPr>
              <a:t> </a:t>
            </a:r>
            <a:r>
              <a:rPr sz="2400" spc="-10" dirty="0">
                <a:latin typeface="Arial MT"/>
                <a:cs typeface="Arial MT"/>
              </a:rPr>
              <a:t>activity.</a:t>
            </a:r>
            <a:endParaRPr sz="2400">
              <a:latin typeface="Arial MT"/>
              <a:cs typeface="Arial MT"/>
            </a:endParaRPr>
          </a:p>
          <a:p>
            <a:pPr marL="241306" marR="5081" lvl="1" indent="-228606">
              <a:lnSpc>
                <a:spcPct val="150000"/>
              </a:lnSpc>
              <a:spcBef>
                <a:spcPts val="1010"/>
              </a:spcBef>
              <a:buChar char="•"/>
              <a:tabLst>
                <a:tab pos="241306" algn="l"/>
                <a:tab pos="320682" algn="l"/>
              </a:tabLst>
            </a:pPr>
            <a:r>
              <a:rPr sz="2400" dirty="0">
                <a:latin typeface="Arial MT"/>
                <a:cs typeface="Arial MT"/>
              </a:rPr>
              <a:t>	The</a:t>
            </a:r>
            <a:r>
              <a:rPr sz="2400" spc="-65" dirty="0">
                <a:latin typeface="Arial MT"/>
                <a:cs typeface="Arial MT"/>
              </a:rPr>
              <a:t> </a:t>
            </a:r>
            <a:r>
              <a:rPr sz="2400" dirty="0">
                <a:latin typeface="Arial MT"/>
                <a:cs typeface="Arial MT"/>
              </a:rPr>
              <a:t>trend</a:t>
            </a:r>
            <a:r>
              <a:rPr sz="2400" spc="-65" dirty="0">
                <a:latin typeface="Arial MT"/>
                <a:cs typeface="Arial MT"/>
              </a:rPr>
              <a:t> </a:t>
            </a:r>
            <a:r>
              <a:rPr sz="2400" dirty="0">
                <a:latin typeface="Arial MT"/>
                <a:cs typeface="Arial MT"/>
              </a:rPr>
              <a:t>of</a:t>
            </a:r>
            <a:r>
              <a:rPr sz="2400" spc="-55" dirty="0">
                <a:latin typeface="Arial MT"/>
                <a:cs typeface="Arial MT"/>
              </a:rPr>
              <a:t> </a:t>
            </a:r>
            <a:r>
              <a:rPr sz="2400" dirty="0">
                <a:latin typeface="Arial MT"/>
                <a:cs typeface="Arial MT"/>
              </a:rPr>
              <a:t>such</a:t>
            </a:r>
            <a:r>
              <a:rPr sz="2400" spc="-55" dirty="0">
                <a:latin typeface="Arial MT"/>
                <a:cs typeface="Arial MT"/>
              </a:rPr>
              <a:t> </a:t>
            </a:r>
            <a:r>
              <a:rPr sz="2400" dirty="0">
                <a:latin typeface="Arial MT"/>
                <a:cs typeface="Arial MT"/>
              </a:rPr>
              <a:t>an</a:t>
            </a:r>
            <a:r>
              <a:rPr sz="2400" spc="-55" dirty="0">
                <a:latin typeface="Arial MT"/>
                <a:cs typeface="Arial MT"/>
              </a:rPr>
              <a:t> </a:t>
            </a:r>
            <a:r>
              <a:rPr sz="2400" dirty="0">
                <a:latin typeface="Arial MT"/>
                <a:cs typeface="Arial MT"/>
              </a:rPr>
              <a:t>index</a:t>
            </a:r>
            <a:r>
              <a:rPr sz="2400" spc="-34" dirty="0">
                <a:latin typeface="Arial MT"/>
                <a:cs typeface="Arial MT"/>
              </a:rPr>
              <a:t> </a:t>
            </a:r>
            <a:r>
              <a:rPr sz="2400" dirty="0">
                <a:latin typeface="Arial MT"/>
                <a:cs typeface="Arial MT"/>
              </a:rPr>
              <a:t>allows</a:t>
            </a:r>
            <a:r>
              <a:rPr sz="2400" spc="-34" dirty="0">
                <a:latin typeface="Arial MT"/>
                <a:cs typeface="Arial MT"/>
              </a:rPr>
              <a:t> </a:t>
            </a:r>
            <a:r>
              <a:rPr sz="2400" dirty="0">
                <a:latin typeface="Arial MT"/>
                <a:cs typeface="Arial MT"/>
              </a:rPr>
              <a:t>us</a:t>
            </a:r>
            <a:r>
              <a:rPr sz="2400" spc="-55" dirty="0">
                <a:latin typeface="Arial MT"/>
                <a:cs typeface="Arial MT"/>
              </a:rPr>
              <a:t> </a:t>
            </a:r>
            <a:r>
              <a:rPr sz="2400" dirty="0">
                <a:latin typeface="Arial MT"/>
                <a:cs typeface="Arial MT"/>
              </a:rPr>
              <a:t>to</a:t>
            </a:r>
            <a:r>
              <a:rPr sz="2400" spc="-65" dirty="0">
                <a:latin typeface="Arial MT"/>
                <a:cs typeface="Arial MT"/>
              </a:rPr>
              <a:t> </a:t>
            </a:r>
            <a:r>
              <a:rPr sz="2400" dirty="0">
                <a:latin typeface="Arial MT"/>
                <a:cs typeface="Arial MT"/>
              </a:rPr>
              <a:t>judge</a:t>
            </a:r>
            <a:r>
              <a:rPr sz="2400" spc="-55" dirty="0">
                <a:latin typeface="Arial MT"/>
                <a:cs typeface="Arial MT"/>
              </a:rPr>
              <a:t> </a:t>
            </a:r>
            <a:r>
              <a:rPr sz="2400" dirty="0">
                <a:latin typeface="Arial MT"/>
                <a:cs typeface="Arial MT"/>
              </a:rPr>
              <a:t>whether</a:t>
            </a:r>
            <a:r>
              <a:rPr sz="2400" spc="-46" dirty="0">
                <a:latin typeface="Arial MT"/>
                <a:cs typeface="Arial MT"/>
              </a:rPr>
              <a:t> </a:t>
            </a:r>
            <a:r>
              <a:rPr sz="2400" dirty="0">
                <a:latin typeface="Arial MT"/>
                <a:cs typeface="Arial MT"/>
              </a:rPr>
              <a:t>we</a:t>
            </a:r>
            <a:r>
              <a:rPr sz="2400" spc="-50" dirty="0">
                <a:latin typeface="Arial MT"/>
                <a:cs typeface="Arial MT"/>
              </a:rPr>
              <a:t> </a:t>
            </a:r>
            <a:r>
              <a:rPr sz="2400" dirty="0">
                <a:latin typeface="Arial MT"/>
                <a:cs typeface="Arial MT"/>
              </a:rPr>
              <a:t>should</a:t>
            </a:r>
            <a:r>
              <a:rPr sz="2400" spc="-46" dirty="0">
                <a:latin typeface="Arial MT"/>
                <a:cs typeface="Arial MT"/>
              </a:rPr>
              <a:t> </a:t>
            </a:r>
            <a:r>
              <a:rPr sz="2400" spc="-10" dirty="0">
                <a:latin typeface="Arial MT"/>
                <a:cs typeface="Arial MT"/>
              </a:rPr>
              <a:t>introduce </a:t>
            </a:r>
            <a:r>
              <a:rPr sz="2400" dirty="0">
                <a:latin typeface="Arial MT"/>
                <a:cs typeface="Arial MT"/>
              </a:rPr>
              <a:t>or</a:t>
            </a:r>
            <a:r>
              <a:rPr sz="2400" spc="-90" dirty="0">
                <a:latin typeface="Arial MT"/>
                <a:cs typeface="Arial MT"/>
              </a:rPr>
              <a:t> </a:t>
            </a:r>
            <a:r>
              <a:rPr sz="2400" dirty="0">
                <a:latin typeface="Arial MT"/>
                <a:cs typeface="Arial MT"/>
              </a:rPr>
              <a:t>reinforce</a:t>
            </a:r>
            <a:r>
              <a:rPr sz="2400" spc="-70" dirty="0">
                <a:latin typeface="Arial MT"/>
                <a:cs typeface="Arial MT"/>
              </a:rPr>
              <a:t> </a:t>
            </a:r>
            <a:r>
              <a:rPr sz="2400" dirty="0">
                <a:latin typeface="Arial MT"/>
                <a:cs typeface="Arial MT"/>
              </a:rPr>
              <a:t>regulations,</a:t>
            </a:r>
            <a:r>
              <a:rPr sz="2400" spc="-70" dirty="0">
                <a:latin typeface="Arial MT"/>
                <a:cs typeface="Arial MT"/>
              </a:rPr>
              <a:t> </a:t>
            </a:r>
            <a:r>
              <a:rPr sz="2400" dirty="0">
                <a:latin typeface="Arial MT"/>
                <a:cs typeface="Arial MT"/>
              </a:rPr>
              <a:t>economic</a:t>
            </a:r>
            <a:r>
              <a:rPr sz="2400" spc="-65" dirty="0">
                <a:latin typeface="Arial MT"/>
                <a:cs typeface="Arial MT"/>
              </a:rPr>
              <a:t> </a:t>
            </a:r>
            <a:r>
              <a:rPr sz="2400" dirty="0">
                <a:latin typeface="Arial MT"/>
                <a:cs typeface="Arial MT"/>
              </a:rPr>
              <a:t>measures</a:t>
            </a:r>
            <a:r>
              <a:rPr sz="2400" spc="-85" dirty="0">
                <a:latin typeface="Arial MT"/>
                <a:cs typeface="Arial MT"/>
              </a:rPr>
              <a:t> </a:t>
            </a:r>
            <a:r>
              <a:rPr sz="2400" dirty="0">
                <a:latin typeface="Arial MT"/>
                <a:cs typeface="Arial MT"/>
              </a:rPr>
              <a:t>or</a:t>
            </a:r>
            <a:r>
              <a:rPr sz="2400" spc="-75" dirty="0">
                <a:latin typeface="Arial MT"/>
                <a:cs typeface="Arial MT"/>
              </a:rPr>
              <a:t> </a:t>
            </a:r>
            <a:r>
              <a:rPr sz="2400" dirty="0">
                <a:latin typeface="Arial MT"/>
                <a:cs typeface="Arial MT"/>
              </a:rPr>
              <a:t>technical</a:t>
            </a:r>
            <a:r>
              <a:rPr sz="2400" spc="-85" dirty="0">
                <a:latin typeface="Arial MT"/>
                <a:cs typeface="Arial MT"/>
              </a:rPr>
              <a:t> </a:t>
            </a:r>
            <a:r>
              <a:rPr sz="2400" dirty="0">
                <a:latin typeface="Arial MT"/>
                <a:cs typeface="Arial MT"/>
              </a:rPr>
              <a:t>measures</a:t>
            </a:r>
            <a:r>
              <a:rPr sz="2400" spc="-70" dirty="0">
                <a:latin typeface="Arial MT"/>
                <a:cs typeface="Arial MT"/>
              </a:rPr>
              <a:t> </a:t>
            </a:r>
            <a:r>
              <a:rPr sz="2400" spc="-25" dirty="0">
                <a:latin typeface="Arial MT"/>
                <a:cs typeface="Arial MT"/>
              </a:rPr>
              <a:t>to </a:t>
            </a:r>
            <a:r>
              <a:rPr sz="2400" dirty="0">
                <a:latin typeface="Arial MT"/>
                <a:cs typeface="Arial MT"/>
              </a:rPr>
              <a:t>control</a:t>
            </a:r>
            <a:r>
              <a:rPr sz="2400" spc="-65" dirty="0">
                <a:latin typeface="Arial MT"/>
                <a:cs typeface="Arial MT"/>
              </a:rPr>
              <a:t> </a:t>
            </a:r>
            <a:r>
              <a:rPr sz="2400" dirty="0">
                <a:latin typeface="Arial MT"/>
                <a:cs typeface="Arial MT"/>
              </a:rPr>
              <a:t>air</a:t>
            </a:r>
            <a:r>
              <a:rPr sz="2400" spc="-60" dirty="0">
                <a:latin typeface="Arial MT"/>
                <a:cs typeface="Arial MT"/>
              </a:rPr>
              <a:t> </a:t>
            </a:r>
            <a:r>
              <a:rPr sz="2400" dirty="0">
                <a:latin typeface="Arial MT"/>
                <a:cs typeface="Arial MT"/>
              </a:rPr>
              <a:t>pollutant</a:t>
            </a:r>
            <a:r>
              <a:rPr sz="2400" spc="-34" dirty="0">
                <a:latin typeface="Arial MT"/>
                <a:cs typeface="Arial MT"/>
              </a:rPr>
              <a:t> </a:t>
            </a:r>
            <a:r>
              <a:rPr sz="2400" spc="-10" dirty="0">
                <a:latin typeface="Arial MT"/>
                <a:cs typeface="Arial MT"/>
              </a:rPr>
              <a:t>emissions.</a:t>
            </a:r>
            <a:endParaRPr sz="2400">
              <a:latin typeface="Arial MT"/>
              <a:cs typeface="Arial MT"/>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5553</TotalTime>
  <Words>14477</Words>
  <Application>Microsoft Office PowerPoint</Application>
  <PresentationFormat>Widescreen</PresentationFormat>
  <Paragraphs>917</Paragraphs>
  <Slides>92</Slides>
  <Notes>92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92</vt:i4>
      </vt:variant>
    </vt:vector>
  </HeadingPairs>
  <TitlesOfParts>
    <vt:vector size="102" baseType="lpstr">
      <vt:lpstr>Arial</vt:lpstr>
      <vt:lpstr>Arial MT</vt:lpstr>
      <vt:lpstr>Calibri</vt:lpstr>
      <vt:lpstr>Cambria</vt:lpstr>
      <vt:lpstr>Cambria Math</vt:lpstr>
      <vt:lpstr>Google Sans Text</vt:lpstr>
      <vt:lpstr>Times New Roman</vt:lpstr>
      <vt:lpstr>Verdana</vt:lpstr>
      <vt:lpstr>Wingdings</vt:lpstr>
      <vt:lpstr>Office Theme</vt:lpstr>
      <vt:lpstr>AIR QUALITY MANAGEMENT</vt:lpstr>
      <vt:lpstr>AIR QUALITY MONITORING</vt:lpstr>
      <vt:lpstr>AIR QUALITY MONITORING</vt:lpstr>
      <vt:lpstr>Measurement of air quality generally fall into two classes:</vt:lpstr>
      <vt:lpstr>Ambient Air Sampling</vt:lpstr>
      <vt:lpstr>Ambient Air Sampling</vt:lpstr>
      <vt:lpstr>Ambient Air Sampling</vt:lpstr>
      <vt:lpstr>Ambient Air Sampling</vt:lpstr>
      <vt:lpstr>Ambient Air Sampling</vt:lpstr>
      <vt:lpstr>General requirements for sampling site selection:</vt:lpstr>
      <vt:lpstr>Collection of Gaseous Air Pollutants</vt:lpstr>
      <vt:lpstr>Grab Sampling</vt:lpstr>
      <vt:lpstr>Grab Sampling</vt:lpstr>
      <vt:lpstr>Grab Sampling</vt:lpstr>
      <vt:lpstr>Absorption in Liquids</vt:lpstr>
      <vt:lpstr>Absorption in Liquids</vt:lpstr>
      <vt:lpstr>Absorption in Liquids</vt:lpstr>
      <vt:lpstr>Absorption in Liquids</vt:lpstr>
      <vt:lpstr>Absorption in Liquids</vt:lpstr>
      <vt:lpstr>Adsorption on Solids</vt:lpstr>
      <vt:lpstr>Adsorption on Solids</vt:lpstr>
      <vt:lpstr>Adsorption on Solids</vt:lpstr>
      <vt:lpstr>Freeze-out Sampling</vt:lpstr>
      <vt:lpstr>Freeze-out Sampling</vt:lpstr>
      <vt:lpstr>Collection of Particulate Pollutants</vt:lpstr>
      <vt:lpstr>Collection of Particulate Pollutants</vt:lpstr>
      <vt:lpstr>Sedimentation (Dustfall Jar)</vt:lpstr>
      <vt:lpstr>Sedimentation (Dustfall Jar)</vt:lpstr>
      <vt:lpstr>Sedimentation (Dustfall Jar)</vt:lpstr>
      <vt:lpstr>Sedimentation (Dustfall Jar)</vt:lpstr>
      <vt:lpstr>Selection of sampling site</vt:lpstr>
      <vt:lpstr>High-volume Filtration (The hi-vol. sampler)</vt:lpstr>
      <vt:lpstr>High-volume Filtration (The hi-vol. sampler)</vt:lpstr>
      <vt:lpstr>High-volume Filtration (The hi-vol. sampler)</vt:lpstr>
      <vt:lpstr>High-volume Filtration (The hi-vol. sampler)</vt:lpstr>
      <vt:lpstr>Tape Sampler</vt:lpstr>
      <vt:lpstr>Tape Sampler</vt:lpstr>
      <vt:lpstr>Tape Sampler</vt:lpstr>
      <vt:lpstr>Tape Sampler</vt:lpstr>
      <vt:lpstr>Tape Sampler</vt:lpstr>
      <vt:lpstr>Tape Sampler</vt:lpstr>
      <vt:lpstr>Tape Sampler</vt:lpstr>
      <vt:lpstr>Tape Sampler</vt:lpstr>
      <vt:lpstr>Impingement</vt:lpstr>
      <vt:lpstr>Impingement</vt:lpstr>
      <vt:lpstr>Impingement</vt:lpstr>
      <vt:lpstr>Impingement- Cascade Impactor</vt:lpstr>
      <vt:lpstr>Impingement</vt:lpstr>
      <vt:lpstr>Electrostatic Precipitation</vt:lpstr>
      <vt:lpstr>Electrostatic Precipitation</vt:lpstr>
      <vt:lpstr>Electrostatic Precipitation</vt:lpstr>
      <vt:lpstr>Thermal Precipitation</vt:lpstr>
      <vt:lpstr>Thermal Precipitator</vt:lpstr>
      <vt:lpstr>Thermal Precipitation</vt:lpstr>
      <vt:lpstr>Stack Sampling</vt:lpstr>
      <vt:lpstr>Selection of sampling site</vt:lpstr>
      <vt:lpstr>Diagrammatic representation of sampling points in a stack</vt:lpstr>
      <vt:lpstr>PowerPoint Presentation</vt:lpstr>
      <vt:lpstr>Sampling System</vt:lpstr>
      <vt:lpstr>Sampling System</vt:lpstr>
      <vt:lpstr>Sampling System</vt:lpstr>
      <vt:lpstr>PowerPoint Presentation</vt:lpstr>
      <vt:lpstr> Isokinetic Sampling</vt:lpstr>
      <vt:lpstr>Principle of Isokinetic Sampling:</vt:lpstr>
      <vt:lpstr> Isokinetic Sampling</vt:lpstr>
      <vt:lpstr>PowerPoint Presentation</vt:lpstr>
      <vt:lpstr>PowerPoint Presentation</vt:lpstr>
      <vt:lpstr>Advantages of Isokinetic Sampling:</vt:lpstr>
      <vt:lpstr>Gaseous Sampling</vt:lpstr>
      <vt:lpstr>Ambient air quality</vt:lpstr>
      <vt:lpstr>Ambient Air Quality Standards in India</vt:lpstr>
      <vt:lpstr>Ambient Air Quality Standards in India</vt:lpstr>
      <vt:lpstr>Ambient Air Quality Standards in India</vt:lpstr>
      <vt:lpstr>Ambient Air Quality Standards in India</vt:lpstr>
      <vt:lpstr>Ambient Air Quality Standards in India (protocol)</vt:lpstr>
      <vt:lpstr>National Air Quality Index</vt:lpstr>
      <vt:lpstr>National Air Quality Index</vt:lpstr>
      <vt:lpstr>National Air Quality Index</vt:lpstr>
      <vt:lpstr>The  AQI values and their associated health impacts are as follows:</vt:lpstr>
      <vt:lpstr>National Air Quality Index</vt:lpstr>
      <vt:lpstr>Emission Inventory</vt:lpstr>
      <vt:lpstr>Emission Inventory</vt:lpstr>
      <vt:lpstr>Emission Inventory</vt:lpstr>
      <vt:lpstr>PowerPoint Presentation</vt:lpstr>
      <vt:lpstr>Emission Inventory</vt:lpstr>
      <vt:lpstr>Emission Inventory</vt:lpstr>
      <vt:lpstr>Emission Inventory</vt:lpstr>
      <vt:lpstr>Emission Inventory</vt:lpstr>
      <vt:lpstr>Emission Inventory</vt:lpstr>
      <vt:lpstr>Emission Inventory</vt:lpstr>
      <vt:lpstr>Emission Inventory</vt:lpstr>
      <vt:lpstr>Emission Inventory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AIR QUALITY MANAGEMENT</dc:title>
  <dc:creator>govind</dc:creator>
  <cp:lastModifiedBy>ANUPAMA SUGATHAN</cp:lastModifiedBy>
  <cp:revision>57</cp:revision>
  <cp:lastPrinted>2026-03-01T11:26:03Z</cp:lastPrinted>
  <dcterms:created xsi:type="dcterms:W3CDTF">2025-02-13T05:33:00Z</dcterms:created>
  <dcterms:modified xsi:type="dcterms:W3CDTF">2026-03-04T07:54:42Z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2023-04-30T10:30:00Z</vt:filetime>
  </property>
  <property fmtid="{D5CDD505-2E9C-101B-9397-08002B2CF9AE}" pid="3" name="Creator">
    <vt:lpwstr>Microsoft® PowerPoint® 2016</vt:lpwstr>
  </property>
  <property fmtid="{D5CDD505-2E9C-101B-9397-08002B2CF9AE}" pid="4" name="LastSaved">
    <vt:filetime>2025-02-16T10:30:00Z</vt:filetime>
  </property>
  <property fmtid="{D5CDD505-2E9C-101B-9397-08002B2CF9AE}" pid="5" name="Producer">
    <vt:lpwstr>Microsoft® PowerPoint® 2016</vt:lpwstr>
  </property>
  <property fmtid="{D5CDD505-2E9C-101B-9397-08002B2CF9AE}" pid="6" name="ICV">
    <vt:lpwstr>04B441C983E34A7496389F5C0327F4A7_12</vt:lpwstr>
  </property>
  <property fmtid="{D5CDD505-2E9C-101B-9397-08002B2CF9AE}" pid="7" name="KSOProductBuildVer">
    <vt:lpwstr>1033-12.2.0.19805</vt:lpwstr>
  </property>
</Properties>
</file>