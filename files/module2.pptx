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423" r:id="rId3"/>
    <p:sldId id="422" r:id="rId4"/>
    <p:sldId id="451" r:id="rId5"/>
    <p:sldId id="452" r:id="rId6"/>
    <p:sldId id="421" r:id="rId7"/>
    <p:sldId id="420" r:id="rId8"/>
    <p:sldId id="419" r:id="rId9"/>
    <p:sldId id="418" r:id="rId10"/>
    <p:sldId id="417" r:id="rId11"/>
    <p:sldId id="416" r:id="rId12"/>
    <p:sldId id="415" r:id="rId13"/>
    <p:sldId id="429" r:id="rId14"/>
    <p:sldId id="428" r:id="rId15"/>
    <p:sldId id="427" r:id="rId16"/>
    <p:sldId id="426" r:id="rId17"/>
    <p:sldId id="425" r:id="rId18"/>
    <p:sldId id="424" r:id="rId19"/>
    <p:sldId id="431" r:id="rId20"/>
    <p:sldId id="430" r:id="rId21"/>
    <p:sldId id="433" r:id="rId22"/>
    <p:sldId id="432" r:id="rId23"/>
    <p:sldId id="562" r:id="rId24"/>
    <p:sldId id="561" r:id="rId25"/>
    <p:sldId id="489" r:id="rId26"/>
    <p:sldId id="453" r:id="rId27"/>
    <p:sldId id="454" r:id="rId28"/>
    <p:sldId id="457" r:id="rId29"/>
    <p:sldId id="458" r:id="rId30"/>
    <p:sldId id="456" r:id="rId31"/>
    <p:sldId id="434" r:id="rId32"/>
    <p:sldId id="435" r:id="rId33"/>
    <p:sldId id="436" r:id="rId34"/>
    <p:sldId id="437" r:id="rId35"/>
    <p:sldId id="490" r:id="rId36"/>
    <p:sldId id="438" r:id="rId37"/>
    <p:sldId id="439" r:id="rId38"/>
    <p:sldId id="440" r:id="rId39"/>
    <p:sldId id="441" r:id="rId40"/>
    <p:sldId id="531" r:id="rId41"/>
    <p:sldId id="533" r:id="rId42"/>
    <p:sldId id="532" r:id="rId43"/>
    <p:sldId id="534" r:id="rId44"/>
    <p:sldId id="491" r:id="rId45"/>
    <p:sldId id="459" r:id="rId46"/>
    <p:sldId id="461" r:id="rId47"/>
    <p:sldId id="495" r:id="rId48"/>
    <p:sldId id="494" r:id="rId49"/>
    <p:sldId id="493" r:id="rId50"/>
    <p:sldId id="492" r:id="rId51"/>
    <p:sldId id="496" r:id="rId52"/>
    <p:sldId id="612" r:id="rId53"/>
    <p:sldId id="535" r:id="rId54"/>
    <p:sldId id="563" r:id="rId55"/>
    <p:sldId id="564" r:id="rId56"/>
    <p:sldId id="565" r:id="rId57"/>
    <p:sldId id="260" r:id="rId58"/>
    <p:sldId id="502" r:id="rId59"/>
    <p:sldId id="499" r:id="rId60"/>
    <p:sldId id="508" r:id="rId61"/>
    <p:sldId id="516" r:id="rId62"/>
    <p:sldId id="515" r:id="rId63"/>
    <p:sldId id="512" r:id="rId64"/>
    <p:sldId id="511" r:id="rId65"/>
    <p:sldId id="510" r:id="rId66"/>
    <p:sldId id="517" r:id="rId67"/>
    <p:sldId id="518" r:id="rId68"/>
    <p:sldId id="519" r:id="rId69"/>
    <p:sldId id="497" r:id="rId70"/>
    <p:sldId id="505" r:id="rId71"/>
    <p:sldId id="613" r:id="rId72"/>
    <p:sldId id="615" r:id="rId73"/>
    <p:sldId id="619" r:id="rId74"/>
    <p:sldId id="618" r:id="rId75"/>
    <p:sldId id="507" r:id="rId7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469" autoAdjust="0"/>
  </p:normalViewPr>
  <p:slideViewPr>
    <p:cSldViewPr snapToGrid="0" showGuides="1">
      <p:cViewPr varScale="1">
        <p:scale>
          <a:sx n="75" d="100"/>
          <a:sy n="75" d="100"/>
        </p:scale>
        <p:origin x="1594" y="48"/>
      </p:cViewPr>
      <p:guideLst>
        <p:guide orient="horz" pos="159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5903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5903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36ea44ca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f36ea44ca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Average person: 80-90% of time indoors (home, office, vehicle, buildings)</a:t>
            </a: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Vulnerable populations (children, elderly, chronically ill): &gt;95% indoors</a:t>
            </a:r>
          </a:p>
          <a:p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indoor air matters: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Most significant air exposure for most people, Concentrated pollutants in small spaces,, Multiple pollution sources unique to indoors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016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Carpets and home furnishings: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Dust accumulation in fabric</a:t>
            </a: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Moisture retention (from spills, humidity)</a:t>
            </a: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Mold and mildew growth</a:t>
            </a:r>
          </a:p>
          <a:p>
            <a:pPr lvl="0"/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Dust mites thrive in </a:t>
            </a:r>
            <a:r>
              <a:rPr lang="en-IN" sz="1100" b="0" i="0" u="none" strike="noStrike" cap="none" dirty="0" err="1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fiber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Multiple contaminants concentrated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dirty="0"/>
              <a:t>Asbestos- 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Fire resistance, Insulation properties, Strength, Low cost, Chemical inertness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617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characteristics: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/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Temporal relationship: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Symptoms appear/worsen while in building; improve after leaving</a:t>
            </a:r>
          </a:p>
          <a:p>
            <a:pPr lvl="0"/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Non-specific symptoms: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Multiple diverse symptoms (not fitting one disease pattern)</a:t>
            </a:r>
          </a:p>
          <a:p>
            <a:pPr lvl="0"/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identifiable cause: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Medical investigation finds no specific illness</a:t>
            </a:r>
          </a:p>
          <a:p>
            <a:pPr lvl="0"/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Reversibility: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Symptoms resolve after leaving building</a:t>
            </a:r>
          </a:p>
          <a:p>
            <a:pPr lvl="0"/>
            <a:r>
              <a:rPr lang="en-IN" sz="1100" b="1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Recurrence:</a:t>
            </a:r>
            <a:r>
              <a:rPr lang="en-IN" sz="1100" b="0" i="0" u="none" strike="noStrike" cap="none" dirty="0">
                <a:solidFill>
                  <a:srgbClr val="000000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Symptoms return when person returns to building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069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37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F945-BEBB-1E33-A556-FA3EE137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8023E-C32D-82C2-7994-91A84CA0D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11EDA-5093-B3E7-A77D-D4F78CB56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92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6300" y="297000"/>
            <a:ext cx="8226900" cy="5292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6850" y="1149250"/>
            <a:ext cx="8930700" cy="135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/>
              <a:t>AIR QUALITY MANAGEMENT</a:t>
            </a:r>
            <a:endParaRPr sz="5000" b="1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740" b="1"/>
              <a:t>MODULE </a:t>
            </a:r>
            <a:r>
              <a:rPr lang="en-US" altLang="en-GB" sz="2740" b="1"/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Effects of air pollution on human health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065" indent="0">
              <a:lnSpc>
                <a:spcPct val="100000"/>
              </a:lnSpc>
              <a:buNone/>
              <a:tabLst>
                <a:tab pos="241935" algn="l"/>
              </a:tabLst>
            </a:pP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Adverse</a:t>
            </a:r>
            <a:r>
              <a:rPr sz="2000" spc="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effects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air</a:t>
            </a:r>
            <a:r>
              <a:rPr sz="2000" spc="1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pollution</a:t>
            </a:r>
            <a:r>
              <a:rPr sz="2000" spc="5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may be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divided</a:t>
            </a:r>
            <a:r>
              <a:rPr sz="2000" spc="4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into</a:t>
            </a:r>
            <a:r>
              <a:rPr sz="2000" spc="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two</a:t>
            </a:r>
            <a:r>
              <a:rPr sz="2000" spc="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classes-acute</a:t>
            </a:r>
            <a:r>
              <a:rPr sz="2000" spc="2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and</a:t>
            </a:r>
            <a:endParaRPr sz="2000">
              <a:solidFill>
                <a:schemeClr val="tx1">
                  <a:lumMod val="50000"/>
                </a:schemeClr>
              </a:solidFill>
              <a:latin typeface="Arial MT"/>
              <a:cs typeface="Arial MT"/>
            </a:endParaRPr>
          </a:p>
          <a:p>
            <a:pPr marL="0" indent="0">
              <a:lnSpc>
                <a:spcPct val="100000"/>
              </a:lnSpc>
              <a:spcBef>
                <a:spcPts val="1440"/>
              </a:spcBef>
              <a:buNone/>
            </a:pP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chronic</a:t>
            </a:r>
            <a:r>
              <a:rPr sz="2000" spc="-2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effects</a:t>
            </a:r>
          </a:p>
          <a:p>
            <a:pPr marL="0" indent="0">
              <a:lnSpc>
                <a:spcPct val="100000"/>
              </a:lnSpc>
              <a:spcBef>
                <a:spcPts val="1440"/>
              </a:spcBef>
              <a:buNone/>
            </a:pPr>
            <a:r>
              <a:rPr lang="en-US" sz="2000"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Accute effects</a:t>
            </a:r>
            <a:endParaRPr sz="2000">
              <a:latin typeface="Arial MT"/>
              <a:cs typeface="Arial 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S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hort-term</a:t>
            </a:r>
            <a:r>
              <a:rPr sz="2000" spc="-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exposure </a:t>
            </a:r>
            <a:r>
              <a:rPr sz="2000" spc="-65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to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air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pollutants</a:t>
            </a:r>
            <a:r>
              <a:rPr sz="2000" spc="2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at</a:t>
            </a:r>
            <a:r>
              <a:rPr sz="2000" spc="-1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high</a:t>
            </a:r>
            <a:r>
              <a:rPr sz="2000" spc="2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concentrations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Fast effects on humans</a:t>
            </a:r>
            <a:endParaRPr sz="2000">
              <a:solidFill>
                <a:schemeClr val="tx1">
                  <a:lumMod val="50000"/>
                </a:schemeClr>
              </a:solidFill>
              <a:latin typeface="Arial MT"/>
              <a:cs typeface="Arial MT"/>
            </a:endParaRPr>
          </a:p>
          <a:p>
            <a:pPr marL="114300" indent="0">
              <a:buFont typeface="Arial" panose="020B0604020202020204" pitchFamily="34" charset="0"/>
              <a:buNone/>
            </a:pP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Chronic</a:t>
            </a:r>
            <a:r>
              <a:rPr sz="20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Become evident only after c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ontinuous</a:t>
            </a:r>
            <a:r>
              <a:rPr sz="2000" spc="2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exposure</a:t>
            </a:r>
            <a:r>
              <a:rPr sz="2000" spc="4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00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to </a:t>
            </a:r>
            <a:r>
              <a:rPr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low</a:t>
            </a:r>
            <a:r>
              <a:rPr lang="en-US" sz="20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concentration of air pollutant</a:t>
            </a:r>
          </a:p>
          <a:p>
            <a:pPr marL="114300" indent="0">
              <a:buFont typeface="Arial" panose="020B0604020202020204" pitchFamily="34" charset="0"/>
              <a:buNone/>
            </a:pPr>
            <a:endParaRPr lang="en-US" sz="2000" spc="-5" dirty="0">
              <a:solidFill>
                <a:schemeClr val="tx1">
                  <a:lumMod val="50000"/>
                </a:schemeClr>
              </a:solidFill>
              <a:latin typeface="Arial MT"/>
              <a:cs typeface="Arial MT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Factors affecting human health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02215"/>
            <a:ext cx="8520600" cy="3339000"/>
          </a:xfrm>
        </p:spPr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Nature of the pollutant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Concentration of the pollutant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Duration of exposure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State of health of the receptor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Age group of the receptor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of air pollution on human health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183005"/>
            <a:ext cx="8520430" cy="367855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Eye irritation- due to NO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X</a:t>
            </a:r>
            <a:r>
              <a:rPr lang="en-US" altLang="en-US"/>
              <a:t>, 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/>
              <a:t>, PAN, smog, particulates etc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Irritation of the respiratory tract – due to 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X</a:t>
            </a:r>
            <a:r>
              <a:rPr lang="en-US" altLang="en-US"/>
              <a:t>, </a:t>
            </a:r>
            <a:r>
              <a:rPr lang="en-US" altLang="en-US">
                <a:sym typeface="+mn-ea"/>
              </a:rPr>
              <a:t>NO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X</a:t>
            </a:r>
            <a:r>
              <a:rPr lang="en-US" altLang="en-US"/>
              <a:t>, 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3</a:t>
            </a:r>
            <a:r>
              <a:rPr lang="en-US" altLang="en-US"/>
              <a:t>, CO etc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Pollens- can initiate asthmatic attack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High concentrations of 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2</a:t>
            </a:r>
            <a:r>
              <a:rPr lang="en-US" altLang="en-US"/>
              <a:t>, NO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2</a:t>
            </a:r>
            <a:r>
              <a:rPr lang="en-US" altLang="en-US"/>
              <a:t>, SPM and photochemical smog- chronic pulmonary diseases like bronchitis and asthma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CO + hemoglobin - cardiovascular and pulmonary diseases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Hydrogen fluoride – Fluorosis and mottling of teeth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 of air pollution on human health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948055"/>
            <a:ext cx="8520430" cy="362077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Polycyclic organiccompounds, aliphatic hydrocarbons – cause cancer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 Dust particles – cause silicosis, asbestosis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Heavy metals like lead may entered to lungs cause poisoning- high concentration can damage liver and kidney- can cause abnormality in fertility and pregnancy- mental development of children gets affected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Exposure to radioactive isotopes- Iodine 131, Phosphorous 32, Cobalt 60, Radium 226 – cause anemia, leukemia, cancer, shortening of life span and genetic defects.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45" y="-10160"/>
            <a:ext cx="6684010" cy="5154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254635"/>
            <a:ext cx="8520430" cy="4314190"/>
          </a:xfrm>
        </p:spPr>
        <p:txBody>
          <a:bodyPr>
            <a:norm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Respiratory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system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composed</a:t>
            </a:r>
            <a:r>
              <a:rPr spc="6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primarily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two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lungs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air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passages</a:t>
            </a:r>
            <a:r>
              <a:rPr spc="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lead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to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them.</a:t>
            </a:r>
            <a:endParaRPr>
              <a:latin typeface="Arial MT"/>
              <a:cs typeface="Arial MT"/>
            </a:endParaRPr>
          </a:p>
          <a:p>
            <a:pPr marL="241300" marR="5080" indent="-228600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303530" algn="l"/>
                <a:tab pos="304165" algn="l"/>
              </a:tabLst>
            </a:pPr>
            <a:r>
              <a:rPr dirty="0">
                <a:sym typeface="+mn-ea"/>
              </a:rPr>
              <a:t>	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air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passages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begin</a:t>
            </a:r>
            <a:r>
              <a:rPr spc="6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at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nose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mouth</a:t>
            </a:r>
            <a:r>
              <a:rPr spc="-5" dirty="0">
                <a:latin typeface="Arial MT"/>
                <a:cs typeface="Arial MT"/>
                <a:sym typeface="+mn-ea"/>
              </a:rPr>
              <a:t>,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include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windpipe</a:t>
            </a:r>
            <a:r>
              <a:rPr spc="7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(trache</a:t>
            </a:r>
            <a:r>
              <a:rPr spc="-5" dirty="0">
                <a:latin typeface="Arial MT"/>
                <a:cs typeface="Arial MT"/>
                <a:sym typeface="+mn-ea"/>
              </a:rPr>
              <a:t>a)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its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two </a:t>
            </a:r>
            <a:r>
              <a:rPr spc="-5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branches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passages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known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bronchi.</a:t>
            </a:r>
            <a:endParaRPr>
              <a:latin typeface="Arial MT"/>
              <a:cs typeface="Arial MT"/>
            </a:endParaRPr>
          </a:p>
          <a:p>
            <a:pPr marL="241300" marR="184150" indent="-228600">
              <a:lnSpc>
                <a:spcPct val="150000"/>
              </a:lnSpc>
              <a:spcBef>
                <a:spcPts val="1000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divide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into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lang="en-US" spc="20" dirty="0">
                <a:latin typeface="Arial MT"/>
                <a:cs typeface="Arial MT"/>
                <a:sym typeface="+mn-ea"/>
              </a:rPr>
              <a:t>smaller bronchi and further into bronchioles (smallest segment of bronchi).</a:t>
            </a:r>
          </a:p>
          <a:p>
            <a:pPr marL="241300" marR="184150" indent="-228600">
              <a:lnSpc>
                <a:spcPct val="150000"/>
              </a:lnSpc>
              <a:spcBef>
                <a:spcPts val="1000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At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end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bronchioles</a:t>
            </a:r>
            <a:r>
              <a:rPr spc="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countless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tiny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air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sacs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known</a:t>
            </a:r>
            <a:r>
              <a:rPr spc="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alveoli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94640" indent="-281940">
              <a:lnSpc>
                <a:spcPct val="100000"/>
              </a:lnSpc>
              <a:spcBef>
                <a:spcPts val="5"/>
              </a:spcBef>
              <a:buChar char="•"/>
              <a:tabLst>
                <a:tab pos="294005" algn="l"/>
                <a:tab pos="294640" algn="l"/>
              </a:tabLst>
            </a:pP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Alveoli</a:t>
            </a:r>
            <a:r>
              <a:rPr spc="2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are</a:t>
            </a:r>
            <a:r>
              <a:rPr spc="3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functional</a:t>
            </a:r>
            <a:r>
              <a:rPr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units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lung</a:t>
            </a:r>
            <a:r>
              <a:rPr lang="en-US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where</a:t>
            </a:r>
            <a:r>
              <a:rPr lang="en-US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oxygen and carbon dioxide are exchanged.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693920" y="447294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Respiratory</a:t>
            </a:r>
            <a:r>
              <a:rPr b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lang="en-US" b="1" dirty="0">
                <a:latin typeface="Arial" panose="020B0604020202020204"/>
                <a:cs typeface="Arial" panose="020B0604020202020204"/>
                <a:sym typeface="+mn-ea"/>
              </a:rPr>
              <a:t>-Particulate Matter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78110"/>
            <a:ext cx="8520600" cy="3339000"/>
          </a:xfrm>
        </p:spPr>
        <p:txBody>
          <a:bodyPr>
            <a:noAutofit/>
          </a:bodyPr>
          <a:lstStyle/>
          <a:p>
            <a:pPr marL="241300" marR="499745" indent="-229235" algn="just">
              <a:lnSpc>
                <a:spcPct val="15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Particulate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matter </a:t>
            </a:r>
            <a:r>
              <a:rPr spc="-5" dirty="0">
                <a:latin typeface="Arial MT"/>
                <a:cs typeface="Arial MT"/>
                <a:sym typeface="+mn-ea"/>
              </a:rPr>
              <a:t>inhaled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may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deposited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various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regions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respiratory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system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depending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on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particle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size.</a:t>
            </a:r>
            <a:endParaRPr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Particles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above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10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µm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 almost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wholly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retained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nose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135255" indent="-229235">
              <a:lnSpc>
                <a:spcPct val="150000"/>
              </a:lnSpc>
              <a:spcBef>
                <a:spcPts val="1010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Those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below</a:t>
            </a:r>
            <a:r>
              <a:rPr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10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µm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escape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entrapment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generally</a:t>
            </a:r>
            <a:r>
              <a:rPr spc="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pass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through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upper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respiratory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system.</a:t>
            </a:r>
            <a:endParaRPr>
              <a:latin typeface="Arial MT"/>
              <a:cs typeface="Arial MT"/>
            </a:endParaRPr>
          </a:p>
          <a:p>
            <a:pPr marL="241300" marR="5080" indent="-229235">
              <a:lnSpc>
                <a:spcPct val="150000"/>
              </a:lnSpc>
              <a:spcBef>
                <a:spcPts val="1000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Fine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particles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size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range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0.5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5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µm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deposited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far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bronchioles,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but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few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reach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alveoli.</a:t>
            </a:r>
            <a:endParaRPr>
              <a:latin typeface="Arial MT"/>
              <a:cs typeface="Arial M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Respiratory</a:t>
            </a:r>
            <a:r>
              <a:rPr b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lang="en-US" b="1" dirty="0">
                <a:latin typeface="Arial" panose="020B0604020202020204"/>
                <a:cs typeface="Arial" panose="020B0604020202020204"/>
                <a:sym typeface="+mn-ea"/>
              </a:rPr>
              <a:t>-Particulate Matter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41300" marR="948690" indent="-229235">
              <a:lnSpc>
                <a:spcPct val="15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walls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bronchioles</a:t>
            </a:r>
            <a:r>
              <a:rPr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are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lined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with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fine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hair-like </a:t>
            </a:r>
            <a:r>
              <a:rPr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structures</a:t>
            </a:r>
            <a:r>
              <a:rPr spc="-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called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cilia.</a:t>
            </a:r>
            <a:endParaRPr>
              <a:latin typeface="Arial MT"/>
              <a:cs typeface="Arial MT"/>
            </a:endParaRPr>
          </a:p>
          <a:p>
            <a:pPr marL="241300" marR="5080" indent="-229235">
              <a:lnSpc>
                <a:spcPct val="150000"/>
              </a:lnSpc>
              <a:spcBef>
                <a:spcPts val="995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These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responsible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for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removing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such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fine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particles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along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with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mucous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by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moving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them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up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larynx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where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they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may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eliminated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by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swallowing.</a:t>
            </a:r>
            <a:endParaRPr>
              <a:latin typeface="Arial MT"/>
              <a:cs typeface="Arial MT"/>
            </a:endParaRPr>
          </a:p>
          <a:p>
            <a:pPr marL="241300" marR="389255" indent="-229235">
              <a:lnSpc>
                <a:spcPct val="150000"/>
              </a:lnSpc>
              <a:spcBef>
                <a:spcPts val="1010"/>
              </a:spcBef>
              <a:buChar char="•"/>
              <a:tabLst>
                <a:tab pos="241935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5" dirty="0">
                <a:latin typeface="Arial MT"/>
                <a:cs typeface="Arial MT"/>
                <a:sym typeface="+mn-ea"/>
              </a:rPr>
              <a:t> health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risk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primarily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from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deposition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particles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0.5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µm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alveoli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where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they </a:t>
            </a:r>
            <a:r>
              <a:rPr spc="-5" dirty="0">
                <a:latin typeface="Arial MT"/>
                <a:cs typeface="Arial MT"/>
                <a:sym typeface="+mn-ea"/>
              </a:rPr>
              <a:t>cause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damage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to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respiratory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organs.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81400"/>
            <a:ext cx="8520600" cy="6078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Respiratory</a:t>
            </a:r>
            <a:r>
              <a:rPr b="1" spc="-12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lang="en-US" b="1" dirty="0">
                <a:latin typeface="Arial" panose="020B0604020202020204"/>
                <a:cs typeface="Arial" panose="020B0604020202020204"/>
                <a:sym typeface="+mn-ea"/>
              </a:rPr>
              <a:t>-Particulate Matter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972185"/>
            <a:ext cx="8939530" cy="39135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The</a:t>
            </a:r>
            <a:r>
              <a:rPr sz="2000" b="1" spc="1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toxic</a:t>
            </a:r>
            <a:r>
              <a:rPr sz="2000" b="1" spc="1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effect</a:t>
            </a:r>
            <a:r>
              <a:rPr sz="2000" b="1" spc="3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of</a:t>
            </a:r>
            <a:r>
              <a:rPr sz="2000" b="1" spc="1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particles</a:t>
            </a:r>
            <a:r>
              <a:rPr sz="2000" b="1" spc="1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can</a:t>
            </a:r>
            <a:r>
              <a:rPr sz="2000" b="1" spc="2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be</a:t>
            </a:r>
            <a:r>
              <a:rPr sz="2000" b="1" spc="20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grouped</a:t>
            </a:r>
            <a:r>
              <a:rPr sz="2000" b="1" spc="30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into</a:t>
            </a:r>
            <a:r>
              <a:rPr sz="2000" b="1" spc="3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three</a:t>
            </a:r>
            <a:r>
              <a:rPr sz="2000" b="1" spc="1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categories: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 dirty="0">
              <a:latin typeface="Arial" panose="020B0604020202020204"/>
              <a:cs typeface="Arial" panose="020B0604020202020204"/>
            </a:endParaRPr>
          </a:p>
          <a:p>
            <a:pPr marL="262255" indent="-250190">
              <a:lnSpc>
                <a:spcPct val="100000"/>
              </a:lnSpc>
              <a:buSzPct val="95000"/>
              <a:buFont typeface="Wingdings" panose="05000000000000000000"/>
              <a:buChar char=""/>
              <a:tabLst>
                <a:tab pos="262890" algn="l"/>
              </a:tabLst>
            </a:pP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Interference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inert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particles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with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clearing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mechanisms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respiratory</a:t>
            </a:r>
            <a:r>
              <a:rPr sz="2400"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tract</a:t>
            </a:r>
            <a:endParaRPr sz="2400" dirty="0">
              <a:latin typeface="Arial MT"/>
              <a:cs typeface="Arial MT"/>
            </a:endParaRPr>
          </a:p>
          <a:p>
            <a:pPr marL="698500" lvl="1" indent="-229870">
              <a:lnSpc>
                <a:spcPct val="100000"/>
              </a:lnSpc>
              <a:spcBef>
                <a:spcPts val="1715"/>
              </a:spcBef>
              <a:buChar char="•"/>
              <a:tabLst>
                <a:tab pos="697865" algn="l"/>
                <a:tab pos="699135" algn="l"/>
              </a:tabLst>
            </a:pPr>
            <a:r>
              <a:rPr sz="2400" spc="-5" dirty="0">
                <a:latin typeface="Arial MT"/>
                <a:cs typeface="Arial MT"/>
                <a:sym typeface="+mn-ea"/>
              </a:rPr>
              <a:t>The</a:t>
            </a:r>
            <a:r>
              <a:rPr sz="2400" spc="15" dirty="0">
                <a:latin typeface="Arial MT"/>
                <a:cs typeface="Arial MT"/>
                <a:sym typeface="+mn-ea"/>
              </a:rPr>
              <a:t> </a:t>
            </a:r>
            <a:r>
              <a:rPr sz="2400" spc="-10" dirty="0">
                <a:latin typeface="Arial MT"/>
                <a:cs typeface="Arial MT"/>
                <a:sym typeface="+mn-ea"/>
              </a:rPr>
              <a:t>effect</a:t>
            </a:r>
            <a:r>
              <a:rPr sz="240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includes</a:t>
            </a:r>
            <a:r>
              <a:rPr sz="2400" spc="45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</a:t>
            </a:r>
            <a:r>
              <a:rPr sz="2400" spc="15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slowing</a:t>
            </a:r>
            <a:r>
              <a:rPr sz="2400" spc="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ciliary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beat</a:t>
            </a:r>
            <a:r>
              <a:rPr sz="2400"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and</a:t>
            </a:r>
            <a:r>
              <a:rPr sz="2400" spc="2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mucus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flow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z="2400"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bronchial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tree</a:t>
            </a:r>
            <a:r>
              <a:rPr sz="2400" dirty="0">
                <a:latin typeface="Arial MT"/>
                <a:cs typeface="Arial MT"/>
                <a:sym typeface="+mn-ea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240665" marR="929640" indent="-228600">
              <a:lnSpc>
                <a:spcPct val="150000"/>
              </a:lnSpc>
              <a:spcBef>
                <a:spcPts val="930"/>
              </a:spcBef>
              <a:buSzPct val="95000"/>
              <a:buFont typeface="Wingdings" panose="05000000000000000000"/>
              <a:buChar char=""/>
              <a:tabLst>
                <a:tab pos="262890" algn="l"/>
              </a:tabLst>
            </a:pPr>
            <a:r>
              <a:rPr sz="2400" spc="-5" dirty="0">
                <a:latin typeface="Arial MT"/>
                <a:cs typeface="Arial MT"/>
                <a:sym typeface="+mn-ea"/>
              </a:rPr>
              <a:t>Particles</a:t>
            </a:r>
            <a:r>
              <a:rPr sz="240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act</a:t>
            </a:r>
            <a:r>
              <a:rPr sz="2400" spc="5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as</a:t>
            </a:r>
            <a:r>
              <a:rPr sz="2400" spc="3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carriers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24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adsorbed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toxic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gases</a:t>
            </a:r>
            <a:r>
              <a:rPr sz="2400"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such</a:t>
            </a:r>
            <a:r>
              <a:rPr sz="240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as</a:t>
            </a:r>
            <a:r>
              <a:rPr sz="2400" spc="2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SO</a:t>
            </a:r>
            <a:r>
              <a:rPr sz="2400" spc="-10" baseline="-25000" dirty="0">
                <a:solidFill>
                  <a:schemeClr val="bg2"/>
                </a:solidFill>
                <a:uFillTx/>
                <a:latin typeface="Arial MT"/>
                <a:cs typeface="Arial MT"/>
                <a:sym typeface="+mn-ea"/>
              </a:rPr>
              <a:t>2</a:t>
            </a:r>
            <a:r>
              <a:rPr sz="2400" spc="2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and</a:t>
            </a:r>
            <a:r>
              <a:rPr sz="2400" spc="15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latin typeface="Arial MT"/>
                <a:cs typeface="Arial MT"/>
                <a:sym typeface="+mn-ea"/>
              </a:rPr>
              <a:t>produce </a:t>
            </a:r>
            <a:r>
              <a:rPr sz="2400" spc="-600" dirty="0"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synergistic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effects</a:t>
            </a:r>
            <a:r>
              <a:rPr sz="2400" spc="-5" dirty="0">
                <a:latin typeface="Arial MT"/>
                <a:cs typeface="Arial MT"/>
                <a:sym typeface="+mn-ea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698500" marR="922655" lvl="1" indent="-229235">
              <a:lnSpc>
                <a:spcPct val="150000"/>
              </a:lnSpc>
              <a:spcBef>
                <a:spcPts val="575"/>
              </a:spcBef>
              <a:buChar char="•"/>
              <a:tabLst>
                <a:tab pos="697865" algn="l"/>
                <a:tab pos="699135" algn="l"/>
              </a:tabLst>
            </a:pPr>
            <a:endParaRPr sz="700" dirty="0">
              <a:latin typeface="Arial MT"/>
              <a:cs typeface="Arial MT"/>
            </a:endParaRPr>
          </a:p>
          <a:p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740" y="486290"/>
            <a:ext cx="8520600" cy="3339000"/>
          </a:xfrm>
        </p:spPr>
        <p:txBody>
          <a:bodyPr>
            <a:normAutofit lnSpcReduction="10000"/>
          </a:bodyPr>
          <a:lstStyle/>
          <a:p>
            <a:pPr marL="240665" marR="1352550" indent="-228600">
              <a:lnSpc>
                <a:spcPct val="150000"/>
              </a:lnSpc>
              <a:spcBef>
                <a:spcPts val="990"/>
              </a:spcBef>
              <a:buSzPct val="95000"/>
              <a:buFont typeface="Wingdings" panose="05000000000000000000"/>
              <a:buChar char=""/>
              <a:tabLst>
                <a:tab pos="262890" algn="l"/>
              </a:tabLst>
            </a:pP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Particles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may</a:t>
            </a:r>
            <a:r>
              <a:rPr sz="18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intrinsically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toxic</a:t>
            </a:r>
            <a:r>
              <a:rPr sz="1800" spc="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because</a:t>
            </a:r>
            <a:r>
              <a:rPr sz="1800" spc="1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of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their</a:t>
            </a:r>
            <a:r>
              <a:rPr sz="1800" spc="2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physical</a:t>
            </a:r>
            <a:r>
              <a:rPr sz="1800" spc="1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or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chemical </a:t>
            </a:r>
            <a:r>
              <a:rPr sz="1800" spc="-59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characteristics:</a:t>
            </a:r>
            <a:endParaRPr sz="1800">
              <a:latin typeface="Arial MT"/>
              <a:cs typeface="Arial MT"/>
            </a:endParaRPr>
          </a:p>
          <a:p>
            <a:pPr marL="698500" marR="922655" lvl="1" indent="-229235">
              <a:lnSpc>
                <a:spcPct val="150000"/>
              </a:lnSpc>
              <a:spcBef>
                <a:spcPts val="575"/>
              </a:spcBef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latin typeface="Arial MT"/>
                <a:cs typeface="Arial MT"/>
                <a:sym typeface="+mn-ea"/>
              </a:rPr>
              <a:t>Such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particles</a:t>
            </a:r>
            <a:r>
              <a:rPr sz="1800" spc="4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belong</a:t>
            </a:r>
            <a:r>
              <a:rPr sz="1800" spc="4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to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metals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10" dirty="0">
                <a:latin typeface="Arial MT"/>
                <a:cs typeface="Arial MT"/>
                <a:sym typeface="+mn-ea"/>
              </a:rPr>
              <a:t>which</a:t>
            </a:r>
            <a:r>
              <a:rPr sz="1800" spc="5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are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usually</a:t>
            </a:r>
            <a:r>
              <a:rPr sz="1800" spc="4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found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in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the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atmosphere</a:t>
            </a:r>
            <a:r>
              <a:rPr sz="1800" spc="6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in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trace </a:t>
            </a:r>
            <a:r>
              <a:rPr sz="1800" spc="-5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quantities</a:t>
            </a:r>
          </a:p>
          <a:p>
            <a:pPr marL="698500" marR="922655" lvl="1" indent="-229235">
              <a:lnSpc>
                <a:spcPct val="150000"/>
              </a:lnSpc>
              <a:spcBef>
                <a:spcPts val="575"/>
              </a:spcBef>
              <a:buChar char="•"/>
              <a:tabLst>
                <a:tab pos="697865" algn="l"/>
                <a:tab pos="699135" algn="l"/>
              </a:tabLst>
            </a:pPr>
            <a:r>
              <a:rPr sz="1800" dirty="0">
                <a:sym typeface="+mn-ea"/>
              </a:rPr>
              <a:t>	</a:t>
            </a:r>
            <a:r>
              <a:rPr sz="1800" dirty="0">
                <a:latin typeface="Arial MT"/>
                <a:cs typeface="Arial MT"/>
                <a:sym typeface="+mn-ea"/>
              </a:rPr>
              <a:t>Of</a:t>
            </a:r>
            <a:r>
              <a:rPr sz="1800" spc="-1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all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dirty="0">
                <a:latin typeface="Arial MT"/>
                <a:cs typeface="Arial MT"/>
                <a:sym typeface="+mn-ea"/>
              </a:rPr>
              <a:t>the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dirty="0">
                <a:latin typeface="Arial MT"/>
                <a:cs typeface="Arial MT"/>
                <a:sym typeface="+mn-ea"/>
              </a:rPr>
              <a:t>trace</a:t>
            </a:r>
            <a:r>
              <a:rPr sz="1800" spc="-5" dirty="0">
                <a:latin typeface="Arial MT"/>
                <a:cs typeface="Arial MT"/>
                <a:sym typeface="+mn-ea"/>
              </a:rPr>
              <a:t> metals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found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in</a:t>
            </a:r>
            <a:r>
              <a:rPr sz="1800" spc="20" dirty="0">
                <a:latin typeface="Arial MT"/>
                <a:cs typeface="Arial MT"/>
                <a:sym typeface="+mn-ea"/>
              </a:rPr>
              <a:t> </a:t>
            </a:r>
            <a:r>
              <a:rPr sz="1800" dirty="0">
                <a:latin typeface="Arial MT"/>
                <a:cs typeface="Arial MT"/>
                <a:sym typeface="+mn-ea"/>
              </a:rPr>
              <a:t>the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atmosphere,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the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one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present</a:t>
            </a:r>
            <a:r>
              <a:rPr sz="1800" spc="1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in</a:t>
            </a:r>
            <a:r>
              <a:rPr sz="1800" spc="3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largest </a:t>
            </a:r>
            <a:r>
              <a:rPr sz="1800"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concentration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is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</a:t>
            </a:r>
            <a:r>
              <a:rPr sz="1800" spc="-5" dirty="0">
                <a:latin typeface="Arial MT"/>
                <a:cs typeface="Arial MT"/>
                <a:sym typeface="+mn-ea"/>
              </a:rPr>
              <a:t>.</a:t>
            </a:r>
            <a:r>
              <a:rPr sz="1800" spc="30" dirty="0">
                <a:latin typeface="Arial MT"/>
                <a:cs typeface="Arial MT"/>
                <a:sym typeface="+mn-ea"/>
              </a:rPr>
              <a:t> </a:t>
            </a:r>
            <a:r>
              <a:rPr sz="1800" dirty="0">
                <a:latin typeface="Arial MT"/>
                <a:cs typeface="Arial MT"/>
                <a:sym typeface="+mn-ea"/>
              </a:rPr>
              <a:t>In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addition</a:t>
            </a:r>
            <a:r>
              <a:rPr sz="1800" spc="35" dirty="0">
                <a:latin typeface="Arial MT"/>
                <a:cs typeface="Arial MT"/>
                <a:sym typeface="+mn-ea"/>
              </a:rPr>
              <a:t> </a:t>
            </a:r>
            <a:r>
              <a:rPr sz="1800" dirty="0">
                <a:latin typeface="Arial MT"/>
                <a:cs typeface="Arial MT"/>
                <a:sym typeface="+mn-ea"/>
              </a:rPr>
              <a:t>to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lead,</a:t>
            </a:r>
            <a:r>
              <a:rPr lang="en-US"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cadmium,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nickel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mercury 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represent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known</a:t>
            </a:r>
            <a:r>
              <a:rPr sz="1800" spc="10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and</a:t>
            </a:r>
            <a:r>
              <a:rPr sz="1800" spc="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widespread</a:t>
            </a:r>
            <a:r>
              <a:rPr sz="1800" spc="3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health</a:t>
            </a:r>
            <a:r>
              <a:rPr sz="1800" spc="15" dirty="0">
                <a:latin typeface="Arial MT"/>
                <a:cs typeface="Arial MT"/>
                <a:sym typeface="+mn-ea"/>
              </a:rPr>
              <a:t> </a:t>
            </a:r>
            <a:r>
              <a:rPr sz="1800" spc="-5" dirty="0">
                <a:latin typeface="Arial MT"/>
                <a:cs typeface="Arial MT"/>
                <a:sym typeface="+mn-ea"/>
              </a:rPr>
              <a:t>hazards.</a:t>
            </a:r>
            <a:endParaRPr sz="1800"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-6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effect-</a:t>
            </a:r>
            <a:r>
              <a:rPr b="1" spc="-5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Lead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46055"/>
            <a:ext cx="8520600" cy="3339000"/>
          </a:xfrm>
        </p:spPr>
        <p:txBody>
          <a:bodyPr>
            <a:norm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935" algn="l"/>
              </a:tabLst>
            </a:pPr>
            <a:r>
              <a:rPr b="1" spc="-5" dirty="0">
                <a:solidFill>
                  <a:schemeClr val="tx1">
                    <a:lumMod val="50000"/>
                  </a:schemeClr>
                </a:solidFill>
                <a:latin typeface="Arial" panose="020B0604020202020204"/>
                <a:cs typeface="Arial" panose="020B0604020202020204"/>
                <a:sym typeface="+mn-ea"/>
              </a:rPr>
              <a:t>Source</a:t>
            </a:r>
            <a:r>
              <a:rPr spc="-5" dirty="0">
                <a:latin typeface="Arial MT"/>
                <a:cs typeface="Arial MT"/>
                <a:sym typeface="+mn-ea"/>
              </a:rPr>
              <a:t>:</a:t>
            </a:r>
            <a:r>
              <a:rPr spc="-1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Auto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exhaust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(from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gasoline),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paints,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storage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batteries,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pipes</a:t>
            </a:r>
            <a:endParaRPr>
              <a:latin typeface="Arial MT"/>
              <a:cs typeface="Arial MT"/>
            </a:endParaRPr>
          </a:p>
          <a:p>
            <a:pPr marL="241300" marR="477520" indent="-229235" algn="just">
              <a:lnSpc>
                <a:spcPct val="150000"/>
              </a:lnSpc>
              <a:spcBef>
                <a:spcPts val="995"/>
              </a:spcBef>
              <a:buChar char="•"/>
              <a:tabLst>
                <a:tab pos="241935" algn="l"/>
                <a:tab pos="412559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Lead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neurotoxin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whose</a:t>
            </a:r>
            <a:r>
              <a:rPr lang="en-US" spc="-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poisoning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results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convulsions,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delirium, </a:t>
            </a:r>
            <a:r>
              <a:rPr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coma,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severe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and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irreversible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brain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damage,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death.</a:t>
            </a:r>
            <a:endParaRPr>
              <a:latin typeface="Arial MT"/>
              <a:cs typeface="Arial MT"/>
            </a:endParaRPr>
          </a:p>
          <a:p>
            <a:pPr marL="114300" indent="0" algn="just">
              <a:lnSpc>
                <a:spcPct val="100000"/>
              </a:lnSpc>
              <a:spcBef>
                <a:spcPts val="35"/>
              </a:spcBef>
              <a:buNone/>
            </a:pPr>
            <a:endParaRPr>
              <a:latin typeface="Arial MT"/>
              <a:cs typeface="Arial MT"/>
            </a:endParaRPr>
          </a:p>
          <a:p>
            <a:pPr marL="325120" indent="-313055" algn="just">
              <a:lnSpc>
                <a:spcPct val="100000"/>
              </a:lnSpc>
              <a:buClr>
                <a:srgbClr val="000000"/>
              </a:buClr>
              <a:buChar char="•"/>
              <a:tabLst>
                <a:tab pos="325120" algn="l"/>
                <a:tab pos="32575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Inhaled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far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more serious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than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ingested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lead.</a:t>
            </a:r>
            <a:endParaRPr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20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41300" indent="-229235" algn="just">
              <a:lnSpc>
                <a:spcPct val="100000"/>
              </a:lnSpc>
              <a:buChar char="•"/>
              <a:tabLst>
                <a:tab pos="241935" algn="l"/>
                <a:tab pos="381698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fine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particles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emitted</a:t>
            </a:r>
            <a:r>
              <a:rPr lang="en-US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by </a:t>
            </a:r>
            <a:r>
              <a:rPr spc="-5" dirty="0">
                <a:latin typeface="Arial MT"/>
                <a:cs typeface="Arial MT"/>
                <a:sym typeface="+mn-ea"/>
              </a:rPr>
              <a:t>automobile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are </a:t>
            </a:r>
            <a:r>
              <a:rPr spc="-5" dirty="0">
                <a:latin typeface="Arial MT"/>
                <a:cs typeface="Arial MT"/>
                <a:sym typeface="+mn-ea"/>
              </a:rPr>
              <a:t>retained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within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lungs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lang="en-US" spc="-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absorbed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body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with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efficiency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about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40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per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cent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114300" indent="0" algn="just">
              <a:lnSpc>
                <a:spcPct val="100000"/>
              </a:lnSpc>
              <a:spcBef>
                <a:spcPts val="20"/>
              </a:spcBef>
              <a:buNone/>
            </a:pPr>
            <a:endParaRPr>
              <a:latin typeface="Arial MT"/>
              <a:cs typeface="Arial MT"/>
            </a:endParaRPr>
          </a:p>
          <a:p>
            <a:pPr algn="just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470535"/>
            <a:ext cx="8520430" cy="3910330"/>
          </a:xfrm>
        </p:spPr>
        <p:txBody>
          <a:bodyPr>
            <a:normAutofit/>
          </a:bodyPr>
          <a:lstStyle/>
          <a:p>
            <a:pPr marL="241300" marR="487045" indent="-229235">
              <a:lnSpc>
                <a:spcPct val="15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Body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responds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to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any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kind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lead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intake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by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excreting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it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in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urine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much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possible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remainder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stored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primarily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bones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At</a:t>
            </a:r>
            <a:r>
              <a:rPr spc="-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elevated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blood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levels</a:t>
            </a:r>
            <a:r>
              <a:rPr spc="-5" dirty="0">
                <a:latin typeface="Arial MT"/>
                <a:cs typeface="Arial MT"/>
                <a:sym typeface="+mn-ea"/>
              </a:rPr>
              <a:t>,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production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haemoglobin</a:t>
            </a:r>
            <a:r>
              <a:rPr spc="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impaired</a:t>
            </a:r>
            <a:r>
              <a:rPr lang="en-US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resulting</a:t>
            </a:r>
            <a:r>
              <a:rPr spc="1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oxygen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starvation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anemia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5080" indent="-229235">
              <a:lnSpc>
                <a:spcPct val="150000"/>
              </a:lnSpc>
              <a:spcBef>
                <a:spcPts val="1010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High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lead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levels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dirty="0">
                <a:latin typeface="Arial MT"/>
                <a:cs typeface="Arial MT"/>
                <a:sym typeface="+mn-ea"/>
              </a:rPr>
              <a:t> 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blood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causes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behavioural</a:t>
            </a:r>
            <a:r>
              <a:rPr spc="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disorders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children</a:t>
            </a:r>
            <a:r>
              <a:rPr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 </a:t>
            </a:r>
            <a:r>
              <a:rPr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adults.</a:t>
            </a:r>
            <a:endParaRPr>
              <a:latin typeface="Arial MT"/>
              <a:cs typeface="Arial MT"/>
            </a:endParaRPr>
          </a:p>
          <a:p>
            <a:pPr marL="241300" marR="277495" indent="-229235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: </a:t>
            </a:r>
            <a:r>
              <a:rPr spc="-5" dirty="0">
                <a:latin typeface="Arial MT"/>
                <a:cs typeface="Arial MT"/>
                <a:sym typeface="+mn-ea"/>
              </a:rPr>
              <a:t>Neurotoxin,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affects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blood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system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behavioural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disorders, </a:t>
            </a:r>
            <a:r>
              <a:rPr spc="-6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death</a:t>
            </a:r>
            <a:endParaRPr>
              <a:latin typeface="Arial MT"/>
              <a:cs typeface="Arial MT"/>
            </a:endParaRPr>
          </a:p>
          <a:p>
            <a:pPr marL="11430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-6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effect-</a:t>
            </a:r>
            <a:r>
              <a:rPr b="1" spc="-5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Cadmium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41300" indent="-229235">
              <a:lnSpc>
                <a:spcPct val="100000"/>
              </a:lnSpc>
              <a:spcBef>
                <a:spcPts val="89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600" b="1" spc="-5" dirty="0">
                <a:solidFill>
                  <a:schemeClr val="tx1">
                    <a:lumMod val="50000"/>
                  </a:schemeClr>
                </a:solidFill>
                <a:latin typeface="Arial" panose="020B0604020202020204"/>
                <a:cs typeface="Arial" panose="020B0604020202020204"/>
                <a:sym typeface="+mn-ea"/>
              </a:rPr>
              <a:t>Sources</a:t>
            </a:r>
            <a:r>
              <a:rPr sz="1600" spc="-5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:</a:t>
            </a:r>
            <a:r>
              <a:rPr sz="1600" spc="20" dirty="0">
                <a:solidFill>
                  <a:schemeClr val="tx1">
                    <a:lumMod val="50000"/>
                  </a:schemeClr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Coal,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zinc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mining,</a:t>
            </a:r>
            <a:r>
              <a:rPr sz="16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incineration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plastic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containers,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refining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z="1600"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metals,</a:t>
            </a:r>
            <a:r>
              <a:rPr lang="en-US"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tobacco</a:t>
            </a:r>
            <a:r>
              <a:rPr sz="1600" spc="-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smoke</a:t>
            </a:r>
            <a:endParaRPr sz="1600">
              <a:latin typeface="Arial MT"/>
              <a:cs typeface="Arial MT"/>
            </a:endParaRPr>
          </a:p>
          <a:p>
            <a:pPr marL="241300" marR="5080" indent="-229235">
              <a:lnSpc>
                <a:spcPct val="130000"/>
              </a:lnSpc>
              <a:spcBef>
                <a:spcPts val="100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5" dirty="0">
                <a:latin typeface="Arial MT"/>
                <a:cs typeface="Arial MT"/>
                <a:sym typeface="+mn-ea"/>
              </a:rPr>
              <a:t>Cadmium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is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a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potential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health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hazard</a:t>
            </a:r>
            <a:r>
              <a:rPr sz="1600" spc="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due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to</a:t>
            </a:r>
            <a:r>
              <a:rPr sz="1600" dirty="0">
                <a:latin typeface="Arial MT"/>
                <a:cs typeface="Arial MT"/>
                <a:sym typeface="+mn-ea"/>
              </a:rPr>
              <a:t> its </a:t>
            </a:r>
            <a:r>
              <a:rPr sz="1600" spc="-5" dirty="0">
                <a:latin typeface="Arial MT"/>
                <a:cs typeface="Arial MT"/>
                <a:sym typeface="+mn-ea"/>
              </a:rPr>
              <a:t>presence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dirty="0">
                <a:latin typeface="Arial MT"/>
                <a:cs typeface="Arial MT"/>
                <a:sym typeface="+mn-ea"/>
              </a:rPr>
              <a:t>in</a:t>
            </a:r>
            <a:r>
              <a:rPr sz="1600" spc="6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urban</a:t>
            </a:r>
            <a:r>
              <a:rPr sz="16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atmosphere</a:t>
            </a:r>
            <a:r>
              <a:rPr sz="1600"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 </a:t>
            </a:r>
            <a:r>
              <a:rPr sz="1600"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cigarettes smoke.</a:t>
            </a:r>
            <a:endParaRPr sz="1600">
              <a:latin typeface="Arial MT"/>
              <a:cs typeface="Arial MT"/>
            </a:endParaRPr>
          </a:p>
          <a:p>
            <a:pPr marL="241300" marR="550545" indent="-229235">
              <a:lnSpc>
                <a:spcPct val="130000"/>
              </a:lnSpc>
              <a:spcBef>
                <a:spcPts val="99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Cigarette</a:t>
            </a:r>
            <a:r>
              <a:rPr sz="1600"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smoking</a:t>
            </a:r>
            <a:r>
              <a:rPr sz="1600"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constitutes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a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major</a:t>
            </a:r>
            <a:r>
              <a:rPr sz="1600" spc="4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source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dirty="0">
                <a:latin typeface="Arial MT"/>
                <a:cs typeface="Arial MT"/>
                <a:sym typeface="+mn-ea"/>
              </a:rPr>
              <a:t>for</a:t>
            </a:r>
            <a:r>
              <a:rPr sz="1600" spc="5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cadmium</a:t>
            </a:r>
            <a:r>
              <a:rPr sz="1600"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accumulation</a:t>
            </a:r>
            <a:r>
              <a:rPr sz="1600"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in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the </a:t>
            </a:r>
            <a:r>
              <a:rPr sz="1600" spc="-600" dirty="0">
                <a:latin typeface="Arial MT"/>
                <a:cs typeface="Arial MT"/>
                <a:sym typeface="+mn-ea"/>
              </a:rPr>
              <a:t> </a:t>
            </a:r>
            <a:r>
              <a:rPr sz="1600" spc="-40" dirty="0">
                <a:latin typeface="Arial MT"/>
                <a:cs typeface="Arial MT"/>
                <a:sym typeface="+mn-ea"/>
              </a:rPr>
              <a:t>body.</a:t>
            </a:r>
            <a:endParaRPr sz="16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5" dirty="0">
                <a:latin typeface="Arial MT"/>
                <a:cs typeface="Arial MT"/>
                <a:sym typeface="+mn-ea"/>
              </a:rPr>
              <a:t>The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natural</a:t>
            </a:r>
            <a:r>
              <a:rPr sz="160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cadmium</a:t>
            </a:r>
            <a:r>
              <a:rPr sz="1600" spc="2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levels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in</a:t>
            </a:r>
            <a:r>
              <a:rPr sz="1600" spc="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air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vary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from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0.002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µg/m</a:t>
            </a:r>
            <a:r>
              <a:rPr sz="1600" spc="-10" baseline="30000" dirty="0">
                <a:solidFill>
                  <a:schemeClr val="bg2"/>
                </a:solidFill>
                <a:uFillTx/>
                <a:latin typeface="Arial MT"/>
                <a:cs typeface="Arial MT"/>
                <a:sym typeface="+mn-ea"/>
              </a:rPr>
              <a:t>3</a:t>
            </a:r>
            <a:r>
              <a:rPr sz="1600" spc="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to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much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higher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values</a:t>
            </a:r>
            <a:r>
              <a:rPr lang="en-US" sz="1600" spc="-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of about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0.3</a:t>
            </a:r>
            <a:r>
              <a:rPr sz="1600" spc="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µg/m</a:t>
            </a:r>
            <a:r>
              <a:rPr sz="1600" spc="-10" baseline="30000" dirty="0">
                <a:solidFill>
                  <a:schemeClr val="bg2"/>
                </a:solidFill>
                <a:uFillTx/>
                <a:latin typeface="Arial MT"/>
                <a:cs typeface="Arial MT"/>
                <a:sym typeface="+mn-ea"/>
              </a:rPr>
              <a:t>3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found</a:t>
            </a:r>
            <a:r>
              <a:rPr sz="1600" spc="2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near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zinc</a:t>
            </a:r>
            <a:r>
              <a:rPr sz="1600" spc="-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smelters.</a:t>
            </a:r>
            <a:endParaRPr sz="1600">
              <a:latin typeface="Arial MT"/>
              <a:cs typeface="Arial MT"/>
            </a:endParaRPr>
          </a:p>
          <a:p>
            <a:pPr marL="241300" marR="1250315" indent="-229235">
              <a:lnSpc>
                <a:spcPct val="130000"/>
              </a:lnSpc>
              <a:spcBef>
                <a:spcPts val="995"/>
              </a:spcBef>
              <a:buChar char="•"/>
              <a:tabLst>
                <a:tab pos="241300" algn="l"/>
                <a:tab pos="241935" algn="l"/>
              </a:tabLst>
            </a:pPr>
            <a:r>
              <a:rPr sz="1600" spc="-5" dirty="0">
                <a:latin typeface="Arial MT"/>
                <a:cs typeface="Arial MT"/>
                <a:sym typeface="+mn-ea"/>
              </a:rPr>
              <a:t>Cadmium</a:t>
            </a:r>
            <a:r>
              <a:rPr sz="1600" spc="3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inhibits</a:t>
            </a:r>
            <a:r>
              <a:rPr sz="16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the</a:t>
            </a:r>
            <a:r>
              <a:rPr sz="1600" spc="2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performance</a:t>
            </a:r>
            <a:r>
              <a:rPr sz="1600" spc="4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of</a:t>
            </a:r>
            <a:r>
              <a:rPr sz="1600" spc="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certain</a:t>
            </a:r>
            <a:r>
              <a:rPr sz="1600" spc="1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enzymes</a:t>
            </a:r>
            <a:r>
              <a:rPr sz="1600" spc="4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thereby</a:t>
            </a:r>
            <a:r>
              <a:rPr sz="1600" spc="1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producing </a:t>
            </a:r>
            <a:r>
              <a:rPr sz="1600" spc="-595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hypertension</a:t>
            </a:r>
            <a:r>
              <a:rPr sz="1600"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in</a:t>
            </a:r>
            <a:r>
              <a:rPr sz="1600" dirty="0">
                <a:latin typeface="Arial MT"/>
                <a:cs typeface="Arial MT"/>
                <a:sym typeface="+mn-ea"/>
              </a:rPr>
              <a:t> </a:t>
            </a:r>
            <a:r>
              <a:rPr sz="1600" spc="-5" dirty="0">
                <a:latin typeface="Arial MT"/>
                <a:cs typeface="Arial MT"/>
                <a:sym typeface="+mn-ea"/>
              </a:rPr>
              <a:t>humans.</a:t>
            </a:r>
            <a:endParaRPr sz="1600">
              <a:latin typeface="Arial MT"/>
              <a:cs typeface="Arial MT"/>
            </a:endParaRPr>
          </a:p>
          <a:p>
            <a:pPr marL="114300" indent="0">
              <a:buNone/>
            </a:pPr>
            <a:endParaRPr lang="en-US"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361950"/>
            <a:ext cx="8520430" cy="4206875"/>
          </a:xfrm>
        </p:spPr>
        <p:txBody>
          <a:bodyPr>
            <a:normAutofit fontScale="90000"/>
          </a:bodyPr>
          <a:lstStyle/>
          <a:p>
            <a:pPr marL="241300" marR="765175" indent="-228600">
              <a:lnSpc>
                <a:spcPct val="130000"/>
              </a:lnSpc>
              <a:spcBef>
                <a:spcPts val="100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Exposure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to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fumes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oxides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Cadmium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known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to</a:t>
            </a:r>
            <a:r>
              <a:rPr spc="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cause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cardiovascular </a:t>
            </a:r>
            <a:r>
              <a:rPr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diseases.</a:t>
            </a:r>
            <a:endParaRPr>
              <a:latin typeface="Arial MT"/>
              <a:cs typeface="Arial MT"/>
            </a:endParaRPr>
          </a:p>
          <a:p>
            <a:pPr marL="241300" marR="5080" indent="-228600">
              <a:lnSpc>
                <a:spcPct val="130000"/>
              </a:lnSpc>
              <a:spcBef>
                <a:spcPts val="995"/>
              </a:spcBef>
              <a:buFont typeface="Arial MT"/>
              <a:buChar char="•"/>
              <a:tabLst>
                <a:tab pos="318770" algn="l"/>
                <a:tab pos="319405" algn="l"/>
              </a:tabLst>
            </a:pPr>
            <a:r>
              <a:rPr dirty="0">
                <a:sym typeface="+mn-ea"/>
              </a:rPr>
              <a:t>	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addition,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cadmium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can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interfere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with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proper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zinc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copper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metabolism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60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body</a:t>
            </a:r>
            <a:endParaRPr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785"/>
              </a:spcBef>
              <a:buChar char="•"/>
              <a:tabLst>
                <a:tab pos="240665" algn="l"/>
                <a:tab pos="241300" algn="l"/>
              </a:tabLst>
            </a:pPr>
            <a:r>
              <a:rPr spc="-35" dirty="0">
                <a:latin typeface="Arial MT"/>
                <a:cs typeface="Arial MT"/>
                <a:sym typeface="+mn-ea"/>
              </a:rPr>
              <a:t>Very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little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known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about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fate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distribution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cadmium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environment.</a:t>
            </a:r>
            <a:endParaRPr>
              <a:latin typeface="Arial MT"/>
              <a:cs typeface="Arial MT"/>
            </a:endParaRPr>
          </a:p>
          <a:p>
            <a:pPr marL="241300" marR="408305" indent="-228600">
              <a:lnSpc>
                <a:spcPct val="130000"/>
              </a:lnSpc>
              <a:spcBef>
                <a:spcPts val="1005"/>
              </a:spcBef>
              <a:buFont typeface="Arial MT"/>
              <a:buChar char="•"/>
              <a:tabLst>
                <a:tab pos="318770" algn="l"/>
                <a:tab pos="319405" algn="l"/>
              </a:tabLst>
            </a:pPr>
            <a:r>
              <a:rPr dirty="0">
                <a:sym typeface="+mn-ea"/>
              </a:rPr>
              <a:t>	</a:t>
            </a:r>
            <a:r>
              <a:rPr spc="-5" dirty="0">
                <a:latin typeface="Arial MT"/>
                <a:cs typeface="Arial MT"/>
                <a:sym typeface="+mn-ea"/>
              </a:rPr>
              <a:t>It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has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very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long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biological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half-life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and,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therefore,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tends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accumulate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human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body.</a:t>
            </a:r>
            <a:endParaRPr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790"/>
              </a:spcBef>
              <a:buChar char="•"/>
              <a:tabLst>
                <a:tab pos="240665" algn="l"/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Some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chronic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effects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kidney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liver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damage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even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death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93345" indent="-228600">
              <a:lnSpc>
                <a:spcPct val="130000"/>
              </a:lnSpc>
              <a:spcBef>
                <a:spcPts val="9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dirty="0">
                <a:latin typeface="Arial MT"/>
                <a:cs typeface="Arial MT"/>
                <a:sym typeface="+mn-ea"/>
              </a:rPr>
              <a:t>:</a:t>
            </a:r>
            <a:r>
              <a:rPr spc="3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Cardiovascular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disease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hyper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tension,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interference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with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zinc </a:t>
            </a:r>
            <a:r>
              <a:rPr spc="-59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copper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metabolism,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kidney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damage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-5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effect-</a:t>
            </a:r>
            <a:r>
              <a:rPr b="1" spc="-4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Nickel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41300" marR="801370" indent="-228600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Sources</a:t>
            </a:r>
            <a:r>
              <a:rPr spc="-5" dirty="0">
                <a:latin typeface="Arial MT"/>
                <a:cs typeface="Arial MT"/>
                <a:sym typeface="+mn-ea"/>
              </a:rPr>
              <a:t>: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Combustion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coal, diesel and residual oils, tobacco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smoke, </a:t>
            </a:r>
            <a:r>
              <a:rPr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chemicals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catalysts,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steel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non-ferrous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alloys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manufacture</a:t>
            </a:r>
            <a:endParaRPr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 adverse </a:t>
            </a:r>
            <a:r>
              <a:rPr spc="-10" dirty="0">
                <a:latin typeface="Arial MT"/>
                <a:cs typeface="Arial MT"/>
                <a:sym typeface="+mn-ea"/>
              </a:rPr>
              <a:t>effects </a:t>
            </a:r>
            <a:r>
              <a:rPr dirty="0"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latin typeface="Arial MT"/>
                <a:cs typeface="Arial MT"/>
                <a:sym typeface="+mn-ea"/>
              </a:rPr>
              <a:t>nickel </a:t>
            </a:r>
            <a:r>
              <a:rPr dirty="0">
                <a:latin typeface="Arial MT"/>
                <a:cs typeface="Arial MT"/>
                <a:sym typeface="+mn-ea"/>
              </a:rPr>
              <a:t>are </a:t>
            </a:r>
            <a:r>
              <a:rPr spc="-5" dirty="0">
                <a:latin typeface="Arial MT"/>
                <a:cs typeface="Arial MT"/>
                <a:sym typeface="+mn-ea"/>
              </a:rPr>
              <a:t>caused mainly due </a:t>
            </a:r>
            <a:r>
              <a:rPr dirty="0">
                <a:latin typeface="Arial MT"/>
                <a:cs typeface="Arial MT"/>
                <a:sym typeface="+mn-ea"/>
              </a:rPr>
              <a:t>to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nickel carbonyl </a:t>
            </a:r>
            <a:r>
              <a:rPr spc="-5" dirty="0">
                <a:latin typeface="Arial MT"/>
                <a:cs typeface="Arial MT"/>
                <a:sym typeface="+mn-ea"/>
              </a:rPr>
              <a:t>which </a:t>
            </a:r>
            <a:r>
              <a:rPr spc="-6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 formed when finely divided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nickel </a:t>
            </a:r>
            <a:r>
              <a:rPr spc="-5" dirty="0">
                <a:latin typeface="Arial MT"/>
                <a:cs typeface="Arial MT"/>
                <a:sym typeface="+mn-ea"/>
              </a:rPr>
              <a:t>is emitted into an atmosphere containing </a:t>
            </a:r>
            <a:r>
              <a:rPr spc="-6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carbon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monoxide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Nickel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carbonyl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also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formed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tobacco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smoke.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915" y="441205"/>
            <a:ext cx="8520600" cy="3339000"/>
          </a:xfrm>
        </p:spPr>
        <p:txBody>
          <a:bodyPr>
            <a:normAutofit/>
          </a:bodyPr>
          <a:lstStyle/>
          <a:p>
            <a:pPr marL="241300" indent="-228600">
              <a:lnSpc>
                <a:spcPct val="100000"/>
              </a:lnSpc>
              <a:spcBef>
                <a:spcPts val="1545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Within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lung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carbonyl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complex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breaks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down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deposits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finely</a:t>
            </a:r>
            <a:endParaRPr>
              <a:latin typeface="Arial MT"/>
              <a:cs typeface="Arial MT"/>
            </a:endParaRPr>
          </a:p>
          <a:p>
            <a:pPr marL="0" indent="0">
              <a:lnSpc>
                <a:spcPct val="100000"/>
              </a:lnSpc>
              <a:spcBef>
                <a:spcPts val="1445"/>
              </a:spcBef>
              <a:buNone/>
            </a:pPr>
            <a:r>
              <a:rPr spc="-5" dirty="0">
                <a:latin typeface="Arial MT"/>
                <a:cs typeface="Arial MT"/>
                <a:sym typeface="+mn-ea"/>
              </a:rPr>
              <a:t>divided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nickel,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which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may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be</a:t>
            </a:r>
            <a:r>
              <a:rPr dirty="0">
                <a:latin typeface="Arial MT"/>
                <a:cs typeface="Arial MT"/>
                <a:sym typeface="+mn-ea"/>
              </a:rPr>
              <a:t> the</a:t>
            </a:r>
            <a:r>
              <a:rPr spc="-5" dirty="0">
                <a:latin typeface="Arial MT"/>
                <a:cs typeface="Arial MT"/>
                <a:sym typeface="+mn-ea"/>
              </a:rPr>
              <a:t> main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cause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cancer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lungs.</a:t>
            </a:r>
            <a:endParaRPr>
              <a:latin typeface="Arial MT"/>
              <a:cs typeface="Arial MT"/>
            </a:endParaRPr>
          </a:p>
          <a:p>
            <a:pPr marL="241300" marR="368935" indent="-228600">
              <a:lnSpc>
                <a:spcPct val="15000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Nickel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carbonyl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cause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changes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alveoli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lungs,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resulting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 </a:t>
            </a:r>
            <a:r>
              <a:rPr spc="-6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respiratory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damage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symptoms.</a:t>
            </a:r>
            <a:endParaRPr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dirty="0">
                <a:latin typeface="Arial MT"/>
                <a:cs typeface="Arial MT"/>
                <a:sym typeface="+mn-ea"/>
              </a:rPr>
              <a:t>: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Respiratory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symptoms, lung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cancer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(as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nickel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carbonyl)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57600"/>
            <a:ext cx="8520600" cy="6078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-6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effect-</a:t>
            </a:r>
            <a:r>
              <a:rPr b="1" spc="-5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Mercury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909955"/>
            <a:ext cx="8520430" cy="3663950"/>
          </a:xfrm>
        </p:spPr>
        <p:txBody>
          <a:bodyPr>
            <a:normAutofit fontScale="97500" lnSpcReduction="10000"/>
          </a:bodyPr>
          <a:lstStyle/>
          <a:p>
            <a:pPr marL="241300" marR="212725" indent="-229235">
              <a:lnSpc>
                <a:spcPct val="15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Sources: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Combustion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fossil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fuels,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evaporation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from</a:t>
            </a:r>
            <a:r>
              <a:rPr spc="-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ore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mining,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exhausts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from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metal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Smelters,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chloralkali</a:t>
            </a:r>
            <a:r>
              <a:rPr spc="6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cells,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paints,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pharmaceuticals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669290" indent="-229235">
              <a:lnSpc>
                <a:spcPct val="150000"/>
              </a:lnSpc>
              <a:spcBef>
                <a:spcPts val="995"/>
              </a:spcBef>
              <a:buChar char="•"/>
              <a:tabLst>
                <a:tab pos="241935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Mercury </a:t>
            </a:r>
            <a:r>
              <a:rPr spc="-10" dirty="0">
                <a:latin typeface="Arial MT"/>
                <a:cs typeface="Arial MT"/>
                <a:sym typeface="+mn-ea"/>
              </a:rPr>
              <a:t>is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present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gaseous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form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atmosphere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because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its </a:t>
            </a:r>
            <a:r>
              <a:rPr spc="-6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relatively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high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vapour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pressure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40640" indent="-229235">
              <a:lnSpc>
                <a:spcPct val="150000"/>
              </a:lnSpc>
              <a:spcBef>
                <a:spcPts val="1010"/>
              </a:spcBef>
              <a:buChar char="•"/>
              <a:tabLst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gaseous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mercury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washed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from 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air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rain</a:t>
            </a:r>
            <a:r>
              <a:rPr spc="-5" dirty="0">
                <a:latin typeface="Arial MT"/>
                <a:cs typeface="Arial MT"/>
                <a:sym typeface="+mn-ea"/>
              </a:rPr>
              <a:t>;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portion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latin typeface="Arial MT"/>
                <a:cs typeface="Arial MT"/>
                <a:sym typeface="+mn-ea"/>
              </a:rPr>
              <a:t>it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enters </a:t>
            </a:r>
            <a:r>
              <a:rPr spc="-65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aquatic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systems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5" dirty="0">
                <a:latin typeface="Arial MT"/>
                <a:cs typeface="Arial MT"/>
                <a:sym typeface="+mn-ea"/>
              </a:rPr>
              <a:t>remaining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bound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to 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soil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over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the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land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5080" indent="-229235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325120" algn="l"/>
                <a:tab pos="325755" algn="l"/>
              </a:tabLst>
            </a:pPr>
            <a:r>
              <a:rPr dirty="0">
                <a:sym typeface="+mn-ea"/>
              </a:rPr>
              <a:t>	</a:t>
            </a:r>
            <a:r>
              <a:rPr dirty="0"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both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cases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inorganic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mercury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generally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converted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into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its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methyl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or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dimethyl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compounds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by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action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bacteria.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340995"/>
            <a:ext cx="8520430" cy="4227830"/>
          </a:xfrm>
        </p:spPr>
        <p:txBody>
          <a:bodyPr>
            <a:normAutofit/>
          </a:bodyPr>
          <a:lstStyle/>
          <a:p>
            <a:pPr marL="241300" marR="548640" indent="-229235">
              <a:lnSpc>
                <a:spcPct val="140000"/>
              </a:lnSpc>
              <a:spcBef>
                <a:spcPts val="100"/>
              </a:spcBef>
              <a:buChar char="•"/>
              <a:tabLst>
                <a:tab pos="241300" algn="l"/>
                <a:tab pos="241935" algn="l"/>
              </a:tabLst>
            </a:pPr>
            <a:r>
              <a:rPr lang="en-US" spc="-5" dirty="0">
                <a:latin typeface="Arial MT"/>
                <a:cs typeface="Arial MT"/>
                <a:sym typeface="+mn-ea"/>
              </a:rPr>
              <a:t>T</a:t>
            </a:r>
            <a:r>
              <a:rPr spc="-5" dirty="0">
                <a:latin typeface="Arial MT"/>
                <a:cs typeface="Arial MT"/>
                <a:sym typeface="+mn-ea"/>
              </a:rPr>
              <a:t>he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physiological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effects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mercury</a:t>
            </a:r>
            <a:r>
              <a:rPr spc="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poisoning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include</a:t>
            </a:r>
            <a:r>
              <a:rPr spc="6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neurological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damage, </a:t>
            </a:r>
            <a:r>
              <a:rPr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chromosomal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aberrations,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even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death.</a:t>
            </a:r>
            <a:endParaRPr>
              <a:latin typeface="Arial MT"/>
              <a:cs typeface="Arial MT"/>
            </a:endParaRPr>
          </a:p>
          <a:p>
            <a:pPr marL="241300" marR="246380" indent="-229235">
              <a:lnSpc>
                <a:spcPct val="140000"/>
              </a:lnSpc>
              <a:spcBef>
                <a:spcPts val="995"/>
              </a:spcBef>
              <a:buChar char="•"/>
              <a:tabLst>
                <a:tab pos="241300" algn="l"/>
                <a:tab pos="24193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Methylmercury</a:t>
            </a:r>
            <a:r>
              <a:rPr spc="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penetrate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membranes</a:t>
            </a:r>
            <a:r>
              <a:rPr spc="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separating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bloodstream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from </a:t>
            </a:r>
            <a:r>
              <a:rPr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brain,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causing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injury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 cerebellum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cortex.</a:t>
            </a:r>
            <a:endParaRPr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2065"/>
              </a:spcBef>
              <a:buChar char="•"/>
              <a:tabLst>
                <a:tab pos="241300" algn="l"/>
                <a:tab pos="241935" algn="l"/>
              </a:tabLst>
            </a:pPr>
            <a:r>
              <a:rPr spc="-10" dirty="0">
                <a:latin typeface="Arial MT"/>
                <a:cs typeface="Arial MT"/>
                <a:sym typeface="+mn-ea"/>
              </a:rPr>
              <a:t>Effects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blurring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vision and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numbness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5080" indent="-229235">
              <a:lnSpc>
                <a:spcPct val="140000"/>
              </a:lnSpc>
              <a:spcBef>
                <a:spcPts val="1000"/>
              </a:spcBef>
              <a:buChar char="•"/>
              <a:tabLst>
                <a:tab pos="241300" algn="l"/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Another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insidious </a:t>
            </a:r>
            <a:r>
              <a:rPr spc="-10" dirty="0">
                <a:latin typeface="Arial MT"/>
                <a:cs typeface="Arial MT"/>
                <a:sym typeface="+mn-ea"/>
              </a:rPr>
              <a:t>effect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methylmercury</a:t>
            </a:r>
            <a:r>
              <a:rPr spc="6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that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it</a:t>
            </a:r>
            <a:r>
              <a:rPr spc="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cross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placental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barrier </a:t>
            </a:r>
            <a:r>
              <a:rPr spc="-59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 pregnant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woman.</a:t>
            </a:r>
            <a:endParaRPr>
              <a:latin typeface="Arial MT"/>
              <a:cs typeface="Arial MT"/>
            </a:endParaRPr>
          </a:p>
          <a:p>
            <a:pPr marL="241300" marR="185420" indent="-229235">
              <a:lnSpc>
                <a:spcPct val="140000"/>
              </a:lnSpc>
              <a:spcBef>
                <a:spcPts val="995"/>
              </a:spcBef>
              <a:buChar char="•"/>
              <a:tabLst>
                <a:tab pos="241300" algn="l"/>
                <a:tab pos="241935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High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levels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mercury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can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build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up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5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fetus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without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mother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showing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any </a:t>
            </a:r>
            <a:r>
              <a:rPr spc="-59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illness.</a:t>
            </a:r>
            <a:r>
              <a:rPr spc="-6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effects</a:t>
            </a:r>
            <a:r>
              <a:rPr spc="-5" dirty="0">
                <a:latin typeface="Arial MT"/>
                <a:cs typeface="Arial MT"/>
                <a:sym typeface="+mn-ea"/>
              </a:rPr>
              <a:t> are</a:t>
            </a:r>
            <a:r>
              <a:rPr spc="4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congenital birth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defects or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death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fetus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Health</a:t>
            </a:r>
            <a:r>
              <a:rPr b="1" spc="-5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effect-</a:t>
            </a:r>
            <a:r>
              <a:rPr b="1" spc="-4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Gaseous</a:t>
            </a:r>
            <a:r>
              <a:rPr b="1" spc="-5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Pollutants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092835"/>
            <a:ext cx="8520430" cy="3475990"/>
          </a:xfrm>
        </p:spPr>
        <p:txBody>
          <a:bodyPr/>
          <a:lstStyle/>
          <a:p>
            <a:pPr marL="114300" indent="0">
              <a:buNone/>
            </a:pPr>
            <a:r>
              <a:rPr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Sulphur</a:t>
            </a:r>
            <a:r>
              <a:rPr b="1" spc="-8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dioxide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Irritant gas which affect mucous membranes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/>
              <a:t> oxides to 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3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Both the above gases form sulphuric acid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  <a:sym typeface="+mn-ea"/>
              </a:rPr>
              <a:t>3</a:t>
            </a:r>
            <a:r>
              <a:rPr lang="en-US" altLang="en-US"/>
              <a:t>-</a:t>
            </a:r>
            <a:r>
              <a:rPr lang="en-US" altLang="en-US">
                <a:solidFill>
                  <a:srgbClr val="FF0000"/>
                </a:solidFill>
              </a:rPr>
              <a:t>strong irritant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Causes bronchospasm</a:t>
            </a:r>
            <a:r>
              <a:rPr lang="en-US" altLang="en-US"/>
              <a:t> (Bronchospasm or a bronchial spasm is a sudden constriction of the muscles in the walls of the bronchioles.)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427355"/>
            <a:ext cx="8520430" cy="4141470"/>
          </a:xfrm>
        </p:spPr>
        <p:txBody>
          <a:bodyPr/>
          <a:lstStyle/>
          <a:p>
            <a:pPr marL="114300" indent="0">
              <a:buNone/>
            </a:pPr>
            <a:r>
              <a:rPr sz="2000" b="1" spc="-5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Carbon</a:t>
            </a:r>
            <a:r>
              <a:rPr sz="2000" b="1" spc="-70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monoxide</a:t>
            </a:r>
          </a:p>
          <a:p>
            <a:pPr marL="114300" indent="0">
              <a:buNone/>
            </a:pPr>
            <a:endParaRPr b="1" dirty="0">
              <a:solidFill>
                <a:srgbClr val="006FC0"/>
              </a:solidFill>
              <a:latin typeface="Arial" panose="020B0604020202020204"/>
              <a:cs typeface="Arial" panose="020B0604020202020204"/>
              <a:sym typeface="+mn-ea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Is having strong affinity for combining with haemoglobin to form </a:t>
            </a:r>
            <a:r>
              <a:rPr lang="en-US" altLang="en-US">
                <a:solidFill>
                  <a:srgbClr val="FF0000"/>
                </a:solidFill>
              </a:rPr>
              <a:t>Carboxyhaemoglobin</a:t>
            </a:r>
            <a:r>
              <a:rPr lang="en-US" altLang="en-US"/>
              <a:t> and this reduces the ability of haemoglobin to carry blood to the various organs of the body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CO has about 200 times affinity than oxygen to combine with haemoglobin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Affects the central nervous system</a:t>
            </a:r>
            <a:endParaRPr lang="en-US" altLang="en-US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Responsible for </a:t>
            </a:r>
            <a:r>
              <a:rPr lang="en-US" altLang="en-US">
                <a:solidFill>
                  <a:srgbClr val="FF0000"/>
                </a:solidFill>
              </a:rPr>
              <a:t>heart attack and high mortality rate</a:t>
            </a:r>
            <a:endParaRPr lang="en-US" altLang="en-US"/>
          </a:p>
          <a:p>
            <a:pPr algn="just">
              <a:lnSpc>
                <a:spcPct val="150000"/>
              </a:lnSpc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203835"/>
            <a:ext cx="8520430" cy="4588510"/>
          </a:xfrm>
        </p:spPr>
        <p:txBody>
          <a:bodyPr>
            <a:normAutofit fontScale="87500" lnSpcReduction="20000"/>
          </a:bodyPr>
          <a:lstStyle/>
          <a:p>
            <a:pPr marL="114300" indent="0">
              <a:buFont typeface="Arial" panose="020B0604020202020204" pitchFamily="34" charset="0"/>
              <a:buNone/>
            </a:pPr>
            <a:r>
              <a:rPr lang="en-US" sz="2900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  <a:sym typeface="+mn-ea"/>
              </a:rPr>
              <a:t>Oxides of Nitrogen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/>
              <a:t>The major oxides of nitrogen which affect human health are nitric oxide (NO) 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 sz="2300"/>
              <a:t>       and nitrogen dioxide (NO</a:t>
            </a:r>
            <a:r>
              <a:rPr lang="en-US" altLang="en-US" sz="2300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 sz="230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/>
              <a:t>NO is not an irritant and at concentrations that occur in the atmosphere, it does not show any adverse health effects.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/>
              <a:t>NO</a:t>
            </a:r>
            <a:r>
              <a:rPr lang="en-US" altLang="en-US" sz="2300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 sz="2300"/>
              <a:t> is relatively insoluble and upon inhalation can reach the moisture-filled alveoli of the lungs.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/>
              <a:t>There it is converted to nitrous and nitric acids which are highly irritating and cause </a:t>
            </a:r>
            <a:r>
              <a:rPr lang="en-US" altLang="en-US" sz="2300">
                <a:solidFill>
                  <a:srgbClr val="FF0000"/>
                </a:solidFill>
              </a:rPr>
              <a:t>damage to lung tissues</a:t>
            </a:r>
            <a:r>
              <a:rPr lang="en-US" altLang="en-US" sz="230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694570"/>
            <a:ext cx="8520600" cy="33390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Long term exposure to NO concentrations of the order of 1ppm leads to 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emphysema and biochemical alterations  in the blood.</a:t>
            </a:r>
            <a:endParaRPr lang="en-US" altLang="en-US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Nitrite combine with haemoglobin to form 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methamoglobin </a:t>
            </a:r>
            <a:r>
              <a:rPr lang="en-US" altLang="en-US">
                <a:sym typeface="+mn-ea"/>
              </a:rPr>
              <a:t>to reduce oxygen carrying capapcity of the blood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52215"/>
            <a:ext cx="8520600" cy="607800"/>
          </a:xfrm>
        </p:spPr>
        <p:txBody>
          <a:bodyPr>
            <a:normAutofit fontScale="90000"/>
          </a:bodyPr>
          <a:lstStyle/>
          <a:p>
            <a:r>
              <a:rPr b="1" spc="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  <a:sym typeface="+mn-ea"/>
              </a:rPr>
              <a:t>Photochemical</a:t>
            </a:r>
            <a:r>
              <a:rPr b="1" spc="-50" dirty="0">
                <a:solidFill>
                  <a:srgbClr val="0070C0"/>
                </a:solidFill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  <a:sym typeface="+mn-ea"/>
              </a:rPr>
              <a:t>Oxidants</a:t>
            </a:r>
            <a:endParaRPr lang="en-US" b="1" dirty="0">
              <a:solidFill>
                <a:srgbClr val="0070C0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017905"/>
            <a:ext cx="8129905" cy="3584575"/>
          </a:xfrm>
        </p:spPr>
        <p:txBody>
          <a:bodyPr>
            <a:normAutofit fontScale="90000"/>
          </a:bodyPr>
          <a:lstStyle/>
          <a:p>
            <a:pPr marL="349250" indent="-2286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49250" algn="l"/>
              </a:tabLst>
            </a:pPr>
            <a:r>
              <a:rPr dirty="0">
                <a:sym typeface="+mn-ea"/>
              </a:rPr>
              <a:t>The major</a:t>
            </a:r>
            <a:r>
              <a:rPr spc="15" dirty="0">
                <a:sym typeface="+mn-ea"/>
              </a:rPr>
              <a:t> </a:t>
            </a:r>
            <a:r>
              <a:rPr spc="-10" dirty="0">
                <a:sym typeface="+mn-ea"/>
              </a:rPr>
              <a:t>oxidant</a:t>
            </a:r>
            <a:r>
              <a:rPr spc="35" dirty="0">
                <a:sym typeface="+mn-ea"/>
              </a:rPr>
              <a:t> </a:t>
            </a:r>
            <a:r>
              <a:rPr spc="-5" dirty="0">
                <a:sym typeface="+mn-ea"/>
              </a:rPr>
              <a:t>produced</a:t>
            </a:r>
            <a:r>
              <a:rPr spc="25" dirty="0">
                <a:sym typeface="+mn-ea"/>
              </a:rPr>
              <a:t> </a:t>
            </a:r>
            <a:r>
              <a:rPr spc="-5" dirty="0">
                <a:sym typeface="+mn-ea"/>
              </a:rPr>
              <a:t>in</a:t>
            </a:r>
            <a:r>
              <a:rPr dirty="0">
                <a:sym typeface="+mn-ea"/>
              </a:rPr>
              <a:t> </a:t>
            </a:r>
            <a:r>
              <a:rPr spc="-5" dirty="0">
                <a:sym typeface="+mn-ea"/>
              </a:rPr>
              <a:t>photochemical</a:t>
            </a:r>
            <a:r>
              <a:rPr spc="40" dirty="0">
                <a:sym typeface="+mn-ea"/>
              </a:rPr>
              <a:t> </a:t>
            </a:r>
            <a:r>
              <a:rPr spc="-5" dirty="0">
                <a:sym typeface="+mn-ea"/>
              </a:rPr>
              <a:t>smog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is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ozone.</a:t>
            </a:r>
            <a:endParaRPr spc="-5" dirty="0"/>
          </a:p>
          <a:p>
            <a:pPr marL="349250" marR="767080" indent="-228600" algn="just">
              <a:lnSpc>
                <a:spcPct val="150000"/>
              </a:lnSpc>
              <a:spcBef>
                <a:spcPts val="995"/>
              </a:spcBef>
              <a:buChar char="•"/>
              <a:tabLst>
                <a:tab pos="349250" algn="l"/>
              </a:tabLst>
            </a:pPr>
            <a:r>
              <a:rPr spc="-5" dirty="0">
                <a:sym typeface="+mn-ea"/>
              </a:rPr>
              <a:t>There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is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a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definite</a:t>
            </a:r>
            <a:r>
              <a:rPr spc="25" dirty="0"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increase</a:t>
            </a:r>
            <a:r>
              <a:rPr spc="20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in</a:t>
            </a:r>
            <a:r>
              <a:rPr spc="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airway</a:t>
            </a:r>
            <a:r>
              <a:rPr spc="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resistance</a:t>
            </a:r>
            <a:r>
              <a:rPr spc="20" dirty="0">
                <a:sym typeface="+mn-ea"/>
              </a:rPr>
              <a:t> </a:t>
            </a:r>
            <a:r>
              <a:rPr spc="-5" dirty="0">
                <a:sym typeface="+mn-ea"/>
              </a:rPr>
              <a:t>in</a:t>
            </a:r>
            <a:r>
              <a:rPr dirty="0">
                <a:sym typeface="+mn-ea"/>
              </a:rPr>
              <a:t> </a:t>
            </a:r>
            <a:r>
              <a:rPr spc="-5" dirty="0">
                <a:sym typeface="+mn-ea"/>
              </a:rPr>
              <a:t>some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people</a:t>
            </a:r>
            <a:r>
              <a:rPr spc="30" dirty="0">
                <a:sym typeface="+mn-ea"/>
              </a:rPr>
              <a:t> </a:t>
            </a:r>
            <a:r>
              <a:rPr spc="-5" dirty="0">
                <a:sym typeface="+mn-ea"/>
              </a:rPr>
              <a:t>exposed</a:t>
            </a:r>
            <a:r>
              <a:rPr spc="45" dirty="0">
                <a:sym typeface="+mn-ea"/>
              </a:rPr>
              <a:t> </a:t>
            </a:r>
            <a:r>
              <a:rPr dirty="0">
                <a:sym typeface="+mn-ea"/>
              </a:rPr>
              <a:t>to </a:t>
            </a:r>
            <a:r>
              <a:rPr spc="-655" dirty="0">
                <a:sym typeface="+mn-ea"/>
              </a:rPr>
              <a:t> </a:t>
            </a:r>
            <a:r>
              <a:rPr spc="-5" dirty="0">
                <a:sym typeface="+mn-ea"/>
              </a:rPr>
              <a:t>concentrations</a:t>
            </a:r>
            <a:r>
              <a:rPr spc="5" dirty="0">
                <a:sym typeface="+mn-ea"/>
              </a:rPr>
              <a:t> </a:t>
            </a:r>
            <a:r>
              <a:rPr dirty="0">
                <a:sym typeface="+mn-ea"/>
              </a:rPr>
              <a:t>as </a:t>
            </a:r>
            <a:r>
              <a:rPr spc="-5" dirty="0">
                <a:sym typeface="+mn-ea"/>
              </a:rPr>
              <a:t>low</a:t>
            </a:r>
            <a:r>
              <a:rPr spc="5" dirty="0">
                <a:sym typeface="+mn-ea"/>
              </a:rPr>
              <a:t> </a:t>
            </a:r>
            <a:r>
              <a:rPr dirty="0">
                <a:sym typeface="+mn-ea"/>
              </a:rPr>
              <a:t>as 0.1</a:t>
            </a:r>
            <a:r>
              <a:rPr spc="-15" dirty="0">
                <a:sym typeface="+mn-ea"/>
              </a:rPr>
              <a:t> </a:t>
            </a:r>
            <a:r>
              <a:rPr spc="-5" dirty="0">
                <a:sym typeface="+mn-ea"/>
              </a:rPr>
              <a:t>ppm.</a:t>
            </a:r>
            <a:endParaRPr spc="-5" dirty="0"/>
          </a:p>
          <a:p>
            <a:pPr marL="349250" marR="1461135" indent="-228600" algn="just">
              <a:lnSpc>
                <a:spcPct val="150000"/>
              </a:lnSpc>
              <a:spcBef>
                <a:spcPts val="1010"/>
              </a:spcBef>
              <a:buChar char="•"/>
              <a:tabLst>
                <a:tab pos="349250" algn="l"/>
              </a:tabLst>
            </a:pPr>
            <a:r>
              <a:rPr spc="-5" dirty="0">
                <a:sym typeface="+mn-ea"/>
              </a:rPr>
              <a:t>Many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other</a:t>
            </a:r>
            <a:r>
              <a:rPr spc="10" dirty="0">
                <a:sym typeface="+mn-ea"/>
              </a:rPr>
              <a:t> </a:t>
            </a:r>
            <a:r>
              <a:rPr spc="-5" dirty="0">
                <a:sym typeface="+mn-ea"/>
              </a:rPr>
              <a:t>oxidants</a:t>
            </a:r>
            <a:r>
              <a:rPr spc="35" dirty="0">
                <a:sym typeface="+mn-ea"/>
              </a:rPr>
              <a:t> </a:t>
            </a:r>
            <a:r>
              <a:rPr spc="-5" dirty="0">
                <a:sym typeface="+mn-ea"/>
              </a:rPr>
              <a:t>produced</a:t>
            </a:r>
            <a:r>
              <a:rPr spc="30" dirty="0">
                <a:sym typeface="+mn-ea"/>
              </a:rPr>
              <a:t> </a:t>
            </a:r>
            <a:r>
              <a:rPr spc="-5" dirty="0">
                <a:sym typeface="+mn-ea"/>
              </a:rPr>
              <a:t>in</a:t>
            </a:r>
            <a:r>
              <a:rPr dirty="0">
                <a:sym typeface="+mn-ea"/>
              </a:rPr>
              <a:t> </a:t>
            </a:r>
            <a:r>
              <a:rPr spc="-5" dirty="0">
                <a:sym typeface="+mn-ea"/>
              </a:rPr>
              <a:t>photochemical</a:t>
            </a:r>
            <a:r>
              <a:rPr spc="40" dirty="0">
                <a:sym typeface="+mn-ea"/>
              </a:rPr>
              <a:t> </a:t>
            </a:r>
            <a:r>
              <a:rPr dirty="0">
                <a:sym typeface="+mn-ea"/>
              </a:rPr>
              <a:t>smog,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particularly</a:t>
            </a:r>
            <a:r>
              <a:rPr spc="30" dirty="0">
                <a:sym typeface="+mn-ea"/>
              </a:rPr>
              <a:t> </a:t>
            </a:r>
            <a:r>
              <a:rPr dirty="0">
                <a:sym typeface="+mn-ea"/>
              </a:rPr>
              <a:t>the </a:t>
            </a:r>
            <a:r>
              <a:rPr spc="-650" dirty="0">
                <a:sym typeface="+mn-ea"/>
              </a:rPr>
              <a:t> </a:t>
            </a:r>
            <a:r>
              <a:rPr spc="-5" dirty="0">
                <a:sym typeface="+mn-ea"/>
              </a:rPr>
              <a:t>peroxyacyl</a:t>
            </a:r>
            <a:r>
              <a:rPr spc="20" dirty="0">
                <a:sym typeface="+mn-ea"/>
              </a:rPr>
              <a:t> </a:t>
            </a:r>
            <a:r>
              <a:rPr spc="-5" dirty="0">
                <a:sym typeface="+mn-ea"/>
              </a:rPr>
              <a:t>nitrates,</a:t>
            </a:r>
            <a:r>
              <a:rPr dirty="0">
                <a:sym typeface="+mn-ea"/>
              </a:rPr>
              <a:t> </a:t>
            </a:r>
            <a:r>
              <a:rPr spc="-5" dirty="0">
                <a:sym typeface="+mn-ea"/>
              </a:rPr>
              <a:t>causes</a:t>
            </a:r>
            <a:r>
              <a:rPr spc="10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eye</a:t>
            </a:r>
            <a:r>
              <a:rPr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irritations</a:t>
            </a:r>
            <a:r>
              <a:rPr spc="-5" dirty="0">
                <a:sym typeface="+mn-ea"/>
              </a:rPr>
              <a:t>.</a:t>
            </a:r>
            <a:endParaRPr spc="-5" dirty="0"/>
          </a:p>
          <a:p>
            <a:pPr marL="349250" marR="5080" indent="-228600" algn="just">
              <a:lnSpc>
                <a:spcPct val="150000"/>
              </a:lnSpc>
              <a:spcBef>
                <a:spcPts val="1000"/>
              </a:spcBef>
              <a:buChar char="•"/>
              <a:tabLst>
                <a:tab pos="349250" algn="l"/>
              </a:tabLst>
            </a:pPr>
            <a:r>
              <a:rPr spc="-5" dirty="0">
                <a:sym typeface="+mn-ea"/>
              </a:rPr>
              <a:t>Oxidants</a:t>
            </a:r>
            <a:r>
              <a:rPr spc="25" dirty="0">
                <a:sym typeface="+mn-ea"/>
              </a:rPr>
              <a:t> </a:t>
            </a:r>
            <a:r>
              <a:rPr spc="-5" dirty="0">
                <a:sym typeface="+mn-ea"/>
              </a:rPr>
              <a:t>such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as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peroxyacetyl</a:t>
            </a:r>
            <a:r>
              <a:rPr spc="35" dirty="0">
                <a:sym typeface="+mn-ea"/>
              </a:rPr>
              <a:t> </a:t>
            </a:r>
            <a:r>
              <a:rPr spc="-5" dirty="0">
                <a:sym typeface="+mn-ea"/>
              </a:rPr>
              <a:t>nitrate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and</a:t>
            </a:r>
            <a:r>
              <a:rPr spc="35" dirty="0">
                <a:sym typeface="+mn-ea"/>
              </a:rPr>
              <a:t> </a:t>
            </a:r>
            <a:r>
              <a:rPr spc="-5" dirty="0">
                <a:sym typeface="+mn-ea"/>
              </a:rPr>
              <a:t>peroxybenzoyl</a:t>
            </a:r>
            <a:r>
              <a:rPr spc="65" dirty="0">
                <a:sym typeface="+mn-ea"/>
              </a:rPr>
              <a:t> </a:t>
            </a:r>
            <a:r>
              <a:rPr spc="-5" dirty="0">
                <a:sym typeface="+mn-ea"/>
              </a:rPr>
              <a:t>nitrate</a:t>
            </a:r>
            <a:r>
              <a:rPr spc="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irritate</a:t>
            </a:r>
            <a:r>
              <a:rPr spc="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nose</a:t>
            </a:r>
            <a:r>
              <a:rPr spc="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and </a:t>
            </a:r>
            <a:r>
              <a:rPr spc="-655" dirty="0">
                <a:solidFill>
                  <a:srgbClr val="FF0000"/>
                </a:solidFill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sym typeface="+mn-ea"/>
              </a:rPr>
              <a:t>throat,</a:t>
            </a:r>
            <a:r>
              <a:rPr spc="-1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and cause</a:t>
            </a:r>
            <a:r>
              <a:rPr spc="10" dirty="0">
                <a:solidFill>
                  <a:srgbClr val="FF0000"/>
                </a:solidFill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sym typeface="+mn-ea"/>
              </a:rPr>
              <a:t>chest</a:t>
            </a:r>
            <a:r>
              <a:rPr spc="5" dirty="0">
                <a:solidFill>
                  <a:srgbClr val="FF0000"/>
                </a:solidFill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sym typeface="+mn-ea"/>
              </a:rPr>
              <a:t>constriction</a:t>
            </a:r>
            <a:r>
              <a:rPr spc="-5" dirty="0">
                <a:sym typeface="+mn-ea"/>
              </a:rPr>
              <a:t>.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'The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one</a:t>
            </a:r>
            <a:r>
              <a:rPr spc="-10" dirty="0">
                <a:sym typeface="+mn-ea"/>
              </a:rPr>
              <a:t> </a:t>
            </a:r>
            <a:r>
              <a:rPr spc="-5" dirty="0">
                <a:sym typeface="+mn-ea"/>
              </a:rPr>
              <a:t>with</a:t>
            </a:r>
            <a:r>
              <a:rPr spc="15" dirty="0">
                <a:sym typeface="+mn-ea"/>
              </a:rPr>
              <a:t> </a:t>
            </a:r>
            <a:r>
              <a:rPr dirty="0">
                <a:sym typeface="+mn-ea"/>
              </a:rPr>
              <a:t>the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lowest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threshold</a:t>
            </a:r>
            <a:r>
              <a:rPr spc="15" dirty="0">
                <a:sym typeface="+mn-ea"/>
              </a:rPr>
              <a:t> </a:t>
            </a:r>
            <a:r>
              <a:rPr spc="-5" dirty="0">
                <a:sym typeface="+mn-ea"/>
              </a:rPr>
              <a:t>is </a:t>
            </a:r>
            <a:r>
              <a:rPr dirty="0">
                <a:sym typeface="+mn-ea"/>
              </a:rPr>
              <a:t> </a:t>
            </a:r>
            <a:r>
              <a:rPr spc="-5" dirty="0">
                <a:sym typeface="+mn-ea"/>
              </a:rPr>
              <a:t>peroxybenzyl</a:t>
            </a:r>
            <a:r>
              <a:rPr spc="30" dirty="0">
                <a:sym typeface="+mn-ea"/>
              </a:rPr>
              <a:t> </a:t>
            </a:r>
            <a:r>
              <a:rPr spc="-5" dirty="0">
                <a:sym typeface="+mn-ea"/>
              </a:rPr>
              <a:t>nitrate,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having</a:t>
            </a:r>
            <a:r>
              <a:rPr spc="25" dirty="0">
                <a:sym typeface="+mn-ea"/>
              </a:rPr>
              <a:t> </a:t>
            </a:r>
            <a:r>
              <a:rPr spc="-5" dirty="0">
                <a:sym typeface="+mn-ea"/>
              </a:rPr>
              <a:t>a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value</a:t>
            </a:r>
            <a:r>
              <a:rPr spc="10" dirty="0">
                <a:sym typeface="+mn-ea"/>
              </a:rPr>
              <a:t> </a:t>
            </a:r>
            <a:r>
              <a:rPr dirty="0">
                <a:sym typeface="+mn-ea"/>
              </a:rPr>
              <a:t>of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0.005ppm</a:t>
            </a:r>
            <a:r>
              <a:rPr spc="15" dirty="0">
                <a:sym typeface="+mn-ea"/>
              </a:rPr>
              <a:t> </a:t>
            </a:r>
            <a:r>
              <a:rPr dirty="0">
                <a:sym typeface="+mn-ea"/>
              </a:rPr>
              <a:t>for</a:t>
            </a:r>
            <a:r>
              <a:rPr spc="-10" dirty="0">
                <a:sym typeface="+mn-ea"/>
              </a:rPr>
              <a:t> </a:t>
            </a:r>
            <a:r>
              <a:rPr spc="-5" dirty="0">
                <a:sym typeface="+mn-ea"/>
              </a:rPr>
              <a:t>5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minutes</a:t>
            </a:r>
            <a:r>
              <a:rPr spc="5" dirty="0">
                <a:sym typeface="+mn-ea"/>
              </a:rPr>
              <a:t> </a:t>
            </a:r>
            <a:r>
              <a:rPr spc="-5" dirty="0">
                <a:sym typeface="+mn-ea"/>
              </a:rPr>
              <a:t>exposure.</a:t>
            </a:r>
            <a:endParaRPr spc="-5" dirty="0"/>
          </a:p>
          <a:p>
            <a:pPr marL="349250" indent="-228600" algn="just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Effect of air pollution on animals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 of air pollution on animals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en-US"/>
              <a:t>In the case of animals we are concerned primarily with a two-step process: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Accumulation of airborne contaminants on or in vegetation</a:t>
            </a:r>
            <a:r>
              <a:rPr lang="en-US" altLang="en-US"/>
              <a:t> or forage that serves as their feed and,subsequent effects of the ingested herbage on animals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Not every exposure to air pollution is by inhalation, the</a:t>
            </a:r>
            <a:r>
              <a:rPr lang="en-US" altLang="en-US">
                <a:solidFill>
                  <a:srgbClr val="FF0000"/>
                </a:solidFill>
              </a:rPr>
              <a:t> animal ingests the contaminant after deposition.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of air pollution on animals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941070"/>
            <a:ext cx="8520430" cy="383730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Altered animal behavior</a:t>
            </a:r>
            <a:r>
              <a:rPr lang="en-US" altLang="en-US"/>
              <a:t>: Chemicals and heavy metals have a direct influence on the social and mating behaviors of animals.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Diseases and Mortality</a:t>
            </a:r>
            <a:r>
              <a:rPr lang="en-US" altLang="en-US"/>
              <a:t>: Organ toxicity arising from CFCs and NH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/>
              <a:t>, volatile organic compounds (VOC), Mercury, CO, NOx, and SO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/>
              <a:t> is a silent killer, taking the lives of wildlife.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Biodiversity loss</a:t>
            </a:r>
            <a:r>
              <a:rPr lang="en-US" altLang="en-US"/>
              <a:t>: excess deposition of airborne nitrogen (N) in the form of ammonia is among the main stressors to biodiversity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Change in species distribution:</a:t>
            </a:r>
            <a:r>
              <a:rPr lang="en-US" altLang="en-US"/>
              <a:t> Industrial air pollution can cause a change in the abundance of a particular species.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on pets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Household pets suffer an </a:t>
            </a:r>
            <a:r>
              <a:rPr lang="en-US" altLang="en-US">
                <a:solidFill>
                  <a:srgbClr val="FF0000"/>
                </a:solidFill>
              </a:rPr>
              <a:t>increased risk of tumors</a:t>
            </a:r>
            <a:r>
              <a:rPr lang="en-US" altLang="en-US"/>
              <a:t> when exposed to polluted air over an extended period of time.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Dogs undergo </a:t>
            </a:r>
            <a:r>
              <a:rPr lang="en-US" altLang="en-US">
                <a:solidFill>
                  <a:srgbClr val="FF0000"/>
                </a:solidFill>
              </a:rPr>
              <a:t>cough, nose and throat diseases</a:t>
            </a:r>
            <a:r>
              <a:rPr lang="en-US" altLang="en-US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Particulate matter in the air has been linked to </a:t>
            </a:r>
            <a:r>
              <a:rPr lang="en-US" altLang="en-US">
                <a:solidFill>
                  <a:srgbClr val="FF0000"/>
                </a:solidFill>
              </a:rPr>
              <a:t>cardiac arrest in dogs</a:t>
            </a:r>
            <a:r>
              <a:rPr lang="en-US" altLang="en-US"/>
              <a:t> and veterinarians sometimes attribute pet deaths to the effects of air pollution.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on Birds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970" y="948055"/>
            <a:ext cx="7559675" cy="361315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Birds are affected directly by coal power production exhaust, which can </a:t>
            </a:r>
            <a:r>
              <a:rPr lang="en-US" altLang="en-US">
                <a:solidFill>
                  <a:srgbClr val="FF0000"/>
                </a:solidFill>
              </a:rPr>
              <a:t>damage birds’ respiratory systems.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Discoloration of birds </a:t>
            </a:r>
            <a:r>
              <a:rPr lang="en-US" altLang="en-US"/>
              <a:t>occurs due to the trace amount of black carbon in the air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Ozone and nitrogen oxides cause direct, </a:t>
            </a:r>
            <a:r>
              <a:rPr lang="en-US" altLang="en-US">
                <a:solidFill>
                  <a:srgbClr val="FF0000"/>
                </a:solidFill>
              </a:rPr>
              <a:t>irreversible damage to birds lungs.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Exposure to polycyclic aromatic hydrocarbons (PAHs), toxic chemicals emitted by traffic, may cause </a:t>
            </a:r>
            <a:r>
              <a:rPr lang="en-US" altLang="en-US">
                <a:solidFill>
                  <a:srgbClr val="FF0000"/>
                </a:solidFill>
              </a:rPr>
              <a:t>reduced egg production and growth impairments in birds.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on Fish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Acid rain falling in rivers and streams causes pH levels to decrease, </a:t>
            </a:r>
            <a:r>
              <a:rPr lang="en-US" altLang="en-US" dirty="0">
                <a:solidFill>
                  <a:srgbClr val="FF0000"/>
                </a:solidFill>
              </a:rPr>
              <a:t>killing fish that are sensitive to pH fluctuations.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Acidic rivers and streams can cause </a:t>
            </a:r>
            <a:r>
              <a:rPr lang="en-US" altLang="en-US" dirty="0">
                <a:solidFill>
                  <a:srgbClr val="FF0000"/>
                </a:solidFill>
              </a:rPr>
              <a:t>respiratory distress </a:t>
            </a:r>
            <a:r>
              <a:rPr lang="en-US" altLang="en-US" dirty="0"/>
              <a:t>in fish.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Acidic water is generally clearer, causing a temperature and light increase in the water, resulting in the</a:t>
            </a:r>
            <a:r>
              <a:rPr lang="en-US" altLang="en-US" dirty="0">
                <a:solidFill>
                  <a:srgbClr val="FF0000"/>
                </a:solidFill>
              </a:rPr>
              <a:t> relocation of native fish</a:t>
            </a:r>
            <a:r>
              <a:rPr lang="en-US" altLang="en-US" dirty="0"/>
              <a:t> that need a cooler and darker habitat in order to survive.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Effects</a:t>
            </a:r>
            <a:r>
              <a:rPr b="1" spc="-3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of</a:t>
            </a:r>
            <a:r>
              <a:rPr b="1" spc="-12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b="1" spc="-5" dirty="0">
                <a:latin typeface="Arial" panose="020B0604020202020204"/>
                <a:cs typeface="Arial" panose="020B0604020202020204"/>
                <a:sym typeface="+mn-ea"/>
              </a:rPr>
              <a:t>Air-Pollutants</a:t>
            </a:r>
            <a:r>
              <a:rPr b="1" spc="-40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b="1" spc="-150" dirty="0">
                <a:latin typeface="Arial" panose="020B0604020202020204"/>
                <a:cs typeface="Arial" panose="020B0604020202020204"/>
                <a:sym typeface="+mn-ea"/>
              </a:rPr>
              <a:t>on Farm </a:t>
            </a:r>
            <a:r>
              <a:rPr b="1" dirty="0">
                <a:latin typeface="Arial" panose="020B0604020202020204"/>
                <a:cs typeface="Arial" panose="020B0604020202020204"/>
                <a:sym typeface="+mn-ea"/>
              </a:rPr>
              <a:t>Animals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97815" marR="196215" indent="-285750">
              <a:lnSpc>
                <a:spcPct val="14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26390" algn="l"/>
                <a:tab pos="327025" algn="l"/>
                <a:tab pos="3037205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Important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contaminates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that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affect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live-stock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are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: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</a:p>
          <a:p>
            <a:pPr marL="12065" marR="196215" indent="0">
              <a:lnSpc>
                <a:spcPct val="14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326390" algn="l"/>
                <a:tab pos="327025" algn="l"/>
                <a:tab pos="3037205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(i)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fluorine</a:t>
            </a:r>
          </a:p>
          <a:p>
            <a:pPr marL="12065" marR="196215" indent="0">
              <a:lnSpc>
                <a:spcPct val="14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326390" algn="l"/>
                <a:tab pos="327025" algn="l"/>
                <a:tab pos="3037205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(</a:t>
            </a:r>
            <a:r>
              <a:rPr lang="en-US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ii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) </a:t>
            </a:r>
            <a:r>
              <a:rPr spc="-7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arsenic</a:t>
            </a:r>
          </a:p>
          <a:p>
            <a:pPr marL="12065" marR="196215" indent="0">
              <a:lnSpc>
                <a:spcPct val="14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326390" algn="l"/>
                <a:tab pos="327025" algn="l"/>
                <a:tab pos="3037205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(ii</a:t>
            </a:r>
            <a:r>
              <a:rPr lang="en-US"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)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lead</a:t>
            </a:r>
            <a:endParaRPr>
              <a:latin typeface="Arial MT"/>
              <a:cs typeface="Arial MT"/>
            </a:endParaRPr>
          </a:p>
          <a:p>
            <a:pPr marL="240665" marR="14605" indent="-228600">
              <a:lnSpc>
                <a:spcPct val="14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Out 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these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contaminants,</a:t>
            </a:r>
            <a:r>
              <a:rPr spc="-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fluorine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proves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 be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worst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pollutant, </a:t>
            </a:r>
            <a:r>
              <a:rPr spc="-7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since cattle and sheep are found to 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be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more susceptible to consumption</a:t>
            </a:r>
            <a:r>
              <a:rPr spc="-3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 fluorine.</a:t>
            </a:r>
            <a:endParaRPr>
              <a:latin typeface="Arial MT"/>
              <a:cs typeface="Arial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334645"/>
            <a:ext cx="8520430" cy="4474210"/>
          </a:xfrm>
        </p:spPr>
        <p:txBody>
          <a:bodyPr>
            <a:normAutofit/>
          </a:bodyPr>
          <a:lstStyle/>
          <a:p>
            <a:pPr marL="12065" indent="0">
              <a:lnSpc>
                <a:spcPct val="150000"/>
              </a:lnSpc>
              <a:spcBef>
                <a:spcPts val="105"/>
              </a:spcBef>
              <a:buNone/>
              <a:tabLst>
                <a:tab pos="326390" algn="l"/>
                <a:tab pos="327025" algn="l"/>
              </a:tabLst>
            </a:pPr>
            <a:r>
              <a:rPr lang="en-US" altLang="en-US"/>
              <a:t>Acute effects of fluoride</a:t>
            </a:r>
          </a:p>
          <a:p>
            <a:pPr marL="12065" indent="0">
              <a:lnSpc>
                <a:spcPct val="150000"/>
              </a:lnSpc>
              <a:spcBef>
                <a:spcPts val="105"/>
              </a:spcBef>
              <a:buNone/>
              <a:tabLst>
                <a:tab pos="326390" algn="l"/>
                <a:tab pos="327025" algn="l"/>
              </a:tabLst>
            </a:pPr>
            <a:r>
              <a:rPr lang="en-US" altLang="en-US">
                <a:solidFill>
                  <a:srgbClr val="FF0000"/>
                </a:solidFill>
              </a:rPr>
              <a:t>➢ Lack of appetite, weight loss, health declination, diarrhea, muscle weakness and may be death.</a:t>
            </a:r>
          </a:p>
          <a:p>
            <a:pPr marL="12065" indent="0">
              <a:lnSpc>
                <a:spcPct val="150000"/>
              </a:lnSpc>
              <a:spcBef>
                <a:spcPts val="105"/>
              </a:spcBef>
              <a:buNone/>
              <a:tabLst>
                <a:tab pos="326390" algn="l"/>
                <a:tab pos="327025" algn="l"/>
              </a:tabLst>
            </a:pPr>
            <a:r>
              <a:rPr lang="en-US" altLang="en-US"/>
              <a:t>Chronic effects of fluoride</a:t>
            </a:r>
          </a:p>
          <a:p>
            <a:pPr marL="12065" indent="0">
              <a:lnSpc>
                <a:spcPct val="150000"/>
              </a:lnSpc>
              <a:spcBef>
                <a:spcPts val="105"/>
              </a:spcBef>
              <a:buNone/>
              <a:tabLst>
                <a:tab pos="326390" algn="l"/>
                <a:tab pos="327025" algn="l"/>
              </a:tabLst>
            </a:pPr>
            <a:r>
              <a:rPr lang="en-US" altLang="en-US">
                <a:solidFill>
                  <a:srgbClr val="FF0000"/>
                </a:solidFill>
              </a:rPr>
              <a:t>➢ Bone deformity, for example overgrowth of bone.</a:t>
            </a:r>
          </a:p>
          <a:p>
            <a:pPr marL="12065" indent="0">
              <a:lnSpc>
                <a:spcPct val="150000"/>
              </a:lnSpc>
              <a:spcBef>
                <a:spcPts val="105"/>
              </a:spcBef>
              <a:buNone/>
              <a:tabLst>
                <a:tab pos="326390" algn="l"/>
                <a:tab pos="327025" algn="l"/>
              </a:tabLst>
            </a:pPr>
            <a:r>
              <a:rPr lang="en-US" altLang="en-US">
                <a:solidFill>
                  <a:srgbClr val="FF0000"/>
                </a:solidFill>
              </a:rPr>
              <a:t>➢ Malnutrition, retardation in growth.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705" y="1741170"/>
            <a:ext cx="3375660" cy="31489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Arsenic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00" y="1017785"/>
            <a:ext cx="8520600" cy="3339000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altLang="en-US"/>
              <a:t>➢ Arsenic present in coal and iron ores, causes poisoning of livestock near industrial region.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/>
              <a:t>➢ Acute effects of Arsenic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>
                <a:solidFill>
                  <a:srgbClr val="FF0000"/>
                </a:solidFill>
              </a:rPr>
              <a:t>•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Severe salivation, thirst, vomiting, uneasiness, irregular pulse and respiration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>
                <a:solidFill>
                  <a:srgbClr val="FF0000"/>
                </a:solidFill>
              </a:rPr>
              <a:t>• Abnormal temperature and convulsion, death may occur in few hours or days.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/>
              <a:t>➢ Chronic effects of Arsenic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>
                <a:solidFill>
                  <a:srgbClr val="FF0000"/>
                </a:solidFill>
              </a:rPr>
              <a:t>• Depressing effect on central nervous system.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altLang="en-US">
                <a:solidFill>
                  <a:srgbClr val="FF0000"/>
                </a:solidFill>
              </a:rPr>
              <a:t>• Thickening of skin, anemia, paralysis and may be death.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69525"/>
            <a:ext cx="8520600" cy="3339000"/>
          </a:xfrm>
        </p:spPr>
        <p:txBody>
          <a:bodyPr>
            <a:normAutofit/>
          </a:bodyPr>
          <a:lstStyle/>
          <a:p>
            <a:pPr marL="240665" marR="5080" indent="-228600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Lead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contamination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atmosphere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occurs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latin typeface="Arial MT"/>
                <a:cs typeface="Arial MT"/>
                <a:sym typeface="+mn-ea"/>
              </a:rPr>
              <a:t>on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account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various 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industries,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such</a:t>
            </a:r>
            <a:r>
              <a:rPr spc="-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as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smelters,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coke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ovens,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other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coal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based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industries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12065" marR="325120" indent="0">
              <a:lnSpc>
                <a:spcPct val="150000"/>
              </a:lnSpc>
              <a:spcBef>
                <a:spcPts val="1000"/>
              </a:spcBef>
              <a:buNone/>
              <a:tabLst>
                <a:tab pos="241300" algn="l"/>
                <a:tab pos="2510155" algn="l"/>
              </a:tabLst>
            </a:pPr>
            <a:r>
              <a:rPr lang="en-US" altLang="en-US"/>
              <a:t>➢ Acute effects of lead</a:t>
            </a:r>
          </a:p>
          <a:p>
            <a:pPr marL="12065" marR="325120" indent="457200">
              <a:lnSpc>
                <a:spcPct val="150000"/>
              </a:lnSpc>
              <a:spcBef>
                <a:spcPts val="1000"/>
              </a:spcBef>
              <a:buNone/>
              <a:tabLst>
                <a:tab pos="241300" algn="l"/>
                <a:tab pos="2510155" algn="l"/>
              </a:tabLst>
            </a:pPr>
            <a:r>
              <a:rPr lang="en-US" altLang="en-US">
                <a:solidFill>
                  <a:srgbClr val="FF0000"/>
                </a:solidFill>
              </a:rPr>
              <a:t> Prostration, staggering and inability to rise, loss of appetite, diarrhea.</a:t>
            </a:r>
          </a:p>
          <a:p>
            <a:pPr marL="12065" marR="325120" indent="0">
              <a:lnSpc>
                <a:spcPct val="150000"/>
              </a:lnSpc>
              <a:spcBef>
                <a:spcPts val="1000"/>
              </a:spcBef>
              <a:buNone/>
              <a:tabLst>
                <a:tab pos="241300" algn="l"/>
                <a:tab pos="2510155" algn="l"/>
              </a:tabLst>
            </a:pPr>
            <a:r>
              <a:rPr lang="en-US" altLang="en-US"/>
              <a:t>➢ Chronic effects of lead</a:t>
            </a:r>
          </a:p>
          <a:p>
            <a:pPr marL="12065" marR="325120" indent="457200">
              <a:lnSpc>
                <a:spcPct val="150000"/>
              </a:lnSpc>
              <a:spcBef>
                <a:spcPts val="1000"/>
              </a:spcBef>
              <a:buNone/>
              <a:tabLst>
                <a:tab pos="241300" algn="l"/>
                <a:tab pos="2510155" algn="l"/>
              </a:tabLst>
            </a:pP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Paralysis of muscles of throat area and difficulty in breathing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 of air pollution on vegetation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 of air pollution on vegetation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017905"/>
            <a:ext cx="7442835" cy="3338830"/>
          </a:xfrm>
        </p:spPr>
        <p:txBody>
          <a:bodyPr>
            <a:normAutofit fontScale="90000" lnSpcReduction="10000"/>
          </a:bodyPr>
          <a:lstStyle/>
          <a:p>
            <a:pPr marL="241300" marR="362585" indent="-228600" algn="just">
              <a:lnSpc>
                <a:spcPct val="15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most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obvious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damage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caused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by air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pollutants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to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vegetation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occurs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leaf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structure.</a:t>
            </a:r>
            <a:endParaRPr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>
              <a:latin typeface="Arial MT"/>
              <a:cs typeface="Arial MT"/>
            </a:endParaRPr>
          </a:p>
          <a:p>
            <a:pPr marL="241300" indent="-228600" algn="just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surface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leaf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covered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by a</a:t>
            </a:r>
            <a:r>
              <a:rPr spc="-5" dirty="0"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waxy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layer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known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as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cuticle</a:t>
            </a:r>
            <a:r>
              <a:rPr spc="-5" dirty="0">
                <a:latin typeface="Arial MT"/>
                <a:cs typeface="Arial MT"/>
                <a:sym typeface="+mn-ea"/>
              </a:rPr>
              <a:t>.</a:t>
            </a:r>
            <a:endParaRPr>
              <a:latin typeface="Arial MT"/>
              <a:cs typeface="Arial MT"/>
            </a:endParaRPr>
          </a:p>
          <a:p>
            <a:pPr marL="241300" marR="531495" indent="-228600" algn="just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In </a:t>
            </a:r>
            <a:r>
              <a:rPr spc="-5" dirty="0">
                <a:latin typeface="Arial MT"/>
                <a:cs typeface="Arial MT"/>
                <a:sym typeface="+mn-ea"/>
              </a:rPr>
              <a:t>between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waxy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layer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dirty="0">
                <a:latin typeface="Arial MT"/>
                <a:cs typeface="Arial MT"/>
                <a:sym typeface="+mn-ea"/>
              </a:rPr>
              <a:t> 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epidermis</a:t>
            </a:r>
            <a:r>
              <a:rPr spc="-5" dirty="0">
                <a:latin typeface="Arial MT"/>
                <a:cs typeface="Arial MT"/>
                <a:sym typeface="+mn-ea"/>
              </a:rPr>
              <a:t>,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single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layer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latin typeface="Arial MT"/>
                <a:cs typeface="Arial MT"/>
                <a:sym typeface="+mn-ea"/>
              </a:rPr>
              <a:t>cells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forming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surface</a:t>
            </a:r>
            <a:r>
              <a:rPr spc="-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skin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leaf.</a:t>
            </a:r>
            <a:endParaRPr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It's</a:t>
            </a:r>
            <a:r>
              <a:rPr spc="-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chief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functions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dirty="0">
                <a:latin typeface="Arial MT"/>
                <a:cs typeface="Arial MT"/>
                <a:sym typeface="+mn-ea"/>
              </a:rPr>
              <a:t> the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protection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inner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tissues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from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excessive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moisture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loss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admission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carbon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dioxide</a:t>
            </a:r>
            <a:r>
              <a:rPr spc="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 oxygen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to</a:t>
            </a:r>
            <a:r>
              <a:rPr spc="-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these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internal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tissues.</a:t>
            </a:r>
            <a:endParaRPr>
              <a:latin typeface="Arial MT"/>
              <a:cs typeface="Arial MT"/>
            </a:endParaRPr>
          </a:p>
          <a:p>
            <a:pPr algn="just"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 of air pollution on vegetation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leaf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surface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penetrated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by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large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number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openings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called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stomata</a:t>
            </a:r>
            <a:r>
              <a:rPr dirty="0">
                <a:latin typeface="Arial MT"/>
                <a:cs typeface="Arial MT"/>
                <a:sym typeface="+mn-ea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241300" marR="5080" indent="-228600">
              <a:lnSpc>
                <a:spcPct val="1500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Each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stoma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is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protected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by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pair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of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guard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cells,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which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control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 opening</a:t>
            </a:r>
            <a:r>
              <a:rPr spc="3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and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closing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stoma.</a:t>
            </a:r>
            <a:endParaRPr dirty="0">
              <a:latin typeface="Arial MT"/>
              <a:cs typeface="Arial MT"/>
            </a:endParaRPr>
          </a:p>
          <a:p>
            <a:pPr marL="241300" marR="20320" indent="-228600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5" dirty="0">
                <a:latin typeface="Arial MT"/>
                <a:cs typeface="Arial MT"/>
                <a:sym typeface="+mn-ea"/>
              </a:rPr>
              <a:t> internal</a:t>
            </a:r>
            <a:r>
              <a:rPr spc="2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tissues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of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leaf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are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palisade,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spongy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mesophyll,</a:t>
            </a:r>
            <a:r>
              <a:rPr spc="1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 </a:t>
            </a:r>
            <a:r>
              <a:rPr spc="-65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conducting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tissues, </a:t>
            </a:r>
            <a:r>
              <a:rPr spc="-10" dirty="0">
                <a:latin typeface="Arial MT"/>
                <a:cs typeface="Arial MT"/>
                <a:sym typeface="+mn-ea"/>
              </a:rPr>
              <a:t>or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veins,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which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carry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25" dirty="0">
                <a:latin typeface="Arial MT"/>
                <a:cs typeface="Arial MT"/>
                <a:sym typeface="+mn-ea"/>
              </a:rPr>
              <a:t>water,</a:t>
            </a:r>
            <a:r>
              <a:rPr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minerals</a:t>
            </a:r>
            <a:r>
              <a:rPr spc="3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and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food.</a:t>
            </a:r>
            <a:endParaRPr dirty="0">
              <a:latin typeface="Arial MT"/>
              <a:cs typeface="Arial MT"/>
            </a:endParaRPr>
          </a:p>
          <a:p>
            <a:pPr marL="241300" marR="561340" indent="-228600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  <a:sym typeface="+mn-ea"/>
              </a:rPr>
              <a:t>As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far</a:t>
            </a:r>
            <a:r>
              <a:rPr spc="-1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air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pollution</a:t>
            </a:r>
            <a:r>
              <a:rPr spc="4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concerned,</a:t>
            </a:r>
            <a:r>
              <a:rPr spc="20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the</a:t>
            </a:r>
            <a:r>
              <a:rPr spc="10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most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vulnerable</a:t>
            </a:r>
            <a:r>
              <a:rPr spc="4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part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latin typeface="Arial MT"/>
                <a:cs typeface="Arial MT"/>
                <a:sym typeface="+mn-ea"/>
              </a:rPr>
              <a:t>is</a:t>
            </a:r>
            <a:r>
              <a:rPr spc="5" dirty="0">
                <a:latin typeface="Arial MT"/>
                <a:cs typeface="Arial MT"/>
                <a:sym typeface="+mn-ea"/>
              </a:rPr>
              <a:t> </a:t>
            </a:r>
            <a:r>
              <a:rPr dirty="0">
                <a:latin typeface="Arial MT"/>
                <a:cs typeface="Arial MT"/>
                <a:sym typeface="+mn-ea"/>
              </a:rPr>
              <a:t>the</a:t>
            </a:r>
            <a:r>
              <a:rPr spc="-5" dirty="0"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stomata </a:t>
            </a:r>
            <a:r>
              <a:rPr spc="-65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through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which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gases</a:t>
            </a:r>
            <a:r>
              <a:rPr spc="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diffuse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to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surface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of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cells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within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the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  <a:sym typeface="+mn-ea"/>
              </a:rPr>
              <a:t>leaf.</a:t>
            </a:r>
            <a:endParaRPr dirty="0">
              <a:latin typeface="Arial MT"/>
              <a:cs typeface="Arial MT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190" y="91440"/>
            <a:ext cx="7831455" cy="47161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Air pollution effects on vegetation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35895"/>
            <a:ext cx="8520600" cy="3339000"/>
          </a:xfrm>
        </p:spPr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Necrosis</a:t>
            </a:r>
            <a:r>
              <a:rPr lang="en-US" altLang="en-US"/>
              <a:t> – dead areas on a leaf structure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Chlorosis </a:t>
            </a:r>
            <a:r>
              <a:rPr lang="en-US" altLang="en-US"/>
              <a:t>– reduction or loss of chlorophyll leads to yellowing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rcRect b="9881"/>
          <a:stretch>
            <a:fillRect/>
          </a:stretch>
        </p:blipFill>
        <p:spPr>
          <a:xfrm>
            <a:off x="5522595" y="889635"/>
            <a:ext cx="3145790" cy="1734185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175" y="2972435"/>
            <a:ext cx="3619500" cy="15652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57200" y="422910"/>
            <a:ext cx="8438515" cy="4192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FF0000"/>
                </a:solidFill>
                <a:sym typeface="+mn-ea"/>
              </a:rPr>
              <a:t>Epinatsy</a:t>
            </a:r>
            <a:r>
              <a:rPr lang="en-US" altLang="en-US" sz="1800">
                <a:sym typeface="+mn-ea"/>
              </a:rPr>
              <a:t> – downward curvature of leaf due to high </a:t>
            </a:r>
          </a:p>
          <a:p>
            <a:pPr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en-US" sz="1800">
                <a:sym typeface="+mn-ea"/>
              </a:rPr>
              <a:t>growth on upper surface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1800">
              <a:sym typeface="+mn-ea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rgbClr val="FF0000"/>
                </a:solidFill>
                <a:sym typeface="+mn-ea"/>
              </a:rPr>
              <a:t>Abscission</a:t>
            </a:r>
            <a:r>
              <a:rPr lang="en-US" altLang="en-US" sz="1800">
                <a:sym typeface="+mn-ea"/>
              </a:rPr>
              <a:t>- dropping of leaf</a:t>
            </a:r>
          </a:p>
        </p:txBody>
      </p:sp>
      <p:pic>
        <p:nvPicPr>
          <p:cNvPr id="6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330" y="598170"/>
            <a:ext cx="2751455" cy="1612900"/>
          </a:xfrm>
          <a:prstGeom prst="rect">
            <a:avLst/>
          </a:prstGeom>
        </p:spPr>
      </p:pic>
      <p:pic>
        <p:nvPicPr>
          <p:cNvPr id="7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0" y="2473325"/>
            <a:ext cx="4022725" cy="210439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55" y="185845"/>
            <a:ext cx="8520600" cy="607800"/>
          </a:xfrm>
        </p:spPr>
        <p:txBody>
          <a:bodyPr/>
          <a:lstStyle/>
          <a:p>
            <a:r>
              <a:rPr lang="en-US" sz="2000" b="1"/>
              <a:t>Effect of SO</a:t>
            </a:r>
            <a:r>
              <a:rPr lang="en-US" sz="2000" b="1" baseline="-25000">
                <a:solidFill>
                  <a:schemeClr val="tx1"/>
                </a:solidFill>
                <a:uFillTx/>
                <a:latin typeface="Roboto" panose="02000000000000000000" charset="0"/>
              </a:rPr>
              <a:t>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150" y="551180"/>
            <a:ext cx="8520430" cy="37947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It is a phytotoxicant above </a:t>
            </a:r>
            <a:r>
              <a:rPr lang="en-US">
                <a:solidFill>
                  <a:srgbClr val="FF0000"/>
                </a:solidFill>
              </a:rPr>
              <a:t>0.2ppm</a:t>
            </a:r>
            <a:r>
              <a:rPr lang="en-US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It causes </a:t>
            </a:r>
            <a:r>
              <a:rPr lang="en-US">
                <a:solidFill>
                  <a:srgbClr val="FF0000"/>
                </a:solidFill>
              </a:rPr>
              <a:t>bleaching of leaves and necrosis</a:t>
            </a:r>
            <a:r>
              <a:rPr lang="en-US"/>
              <a:t>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It </a:t>
            </a:r>
            <a:r>
              <a:rPr lang="en-US">
                <a:solidFill>
                  <a:srgbClr val="FF0000"/>
                </a:solidFill>
              </a:rPr>
              <a:t>affects photosynthesis</a:t>
            </a:r>
            <a:r>
              <a:rPr lang="en-US"/>
              <a:t> and and reacts with moisture in tree.</a:t>
            </a:r>
            <a:endParaRPr lang="en-US" sz="2000">
              <a:solidFill>
                <a:schemeClr val="tx1"/>
              </a:solidFill>
            </a:endParaRPr>
          </a:p>
          <a:p>
            <a:pPr marL="11430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tx1"/>
                </a:solidFill>
                <a:sym typeface="+mn-ea"/>
              </a:rPr>
              <a:t>Effect of Fluorine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It is a phytotoxicant above </a:t>
            </a:r>
            <a:r>
              <a:rPr lang="en-US">
                <a:solidFill>
                  <a:srgbClr val="FF0000"/>
                </a:solidFill>
                <a:sym typeface="+mn-ea"/>
              </a:rPr>
              <a:t>0.3ppm</a:t>
            </a:r>
            <a:r>
              <a:rPr lang="en-US">
                <a:sym typeface="+mn-ea"/>
              </a:rPr>
              <a:t>.</a:t>
            </a:r>
            <a:endParaRPr 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</a:schemeClr>
                </a:solidFill>
                <a:sym typeface="+mn-ea"/>
              </a:rPr>
              <a:t>It causes </a:t>
            </a:r>
            <a:r>
              <a:rPr lang="en-US">
                <a:solidFill>
                  <a:srgbClr val="FF0000"/>
                </a:solidFill>
                <a:sym typeface="+mn-ea"/>
              </a:rPr>
              <a:t>damages to fruits and flowers</a:t>
            </a:r>
            <a:r>
              <a:rPr lang="en-US">
                <a:solidFill>
                  <a:schemeClr val="tx1">
                    <a:lumMod val="50000"/>
                  </a:schemeClr>
                </a:solidFill>
                <a:sym typeface="+mn-ea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</a:schemeClr>
                </a:solidFill>
                <a:sym typeface="+mn-ea"/>
              </a:rPr>
              <a:t>Lowers the value of crop.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</a:schemeClr>
                </a:solidFill>
                <a:sym typeface="+mn-ea"/>
              </a:rPr>
              <a:t>It causes </a:t>
            </a:r>
            <a:r>
              <a:rPr lang="en-US">
                <a:solidFill>
                  <a:srgbClr val="FF0000"/>
                </a:solidFill>
                <a:sym typeface="+mn-ea"/>
              </a:rPr>
              <a:t>necrosis</a:t>
            </a:r>
            <a:r>
              <a:rPr lang="en-US">
                <a:solidFill>
                  <a:schemeClr val="tx1">
                    <a:lumMod val="50000"/>
                  </a:schemeClr>
                </a:solidFill>
                <a:sym typeface="+mn-ea"/>
              </a:rPr>
              <a:t> at leaf tip.</a:t>
            </a:r>
          </a:p>
          <a:p>
            <a:pPr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520" y="214420"/>
            <a:ext cx="8520600" cy="607800"/>
          </a:xfrm>
        </p:spPr>
        <p:txBody>
          <a:bodyPr/>
          <a:lstStyle/>
          <a:p>
            <a:r>
              <a:rPr lang="en-US" sz="2000" b="1">
                <a:solidFill>
                  <a:schemeClr val="tx1"/>
                </a:solidFill>
                <a:sym typeface="+mn-ea"/>
              </a:rPr>
              <a:t>Effect of Ozone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575945"/>
            <a:ext cx="8520430" cy="388810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+mn-ea"/>
              </a:rPr>
              <a:t>It is a phytotoxicant above </a:t>
            </a:r>
            <a:r>
              <a:rPr lang="en-US" dirty="0">
                <a:solidFill>
                  <a:srgbClr val="FF0000"/>
                </a:solidFill>
                <a:sym typeface="+mn-ea"/>
              </a:rPr>
              <a:t>0.2ppm</a:t>
            </a:r>
            <a:r>
              <a:rPr lang="en-US" dirty="0">
                <a:sym typeface="+mn-ea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+mn-ea"/>
              </a:rPr>
              <a:t>It causes </a:t>
            </a:r>
            <a:r>
              <a:rPr lang="en-US" dirty="0" err="1">
                <a:solidFill>
                  <a:srgbClr val="FF0000"/>
                </a:solidFill>
                <a:sym typeface="+mn-ea"/>
              </a:rPr>
              <a:t>leisons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dirty="0">
                <a:solidFill>
                  <a:schemeClr val="bg2"/>
                </a:solidFill>
                <a:sym typeface="+mn-ea"/>
              </a:rPr>
              <a:t>(small isolate dead spots) </a:t>
            </a:r>
            <a:r>
              <a:rPr lang="en-US" dirty="0">
                <a:sym typeface="+mn-ea"/>
              </a:rPr>
              <a:t>on upper surface of leaf,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premature aging, suppressed growth, collapse of leaf.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+mn-ea"/>
              </a:rPr>
              <a:t>It also causes </a:t>
            </a:r>
            <a:r>
              <a:rPr lang="en-US" dirty="0">
                <a:solidFill>
                  <a:srgbClr val="FF0000"/>
                </a:solidFill>
                <a:sym typeface="+mn-ea"/>
              </a:rPr>
              <a:t>necrosis and bleaching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 marL="114300" indent="0">
              <a:lnSpc>
                <a:spcPct val="20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sym typeface="+mn-ea"/>
              </a:rPr>
              <a:t>Effect of Oxides of Nitrogen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Nitric acid and oxides of nitrogen absorbed by plants </a:t>
            </a:r>
            <a:r>
              <a:rPr lang="en-US" dirty="0">
                <a:sym typeface="+mn-ea"/>
              </a:rPr>
              <a:t>causes </a:t>
            </a:r>
            <a:r>
              <a:rPr lang="en-US" dirty="0" err="1">
                <a:solidFill>
                  <a:srgbClr val="FF0000"/>
                </a:solidFill>
                <a:sym typeface="+mn-ea"/>
              </a:rPr>
              <a:t>leisons</a:t>
            </a:r>
            <a:r>
              <a:rPr lang="en-US" dirty="0">
                <a:sym typeface="+mn-ea"/>
              </a:rPr>
              <a:t> on leaves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Causes </a:t>
            </a:r>
            <a:r>
              <a:rPr lang="en-US" dirty="0">
                <a:solidFill>
                  <a:srgbClr val="FF0000"/>
                </a:solidFill>
              </a:rPr>
              <a:t>suppressed growth of leaf, bleaching of leaf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Also causes </a:t>
            </a:r>
            <a:r>
              <a:rPr lang="en-US" dirty="0">
                <a:solidFill>
                  <a:srgbClr val="FF0000"/>
                </a:solidFill>
              </a:rPr>
              <a:t>brown margins and brownish black spots </a:t>
            </a:r>
            <a:r>
              <a:rPr lang="en-US" dirty="0"/>
              <a:t>on leaves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1240"/>
            <a:ext cx="8520600" cy="607800"/>
          </a:xfrm>
        </p:spPr>
        <p:txBody>
          <a:bodyPr/>
          <a:lstStyle/>
          <a:p>
            <a:r>
              <a:rPr lang="en-US" sz="2000" b="1">
                <a:solidFill>
                  <a:schemeClr val="tx1"/>
                </a:solidFill>
                <a:sym typeface="+mn-ea"/>
              </a:rPr>
              <a:t>Effect of Ammonia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95" y="591185"/>
            <a:ext cx="8520430" cy="4191635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It causes </a:t>
            </a:r>
            <a:r>
              <a:rPr lang="en-US">
                <a:solidFill>
                  <a:srgbClr val="FF0000"/>
                </a:solidFill>
              </a:rPr>
              <a:t>necrosis and chlorotic margin</a:t>
            </a:r>
            <a:endParaRPr 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At higher concentrations </a:t>
            </a:r>
            <a:r>
              <a:rPr lang="en-US">
                <a:solidFill>
                  <a:srgbClr val="FF0000"/>
                </a:solidFill>
              </a:rPr>
              <a:t>leisons</a:t>
            </a:r>
            <a:r>
              <a:rPr lang="en-US"/>
              <a:t> also formed</a:t>
            </a:r>
          </a:p>
          <a:p>
            <a:pPr marL="11430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/>
          </a:p>
          <a:p>
            <a:pPr marL="11430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tx1"/>
                </a:solidFill>
                <a:sym typeface="+mn-ea"/>
              </a:rPr>
              <a:t>Effect of Ethylene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It causes injury to leaves of sensitive plants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The effects are </a:t>
            </a:r>
            <a:r>
              <a:rPr lang="en-US">
                <a:solidFill>
                  <a:srgbClr val="FF0000"/>
                </a:solidFill>
              </a:rPr>
              <a:t>epinasty, curling, chlorosis, leaf abscission and growth retardation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11430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tx1"/>
                </a:solidFill>
                <a:sym typeface="+mn-ea"/>
              </a:rPr>
              <a:t>Effect of PAN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Bronzing of lower leaf surface</a:t>
            </a:r>
            <a:endParaRPr 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Causes</a:t>
            </a:r>
            <a:r>
              <a:rPr lang="en-US">
                <a:solidFill>
                  <a:srgbClr val="FF0000"/>
                </a:solidFill>
              </a:rPr>
              <a:t> suppressed growth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Especially attacks young leaves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 of air pollution on materials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Impacts of Air Pollution on Building Materials and Structures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41300" marR="5080" indent="-228600">
              <a:lnSpc>
                <a:spcPct val="1500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lang="en-US" altLang="en-US"/>
              <a:t>The impact of air pollution on building materials is significant, reducing the service life of buildings.</a:t>
            </a:r>
          </a:p>
          <a:p>
            <a:pPr marL="241300" marR="5080" indent="-228600">
              <a:lnSpc>
                <a:spcPct val="1500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lang="en-US" altLang="en-US"/>
              <a:t>Particulates such as</a:t>
            </a:r>
            <a:r>
              <a:rPr lang="en-US" altLang="en-US">
                <a:solidFill>
                  <a:srgbClr val="FF0000"/>
                </a:solidFill>
              </a:rPr>
              <a:t> soot, dust and fumes spoil painted surfaces, fabrics and buildings</a:t>
            </a:r>
            <a:r>
              <a:rPr lang="en-US" altLang="en-US"/>
              <a:t>, and because of their </a:t>
            </a:r>
            <a:r>
              <a:rPr lang="en-US" altLang="en-US">
                <a:solidFill>
                  <a:srgbClr val="FF0000"/>
                </a:solidFill>
              </a:rPr>
              <a:t>abrasive nature</a:t>
            </a:r>
            <a:r>
              <a:rPr lang="en-US" altLang="en-US"/>
              <a:t>, particulates can cause damage to exposed surfaces when they are driven by wind at high velocities.</a:t>
            </a:r>
          </a:p>
          <a:p>
            <a:pPr marL="241300" marR="5080" indent="-228600">
              <a:lnSpc>
                <a:spcPct val="1500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lang="en-US" altLang="en-US"/>
              <a:t>The degradation of building and building materials is more due to manmade air pollutants than the natural pollutants.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23640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Types of air pollution-related damages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070610"/>
            <a:ext cx="7877175" cy="33388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Discolouration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Material loss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Black crust 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Structural failure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ym typeface="+mn-ea"/>
              </a:rPr>
              <a:t>Abrasion action</a:t>
            </a:r>
            <a:endParaRPr lang="en-US" alt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295" y="86785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Metals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521335"/>
            <a:ext cx="8166100" cy="4076700"/>
          </a:xfrm>
        </p:spPr>
        <p:txBody>
          <a:bodyPr>
            <a:normAutofit fontScale="90000" lnSpcReduction="20000"/>
          </a:bodyPr>
          <a:lstStyle/>
          <a:p>
            <a:pPr marL="114300" indent="0">
              <a:buNone/>
            </a:pPr>
            <a:endParaRPr lang="en-US" altLang="en-US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Atmospheric corrosion of metals is generally an electrochemical process only occurring when the surface is wet.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most important parameters for the corrosion which are </a:t>
            </a:r>
            <a:r>
              <a:rPr lang="en-US" altLang="en-US">
                <a:solidFill>
                  <a:srgbClr val="FF0000"/>
                </a:solidFill>
              </a:rPr>
              <a:t>humidity, precipitation, temperature and levels of atmospheric pollutants</a:t>
            </a:r>
            <a:r>
              <a:rPr lang="en-US" altLang="en-US"/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atmospheric pollutants, </a:t>
            </a:r>
            <a:r>
              <a:rPr lang="en-US" altLang="en-US">
                <a:solidFill>
                  <a:srgbClr val="FF0000"/>
                </a:solidFill>
              </a:rPr>
              <a:t>SO</a:t>
            </a:r>
            <a:r>
              <a:rPr lang="en-US" altLang="en-US" baseline="-25000">
                <a:solidFill>
                  <a:srgbClr val="FF0000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/>
              <a:t> </a:t>
            </a:r>
            <a:r>
              <a:rPr lang="en-US" altLang="en-US">
                <a:solidFill>
                  <a:srgbClr val="FF0000"/>
                </a:solidFill>
              </a:rPr>
              <a:t>causes most damaging</a:t>
            </a:r>
            <a:r>
              <a:rPr lang="en-US" altLang="en-US"/>
              <a:t> for the corrosion of metals.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In </a:t>
            </a:r>
            <a:r>
              <a:rPr lang="en-US" altLang="en-US">
                <a:solidFill>
                  <a:srgbClr val="FF0000"/>
                </a:solidFill>
              </a:rPr>
              <a:t>coastal regions chlorides</a:t>
            </a:r>
            <a:r>
              <a:rPr lang="en-US" altLang="en-US"/>
              <a:t> play a significant role as it accelerates the corrosion of metals.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Ozone </a:t>
            </a:r>
            <a:r>
              <a:rPr lang="en-US" altLang="en-US"/>
              <a:t>may be important in accelerating some reactions.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Nonferrous metals are also subject to corrosion, but to a lesser degree than ferrous metals.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Concrete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694570"/>
            <a:ext cx="8520600" cy="3339000"/>
          </a:xfrm>
        </p:spPr>
        <p:txBody>
          <a:bodyPr/>
          <a:lstStyle/>
          <a:p>
            <a:pPr marL="114300" indent="0">
              <a:buNone/>
            </a:pPr>
            <a:endParaRPr lang="en-US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Cement is the major binding agent used in concrete.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Cement is an </a:t>
            </a:r>
            <a:r>
              <a:rPr lang="en-US" altLang="en-US" dirty="0">
                <a:solidFill>
                  <a:srgbClr val="FF0000"/>
                </a:solidFill>
              </a:rPr>
              <a:t>alkaline material which is susceptible to acid attack</a:t>
            </a:r>
            <a:r>
              <a:rPr lang="en-US" alt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Badly prepared concrete led to </a:t>
            </a:r>
            <a:r>
              <a:rPr lang="en-US" altLang="en-US" dirty="0">
                <a:solidFill>
                  <a:srgbClr val="FF0000"/>
                </a:solidFill>
              </a:rPr>
              <a:t>steel corrosion</a:t>
            </a:r>
            <a:r>
              <a:rPr lang="en-US" altLang="en-US" dirty="0"/>
              <a:t>, cracks will develop.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system becomes more accessible to the attack by </a:t>
            </a:r>
            <a:r>
              <a:rPr lang="en-US" altLang="en-US" dirty="0">
                <a:solidFill>
                  <a:srgbClr val="FF0000"/>
                </a:solidFill>
              </a:rPr>
              <a:t>SO</a:t>
            </a:r>
            <a:r>
              <a:rPr lang="en-US" altLang="en-US" baseline="-25000" dirty="0">
                <a:solidFill>
                  <a:srgbClr val="FF0000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corrosion products of steel occupy a greater volume than the steel.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Paints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Damage to paint and polymeric materials can occur from </a:t>
            </a:r>
            <a:r>
              <a:rPr lang="en-US" altLang="en-US">
                <a:solidFill>
                  <a:srgbClr val="FF0000"/>
                </a:solidFill>
              </a:rPr>
              <a:t>acidic deposition and from photochemical oxidants</a:t>
            </a:r>
            <a:r>
              <a:rPr lang="en-US" altLang="en-US"/>
              <a:t>, particularly ozone (O3).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most serious impact studied involves the</a:t>
            </a:r>
            <a:r>
              <a:rPr lang="en-US" altLang="en-US">
                <a:solidFill>
                  <a:srgbClr val="FF0000"/>
                </a:solidFill>
              </a:rPr>
              <a:t> influence of SO</a:t>
            </a:r>
            <a:r>
              <a:rPr lang="en-US" altLang="en-US" baseline="-25000">
                <a:solidFill>
                  <a:srgbClr val="FF0000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 on paints with CaCO</a:t>
            </a:r>
            <a:r>
              <a:rPr lang="en-US" altLang="en-US" baseline="-25000">
                <a:solidFill>
                  <a:srgbClr val="FF0000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>
                <a:solidFill>
                  <a:srgbClr val="FF0000"/>
                </a:solidFill>
              </a:rPr>
              <a:t> fillers.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Polymers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115" y="556775"/>
            <a:ext cx="8520600" cy="3339000"/>
          </a:xfrm>
        </p:spPr>
        <p:txBody>
          <a:bodyPr/>
          <a:lstStyle/>
          <a:p>
            <a:endParaRPr lang="en-US" altLang="en-US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/>
              <a:t> is known to damage some polymeric materials such as plastics and rubbers.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When rubber is under tension, </a:t>
            </a:r>
            <a:r>
              <a:rPr lang="en-US" altLang="en-US">
                <a:solidFill>
                  <a:srgbClr val="FF0000"/>
                </a:solidFill>
              </a:rPr>
              <a:t>O</a:t>
            </a:r>
            <a:r>
              <a:rPr lang="en-US" altLang="en-US" baseline="-25000">
                <a:solidFill>
                  <a:srgbClr val="FF0000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>
                <a:solidFill>
                  <a:srgbClr val="FF0000"/>
                </a:solidFill>
              </a:rPr>
              <a:t> attacks the C=C and break the bonds</a:t>
            </a:r>
            <a:r>
              <a:rPr lang="en-US" altLang="en-US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number of cracks and the depth of the cracks in rubber under tension are related to ambient concentrations of O</a:t>
            </a:r>
            <a:r>
              <a:rPr lang="en-US" altLang="en-US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3</a:t>
            </a:r>
            <a:r>
              <a:rPr lang="en-US" altLang="en-US"/>
              <a:t>.</a:t>
            </a:r>
          </a:p>
          <a:p>
            <a:pPr marL="114300" indent="0">
              <a:lnSpc>
                <a:spcPct val="150000"/>
              </a:lnSpc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The Environment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Haze, like smog, is a visible type of air pollution that obscures shapes and colors.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Hazy air pollution can even muffle sounds.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Air pollution can directly contaminate the surface of bodies of water and soil.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Sulfur dioxide and nitrogen oxide particles in the air, can create acid rain when they mix with water and oxygen in the atmosphere.</a:t>
            </a:r>
          </a:p>
          <a:p>
            <a:pPr>
              <a:lnSpc>
                <a:spcPct val="15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Effects On The Environment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When acid rain falls to Earth,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it damages plants by changing soil composition; degrades water quality in rivers, lakes and streams; damages crops;</a:t>
            </a:r>
            <a:endParaRPr lang="en-US" altLang="en-US" sz="180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and can cause buildings and monuments to decay.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/>
              <a:t>Air pollutants in the form of Greenhouse gases (CO</a:t>
            </a:r>
            <a:r>
              <a:rPr lang="en-US" altLang="en-US" sz="1800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2</a:t>
            </a:r>
            <a:r>
              <a:rPr lang="en-US" altLang="en-US" sz="1800"/>
              <a:t> and CH</a:t>
            </a:r>
            <a:r>
              <a:rPr lang="en-US" altLang="en-US" sz="1800" baseline="-25000">
                <a:solidFill>
                  <a:schemeClr val="bg2"/>
                </a:solidFill>
                <a:uFillTx/>
                <a:latin typeface="Roboto" panose="02000000000000000000" charset="0"/>
              </a:rPr>
              <a:t>4</a:t>
            </a:r>
            <a:r>
              <a:rPr lang="en-US" altLang="en-US" sz="1800"/>
              <a:t>), raises the temperature of the earth.</a:t>
            </a:r>
          </a:p>
          <a:p>
            <a:pPr>
              <a:lnSpc>
                <a:spcPct val="150000"/>
              </a:lnSpc>
            </a:pPr>
            <a:endParaRPr lang="en-US" altLang="en-US" sz="1800"/>
          </a:p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Greenhouse Effect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018540"/>
            <a:ext cx="8520430" cy="369506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greenhouse effect is the process through which heat is trapped near Earth's surface by substances known as 'greenhouse gases’.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Greenhouse gases consist of </a:t>
            </a:r>
            <a:r>
              <a:rPr lang="en-US" altLang="en-US">
                <a:solidFill>
                  <a:srgbClr val="FF0000"/>
                </a:solidFill>
              </a:rPr>
              <a:t>carbon dioxide, methane, ozone, nitrous oxide, chlorofluorocarbons, and water vapor</a:t>
            </a:r>
            <a:r>
              <a:rPr lang="en-US" altLang="en-US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Part of what makes Earth so amenable is its natural greenhouse effect, which maintains an average temperature of 15 °C (59 °F)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level of carbon dioxide in Earth’s atmosphere has been rising consistently for decades and traps extra heat near Earth's surface, causing temperatures to rise.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The Greenhouse Effect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Solar radiation enters the Earth's atmosphere.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Earth's surface absorbs the radiation and heats up.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Infrared radiation is emitted from the Earth's surface.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Greenhouse gases absorb the infrared radiation, trapping heat.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trapped heat warms the planet.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Effects of the Greenhouse Effect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Global warming and climate change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Rising sea levels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Extreme weather events (heatwaves, droughts, floods)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Impacts on ecosystems and biodiversity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Reducing the Greenhouse Effect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Reduce greenhouse gas emissions: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Transition to renewable energy sources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Increase energy efficiency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Electrify transportation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Carbon capture and storage technologies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Sustainable land use practices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85550" y="2152350"/>
            <a:ext cx="89724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880" b="1"/>
              <a:t>Indoor Air Pollution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ym typeface="+mn-ea"/>
              </a:rPr>
              <a:t>Indoor Air Pollution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The indoor environment represents an important micro-environment in which people spend a large part of their time each day.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Pollutants can be 5-100 times greater than outdoors.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/>
              <a:t>Most common:– </a:t>
            </a:r>
            <a:r>
              <a:rPr lang="en-US" altLang="en-US">
                <a:solidFill>
                  <a:srgbClr val="FF0000"/>
                </a:solidFill>
              </a:rPr>
              <a:t>Radon, cigarette smoke, carbon monoxide, nitrogen dioxide, formaldehyde, pesticides, lead, cleaning solvents, ozone, and asbestos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395" y="0"/>
            <a:ext cx="7402195" cy="470027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Sources and Impact of indoor air pollution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altLang="en-US"/>
          </a:p>
        </p:txBody>
      </p:sp>
      <p:graphicFrame>
        <p:nvGraphicFramePr>
          <p:cNvPr id="4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3665426"/>
              </p:ext>
            </p:extLst>
          </p:nvPr>
        </p:nvGraphicFramePr>
        <p:xfrm>
          <a:off x="253365" y="1153160"/>
          <a:ext cx="8890635" cy="38357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285">
                <a:tc gridSpan="3"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35" dirty="0">
                          <a:latin typeface="Arial" panose="020B0604020202020204"/>
                          <a:cs typeface="Arial" panose="020B0604020202020204"/>
                        </a:rPr>
                        <a:t>NATURAL</a:t>
                      </a:r>
                      <a:r>
                        <a:rPr sz="1600" b="1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7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Radon</a:t>
                      </a:r>
                      <a:r>
                        <a:rPr sz="1600" b="1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8890">
                        <a:lnSpc>
                          <a:spcPct val="15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Colourless,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tasteless, and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odourless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gas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comes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radioactive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decay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uranium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radium.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47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5306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52425" algn="l"/>
                          <a:tab pos="35306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Earth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rock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under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buildings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Some earth-derived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building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materials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marR="311150" indent="-287020">
                        <a:lnSpc>
                          <a:spcPct val="150000"/>
                        </a:lnSpc>
                        <a:buFont typeface="Arial MT"/>
                        <a:buChar char="•"/>
                        <a:tabLst>
                          <a:tab pos="352425" algn="l"/>
                          <a:tab pos="353060" algn="l"/>
                        </a:tabLst>
                      </a:pPr>
                      <a:r>
                        <a:rPr dirty="0"/>
                        <a:t>	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Groundwater;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well-water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private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supplies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1165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immediate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symptoms.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248920" indent="-287020">
                        <a:lnSpc>
                          <a:spcPts val="2880"/>
                        </a:lnSpc>
                        <a:spcBef>
                          <a:spcPts val="255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lang="en-IN" sz="1600" spc="-5" dirty="0">
                          <a:latin typeface="Arial MT"/>
                          <a:cs typeface="Arial MT"/>
                        </a:rPr>
                        <a:t>Long term exposure causes l</a:t>
                      </a:r>
                      <a:r>
                        <a:rPr sz="1600" spc="-5" dirty="0" err="1">
                          <a:latin typeface="Arial MT"/>
                          <a:cs typeface="Arial MT"/>
                        </a:rPr>
                        <a:t>ung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cancer.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Causes estimated 20,000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lung-cancer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deaths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yearly.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132715" indent="-287020">
                        <a:lnSpc>
                          <a:spcPts val="2880"/>
                        </a:lnSpc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Smokers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higher risk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developing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radon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induced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lung cancer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47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405389"/>
              </p:ext>
            </p:extLst>
          </p:nvPr>
        </p:nvGraphicFramePr>
        <p:xfrm>
          <a:off x="307340" y="532130"/>
          <a:ext cx="8682355" cy="4135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 gridSpan="3"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35" dirty="0">
                          <a:latin typeface="Arial" panose="020B0604020202020204"/>
                          <a:cs typeface="Arial" panose="020B0604020202020204"/>
                        </a:rPr>
                        <a:t>NATURAL</a:t>
                      </a:r>
                      <a:r>
                        <a:rPr sz="1600" b="1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8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800" b="1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8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3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Biological</a:t>
                      </a:r>
                      <a:endParaRPr sz="1600" dirty="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8890" marR="641985">
                        <a:lnSpc>
                          <a:spcPts val="2880"/>
                        </a:lnSpc>
                        <a:spcBef>
                          <a:spcPts val="255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Contaminans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Molds,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mildews and fungi, bacteria,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viruses,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dust</a:t>
                      </a:r>
                      <a:r>
                        <a:rPr lang="en-IN"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mites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1085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House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dust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Infected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humans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animals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Bedding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868680" lvl="0" indent="-28702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Char char="•"/>
                        <a:tabLst>
                          <a:tab pos="296545" algn="l"/>
                          <a:tab pos="297180" algn="l"/>
                        </a:tabLst>
                        <a:defRPr/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Poorly maintained </a:t>
                      </a:r>
                      <a:r>
                        <a:rPr lang="en-IN" sz="1600" spc="-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1600" spc="-5" dirty="0" err="1">
                          <a:latin typeface="Arial MT"/>
                          <a:cs typeface="Arial MT"/>
                        </a:rPr>
                        <a:t>umidifiers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,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dehumidifiers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air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conditioners</a:t>
                      </a:r>
                      <a:r>
                        <a:rPr lang="en-IN" sz="1600" spc="-5" dirty="0">
                          <a:latin typeface="Arial MT"/>
                          <a:cs typeface="Arial MT"/>
                        </a:rPr>
                        <a:t> (</a:t>
                      </a: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Stagnant water in devices)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Wet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or moist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surfaces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Carpets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home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furnishings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37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265" indent="-332740">
                        <a:lnSpc>
                          <a:spcPct val="100000"/>
                        </a:lnSpc>
                        <a:spcBef>
                          <a:spcPts val="1265"/>
                        </a:spcBef>
                        <a:buChar char="•"/>
                        <a:tabLst>
                          <a:tab pos="342265" algn="l"/>
                          <a:tab pos="34290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Allergies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asthma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353060" indent="-34353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Headaches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353060" indent="-343535">
                        <a:lnSpc>
                          <a:spcPct val="100000"/>
                        </a:lnSpc>
                        <a:spcBef>
                          <a:spcPts val="965"/>
                        </a:spcBef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Eye,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nose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 throat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irritation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Colds,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flu,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pneumonia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246711"/>
              </p:ext>
            </p:extLst>
          </p:nvPr>
        </p:nvGraphicFramePr>
        <p:xfrm>
          <a:off x="326767" y="403097"/>
          <a:ext cx="8667115" cy="4013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8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111125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COMBUSTION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(BURNING)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533">
                <a:tc>
                  <a:txBody>
                    <a:bodyPr/>
                    <a:lstStyle/>
                    <a:p>
                      <a:pPr marL="81407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525" marR="94615">
                        <a:lnSpc>
                          <a:spcPct val="150000"/>
                        </a:lnSpc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Carbon</a:t>
                      </a: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Monoxide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(CO)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– </a:t>
                      </a:r>
                      <a:r>
                        <a:rPr sz="1600" b="1" spc="-4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Colourless, odourless gas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by incomplete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combustion of all carbon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fuels.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45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Heating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equipment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(furnaces,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water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heaters,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fuel-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fired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space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heaters)–natural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gas,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kerosene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Wood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coal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stoves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Fireplaces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52425" indent="-34353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352425" algn="l"/>
                          <a:tab pos="35306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Cook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tops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ovens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Charcoal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grills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5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Engines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(gasoline,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diesel)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ts val="19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30" dirty="0">
                          <a:latin typeface="Arial MT"/>
                          <a:cs typeface="Arial MT"/>
                        </a:rPr>
                        <a:t>Tobacco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Headaches,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drowsiness,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dizziness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215265" indent="-287020">
                        <a:lnSpc>
                          <a:spcPct val="150000"/>
                        </a:lnSpc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Impairment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human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respiration,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vision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&amp;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brain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functioning, nausea, mental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confusion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Symptoms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often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mistaken for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flu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2069465" indent="-287020" algn="l" defTabSz="1195388">
                        <a:lnSpc>
                          <a:spcPct val="15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96863" algn="l"/>
                          <a:tab pos="1971675" algn="l"/>
                        </a:tabLst>
                      </a:pPr>
                      <a:r>
                        <a:rPr lang="en-US" sz="1600" b="0" i="0" u="none" strike="noStrike" cap="none" spc="-5" dirty="0">
                          <a:solidFill>
                            <a:schemeClr val="tx1"/>
                          </a:solidFill>
                          <a:latin typeface="Arial MT"/>
                          <a:ea typeface="+mn-ea"/>
                          <a:cs typeface="Arial MT"/>
                          <a:sym typeface="Arial" panose="020B0604020202020204"/>
                        </a:rPr>
                        <a:t>Very high levels can cause death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1877887"/>
              </p:ext>
            </p:extLst>
          </p:nvPr>
        </p:nvGraphicFramePr>
        <p:xfrm>
          <a:off x="286959" y="363249"/>
          <a:ext cx="8593455" cy="455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 gridSpan="3"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  <a:spcBef>
                          <a:spcPts val="945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COMBUSTION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(BURNING)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4410">
                <a:tc>
                  <a:txBody>
                    <a:bodyPr/>
                    <a:lstStyle/>
                    <a:p>
                      <a:pPr marL="9525" marR="29210">
                        <a:lnSpc>
                          <a:spcPct val="150000"/>
                        </a:lnSpc>
                        <a:spcBef>
                          <a:spcPts val="143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Respirable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Suspended 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Particulates</a:t>
                      </a:r>
                      <a:r>
                        <a:rPr sz="1600" b="1" spc="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(RSP)</a:t>
                      </a:r>
                      <a:r>
                        <a:rPr sz="1600" b="1" spc="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Particles small enough to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inhale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come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variety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 sizes, shapes, and levels of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toxicity.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1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5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Wood-burning stoves,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fireplaces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Unvented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kerosene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space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heaters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Gas-fired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ranges,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furnaces,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water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heaters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Vacuum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cleaning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house dust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30" dirty="0">
                          <a:latin typeface="Arial MT"/>
                          <a:cs typeface="Arial MT"/>
                        </a:rPr>
                        <a:t>Tobacco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marR="1476375" indent="-287020">
                        <a:lnSpc>
                          <a:spcPct val="150000"/>
                        </a:lnSpc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Soap powders,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pollen,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dust,</a:t>
                      </a:r>
                      <a:r>
                        <a:rPr lang="en-IN" sz="1600" spc="-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cleaning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cooking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sprays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spcBef>
                          <a:spcPts val="113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Eye,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nose,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throat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irritation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Respiratory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infections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 bronchitis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Emphysema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718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Lung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cancer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684809" y="1491996"/>
          <a:ext cx="8402955" cy="2790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0825">
                <a:tc>
                  <a:txBody>
                    <a:bodyPr/>
                    <a:lstStyle/>
                    <a:p>
                      <a:pPr marL="9525" marR="452120">
                        <a:lnSpc>
                          <a:spcPct val="150000"/>
                        </a:lnSpc>
                        <a:spcBef>
                          <a:spcPts val="1435"/>
                        </a:spcBef>
                      </a:pP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Environmental</a:t>
                      </a:r>
                      <a:r>
                        <a:rPr sz="1600" b="1" spc="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Tobacco </a:t>
                      </a:r>
                      <a:r>
                        <a:rPr sz="1600" b="1" spc="-43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Smoke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: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525" marR="109855">
                        <a:lnSpc>
                          <a:spcPct val="150000"/>
                        </a:lnSpc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Second-hand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exhaled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by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525" marR="469265">
                        <a:lnSpc>
                          <a:spcPct val="150000"/>
                        </a:lnSpc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smokers, also called side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stream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22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Cigarettes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Cigars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Pipes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3060" indent="-343535">
                        <a:lnSpc>
                          <a:spcPct val="100000"/>
                        </a:lnSpc>
                        <a:spcBef>
                          <a:spcPts val="950"/>
                        </a:spcBef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Eye,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nose and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throat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irritation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53060" marR="455295" indent="-342900">
                        <a:lnSpc>
                          <a:spcPct val="15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Respiratory irritation (wheezing,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coughing)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53060" indent="-34353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Bronchitis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pneumonia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5306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(particularly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children)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53060" marR="156210" indent="-342900">
                        <a:lnSpc>
                          <a:spcPct val="150000"/>
                        </a:lnSpc>
                        <a:buChar char="•"/>
                        <a:tabLst>
                          <a:tab pos="353060" algn="l"/>
                          <a:tab pos="35369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risk of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emphysema,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lung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cancer,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heart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disease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4530" y="469265"/>
          <a:ext cx="8402320" cy="1022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 gridSpan="3"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  <a:spcBef>
                          <a:spcPts val="945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4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COMBUSTION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(BURNING)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6802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27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94310" y="186055"/>
          <a:ext cx="8345805" cy="4462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 gridSpan="3"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45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Man-Made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753110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57275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34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Asbestos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9525" marR="19685">
                        <a:lnSpc>
                          <a:spcPct val="150000"/>
                        </a:lnSpc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 natural mineral fiber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used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various building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materials.</a:t>
                      </a:r>
                      <a:r>
                        <a:rPr sz="16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All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homes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more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20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years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old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are likely to have some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asbestos.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0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95910" marR="288925" indent="-287020">
                        <a:lnSpc>
                          <a:spcPct val="150000"/>
                        </a:lnSpc>
                        <a:spcBef>
                          <a:spcPts val="4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Damaged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deteriorating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ceiling,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wall, and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pipe </a:t>
                      </a:r>
                      <a:r>
                        <a:rPr sz="1600" spc="-4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insulation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Vinyl-asbestos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floor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material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Fireproof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gaskets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heat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shields,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wood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stoves,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furnaces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Acoustical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materials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Thermal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insulation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Exterior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siding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142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No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immediate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symptoms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marR="567055" indent="-287020">
                        <a:lnSpc>
                          <a:spcPct val="150000"/>
                        </a:lnSpc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Chest,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abdominal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 lung cancers and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asbestosis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Asbestos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cause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lung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cancer,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especially</a:t>
                      </a:r>
                      <a:r>
                        <a:rPr lang="en-US"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among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smokers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6545" marR="6350" indent="-287020">
                        <a:lnSpc>
                          <a:spcPct val="150000"/>
                        </a:lnSpc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600 to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1,000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U.S.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deaths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yearly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asbestos-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related-mostly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workplace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exposure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80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0853790"/>
              </p:ext>
            </p:extLst>
          </p:nvPr>
        </p:nvGraphicFramePr>
        <p:xfrm>
          <a:off x="152400" y="506730"/>
          <a:ext cx="8373110" cy="414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 gridSpan="3"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45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Man-Made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753110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57275">
                        <a:lnSpc>
                          <a:spcPts val="1905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3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525" marR="502920">
                        <a:lnSpc>
                          <a:spcPct val="150000"/>
                        </a:lnSpc>
                        <a:spcBef>
                          <a:spcPts val="1165"/>
                        </a:spcBef>
                      </a:pPr>
                      <a:r>
                        <a:rPr sz="1600" spc="-15" dirty="0">
                          <a:latin typeface="Arial MT"/>
                          <a:cs typeface="Arial MT"/>
                        </a:rPr>
                        <a:t>Volatile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Organic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Chemicals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(VOCs)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Airborne chemicals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contained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in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many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household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95910" marR="192405" indent="-287020">
                        <a:lnSpc>
                          <a:spcPct val="150000"/>
                        </a:lnSpc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Aerosol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sprays,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hair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sprays,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fumes,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solvents,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glues, cleaning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agents,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fabric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softeners,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pesticides, paints,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moth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repellents,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deodorizers,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 other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household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products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Dry-cleaned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clothing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30" dirty="0">
                          <a:latin typeface="Arial MT"/>
                          <a:cs typeface="Arial MT"/>
                        </a:rPr>
                        <a:t>Tobacco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smoke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1315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Eye,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nose,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throat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irritation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Headaches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Loss of coordination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Confusion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Damage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liver,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kidneys,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brain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6545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6545" algn="l"/>
                          <a:tab pos="297180" algn="l"/>
                        </a:tabLst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Various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types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cancer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95402" y="859536"/>
          <a:ext cx="8582660" cy="3561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96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Man-Made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95">
                <a:tc>
                  <a:txBody>
                    <a:bodyPr/>
                    <a:lstStyle/>
                    <a:p>
                      <a:pPr marL="635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86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Formaldehyde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82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Pungent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gas</a:t>
                      </a:r>
                      <a:r>
                        <a:rPr lang="en-US"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released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into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air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Pressed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wood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products(plywood,</a:t>
                      </a:r>
                      <a:r>
                        <a:rPr sz="16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panelling,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particle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board)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Urea-formaldehyde</a:t>
                      </a:r>
                      <a:r>
                        <a:rPr sz="16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foam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wall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insulation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Carpets,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draperies,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furniture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fabrics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Paper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products,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glues, adhesives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Some personal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care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products,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Tobacco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smoke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1235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Allergic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reactions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5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Eye,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nose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throat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irritation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Headaches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Nausea,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dizziness,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coughing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Cancer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Sensitivity</a:t>
                      </a:r>
                      <a:r>
                        <a:rPr sz="1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varies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widely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568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36970"/>
              </p:ext>
            </p:extLst>
          </p:nvPr>
        </p:nvGraphicFramePr>
        <p:xfrm>
          <a:off x="238442" y="182708"/>
          <a:ext cx="8667115" cy="454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96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Pollutants</a:t>
                      </a:r>
                      <a:r>
                        <a:rPr sz="1600" b="1" spc="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from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Man-Made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95">
                <a:tc>
                  <a:txBody>
                    <a:bodyPr/>
                    <a:lstStyle/>
                    <a:p>
                      <a:pPr marL="635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Pollutant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Major</a:t>
                      </a:r>
                      <a:r>
                        <a:rPr sz="1600" b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Sources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1600" b="1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r>
                        <a:rPr sz="16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Home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ts val="1905"/>
                        </a:lnSpc>
                        <a:spcBef>
                          <a:spcPts val="940"/>
                        </a:spcBef>
                      </a:pP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Possible</a:t>
                      </a:r>
                      <a:r>
                        <a:rPr sz="1600" b="1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Impacts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7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2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–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82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Natural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element once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used</a:t>
                      </a:r>
                      <a:r>
                        <a:rPr lang="en-US"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lang="en-US"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component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gasoline,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house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paint,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solder and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water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pipes.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45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Household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dust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paint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Lead-based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paint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15" dirty="0">
                          <a:latin typeface="Arial MT"/>
                          <a:cs typeface="Arial MT"/>
                        </a:rPr>
                        <a:t>Water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6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lead or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lead-soldered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pipes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brass</a:t>
                      </a:r>
                      <a:r>
                        <a:rPr sz="16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fixtures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Soil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near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highways/</a:t>
                      </a:r>
                      <a:r>
                        <a:rPr sz="16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lead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industries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marR="489585" indent="-287020">
                        <a:lnSpc>
                          <a:spcPct val="15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Hobbies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such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working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6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stained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glass and</a:t>
                      </a:r>
                      <a:r>
                        <a:rPr sz="16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target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shooting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ct val="100000"/>
                        </a:lnSpc>
                        <a:spcBef>
                          <a:spcPts val="955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Lead-glazed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ceramic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ware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295275" indent="-287655">
                        <a:lnSpc>
                          <a:spcPts val="19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275" algn="l"/>
                          <a:tab pos="29591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Some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folk medicines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910" marR="358775" indent="-287020">
                        <a:lnSpc>
                          <a:spcPts val="2880"/>
                        </a:lnSpc>
                        <a:spcBef>
                          <a:spcPts val="24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Damage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brain,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kidneys,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 </a:t>
                      </a:r>
                      <a:r>
                        <a:rPr sz="1600" spc="-4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nervous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system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352425" indent="-343535">
                        <a:lnSpc>
                          <a:spcPct val="100000"/>
                        </a:lnSpc>
                        <a:spcBef>
                          <a:spcPts val="705"/>
                        </a:spcBef>
                        <a:buChar char="•"/>
                        <a:tabLst>
                          <a:tab pos="352425" algn="l"/>
                          <a:tab pos="353060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Behavioural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learning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591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problems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5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Slowed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growth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Anaemia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ct val="1000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Hearing</a:t>
                      </a:r>
                      <a:r>
                        <a:rPr sz="1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loss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  <a:p>
                      <a:pPr marL="295910" indent="-287020">
                        <a:lnSpc>
                          <a:spcPts val="1900"/>
                        </a:lnSpc>
                        <a:spcBef>
                          <a:spcPts val="960"/>
                        </a:spcBef>
                        <a:buChar char="•"/>
                        <a:tabLst>
                          <a:tab pos="295910" algn="l"/>
                          <a:tab pos="296545" algn="l"/>
                        </a:tabLst>
                      </a:pPr>
                      <a:r>
                        <a:rPr sz="1600" spc="-5" dirty="0">
                          <a:latin typeface="Arial MT"/>
                          <a:cs typeface="Arial MT"/>
                        </a:rPr>
                        <a:t>Large doses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fatal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Sick Building Syndrome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260985"/>
            <a:ext cx="8520430" cy="43078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Sick building syndrome (SBS) is a condition in which people in a building suffer from symptoms of illness or become  infected  with  chronic  disease  from the building in which they work or reside.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Sick Building Syndrome is used to describe the condition in which the building occupants experience acute health discomforts that appear to be linked with to the time spend in a building, but no specific illness or cause can be identified.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This is a condition affecting office workers.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209E-B7E9-82C5-F941-6708BF61F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Possible risk factors of Sick Building Syndrome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610E-DD68-4F85-209D-BF097556B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Psychological factors</a:t>
            </a:r>
          </a:p>
          <a:p>
            <a:pPr lvl="1">
              <a:lnSpc>
                <a:spcPct val="150000"/>
              </a:lnSpc>
            </a:pPr>
            <a:r>
              <a:rPr lang="en-IN" sz="1600" b="1" dirty="0"/>
              <a:t>Stress:</a:t>
            </a:r>
            <a:endParaRPr lang="en-IN" sz="1600" dirty="0"/>
          </a:p>
          <a:p>
            <a:pPr marL="596900" lvl="1" indent="0">
              <a:lnSpc>
                <a:spcPct val="150000"/>
              </a:lnSpc>
              <a:buNone/>
            </a:pPr>
            <a:r>
              <a:rPr lang="en-IN" sz="1600" dirty="0"/>
              <a:t>Work-related stress increases symptom reporting</a:t>
            </a:r>
          </a:p>
          <a:p>
            <a:pPr marL="596900" lvl="1" indent="0">
              <a:lnSpc>
                <a:spcPct val="150000"/>
              </a:lnSpc>
              <a:buNone/>
            </a:pPr>
            <a:r>
              <a:rPr lang="en-IN" sz="1600" dirty="0"/>
              <a:t>Deadlines, workload, interpersonal conflicts all increase SBS symptoms</a:t>
            </a:r>
          </a:p>
          <a:p>
            <a:pPr lvl="1">
              <a:lnSpc>
                <a:spcPct val="150000"/>
              </a:lnSpc>
            </a:pPr>
            <a:r>
              <a:rPr lang="en-IN" sz="1600" b="1" dirty="0"/>
              <a:t>Low staff morale:</a:t>
            </a:r>
            <a:endParaRPr lang="en-IN" sz="1600" dirty="0"/>
          </a:p>
          <a:p>
            <a:pPr marL="596900" lvl="1" indent="0">
              <a:lnSpc>
                <a:spcPct val="150000"/>
              </a:lnSpc>
              <a:buNone/>
            </a:pPr>
            <a:r>
              <a:rPr lang="en-IN" sz="1600" dirty="0"/>
              <a:t>Unhappy workforce reports more symptoms</a:t>
            </a:r>
          </a:p>
          <a:p>
            <a:pPr marL="596900" lvl="1" indent="0">
              <a:lnSpc>
                <a:spcPct val="150000"/>
              </a:lnSpc>
              <a:buNone/>
            </a:pPr>
            <a:r>
              <a:rPr lang="en-IN" sz="1600" dirty="0"/>
              <a:t>Negative workplace culture increases symptom perception</a:t>
            </a:r>
          </a:p>
          <a:p>
            <a:pPr marL="596900" lvl="1" indent="0">
              <a:lnSpc>
                <a:spcPct val="150000"/>
              </a:lnSpc>
              <a:buNone/>
            </a:pPr>
            <a:r>
              <a:rPr lang="en-IN" sz="1600" dirty="0"/>
              <a:t>Job dissatisfaction linked to SBS</a:t>
            </a:r>
          </a:p>
        </p:txBody>
      </p:sp>
    </p:spTree>
    <p:extLst>
      <p:ext uri="{BB962C8B-B14F-4D97-AF65-F5344CB8AC3E}">
        <p14:creationId xmlns:p14="http://schemas.microsoft.com/office/powerpoint/2010/main" val="31204554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5F08-5E5F-C6E3-83BF-098EA4F0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7B8C-BD37-47F8-3E67-F911C962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Possible risk factors of Sick Building Syndrome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D023B-2CFD-0086-6E95-E3DC8946B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800"/>
            <a:ext cx="8520600" cy="3845747"/>
          </a:xfrm>
        </p:spPr>
        <p:txBody>
          <a:bodyPr>
            <a:normAutofit/>
          </a:bodyPr>
          <a:lstStyle/>
          <a:p>
            <a:r>
              <a:rPr lang="en-IN" b="1" dirty="0"/>
              <a:t>Ergonomic Factors</a:t>
            </a:r>
          </a:p>
          <a:p>
            <a:pPr lvl="1"/>
            <a:r>
              <a:rPr lang="en-IN" sz="1700" b="1" dirty="0"/>
              <a:t>Improper use of display screen equipment:</a:t>
            </a:r>
            <a:endParaRPr lang="en-IN" sz="1700" dirty="0"/>
          </a:p>
          <a:p>
            <a:pPr marL="596900" lvl="1" indent="0">
              <a:buNone/>
            </a:pPr>
            <a:r>
              <a:rPr lang="en-IN" sz="1700" dirty="0"/>
              <a:t>Computer screens at wrong height</a:t>
            </a:r>
          </a:p>
          <a:p>
            <a:pPr marL="596900" lvl="1" indent="0">
              <a:buNone/>
            </a:pPr>
            <a:r>
              <a:rPr lang="en-IN" sz="1700" dirty="0"/>
              <a:t>Keyboard/mouse positioning awkward</a:t>
            </a:r>
          </a:p>
          <a:p>
            <a:pPr marL="596900" lvl="1" indent="0">
              <a:buNone/>
            </a:pPr>
            <a:r>
              <a:rPr lang="en-IN" sz="1700" dirty="0"/>
              <a:t>Causes neck, shoulder, back strain, Contributes to headaches and general discomfort</a:t>
            </a:r>
          </a:p>
          <a:p>
            <a:pPr marL="857250" lvl="1" indent="-285750"/>
            <a:r>
              <a:rPr lang="en-IN" sz="1600" b="1" dirty="0"/>
              <a:t>Poor lighting that causes glare or flicker on visual display units (VDUs):</a:t>
            </a:r>
            <a:endParaRPr lang="en-IN" sz="1600" dirty="0"/>
          </a:p>
          <a:p>
            <a:pPr marL="571500" lvl="1" indent="0">
              <a:buNone/>
            </a:pPr>
            <a:r>
              <a:rPr lang="en-IN" sz="1600" dirty="0"/>
              <a:t>Fluorescent lights </a:t>
            </a:r>
          </a:p>
          <a:p>
            <a:pPr marL="571500" lvl="1" indent="0">
              <a:buNone/>
            </a:pPr>
            <a:r>
              <a:rPr lang="en-IN" sz="1600" dirty="0"/>
              <a:t>Glare on computer screens causes eye strain</a:t>
            </a:r>
          </a:p>
          <a:p>
            <a:pPr marL="571500" lvl="1" indent="0">
              <a:buNone/>
            </a:pPr>
            <a:r>
              <a:rPr lang="en-IN" sz="1600" dirty="0"/>
              <a:t>Improper lighting levels (too bright or too dim)</a:t>
            </a:r>
          </a:p>
          <a:p>
            <a:pPr marL="571500" lvl="1" indent="0">
              <a:buNone/>
            </a:pPr>
            <a:r>
              <a:rPr lang="en-IN" sz="1600" dirty="0"/>
              <a:t>Causes headaches, eye strain, fatigue</a:t>
            </a:r>
          </a:p>
        </p:txBody>
      </p:sp>
    </p:spTree>
    <p:extLst>
      <p:ext uri="{BB962C8B-B14F-4D97-AF65-F5344CB8AC3E}">
        <p14:creationId xmlns:p14="http://schemas.microsoft.com/office/powerpoint/2010/main" val="21084149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A90B5-EAEF-FC52-A992-7C81E32B5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66800"/>
            <a:ext cx="4392380" cy="3942079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Cleanliness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standards of cleanliness in the working environment: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969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Dust accumulation, Inadequate vacuuming/cleaning, Mold growth in hidden areas, Pest control issues</a:t>
            </a:r>
          </a:p>
          <a:p>
            <a:pPr marL="596900" lvl="1" indent="0">
              <a:buNone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Chemical Pollution</a:t>
            </a:r>
          </a:p>
          <a:p>
            <a:pPr marL="5715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Airborne chemical pollutants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as those from cleaning materials or furniture, or ozone produced by photocopiers and printers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D86ED-F54C-A356-53C4-C514A5C517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70200"/>
            <a:ext cx="4311600" cy="3706599"/>
          </a:xfrm>
        </p:spPr>
        <p:txBody>
          <a:bodyPr>
            <a:normAutofit/>
          </a:bodyPr>
          <a:lstStyle/>
          <a:p>
            <a:pPr marL="571500" lvl="1" indent="0">
              <a:buNone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Airborne Particles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Dust: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soil, textiles, skin cells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Carpet </a:t>
            </a: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fibers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Released during foot traffic and vacuum cleaning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Fungal spores: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mould growth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Pollen: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Entering with outdoor air</a:t>
            </a:r>
          </a:p>
          <a:p>
            <a:pPr marL="5969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Tobacco smoke particles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 buildings where smoking occurs)</a:t>
            </a:r>
          </a:p>
          <a:p>
            <a:pPr marL="571500" lvl="1" indent="0">
              <a:buNone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E27C9D-B1D2-B5BE-A03E-8B5D96D5FB6B}"/>
              </a:ext>
            </a:extLst>
          </p:cNvPr>
          <p:cNvSpPr txBox="1">
            <a:spLocks/>
          </p:cNvSpPr>
          <p:nvPr/>
        </p:nvSpPr>
        <p:spPr>
          <a:xfrm>
            <a:off x="464100" y="5624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r>
              <a:rPr lang="en-US" altLang="en-US"/>
              <a:t>Possible risk factors of Sick Building Syndrome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8016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92427-C4C5-B6A2-184E-035F82981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588"/>
            <a:ext cx="4372060" cy="3859211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temperature or changes in temperature throughout the day: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temperature increases discomfort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Heat stress increases fatigue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increases VOC off-gassing from materials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Humidity</a:t>
            </a:r>
          </a:p>
          <a:p>
            <a:pPr marL="5715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humidity: 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Dries mucous membranes; 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Eye, nose, throat dryness etc</a:t>
            </a:r>
          </a:p>
          <a:p>
            <a:pPr marL="5715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humidity: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mold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growth, Bacterial growth potential etc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05E53-FE05-20EC-21A2-E986A3BEAE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087101"/>
            <a:ext cx="4108400" cy="3646824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ventilation: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1" indent="0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Insufficient outdoor air intake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(most critical factor)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Pollutants accumulate instead of being diluted 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CO₂ builds up (normal metabolic byproduct)</a:t>
            </a:r>
          </a:p>
          <a:p>
            <a:pPr marL="571500" lvl="1" indent="0"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CO₂ causes drowsiness, headaches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07FD28-692E-5EC2-875C-363DF49E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409575"/>
            <a:ext cx="8521700" cy="60801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risk factors of Sick Building Syndrome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1566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Factors governing the indoor air quality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Air exchange rate </a:t>
            </a:r>
            <a:r>
              <a:rPr lang="en-US" altLang="en-US" dirty="0"/>
              <a:t>- </a:t>
            </a:r>
            <a:r>
              <a:rPr lang="en-IN" dirty="0"/>
              <a:t>How many times per hour the entire room air volume is replaced. </a:t>
            </a:r>
            <a:endParaRPr lang="en-US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Indoor rate of removal of pollutants- </a:t>
            </a:r>
          </a:p>
          <a:p>
            <a:pPr lvl="0"/>
            <a:r>
              <a:rPr lang="en-US" altLang="en-US" b="1" dirty="0"/>
              <a:t>Outdoor concentration of air pollutant- </a:t>
            </a:r>
            <a:r>
              <a:rPr lang="en-IN" dirty="0"/>
              <a:t>Outdoor pollution enters building through outdoor air intake. Bad outdoor air → Bad indoor air (even with good ventilation)</a:t>
            </a:r>
            <a:endParaRPr lang="en-US" alt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Infiltration and exfiltration rate.</a:t>
            </a:r>
          </a:p>
          <a:p>
            <a:pPr lvl="1"/>
            <a:r>
              <a:rPr lang="en-IN" sz="1600" b="1" dirty="0"/>
              <a:t>Infiltration:</a:t>
            </a:r>
            <a:r>
              <a:rPr lang="en-IN" sz="1600" dirty="0"/>
              <a:t> Uncontrolled outdoor air entering building through cracks, gaps, unsealed penetrations</a:t>
            </a:r>
            <a:endParaRPr lang="en-IN" sz="1050" dirty="0"/>
          </a:p>
          <a:p>
            <a:pPr lvl="1"/>
            <a:r>
              <a:rPr lang="en-IN" sz="1600" b="1" dirty="0"/>
              <a:t>Exfiltration:</a:t>
            </a:r>
            <a:r>
              <a:rPr lang="en-IN" sz="1600" dirty="0"/>
              <a:t> Conditioned air escaping building through same paths</a:t>
            </a:r>
            <a:endParaRPr lang="en-IN" sz="105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b="1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0*275"/>
  <p:tag name="TABLE_ENDDRAG_RECT" val="19*90*700*2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280"/>
  <p:tag name="TABLE_ENDDRAG_RECT" val="36*55*644*28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6*297"/>
  <p:tag name="TABLE_ENDDRAG_RECT" val="53*36*676*29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1*80"/>
  <p:tag name="TABLE_ENDDRAG_RECT" val="53*36*661*8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9*310"/>
  <p:tag name="TABLE_ENDDRAG_RECT" val="24*56*659*310"/>
</p:tagLst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4772</Words>
  <Application>Microsoft Office PowerPoint</Application>
  <PresentationFormat>On-screen Show (16:9)</PresentationFormat>
  <Paragraphs>540</Paragraphs>
  <Slides>75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Times New Roman</vt:lpstr>
      <vt:lpstr>Calibri</vt:lpstr>
      <vt:lpstr>Arial</vt:lpstr>
      <vt:lpstr>Arial MT</vt:lpstr>
      <vt:lpstr>Roboto</vt:lpstr>
      <vt:lpstr>Wingdings</vt:lpstr>
      <vt:lpstr>Geometric</vt:lpstr>
      <vt:lpstr>AIR QUALITY MANAGEMENT</vt:lpstr>
      <vt:lpstr>Effects of air pollution on human health</vt:lpstr>
      <vt:lpstr>Factors affecting human health</vt:lpstr>
      <vt:lpstr>Effect of air pollution on human health</vt:lpstr>
      <vt:lpstr>Effect of air pollution on human health</vt:lpstr>
      <vt:lpstr>PowerPoint Presentation</vt:lpstr>
      <vt:lpstr>PowerPoint Presentation</vt:lpstr>
      <vt:lpstr>Respiratory Effects-Particulate Matter</vt:lpstr>
      <vt:lpstr>Respiratory Effects-Particulate Matter</vt:lpstr>
      <vt:lpstr>Respiratory Effects-Particulate Matter</vt:lpstr>
      <vt:lpstr>PowerPoint Presentation</vt:lpstr>
      <vt:lpstr>Health effect- Lead</vt:lpstr>
      <vt:lpstr>PowerPoint Presentation</vt:lpstr>
      <vt:lpstr>Health effect- Cadmium</vt:lpstr>
      <vt:lpstr>PowerPoint Presentation</vt:lpstr>
      <vt:lpstr>Health effect- Nickel</vt:lpstr>
      <vt:lpstr>PowerPoint Presentation</vt:lpstr>
      <vt:lpstr>Health effect- Mercury</vt:lpstr>
      <vt:lpstr>PowerPoint Presentation</vt:lpstr>
      <vt:lpstr>Health effect- Gaseous Pollutants</vt:lpstr>
      <vt:lpstr>PowerPoint Presentation</vt:lpstr>
      <vt:lpstr>PowerPoint Presentation</vt:lpstr>
      <vt:lpstr>PowerPoint Presentation</vt:lpstr>
      <vt:lpstr> Photochemical Oxidants</vt:lpstr>
      <vt:lpstr>Effect of air pollution on animals</vt:lpstr>
      <vt:lpstr>Effect of air pollution on animals</vt:lpstr>
      <vt:lpstr>Effect of air pollution on animals</vt:lpstr>
      <vt:lpstr>Effect on pets</vt:lpstr>
      <vt:lpstr>Effect on Birds</vt:lpstr>
      <vt:lpstr>Effect on Fish</vt:lpstr>
      <vt:lpstr>Effects of Air-Pollutants on Farm Animals</vt:lpstr>
      <vt:lpstr>PowerPoint Presentation</vt:lpstr>
      <vt:lpstr>Arsenic</vt:lpstr>
      <vt:lpstr>Lead</vt:lpstr>
      <vt:lpstr>Effect of air pollution on vegetation</vt:lpstr>
      <vt:lpstr>Effect of air pollution on vegetation</vt:lpstr>
      <vt:lpstr>Effect of air pollution on vegetation</vt:lpstr>
      <vt:lpstr>PowerPoint Presentation</vt:lpstr>
      <vt:lpstr>Air pollution effects on vegetation</vt:lpstr>
      <vt:lpstr>PowerPoint Presentation</vt:lpstr>
      <vt:lpstr>Effect of SO2</vt:lpstr>
      <vt:lpstr>Effect of Ozone</vt:lpstr>
      <vt:lpstr>Effect of Ammonia</vt:lpstr>
      <vt:lpstr>Effect of air pollution on materials</vt:lpstr>
      <vt:lpstr>Impacts of Air Pollution on Building Materials and Structures</vt:lpstr>
      <vt:lpstr>Types of air pollution-related damages</vt:lpstr>
      <vt:lpstr>Effects on Metals</vt:lpstr>
      <vt:lpstr>Effects on Concrete</vt:lpstr>
      <vt:lpstr>Effects on Paints</vt:lpstr>
      <vt:lpstr>Effects on Polymers</vt:lpstr>
      <vt:lpstr>Effects On The Environment</vt:lpstr>
      <vt:lpstr>Effects On The Environment</vt:lpstr>
      <vt:lpstr>Greenhouse Effect</vt:lpstr>
      <vt:lpstr>The Greenhouse Effect Process</vt:lpstr>
      <vt:lpstr>Effects of the Greenhouse Effect</vt:lpstr>
      <vt:lpstr>Reducing the Greenhouse Effect</vt:lpstr>
      <vt:lpstr>Indoor Air Pollution</vt:lpstr>
      <vt:lpstr>Indoor Air Pollution</vt:lpstr>
      <vt:lpstr>PowerPoint Presentation</vt:lpstr>
      <vt:lpstr>Sources and Impact of indoor air pollution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Sick Building Syndrome</vt:lpstr>
      <vt:lpstr>PowerPoint Presentation</vt:lpstr>
      <vt:lpstr>Possible risk factors of Sick Building Syndrome</vt:lpstr>
      <vt:lpstr>Possible risk factors of Sick Building Syndrome</vt:lpstr>
      <vt:lpstr>PowerPoint Presentation</vt:lpstr>
      <vt:lpstr>Possible risk factors of Sick Building Syndrome</vt:lpstr>
      <vt:lpstr>Factors governing the indoor air quality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MANAGEMENT</dc:title>
  <dc:creator>ANUPAMA SUGATHAN</dc:creator>
  <cp:lastModifiedBy>ANUPAMA SUGATHAN</cp:lastModifiedBy>
  <cp:revision>60</cp:revision>
  <dcterms:created xsi:type="dcterms:W3CDTF">2023-04-01T04:26:00Z</dcterms:created>
  <dcterms:modified xsi:type="dcterms:W3CDTF">2026-01-05T05:53:53Z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28E2F4B07B9C43A28EF0BE9E75CE48FD_13</vt:lpwstr>
  </property>
  <property fmtid="{D5CDD505-2E9C-101B-9397-08002B2CF9AE}" pid="3" name="KSOProductBuildVer">
    <vt:lpwstr>1033-12.2.0.19307</vt:lpwstr>
  </property>
</Properties>
</file>